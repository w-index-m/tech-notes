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8503920" y="-2011680"/>
            <a:ext cx="5852160" cy="5852160"/>
          </a:xfrm>
          <a:prstGeom prst="ellipse">
            <a:avLst/>
          </a:prstGeom>
          <a:solidFill>
            <a:srgbClr val="3E64FF">
              <a:alpha val="13000"/>
            </a:srgbClr>
          </a:solidFill>
          <a:ln/>
        </p:spPr>
      </p:sp>
      <p:sp>
        <p:nvSpPr>
          <p:cNvPr id="3" name="Shape 1"/>
          <p:cNvSpPr/>
          <p:nvPr/>
        </p:nvSpPr>
        <p:spPr>
          <a:xfrm>
            <a:off x="-1828800" y="4754880"/>
            <a:ext cx="4937760" cy="4937760"/>
          </a:xfrm>
          <a:prstGeom prst="ellipse">
            <a:avLst/>
          </a:prstGeom>
          <a:solidFill>
            <a:srgbClr val="2CB1BC">
              <a:alpha val="12000"/>
            </a:srgbClr>
          </a:solidFill>
          <a:ln/>
        </p:spPr>
      </p:sp>
      <p:sp>
        <p:nvSpPr>
          <p:cNvPr id="4" name="Text 2"/>
          <p:cNvSpPr txBox="1"/>
          <p:nvPr/>
        </p:nvSpPr>
        <p:spPr>
          <a:xfrm>
            <a:off x="731520" y="1920240"/>
            <a:ext cx="10607040" cy="1005840"/>
          </a:xfrm>
          <a:prstGeom prst="rect">
            <a:avLst/>
          </a:prstGeom>
          <a:noFill/>
          <a:ln/>
        </p:spPr>
        <p:txBody>
          <a:bodyPr wrap="square" lIns="0" tIns="0" rIns="0" bIns="0" rtlCol="0" anchor="ctr"/>
          <a:lstStyle/>
          <a:p>
            <a:pPr indent="0" marL="0">
              <a:buNone/>
            </a:pPr>
            <a:r>
              <a:rPr lang="en-US" sz="4200" b="1" dirty="0">
                <a:solidFill>
                  <a:srgbClr val="F2F4F8"/>
                </a:solidFill>
                <a:latin typeface="Cambria" pitchFamily="34" charset="0"/>
                <a:ea typeface="Cambria" pitchFamily="34" charset="-122"/>
                <a:cs typeface="Cambria" pitchFamily="34" charset="-120"/>
              </a:rPr>
              <a:t>CCAO-F 試験対策</a:t>
            </a:r>
            <a:endParaRPr lang="en-US" sz="4200" dirty="0"/>
          </a:p>
        </p:txBody>
      </p:sp>
      <p:sp>
        <p:nvSpPr>
          <p:cNvPr id="5" name="Text 3"/>
          <p:cNvSpPr txBox="1"/>
          <p:nvPr/>
        </p:nvSpPr>
        <p:spPr>
          <a:xfrm>
            <a:off x="731520" y="2788920"/>
            <a:ext cx="10607040" cy="502920"/>
          </a:xfrm>
          <a:prstGeom prst="rect">
            <a:avLst/>
          </a:prstGeom>
          <a:noFill/>
          <a:ln/>
        </p:spPr>
        <p:txBody>
          <a:bodyPr wrap="square" lIns="0" tIns="0" rIns="0" bIns="0" rtlCol="0" anchor="ctr"/>
          <a:lstStyle/>
          <a:p>
            <a:pPr indent="0" marL="0">
              <a:buNone/>
            </a:pPr>
            <a:r>
              <a:rPr lang="en-US" sz="2000" dirty="0">
                <a:solidFill>
                  <a:srgbClr val="2CB1BC"/>
                </a:solidFill>
                <a:latin typeface="Calibri" pitchFamily="34" charset="0"/>
                <a:ea typeface="Calibri" pitchFamily="34" charset="-122"/>
                <a:cs typeface="Calibri" pitchFamily="34" charset="-120"/>
              </a:rPr>
              <a:t>Claude Certified Associate – Foundations</a:t>
            </a:r>
            <a:endParaRPr lang="en-US" sz="2000" dirty="0"/>
          </a:p>
        </p:txBody>
      </p:sp>
      <p:sp>
        <p:nvSpPr>
          <p:cNvPr id="6" name="Text 4"/>
          <p:cNvSpPr txBox="1"/>
          <p:nvPr/>
        </p:nvSpPr>
        <p:spPr>
          <a:xfrm>
            <a:off x="731520" y="3337560"/>
            <a:ext cx="10607040" cy="457200"/>
          </a:xfrm>
          <a:prstGeom prst="rect">
            <a:avLst/>
          </a:prstGeom>
          <a:noFill/>
          <a:ln/>
        </p:spPr>
        <p:txBody>
          <a:bodyPr wrap="square" lIns="0" tIns="0" rIns="0" bIns="0" rtlCol="0" anchor="ctr"/>
          <a:lstStyle/>
          <a:p>
            <a:pPr indent="0" marL="0">
              <a:buNone/>
            </a:pPr>
            <a:r>
              <a:rPr lang="en-US" sz="1400" dirty="0">
                <a:solidFill>
                  <a:srgbClr val="B9C4DB"/>
                </a:solidFill>
                <a:latin typeface="Calibri" pitchFamily="34" charset="0"/>
                <a:ea typeface="Calibri" pitchFamily="34" charset="-122"/>
                <a:cs typeface="Calibri" pitchFamily="34" charset="-120"/>
              </a:rPr>
              <a:t>公式Exam Guide(英語版・日本語版)に基づく、非エンジニア向けClaude認定資格の学習ノート</a:t>
            </a:r>
            <a:endParaRPr lang="en-US" sz="1400" dirty="0"/>
          </a:p>
        </p:txBody>
      </p:sp>
      <p:sp>
        <p:nvSpPr>
          <p:cNvPr id="7" name="Text 5"/>
          <p:cNvSpPr txBox="1"/>
          <p:nvPr/>
        </p:nvSpPr>
        <p:spPr>
          <a:xfrm>
            <a:off x="731520" y="5760720"/>
            <a:ext cx="10607040" cy="365760"/>
          </a:xfrm>
          <a:prstGeom prst="rect">
            <a:avLst/>
          </a:prstGeom>
          <a:noFill/>
          <a:ln/>
        </p:spPr>
        <p:txBody>
          <a:bodyPr wrap="square" lIns="0" tIns="0" rIns="0" bIns="0" rtlCol="0" anchor="ctr"/>
          <a:lstStyle/>
          <a:p>
            <a:pPr indent="0" marL="0">
              <a:buNone/>
            </a:pPr>
            <a:r>
              <a:rPr lang="en-US" sz="1250" dirty="0">
                <a:solidFill>
                  <a:srgbClr val="3E64FF"/>
                </a:solidFill>
                <a:latin typeface="Calibri" pitchFamily="34" charset="0"/>
                <a:ea typeface="Calibri" pitchFamily="34" charset="-122"/>
                <a:cs typeface="Calibri" pitchFamily="34" charset="-120"/>
              </a:rPr>
              <a:t>試験コード: CCAO-F  |  60問 / 120分  |  $99 USD  |  合格ライン 720/1,000</a:t>
            </a:r>
            <a:endParaRPr lang="en-US" sz="1250" dirty="0"/>
          </a:p>
        </p:txBody>
      </p:sp>
      <p:sp>
        <p:nvSpPr>
          <p:cNvPr id="8" name="Text 6"/>
          <p:cNvSpPr txBox="1"/>
          <p:nvPr/>
        </p:nvSpPr>
        <p:spPr>
          <a:xfrm>
            <a:off x="731520" y="6126480"/>
            <a:ext cx="10607040" cy="320040"/>
          </a:xfrm>
          <a:prstGeom prst="rect">
            <a:avLst/>
          </a:prstGeom>
          <a:noFill/>
          <a:ln/>
        </p:spPr>
        <p:txBody>
          <a:bodyPr wrap="square" lIns="0" tIns="0" rIns="0" bIns="0" rtlCol="0" anchor="ctr"/>
          <a:lstStyle/>
          <a:p>
            <a:pPr indent="0" marL="0">
              <a:buNone/>
            </a:pPr>
            <a:r>
              <a:rPr lang="en-US" sz="1050" i="1" dirty="0">
                <a:solidFill>
                  <a:srgbClr val="B9C4DB"/>
                </a:solidFill>
                <a:latin typeface="Calibri" pitchFamily="34" charset="0"/>
                <a:ea typeface="Calibri" pitchFamily="34" charset="-122"/>
                <a:cs typeface="Calibri" pitchFamily="34" charset="-120"/>
              </a:rPr>
              <a:t>出典: Anthropic公式試験ガイド Version 1.0(2026年7月発効) ほか</a:t>
            </a:r>
            <a:endParaRPr lang="en-US" sz="1050" dirty="0"/>
          </a:p>
        </p:txBody>
      </p:sp>
      <p:sp>
        <p:nvSpPr>
          <p:cNvPr id="9" name="Text 7"/>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5486400" cy="64008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目次</a:t>
            </a:r>
            <a:endParaRPr lang="en-US" sz="3000" dirty="0"/>
          </a:p>
        </p:txBody>
      </p:sp>
      <p:sp>
        <p:nvSpPr>
          <p:cNvPr id="3" name="Shape 1"/>
          <p:cNvSpPr/>
          <p:nvPr/>
        </p:nvSpPr>
        <p:spPr>
          <a:xfrm>
            <a:off x="640080" y="1051560"/>
            <a:ext cx="402336" cy="402336"/>
          </a:xfrm>
          <a:prstGeom prst="ellipse">
            <a:avLst/>
          </a:prstGeom>
          <a:solidFill>
            <a:srgbClr val="3E64FF"/>
          </a:solidFill>
          <a:ln/>
        </p:spPr>
      </p:sp>
      <p:sp>
        <p:nvSpPr>
          <p:cNvPr id="4" name="Text 2"/>
          <p:cNvSpPr txBox="1"/>
          <p:nvPr/>
        </p:nvSpPr>
        <p:spPr>
          <a:xfrm>
            <a:off x="640080" y="10515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261872" y="1024128"/>
            <a:ext cx="9966960" cy="292608"/>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この資格について / 対象者 / MQC像</a:t>
            </a:r>
            <a:endParaRPr lang="en-US" sz="1400" dirty="0"/>
          </a:p>
        </p:txBody>
      </p:sp>
      <p:sp>
        <p:nvSpPr>
          <p:cNvPr id="6" name="Text 4"/>
          <p:cNvSpPr txBox="1"/>
          <p:nvPr/>
        </p:nvSpPr>
        <p:spPr>
          <a:xfrm>
            <a:off x="1261872" y="1298448"/>
            <a:ext cx="9966960" cy="292608"/>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誰のための資格か、何を証明するか</a:t>
            </a:r>
            <a:endParaRPr lang="en-US" sz="1050" dirty="0"/>
          </a:p>
        </p:txBody>
      </p:sp>
      <p:sp>
        <p:nvSpPr>
          <p:cNvPr id="7" name="Shape 5"/>
          <p:cNvSpPr/>
          <p:nvPr/>
        </p:nvSpPr>
        <p:spPr>
          <a:xfrm>
            <a:off x="640080" y="1719072"/>
            <a:ext cx="402336" cy="402336"/>
          </a:xfrm>
          <a:prstGeom prst="ellipse">
            <a:avLst/>
          </a:prstGeom>
          <a:solidFill>
            <a:srgbClr val="3E64FF"/>
          </a:solidFill>
          <a:ln/>
        </p:spPr>
      </p:sp>
      <p:sp>
        <p:nvSpPr>
          <p:cNvPr id="8" name="Text 6"/>
          <p:cNvSpPr txBox="1"/>
          <p:nvPr/>
        </p:nvSpPr>
        <p:spPr>
          <a:xfrm>
            <a:off x="640080" y="1719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261872" y="1691640"/>
            <a:ext cx="9966960" cy="292608"/>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試験の概要と出題7分野</a:t>
            </a:r>
            <a:endParaRPr lang="en-US" sz="1400" dirty="0"/>
          </a:p>
        </p:txBody>
      </p:sp>
      <p:sp>
        <p:nvSpPr>
          <p:cNvPr id="10" name="Text 8"/>
          <p:cNvSpPr txBox="1"/>
          <p:nvPr/>
        </p:nvSpPr>
        <p:spPr>
          <a:xfrm>
            <a:off x="1261872" y="1965960"/>
            <a:ext cx="9966960" cy="292608"/>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問題数・時間・合格点、配点比率</a:t>
            </a:r>
            <a:endParaRPr lang="en-US" sz="1050" dirty="0"/>
          </a:p>
        </p:txBody>
      </p:sp>
      <p:sp>
        <p:nvSpPr>
          <p:cNvPr id="11" name="Shape 9"/>
          <p:cNvSpPr/>
          <p:nvPr/>
        </p:nvSpPr>
        <p:spPr>
          <a:xfrm>
            <a:off x="640080" y="2386584"/>
            <a:ext cx="402336" cy="402336"/>
          </a:xfrm>
          <a:prstGeom prst="ellipse">
            <a:avLst/>
          </a:prstGeom>
          <a:solidFill>
            <a:srgbClr val="3E64FF"/>
          </a:solidFill>
          <a:ln/>
        </p:spPr>
      </p:sp>
      <p:sp>
        <p:nvSpPr>
          <p:cNvPr id="12" name="Text 10"/>
          <p:cNvSpPr txBox="1"/>
          <p:nvPr/>
        </p:nvSpPr>
        <p:spPr>
          <a:xfrm>
            <a:off x="640080" y="23865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261872" y="2359152"/>
            <a:ext cx="9966960" cy="292608"/>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分野1〜7の詳細解説 + 追加の着眼点</a:t>
            </a:r>
            <a:endParaRPr lang="en-US" sz="1400" dirty="0"/>
          </a:p>
        </p:txBody>
      </p:sp>
      <p:sp>
        <p:nvSpPr>
          <p:cNvPr id="14" name="Text 12"/>
          <p:cNvSpPr txBox="1"/>
          <p:nvPr/>
        </p:nvSpPr>
        <p:spPr>
          <a:xfrm>
            <a:off x="1261872" y="2633472"/>
            <a:ext cx="9966960" cy="292608"/>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公式の学習目標 + 実例つき解説(Udemy模擬試験の知見も反映)</a:t>
            </a:r>
            <a:endParaRPr lang="en-US" sz="1050" dirty="0"/>
          </a:p>
        </p:txBody>
      </p:sp>
      <p:sp>
        <p:nvSpPr>
          <p:cNvPr id="15" name="Shape 13"/>
          <p:cNvSpPr/>
          <p:nvPr/>
        </p:nvSpPr>
        <p:spPr>
          <a:xfrm>
            <a:off x="640080" y="3054096"/>
            <a:ext cx="402336" cy="402336"/>
          </a:xfrm>
          <a:prstGeom prst="ellipse">
            <a:avLst/>
          </a:prstGeom>
          <a:solidFill>
            <a:srgbClr val="3E64FF"/>
          </a:solidFill>
          <a:ln/>
        </p:spPr>
      </p:sp>
      <p:sp>
        <p:nvSpPr>
          <p:cNvPr id="16" name="Text 14"/>
          <p:cNvSpPr txBox="1"/>
          <p:nvPr/>
        </p:nvSpPr>
        <p:spPr>
          <a:xfrm>
            <a:off x="640080" y="30540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261872" y="3026664"/>
            <a:ext cx="9966960" cy="292608"/>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試験対策テクニック</a:t>
            </a:r>
            <a:endParaRPr lang="en-US" sz="1400" dirty="0"/>
          </a:p>
        </p:txBody>
      </p:sp>
      <p:sp>
        <p:nvSpPr>
          <p:cNvPr id="18" name="Text 16"/>
          <p:cNvSpPr txBox="1"/>
          <p:nvPr/>
        </p:nvSpPr>
        <p:spPr>
          <a:xfrm>
            <a:off x="1261872" y="3300984"/>
            <a:ext cx="9966960" cy="292608"/>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動詞パターンによる正誤の見極め方</a:t>
            </a:r>
            <a:endParaRPr lang="en-US" sz="1050" dirty="0"/>
          </a:p>
        </p:txBody>
      </p:sp>
      <p:sp>
        <p:nvSpPr>
          <p:cNvPr id="19" name="Shape 17"/>
          <p:cNvSpPr/>
          <p:nvPr/>
        </p:nvSpPr>
        <p:spPr>
          <a:xfrm>
            <a:off x="640080" y="3721608"/>
            <a:ext cx="402336" cy="402336"/>
          </a:xfrm>
          <a:prstGeom prst="ellipse">
            <a:avLst/>
          </a:prstGeom>
          <a:solidFill>
            <a:srgbClr val="3E64FF"/>
          </a:solidFill>
          <a:ln/>
        </p:spPr>
      </p:sp>
      <p:sp>
        <p:nvSpPr>
          <p:cNvPr id="20" name="Text 18"/>
          <p:cNvSpPr txBox="1"/>
          <p:nvPr/>
        </p:nvSpPr>
        <p:spPr>
          <a:xfrm>
            <a:off x="640080" y="37216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txBox="1"/>
          <p:nvPr/>
        </p:nvSpPr>
        <p:spPr>
          <a:xfrm>
            <a:off x="1261872" y="3694176"/>
            <a:ext cx="9966960" cy="292608"/>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公式サンプル問題3問</a:t>
            </a:r>
            <a:endParaRPr lang="en-US" sz="1400" dirty="0"/>
          </a:p>
        </p:txBody>
      </p:sp>
      <p:sp>
        <p:nvSpPr>
          <p:cNvPr id="22" name="Text 20"/>
          <p:cNvSpPr txBox="1"/>
          <p:nvPr/>
        </p:nvSpPr>
        <p:spPr>
          <a:xfrm>
            <a:off x="1261872" y="3968496"/>
            <a:ext cx="9966960" cy="292608"/>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Exam Guide掲載の原文訳+解説(全30問の問題集はmd版に収録)</a:t>
            </a:r>
            <a:endParaRPr lang="en-US" sz="1050" dirty="0"/>
          </a:p>
        </p:txBody>
      </p:sp>
      <p:sp>
        <p:nvSpPr>
          <p:cNvPr id="23" name="Shape 21"/>
          <p:cNvSpPr/>
          <p:nvPr/>
        </p:nvSpPr>
        <p:spPr>
          <a:xfrm>
            <a:off x="640080" y="4389120"/>
            <a:ext cx="402336" cy="402336"/>
          </a:xfrm>
          <a:prstGeom prst="ellipse">
            <a:avLst/>
          </a:prstGeom>
          <a:solidFill>
            <a:srgbClr val="3E64FF"/>
          </a:solidFill>
          <a:ln/>
        </p:spPr>
      </p:sp>
      <p:sp>
        <p:nvSpPr>
          <p:cNvPr id="24" name="Text 22"/>
          <p:cNvSpPr txBox="1"/>
          <p:nvPr/>
        </p:nvSpPr>
        <p:spPr>
          <a:xfrm>
            <a:off x="640080" y="43891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5" name="Text 23"/>
          <p:cNvSpPr txBox="1"/>
          <p:nvPr/>
        </p:nvSpPr>
        <p:spPr>
          <a:xfrm>
            <a:off x="1261872" y="4361688"/>
            <a:ext cx="9966960" cy="292608"/>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試験ポリシー</a:t>
            </a:r>
            <a:endParaRPr lang="en-US" sz="1400" dirty="0"/>
          </a:p>
        </p:txBody>
      </p:sp>
      <p:sp>
        <p:nvSpPr>
          <p:cNvPr id="26" name="Text 24"/>
          <p:cNvSpPr txBox="1"/>
          <p:nvPr/>
        </p:nvSpPr>
        <p:spPr>
          <a:xfrm>
            <a:off x="1261872" y="4636008"/>
            <a:ext cx="9966960" cy="292608"/>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申込み・本人確認・再受験・資格更新</a:t>
            </a:r>
            <a:endParaRPr lang="en-US" sz="1050" dirty="0"/>
          </a:p>
        </p:txBody>
      </p:sp>
      <p:sp>
        <p:nvSpPr>
          <p:cNvPr id="27" name="Shape 25"/>
          <p:cNvSpPr/>
          <p:nvPr/>
        </p:nvSpPr>
        <p:spPr>
          <a:xfrm>
            <a:off x="640080" y="5056632"/>
            <a:ext cx="402336" cy="402336"/>
          </a:xfrm>
          <a:prstGeom prst="ellipse">
            <a:avLst/>
          </a:prstGeom>
          <a:solidFill>
            <a:srgbClr val="3E64FF"/>
          </a:solidFill>
          <a:ln/>
        </p:spPr>
      </p:sp>
      <p:sp>
        <p:nvSpPr>
          <p:cNvPr id="28" name="Text 26"/>
          <p:cNvSpPr txBox="1"/>
          <p:nvPr/>
        </p:nvSpPr>
        <p:spPr>
          <a:xfrm>
            <a:off x="640080" y="50566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9" name="Text 27"/>
          <p:cNvSpPr txBox="1"/>
          <p:nvPr/>
        </p:nvSpPr>
        <p:spPr>
          <a:xfrm>
            <a:off x="1261872" y="5029200"/>
            <a:ext cx="9966960" cy="292608"/>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他のClaude認定資格との違い</a:t>
            </a:r>
            <a:endParaRPr lang="en-US" sz="1400" dirty="0"/>
          </a:p>
        </p:txBody>
      </p:sp>
      <p:sp>
        <p:nvSpPr>
          <p:cNvPr id="30" name="Text 28"/>
          <p:cNvSpPr txBox="1"/>
          <p:nvPr/>
        </p:nvSpPr>
        <p:spPr>
          <a:xfrm>
            <a:off x="1261872" y="5303520"/>
            <a:ext cx="9966960" cy="292608"/>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CCAO-F/CCDV-F/CCAR-F/CCAR-Pの比較</a:t>
            </a:r>
            <a:endParaRPr lang="en-US" sz="1050" dirty="0"/>
          </a:p>
        </p:txBody>
      </p:sp>
      <p:sp>
        <p:nvSpPr>
          <p:cNvPr id="31" name="Shape 29"/>
          <p:cNvSpPr/>
          <p:nvPr/>
        </p:nvSpPr>
        <p:spPr>
          <a:xfrm>
            <a:off x="640080" y="5724144"/>
            <a:ext cx="402336" cy="402336"/>
          </a:xfrm>
          <a:prstGeom prst="ellipse">
            <a:avLst/>
          </a:prstGeom>
          <a:solidFill>
            <a:srgbClr val="3E64FF"/>
          </a:solidFill>
          <a:ln/>
        </p:spPr>
      </p:sp>
      <p:sp>
        <p:nvSpPr>
          <p:cNvPr id="32" name="Text 30"/>
          <p:cNvSpPr txBox="1"/>
          <p:nvPr/>
        </p:nvSpPr>
        <p:spPr>
          <a:xfrm>
            <a:off x="640080" y="57241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3" name="Text 31"/>
          <p:cNvSpPr txBox="1"/>
          <p:nvPr/>
        </p:nvSpPr>
        <p:spPr>
          <a:xfrm>
            <a:off x="1261872" y="5696712"/>
            <a:ext cx="9966960" cy="292608"/>
          </a:xfrm>
          <a:prstGeom prst="rect">
            <a:avLst/>
          </a:prstGeom>
          <a:noFill/>
          <a:ln/>
        </p:spPr>
        <p:txBody>
          <a:bodyPr wrap="square" lIns="0" tIns="0" rIns="0" bIns="0" rtlCol="0" anchor="ctr"/>
          <a:lstStyle/>
          <a:p>
            <a:pPr indent="0" marL="0">
              <a:buNone/>
            </a:pPr>
            <a:r>
              <a:rPr lang="en-US" sz="1400" b="1" dirty="0">
                <a:solidFill>
                  <a:srgbClr val="16213E"/>
                </a:solidFill>
                <a:latin typeface="Calibri" pitchFamily="34" charset="0"/>
                <a:ea typeface="Calibri" pitchFamily="34" charset="-122"/>
                <a:cs typeface="Calibri" pitchFamily="34" charset="-120"/>
              </a:rPr>
              <a:t>用語集・誤答パターン・まとめ</a:t>
            </a:r>
            <a:endParaRPr lang="en-US" sz="1400" dirty="0"/>
          </a:p>
        </p:txBody>
      </p:sp>
      <p:sp>
        <p:nvSpPr>
          <p:cNvPr id="34" name="Text 32"/>
          <p:cNvSpPr txBox="1"/>
          <p:nvPr/>
        </p:nvSpPr>
        <p:spPr>
          <a:xfrm>
            <a:off x="1261872" y="5971032"/>
            <a:ext cx="9966960" cy="292608"/>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頻出の引っかけ選択肢</a:t>
            </a:r>
            <a:endParaRPr lang="en-US" sz="1050" dirty="0"/>
          </a:p>
        </p:txBody>
      </p:sp>
      <p:sp>
        <p:nvSpPr>
          <p:cNvPr id="35" name="Text 33"/>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E0A526"/>
                </a:solidFill>
                <a:latin typeface="Calibri" pitchFamily="34" charset="0"/>
                <a:ea typeface="Calibri" pitchFamily="34" charset="-122"/>
                <a:cs typeface="Calibri" pitchFamily="34" charset="-120"/>
              </a:rPr>
              <a:t>⚠ 2026年12月7日より試験内容が更新予定(本資料はVersion 1.0/2026年7月発効に基づく)</a:t>
            </a:r>
            <a:endParaRPr lang="en-US" sz="1000" dirty="0"/>
          </a:p>
        </p:txBody>
      </p:sp>
      <p:sp>
        <p:nvSpPr>
          <p:cNvPr id="36" name="Text 34"/>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1</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この資格について</a:t>
            </a:r>
            <a:endParaRPr lang="en-US" sz="2200" dirty="0"/>
          </a:p>
        </p:txBody>
      </p:sp>
      <p:sp>
        <p:nvSpPr>
          <p:cNvPr id="4" name="Text 2"/>
          <p:cNvSpPr txBox="1"/>
          <p:nvPr/>
        </p:nvSpPr>
        <p:spPr>
          <a:xfrm>
            <a:off x="548640" y="1325880"/>
            <a:ext cx="10881360" cy="365760"/>
          </a:xfrm>
          <a:prstGeom prst="rect">
            <a:avLst/>
          </a:prstGeom>
          <a:noFill/>
          <a:ln/>
        </p:spPr>
        <p:txBody>
          <a:bodyPr wrap="square" lIns="0" tIns="0" rIns="0" bIns="0" rtlCol="0" anchor="ctr"/>
          <a:lstStyle/>
          <a:p>
            <a:pPr indent="0" marL="0">
              <a:buNone/>
            </a:pPr>
            <a:r>
              <a:rPr lang="en-US" sz="1250" i="1" dirty="0">
                <a:solidFill>
                  <a:srgbClr val="5B6B8C"/>
                </a:solidFill>
                <a:latin typeface="Calibri" pitchFamily="34" charset="0"/>
                <a:ea typeface="Calibri" pitchFamily="34" charset="-122"/>
                <a:cs typeface="Calibri" pitchFamily="34" charset="-120"/>
              </a:rPr>
              <a:t>最小限のサポートで、Claudeを業務・生産性タスクに適用できることを証明する資格</a:t>
            </a:r>
            <a:endParaRPr lang="en-US" sz="1250" dirty="0"/>
          </a:p>
        </p:txBody>
      </p:sp>
      <p:sp>
        <p:nvSpPr>
          <p:cNvPr id="5" name="Text 3"/>
          <p:cNvSpPr txBox="1"/>
          <p:nvPr/>
        </p:nvSpPr>
        <p:spPr>
          <a:xfrm>
            <a:off x="548640" y="1783080"/>
            <a:ext cx="5303520" cy="320040"/>
          </a:xfrm>
          <a:prstGeom prst="rect">
            <a:avLst/>
          </a:prstGeom>
          <a:noFill/>
          <a:ln/>
        </p:spPr>
        <p:txBody>
          <a:bodyPr wrap="square" lIns="0" tIns="0" rIns="0" bIns="0" rtlCol="0" anchor="ctr"/>
          <a:lstStyle/>
          <a:p>
            <a:pPr indent="0" marL="0">
              <a:buNone/>
            </a:pPr>
            <a:r>
              <a:rPr lang="en-US" sz="1350" b="1" dirty="0">
                <a:solidFill>
                  <a:srgbClr val="3E64FF"/>
                </a:solidFill>
                <a:latin typeface="Calibri" pitchFamily="34" charset="0"/>
                <a:ea typeface="Calibri" pitchFamily="34" charset="-122"/>
                <a:cs typeface="Calibri" pitchFamily="34" charset="-120"/>
              </a:rPr>
              <a:t>証明できること</a:t>
            </a:r>
            <a:endParaRPr lang="en-US" sz="1350" dirty="0"/>
          </a:p>
        </p:txBody>
      </p:sp>
      <p:sp>
        <p:nvSpPr>
          <p:cNvPr id="6" name="Text 4"/>
          <p:cNvSpPr txBox="1"/>
          <p:nvPr/>
        </p:nvSpPr>
        <p:spPr>
          <a:xfrm>
            <a:off x="548640" y="2103120"/>
            <a:ext cx="5303520" cy="19202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組み込み機能・ツールを使いワークフローを効率化する</a:t>
            </a:r>
            <a:endParaRPr lang="en-US" sz="1100" dirty="0"/>
          </a:p>
          <a:p>
            <a:pPr marL="342900" indent="-3429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Claudeでプロセスを改善できる機会を特定する</a:t>
            </a:r>
            <a:endParaRPr lang="en-US" sz="1100" dirty="0"/>
          </a:p>
          <a:p>
            <a:pPr marL="342900" indent="-3429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品質・効率・コストのバランスを取るアプローチを選択する</a:t>
            </a:r>
            <a:endParaRPr lang="en-US" sz="1100" dirty="0"/>
          </a:p>
          <a:p>
            <a:pPr marL="342900" indent="-3429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限界を認識し、より複雑な作業をArchitect/Developerへエスカレーションする</a:t>
            </a:r>
            <a:endParaRPr lang="en-US" sz="1100" dirty="0"/>
          </a:p>
        </p:txBody>
      </p:sp>
      <p:sp>
        <p:nvSpPr>
          <p:cNvPr id="7" name="Text 5"/>
          <p:cNvSpPr txBox="1"/>
          <p:nvPr/>
        </p:nvSpPr>
        <p:spPr>
          <a:xfrm>
            <a:off x="6126480" y="1783080"/>
            <a:ext cx="5120640" cy="320040"/>
          </a:xfrm>
          <a:prstGeom prst="rect">
            <a:avLst/>
          </a:prstGeom>
          <a:noFill/>
          <a:ln/>
        </p:spPr>
        <p:txBody>
          <a:bodyPr wrap="square" lIns="0" tIns="0" rIns="0" bIns="0" rtlCol="0" anchor="ctr"/>
          <a:lstStyle/>
          <a:p>
            <a:pPr indent="0" marL="0">
              <a:buNone/>
            </a:pPr>
            <a:r>
              <a:rPr lang="en-US" sz="1350" b="1" dirty="0">
                <a:solidFill>
                  <a:srgbClr val="3E64FF"/>
                </a:solidFill>
                <a:latin typeface="Calibri" pitchFamily="34" charset="0"/>
                <a:ea typeface="Calibri" pitchFamily="34" charset="-122"/>
                <a:cs typeface="Calibri" pitchFamily="34" charset="-120"/>
              </a:rPr>
              <a:t>対象とならない人</a:t>
            </a:r>
            <a:endParaRPr lang="en-US" sz="1350" dirty="0"/>
          </a:p>
        </p:txBody>
      </p:sp>
      <p:sp>
        <p:nvSpPr>
          <p:cNvPr id="8" name="Shape 6"/>
          <p:cNvSpPr/>
          <p:nvPr/>
        </p:nvSpPr>
        <p:spPr>
          <a:xfrm>
            <a:off x="6126480" y="2103120"/>
            <a:ext cx="5120640" cy="1920240"/>
          </a:xfrm>
          <a:prstGeom prst="roundRect">
            <a:avLst>
              <a:gd name="adj" fmla="val 3810"/>
            </a:avLst>
          </a:prstGeom>
          <a:solidFill>
            <a:srgbClr val="F5F7FB"/>
          </a:solidFill>
          <a:ln w="12700">
            <a:solidFill>
              <a:srgbClr val="E1E6F0"/>
            </a:solidFill>
            <a:prstDash val="solid"/>
          </a:ln>
        </p:spPr>
      </p:sp>
      <p:sp>
        <p:nvSpPr>
          <p:cNvPr id="9" name="Text 7"/>
          <p:cNvSpPr txBox="1"/>
          <p:nvPr/>
        </p:nvSpPr>
        <p:spPr>
          <a:xfrm>
            <a:off x="6309360" y="2286000"/>
            <a:ext cx="4754880" cy="1645920"/>
          </a:xfrm>
          <a:prstGeom prst="rect">
            <a:avLst/>
          </a:prstGeom>
          <a:noFill/>
          <a:ln/>
        </p:spPr>
        <p:txBody>
          <a:bodyPr wrap="square" lIns="0" tIns="0" rIns="0" bIns="0" rtlCol="0" anchor="ctr"/>
          <a:lstStyle/>
          <a:p>
            <a:pPr indent="0" marL="0">
              <a:buNone/>
            </a:pPr>
            <a:r>
              <a:rPr lang="en-US" sz="1100" dirty="0">
                <a:solidFill>
                  <a:srgbClr val="16213E"/>
                </a:solidFill>
                <a:latin typeface="Calibri" pitchFamily="34" charset="0"/>
                <a:ea typeface="Calibri" pitchFamily="34" charset="-122"/>
                <a:cs typeface="Calibri" pitchFamily="34" charset="-120"/>
              </a:rPr>
              <a:t>APIを利用して開発するソフトウェア開発者、エージェントシステムを設計する人、機械学習・ソフトウェアエンジニアリングの専門家は対象外。その範囲はClaude Architect・Claude Developer資格が担う</a:t>
            </a:r>
            <a:endParaRPr lang="en-US" sz="1100" dirty="0"/>
          </a:p>
        </p:txBody>
      </p:sp>
      <p:sp>
        <p:nvSpPr>
          <p:cNvPr id="10" name="Text 8"/>
          <p:cNvSpPr txBox="1"/>
          <p:nvPr/>
        </p:nvSpPr>
        <p:spPr>
          <a:xfrm>
            <a:off x="548640" y="4251960"/>
            <a:ext cx="10881360" cy="320040"/>
          </a:xfrm>
          <a:prstGeom prst="rect">
            <a:avLst/>
          </a:prstGeom>
          <a:noFill/>
          <a:ln/>
        </p:spPr>
        <p:txBody>
          <a:bodyPr wrap="square" lIns="0" tIns="0" rIns="0" bIns="0" rtlCol="0" anchor="ctr"/>
          <a:lstStyle/>
          <a:p>
            <a:pPr indent="0" marL="0">
              <a:buNone/>
            </a:pPr>
            <a:r>
              <a:rPr lang="en-US" sz="1350" b="1" dirty="0">
                <a:solidFill>
                  <a:srgbClr val="3E64FF"/>
                </a:solidFill>
                <a:latin typeface="Calibri" pitchFamily="34" charset="0"/>
                <a:ea typeface="Calibri" pitchFamily="34" charset="-122"/>
                <a:cs typeface="Calibri" pitchFamily="34" charset="-120"/>
              </a:rPr>
              <a:t>MQC(最低限の能力を備えた受験者)像</a:t>
            </a:r>
            <a:endParaRPr lang="en-US" sz="1350" dirty="0"/>
          </a:p>
        </p:txBody>
      </p:sp>
      <p:sp>
        <p:nvSpPr>
          <p:cNvPr id="11" name="Text 9"/>
          <p:cNvSpPr txBox="1"/>
          <p:nvPr/>
        </p:nvSpPr>
        <p:spPr>
          <a:xfrm>
            <a:off x="548640" y="4572000"/>
            <a:ext cx="10881360" cy="914400"/>
          </a:xfrm>
          <a:prstGeom prst="rect">
            <a:avLst/>
          </a:prstGeom>
          <a:noFill/>
          <a:ln/>
        </p:spPr>
        <p:txBody>
          <a:bodyPr wrap="square" lIns="0" tIns="0" rIns="0" bIns="0" rtlCol="0" anchor="ctr"/>
          <a:lstStyle/>
          <a:p>
            <a:pPr indent="0" marL="0">
              <a:buNone/>
            </a:pPr>
            <a:r>
              <a:rPr lang="en-US" sz="1100" dirty="0">
                <a:solidFill>
                  <a:srgbClr val="16213E"/>
                </a:solidFill>
                <a:latin typeface="Calibri" pitchFamily="34" charset="0"/>
                <a:ea typeface="Calibri" pitchFamily="34" charset="-122"/>
                <a:cs typeface="Calibri" pitchFamily="34" charset="-120"/>
              </a:rPr>
              <a:t>Claudeを中核的な生産性向上ツールとして使用し、実際のワークフローの中で効果的に適用して効率・品質・成果を改善できる実務者。プロンプトの構造化・タスクのオーケストレーション・プロジェクト/アーティファクトなどの機能に習熟し、単純な質疑応答を超えてプロセスの再構想・タスク自動化・プロジェクト開発まで行う</a:t>
            </a:r>
            <a:endParaRPr lang="en-US" sz="1100" dirty="0"/>
          </a:p>
        </p:txBody>
      </p:sp>
      <p:sp>
        <p:nvSpPr>
          <p:cNvPr id="12" name="Text 10"/>
          <p:cNvSpPr txBox="1"/>
          <p:nvPr/>
        </p:nvSpPr>
        <p:spPr>
          <a:xfrm>
            <a:off x="548640" y="5623560"/>
            <a:ext cx="10881360" cy="548640"/>
          </a:xfrm>
          <a:prstGeom prst="rect">
            <a:avLst/>
          </a:prstGeom>
          <a:noFill/>
          <a:ln/>
        </p:spPr>
        <p:txBody>
          <a:bodyPr wrap="square" lIns="0" tIns="0" rIns="0" bIns="0" rtlCol="0" anchor="ctr"/>
          <a:lstStyle/>
          <a:p>
            <a:pPr indent="0" marL="0">
              <a:buNone/>
            </a:pPr>
            <a:r>
              <a:rPr lang="en-US" sz="1050" i="1" dirty="0">
                <a:solidFill>
                  <a:srgbClr val="5B6B8C"/>
                </a:solidFill>
                <a:latin typeface="Calibri" pitchFamily="34" charset="0"/>
                <a:ea typeface="Calibri" pitchFamily="34" charset="-122"/>
                <a:cs typeface="Calibri" pitchFamily="34" charset="-120"/>
              </a:rPr>
              <a:t>前提条件: 必須の前提資格・必修コースなし。ソフトウェア開発・API経験も不要。資格は試験の成績のみに基づいて授与される</a:t>
            </a:r>
            <a:endParaRPr lang="en-US" sz="1050" dirty="0"/>
          </a:p>
        </p:txBody>
      </p:sp>
      <p:sp>
        <p:nvSpPr>
          <p:cNvPr id="13" name="Text 11"/>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セクション1・4</a:t>
            </a:r>
            <a:endParaRPr lang="en-US" sz="900" dirty="0"/>
          </a:p>
        </p:txBody>
      </p:sp>
      <p:sp>
        <p:nvSpPr>
          <p:cNvPr id="14" name="Text 12"/>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2</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F2F4F8"/>
                </a:solidFill>
                <a:latin typeface="Cambria" pitchFamily="34" charset="0"/>
                <a:ea typeface="Cambria" pitchFamily="34" charset="-122"/>
                <a:cs typeface="Cambria" pitchFamily="34" charset="-120"/>
              </a:rPr>
              <a:t>試験の概要</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754880"/>
        </p:xfrm>
        <a:graphic>
          <a:graphicData uri="http://schemas.openxmlformats.org/drawingml/2006/table">
            <a:tbl>
              <a:tblPr/>
              <a:tblGrid>
                <a:gridCol w="2743200"/>
                <a:gridCol w="8321040"/>
              </a:tblGrid>
              <a:tr h="528320">
                <a:tc>
                  <a:txBody>
                    <a:bodyPr/>
                    <a:lstStyle/>
                    <a:p>
                      <a:pPr indent="0" marL="0">
                        <a:buNone/>
                      </a:pPr>
                      <a:r>
                        <a:rPr lang="en-US" sz="1200" b="1" dirty="0">
                          <a:solidFill>
                            <a:srgbClr val="2CB1BC"/>
                          </a:solidFill>
                          <a:latin typeface="Calibri" pitchFamily="34" charset="0"/>
                          <a:ea typeface="Calibri" pitchFamily="34" charset="-122"/>
                          <a:cs typeface="Calibri" pitchFamily="34" charset="-120"/>
                        </a:rPr>
                        <a:t>資格</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200" dirty="0">
                          <a:solidFill>
                            <a:srgbClr val="F2F4F8"/>
                          </a:solidFill>
                          <a:latin typeface="Calibri" pitchFamily="34" charset="0"/>
                          <a:ea typeface="Calibri" pitchFamily="34" charset="-122"/>
                          <a:cs typeface="Calibri" pitchFamily="34" charset="-120"/>
                        </a:rPr>
                        <a:t>Claude Certified Associate – Foundations</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28320">
                <a:tc>
                  <a:txBody>
                    <a:bodyPr/>
                    <a:lstStyle/>
                    <a:p>
                      <a:pPr indent="0" marL="0">
                        <a:buNone/>
                      </a:pPr>
                      <a:r>
                        <a:rPr lang="en-US" sz="1200" b="1" dirty="0">
                          <a:solidFill>
                            <a:srgbClr val="2CB1BC"/>
                          </a:solidFill>
                          <a:latin typeface="Calibri" pitchFamily="34" charset="0"/>
                          <a:ea typeface="Calibri" pitchFamily="34" charset="-122"/>
                          <a:cs typeface="Calibri" pitchFamily="34" charset="-120"/>
                        </a:rPr>
                        <a:t>試験コード</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200" dirty="0">
                          <a:solidFill>
                            <a:srgbClr val="F2F4F8"/>
                          </a:solidFill>
                          <a:latin typeface="Calibri" pitchFamily="34" charset="0"/>
                          <a:ea typeface="Calibri" pitchFamily="34" charset="-122"/>
                          <a:cs typeface="Calibri" pitchFamily="34" charset="-120"/>
                        </a:rPr>
                        <a:t>CCAO-F</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28320">
                <a:tc>
                  <a:txBody>
                    <a:bodyPr/>
                    <a:lstStyle/>
                    <a:p>
                      <a:pPr indent="0" marL="0">
                        <a:buNone/>
                      </a:pPr>
                      <a:r>
                        <a:rPr lang="en-US" sz="1200" b="1" dirty="0">
                          <a:solidFill>
                            <a:srgbClr val="2CB1BC"/>
                          </a:solidFill>
                          <a:latin typeface="Calibri" pitchFamily="34" charset="0"/>
                          <a:ea typeface="Calibri" pitchFamily="34" charset="-122"/>
                          <a:cs typeface="Calibri" pitchFamily="34" charset="-120"/>
                        </a:rPr>
                        <a:t>問題数</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200" dirty="0">
                          <a:solidFill>
                            <a:srgbClr val="F2F4F8"/>
                          </a:solidFill>
                          <a:latin typeface="Calibri" pitchFamily="34" charset="0"/>
                          <a:ea typeface="Calibri" pitchFamily="34" charset="-122"/>
                          <a:cs typeface="Calibri" pitchFamily="34" charset="-120"/>
                        </a:rPr>
                        <a:t>60(単一選択・複数選択式)</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28320">
                <a:tc>
                  <a:txBody>
                    <a:bodyPr/>
                    <a:lstStyle/>
                    <a:p>
                      <a:pPr indent="0" marL="0">
                        <a:buNone/>
                      </a:pPr>
                      <a:r>
                        <a:rPr lang="en-US" sz="1200" b="1" dirty="0">
                          <a:solidFill>
                            <a:srgbClr val="2CB1BC"/>
                          </a:solidFill>
                          <a:latin typeface="Calibri" pitchFamily="34" charset="0"/>
                          <a:ea typeface="Calibri" pitchFamily="34" charset="-122"/>
                          <a:cs typeface="Calibri" pitchFamily="34" charset="-120"/>
                        </a:rPr>
                        <a:t>制限時間</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200" dirty="0">
                          <a:solidFill>
                            <a:srgbClr val="F2F4F8"/>
                          </a:solidFill>
                          <a:latin typeface="Calibri" pitchFamily="34" charset="0"/>
                          <a:ea typeface="Calibri" pitchFamily="34" charset="-122"/>
                          <a:cs typeface="Calibri" pitchFamily="34" charset="-120"/>
                        </a:rPr>
                        <a:t>120分</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28320">
                <a:tc>
                  <a:txBody>
                    <a:bodyPr/>
                    <a:lstStyle/>
                    <a:p>
                      <a:pPr indent="0" marL="0">
                        <a:buNone/>
                      </a:pPr>
                      <a:r>
                        <a:rPr lang="en-US" sz="1200" b="1" dirty="0">
                          <a:solidFill>
                            <a:srgbClr val="2CB1BC"/>
                          </a:solidFill>
                          <a:latin typeface="Calibri" pitchFamily="34" charset="0"/>
                          <a:ea typeface="Calibri" pitchFamily="34" charset="-122"/>
                          <a:cs typeface="Calibri" pitchFamily="34" charset="-120"/>
                        </a:rPr>
                        <a:t>実施方法</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200" dirty="0">
                          <a:solidFill>
                            <a:srgbClr val="F2F4F8"/>
                          </a:solidFill>
                          <a:latin typeface="Calibri" pitchFamily="34" charset="0"/>
                          <a:ea typeface="Calibri" pitchFamily="34" charset="-122"/>
                          <a:cs typeface="Calibri" pitchFamily="34" charset="-120"/>
                        </a:rPr>
                        <a:t>オンライン監督付き または Pearsonテストセンター</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28320">
                <a:tc>
                  <a:txBody>
                    <a:bodyPr/>
                    <a:lstStyle/>
                    <a:p>
                      <a:pPr indent="0" marL="0">
                        <a:buNone/>
                      </a:pPr>
                      <a:r>
                        <a:rPr lang="en-US" sz="1200" b="1" dirty="0">
                          <a:solidFill>
                            <a:srgbClr val="2CB1BC"/>
                          </a:solidFill>
                          <a:latin typeface="Calibri" pitchFamily="34" charset="0"/>
                          <a:ea typeface="Calibri" pitchFamily="34" charset="-122"/>
                          <a:cs typeface="Calibri" pitchFamily="34" charset="-120"/>
                        </a:rPr>
                        <a:t>合格点</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200" dirty="0">
                          <a:solidFill>
                            <a:srgbClr val="F2F4F8"/>
                          </a:solidFill>
                          <a:latin typeface="Calibri" pitchFamily="34" charset="0"/>
                          <a:ea typeface="Calibri" pitchFamily="34" charset="-122"/>
                          <a:cs typeface="Calibri" pitchFamily="34" charset="-120"/>
                        </a:rPr>
                        <a:t>100〜1,000のスケールで720</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28320">
                <a:tc>
                  <a:txBody>
                    <a:bodyPr/>
                    <a:lstStyle/>
                    <a:p>
                      <a:pPr indent="0" marL="0">
                        <a:buNone/>
                      </a:pPr>
                      <a:r>
                        <a:rPr lang="en-US" sz="1200" b="1" dirty="0">
                          <a:solidFill>
                            <a:srgbClr val="2CB1BC"/>
                          </a:solidFill>
                          <a:latin typeface="Calibri" pitchFamily="34" charset="0"/>
                          <a:ea typeface="Calibri" pitchFamily="34" charset="-122"/>
                          <a:cs typeface="Calibri" pitchFamily="34" charset="-120"/>
                        </a:rPr>
                        <a:t>受験料</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200" dirty="0">
                          <a:solidFill>
                            <a:srgbClr val="F2F4F8"/>
                          </a:solidFill>
                          <a:latin typeface="Calibri" pitchFamily="34" charset="0"/>
                          <a:ea typeface="Calibri" pitchFamily="34" charset="-122"/>
                          <a:cs typeface="Calibri" pitchFamily="34" charset="-120"/>
                        </a:rPr>
                        <a:t>$99 USD(パートナー階層に応じ割引あり)</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28320">
                <a:tc>
                  <a:txBody>
                    <a:bodyPr/>
                    <a:lstStyle/>
                    <a:p>
                      <a:pPr indent="0" marL="0">
                        <a:buNone/>
                      </a:pPr>
                      <a:r>
                        <a:rPr lang="en-US" sz="1200" b="1" dirty="0">
                          <a:solidFill>
                            <a:srgbClr val="2CB1BC"/>
                          </a:solidFill>
                          <a:latin typeface="Calibri" pitchFamily="34" charset="0"/>
                          <a:ea typeface="Calibri" pitchFamily="34" charset="-122"/>
                          <a:cs typeface="Calibri" pitchFamily="34" charset="-120"/>
                        </a:rPr>
                        <a:t>有効期間</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200" dirty="0">
                          <a:solidFill>
                            <a:srgbClr val="F2F4F8"/>
                          </a:solidFill>
                          <a:latin typeface="Calibri" pitchFamily="34" charset="0"/>
                          <a:ea typeface="Calibri" pitchFamily="34" charset="-122"/>
                          <a:cs typeface="Calibri" pitchFamily="34" charset="-120"/>
                        </a:rPr>
                        <a:t>認定日から12ヶ月(期限内更新は無料)</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28320">
                <a:tc>
                  <a:txBody>
                    <a:bodyPr/>
                    <a:lstStyle/>
                    <a:p>
                      <a:pPr indent="0" marL="0">
                        <a:buNone/>
                      </a:pPr>
                      <a:r>
                        <a:rPr lang="en-US" sz="1200" b="1" dirty="0">
                          <a:solidFill>
                            <a:srgbClr val="2CB1BC"/>
                          </a:solidFill>
                          <a:latin typeface="Calibri" pitchFamily="34" charset="0"/>
                          <a:ea typeface="Calibri" pitchFamily="34" charset="-122"/>
                          <a:cs typeface="Calibri" pitchFamily="34" charset="-120"/>
                        </a:rPr>
                        <a:t>受験資格</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200" dirty="0">
                          <a:solidFill>
                            <a:srgbClr val="F2F4F8"/>
                          </a:solidFill>
                          <a:latin typeface="Calibri" pitchFamily="34" charset="0"/>
                          <a:ea typeface="Calibri" pitchFamily="34" charset="-122"/>
                          <a:cs typeface="Calibri" pitchFamily="34" charset="-120"/>
                        </a:rPr>
                        <a:t>Claude Partner Network(CPN)加盟企業所属者のみ</a:t>
                      </a:r>
                      <a:endParaRPr lang="en-US" sz="1200" dirty="0">
                        <a:latin typeface="Calibri" charset="0"/>
                        <a:ea typeface="Calibri" charset="0"/>
                        <a:cs typeface="Calibri" charset="0"/>
                      </a:endParaRPr>
                    </a:p>
                  </a:txBody>
                  <a:tcPr marL="101600" marR="101600" marT="50800" marB="508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bl>
          </a:graphicData>
        </a:graphic>
      </p:graphicFrame>
      <p:sp>
        <p:nvSpPr>
          <p:cNvPr id="5" name="Text 2"/>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B9C4DB"/>
                </a:solidFill>
                <a:latin typeface="Calibri" pitchFamily="34" charset="0"/>
                <a:ea typeface="Calibri" pitchFamily="34" charset="-122"/>
                <a:cs typeface="Calibri" pitchFamily="34" charset="-120"/>
              </a:rPr>
              <a:t>出典: Anthropic公式試験ガイド セクション5</a:t>
            </a:r>
            <a:endParaRPr lang="en-US" sz="900" dirty="0"/>
          </a:p>
        </p:txBody>
      </p:sp>
      <p:sp>
        <p:nvSpPr>
          <p:cNvPr id="6" name="Text 3"/>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2</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出題7分野と配点比率</a:t>
            </a:r>
            <a:endParaRPr lang="en-US" sz="2200" dirty="0"/>
          </a:p>
        </p:txBody>
      </p:sp>
      <p:sp>
        <p:nvSpPr>
          <p:cNvPr id="4" name="Text 2"/>
          <p:cNvSpPr txBox="1"/>
          <p:nvPr/>
        </p:nvSpPr>
        <p:spPr>
          <a:xfrm>
            <a:off x="548640" y="1371600"/>
            <a:ext cx="365760" cy="457200"/>
          </a:xfrm>
          <a:prstGeom prst="rect">
            <a:avLst/>
          </a:prstGeom>
          <a:noFill/>
          <a:ln/>
        </p:spPr>
        <p:txBody>
          <a:bodyPr wrap="square" lIns="0" tIns="0" rIns="0" bIns="0" rtlCol="0" anchor="ctr"/>
          <a:lstStyle/>
          <a:p>
            <a:pPr indent="0" marL="0">
              <a:buNone/>
            </a:pPr>
            <a:r>
              <a:rPr lang="en-US" sz="1200" b="1" dirty="0">
                <a:solidFill>
                  <a:srgbClr val="5B6B8C"/>
                </a:solidFill>
                <a:latin typeface="Calibri" pitchFamily="34" charset="0"/>
                <a:ea typeface="Calibri" pitchFamily="34" charset="-122"/>
                <a:cs typeface="Calibri" pitchFamily="34" charset="-120"/>
              </a:rPr>
              <a:t>1</a:t>
            </a:r>
            <a:endParaRPr lang="en-US" sz="1200" dirty="0"/>
          </a:p>
        </p:txBody>
      </p:sp>
      <p:sp>
        <p:nvSpPr>
          <p:cNvPr id="5" name="Text 3"/>
          <p:cNvSpPr txBox="1"/>
          <p:nvPr/>
        </p:nvSpPr>
        <p:spPr>
          <a:xfrm>
            <a:off x="960120" y="1371600"/>
            <a:ext cx="3749040" cy="457200"/>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プロンプト作成とタスク実行</a:t>
            </a:r>
            <a:endParaRPr lang="en-US" sz="1150" dirty="0"/>
          </a:p>
        </p:txBody>
      </p:sp>
      <p:sp>
        <p:nvSpPr>
          <p:cNvPr id="6" name="Shape 4"/>
          <p:cNvSpPr/>
          <p:nvPr/>
        </p:nvSpPr>
        <p:spPr>
          <a:xfrm>
            <a:off x="4846320" y="1444752"/>
            <a:ext cx="6400800" cy="310896"/>
          </a:xfrm>
          <a:prstGeom prst="rect">
            <a:avLst/>
          </a:prstGeom>
          <a:solidFill>
            <a:srgbClr val="EEF1F8"/>
          </a:solidFill>
          <a:ln/>
        </p:spPr>
      </p:sp>
      <p:sp>
        <p:nvSpPr>
          <p:cNvPr id="7" name="Shape 5"/>
          <p:cNvSpPr/>
          <p:nvPr/>
        </p:nvSpPr>
        <p:spPr>
          <a:xfrm>
            <a:off x="4846320" y="1444752"/>
            <a:ext cx="4267200" cy="310896"/>
          </a:xfrm>
          <a:prstGeom prst="rect">
            <a:avLst/>
          </a:prstGeom>
          <a:solidFill>
            <a:srgbClr val="2CB1BC"/>
          </a:solidFill>
          <a:ln/>
        </p:spPr>
      </p:sp>
      <p:sp>
        <p:nvSpPr>
          <p:cNvPr id="8" name="Text 6"/>
          <p:cNvSpPr txBox="1"/>
          <p:nvPr/>
        </p:nvSpPr>
        <p:spPr>
          <a:xfrm>
            <a:off x="11292840" y="1371600"/>
            <a:ext cx="457200" cy="457200"/>
          </a:xfrm>
          <a:prstGeom prst="rect">
            <a:avLst/>
          </a:prstGeom>
          <a:noFill/>
          <a:ln/>
        </p:spPr>
        <p:txBody>
          <a:bodyPr wrap="square" lIns="0" tIns="0" rIns="0" bIns="0" rtlCol="0" anchor="ctr"/>
          <a:lstStyle/>
          <a:p>
            <a:pPr indent="0" marL="0">
              <a:buNone/>
            </a:pPr>
            <a:r>
              <a:rPr lang="en-US" sz="1150" b="1" dirty="0">
                <a:solidFill>
                  <a:srgbClr val="16213E"/>
                </a:solidFill>
                <a:latin typeface="Calibri" pitchFamily="34" charset="0"/>
                <a:ea typeface="Calibri" pitchFamily="34" charset="-122"/>
                <a:cs typeface="Calibri" pitchFamily="34" charset="-120"/>
              </a:rPr>
              <a:t>14%</a:t>
            </a:r>
            <a:endParaRPr lang="en-US" sz="1150" dirty="0"/>
          </a:p>
        </p:txBody>
      </p:sp>
      <p:sp>
        <p:nvSpPr>
          <p:cNvPr id="9" name="Text 7"/>
          <p:cNvSpPr txBox="1"/>
          <p:nvPr/>
        </p:nvSpPr>
        <p:spPr>
          <a:xfrm>
            <a:off x="548640" y="1947672"/>
            <a:ext cx="365760" cy="457200"/>
          </a:xfrm>
          <a:prstGeom prst="rect">
            <a:avLst/>
          </a:prstGeom>
          <a:noFill/>
          <a:ln/>
        </p:spPr>
        <p:txBody>
          <a:bodyPr wrap="square" lIns="0" tIns="0" rIns="0" bIns="0" rtlCol="0" anchor="ctr"/>
          <a:lstStyle/>
          <a:p>
            <a:pPr indent="0" marL="0">
              <a:buNone/>
            </a:pPr>
            <a:r>
              <a:rPr lang="en-US" sz="1200" b="1" dirty="0">
                <a:solidFill>
                  <a:srgbClr val="5B6B8C"/>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960120" y="1947672"/>
            <a:ext cx="3749040" cy="457200"/>
          </a:xfrm>
          <a:prstGeom prst="rect">
            <a:avLst/>
          </a:prstGeom>
          <a:noFill/>
          <a:ln/>
        </p:spPr>
        <p:txBody>
          <a:bodyPr wrap="square" lIns="0" tIns="0" rIns="0" bIns="0" rtlCol="0" anchor="ctr"/>
          <a:lstStyle/>
          <a:p>
            <a:pPr indent="0" marL="0">
              <a:buNone/>
            </a:pPr>
            <a:r>
              <a:rPr lang="en-US" sz="1150" b="1" dirty="0">
                <a:solidFill>
                  <a:srgbClr val="3E64FF"/>
                </a:solidFill>
                <a:latin typeface="Calibri" pitchFamily="34" charset="0"/>
                <a:ea typeface="Calibri" pitchFamily="34" charset="-122"/>
                <a:cs typeface="Calibri" pitchFamily="34" charset="-120"/>
              </a:rPr>
              <a:t>出力の評価と検証(最重要)</a:t>
            </a:r>
            <a:endParaRPr lang="en-US" sz="1150" dirty="0"/>
          </a:p>
        </p:txBody>
      </p:sp>
      <p:sp>
        <p:nvSpPr>
          <p:cNvPr id="11" name="Shape 9"/>
          <p:cNvSpPr/>
          <p:nvPr/>
        </p:nvSpPr>
        <p:spPr>
          <a:xfrm>
            <a:off x="4846320" y="2020824"/>
            <a:ext cx="6400800" cy="310896"/>
          </a:xfrm>
          <a:prstGeom prst="rect">
            <a:avLst/>
          </a:prstGeom>
          <a:solidFill>
            <a:srgbClr val="EEF1F8"/>
          </a:solidFill>
          <a:ln/>
        </p:spPr>
      </p:sp>
      <p:sp>
        <p:nvSpPr>
          <p:cNvPr id="12" name="Shape 10"/>
          <p:cNvSpPr/>
          <p:nvPr/>
        </p:nvSpPr>
        <p:spPr>
          <a:xfrm>
            <a:off x="4846320" y="2020824"/>
            <a:ext cx="6400800" cy="310896"/>
          </a:xfrm>
          <a:prstGeom prst="rect">
            <a:avLst/>
          </a:prstGeom>
          <a:solidFill>
            <a:srgbClr val="3E64FF"/>
          </a:solidFill>
          <a:ln/>
        </p:spPr>
      </p:sp>
      <p:sp>
        <p:nvSpPr>
          <p:cNvPr id="13" name="Text 11"/>
          <p:cNvSpPr txBox="1"/>
          <p:nvPr/>
        </p:nvSpPr>
        <p:spPr>
          <a:xfrm>
            <a:off x="11292840" y="1947672"/>
            <a:ext cx="457200" cy="457200"/>
          </a:xfrm>
          <a:prstGeom prst="rect">
            <a:avLst/>
          </a:prstGeom>
          <a:noFill/>
          <a:ln/>
        </p:spPr>
        <p:txBody>
          <a:bodyPr wrap="square" lIns="0" tIns="0" rIns="0" bIns="0" rtlCol="0" anchor="ctr"/>
          <a:lstStyle/>
          <a:p>
            <a:pPr indent="0" marL="0">
              <a:buNone/>
            </a:pPr>
            <a:r>
              <a:rPr lang="en-US" sz="1150" b="1" dirty="0">
                <a:solidFill>
                  <a:srgbClr val="16213E"/>
                </a:solidFill>
                <a:latin typeface="Calibri" pitchFamily="34" charset="0"/>
                <a:ea typeface="Calibri" pitchFamily="34" charset="-122"/>
                <a:cs typeface="Calibri" pitchFamily="34" charset="-120"/>
              </a:rPr>
              <a:t>21%</a:t>
            </a:r>
            <a:endParaRPr lang="en-US" sz="1150" dirty="0"/>
          </a:p>
        </p:txBody>
      </p:sp>
      <p:sp>
        <p:nvSpPr>
          <p:cNvPr id="14" name="Text 12"/>
          <p:cNvSpPr txBox="1"/>
          <p:nvPr/>
        </p:nvSpPr>
        <p:spPr>
          <a:xfrm>
            <a:off x="548640" y="2523744"/>
            <a:ext cx="365760" cy="457200"/>
          </a:xfrm>
          <a:prstGeom prst="rect">
            <a:avLst/>
          </a:prstGeom>
          <a:noFill/>
          <a:ln/>
        </p:spPr>
        <p:txBody>
          <a:bodyPr wrap="square" lIns="0" tIns="0" rIns="0" bIns="0" rtlCol="0" anchor="ctr"/>
          <a:lstStyle/>
          <a:p>
            <a:pPr indent="0" marL="0">
              <a:buNone/>
            </a:pPr>
            <a:r>
              <a:rPr lang="en-US" sz="1200" b="1" dirty="0">
                <a:solidFill>
                  <a:srgbClr val="5B6B8C"/>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960120" y="2523744"/>
            <a:ext cx="3749040" cy="457200"/>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製品とモデルの選択</a:t>
            </a:r>
            <a:endParaRPr lang="en-US" sz="1150" dirty="0"/>
          </a:p>
        </p:txBody>
      </p:sp>
      <p:sp>
        <p:nvSpPr>
          <p:cNvPr id="16" name="Shape 14"/>
          <p:cNvSpPr/>
          <p:nvPr/>
        </p:nvSpPr>
        <p:spPr>
          <a:xfrm>
            <a:off x="4846320" y="2596896"/>
            <a:ext cx="6400800" cy="310896"/>
          </a:xfrm>
          <a:prstGeom prst="rect">
            <a:avLst/>
          </a:prstGeom>
          <a:solidFill>
            <a:srgbClr val="EEF1F8"/>
          </a:solidFill>
          <a:ln/>
        </p:spPr>
      </p:sp>
      <p:sp>
        <p:nvSpPr>
          <p:cNvPr id="17" name="Shape 15"/>
          <p:cNvSpPr/>
          <p:nvPr/>
        </p:nvSpPr>
        <p:spPr>
          <a:xfrm>
            <a:off x="4846320" y="2596896"/>
            <a:ext cx="3657600" cy="310896"/>
          </a:xfrm>
          <a:prstGeom prst="rect">
            <a:avLst/>
          </a:prstGeom>
          <a:solidFill>
            <a:srgbClr val="2CB1BC"/>
          </a:solidFill>
          <a:ln/>
        </p:spPr>
      </p:sp>
      <p:sp>
        <p:nvSpPr>
          <p:cNvPr id="18" name="Text 16"/>
          <p:cNvSpPr txBox="1"/>
          <p:nvPr/>
        </p:nvSpPr>
        <p:spPr>
          <a:xfrm>
            <a:off x="11292840" y="2523744"/>
            <a:ext cx="457200" cy="457200"/>
          </a:xfrm>
          <a:prstGeom prst="rect">
            <a:avLst/>
          </a:prstGeom>
          <a:noFill/>
          <a:ln/>
        </p:spPr>
        <p:txBody>
          <a:bodyPr wrap="square" lIns="0" tIns="0" rIns="0" bIns="0" rtlCol="0" anchor="ctr"/>
          <a:lstStyle/>
          <a:p>
            <a:pPr indent="0" marL="0">
              <a:buNone/>
            </a:pPr>
            <a:r>
              <a:rPr lang="en-US" sz="1150" b="1" dirty="0">
                <a:solidFill>
                  <a:srgbClr val="16213E"/>
                </a:solidFill>
                <a:latin typeface="Calibri" pitchFamily="34" charset="0"/>
                <a:ea typeface="Calibri" pitchFamily="34" charset="-122"/>
                <a:cs typeface="Calibri" pitchFamily="34" charset="-120"/>
              </a:rPr>
              <a:t>12%</a:t>
            </a:r>
            <a:endParaRPr lang="en-US" sz="1150" dirty="0"/>
          </a:p>
        </p:txBody>
      </p:sp>
      <p:sp>
        <p:nvSpPr>
          <p:cNvPr id="19" name="Text 17"/>
          <p:cNvSpPr txBox="1"/>
          <p:nvPr/>
        </p:nvSpPr>
        <p:spPr>
          <a:xfrm>
            <a:off x="548640" y="3099816"/>
            <a:ext cx="365760" cy="457200"/>
          </a:xfrm>
          <a:prstGeom prst="rect">
            <a:avLst/>
          </a:prstGeom>
          <a:noFill/>
          <a:ln/>
        </p:spPr>
        <p:txBody>
          <a:bodyPr wrap="square" lIns="0" tIns="0" rIns="0" bIns="0" rtlCol="0" anchor="ctr"/>
          <a:lstStyle/>
          <a:p>
            <a:pPr indent="0" marL="0">
              <a:buNone/>
            </a:pPr>
            <a:r>
              <a:rPr lang="en-US" sz="1200" b="1" dirty="0">
                <a:solidFill>
                  <a:srgbClr val="5B6B8C"/>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960120" y="3099816"/>
            <a:ext cx="3749040" cy="457200"/>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ワークフロー統合とソリューション設計</a:t>
            </a:r>
            <a:endParaRPr lang="en-US" sz="1150" dirty="0"/>
          </a:p>
        </p:txBody>
      </p:sp>
      <p:sp>
        <p:nvSpPr>
          <p:cNvPr id="21" name="Shape 19"/>
          <p:cNvSpPr/>
          <p:nvPr/>
        </p:nvSpPr>
        <p:spPr>
          <a:xfrm>
            <a:off x="4846320" y="3172968"/>
            <a:ext cx="6400800" cy="310896"/>
          </a:xfrm>
          <a:prstGeom prst="rect">
            <a:avLst/>
          </a:prstGeom>
          <a:solidFill>
            <a:srgbClr val="EEF1F8"/>
          </a:solidFill>
          <a:ln/>
        </p:spPr>
      </p:sp>
      <p:sp>
        <p:nvSpPr>
          <p:cNvPr id="22" name="Shape 20"/>
          <p:cNvSpPr/>
          <p:nvPr/>
        </p:nvSpPr>
        <p:spPr>
          <a:xfrm>
            <a:off x="4846320" y="3172968"/>
            <a:ext cx="4876800" cy="310896"/>
          </a:xfrm>
          <a:prstGeom prst="rect">
            <a:avLst/>
          </a:prstGeom>
          <a:solidFill>
            <a:srgbClr val="2CB1BC"/>
          </a:solidFill>
          <a:ln/>
        </p:spPr>
      </p:sp>
      <p:sp>
        <p:nvSpPr>
          <p:cNvPr id="23" name="Text 21"/>
          <p:cNvSpPr txBox="1"/>
          <p:nvPr/>
        </p:nvSpPr>
        <p:spPr>
          <a:xfrm>
            <a:off x="11292840" y="3099816"/>
            <a:ext cx="457200" cy="457200"/>
          </a:xfrm>
          <a:prstGeom prst="rect">
            <a:avLst/>
          </a:prstGeom>
          <a:noFill/>
          <a:ln/>
        </p:spPr>
        <p:txBody>
          <a:bodyPr wrap="square" lIns="0" tIns="0" rIns="0" bIns="0" rtlCol="0" anchor="ctr"/>
          <a:lstStyle/>
          <a:p>
            <a:pPr indent="0" marL="0">
              <a:buNone/>
            </a:pPr>
            <a:r>
              <a:rPr lang="en-US" sz="1150" b="1" dirty="0">
                <a:solidFill>
                  <a:srgbClr val="16213E"/>
                </a:solidFill>
                <a:latin typeface="Calibri" pitchFamily="34" charset="0"/>
                <a:ea typeface="Calibri" pitchFamily="34" charset="-122"/>
                <a:cs typeface="Calibri" pitchFamily="34" charset="-120"/>
              </a:rPr>
              <a:t>16%</a:t>
            </a:r>
            <a:endParaRPr lang="en-US" sz="1150" dirty="0"/>
          </a:p>
        </p:txBody>
      </p:sp>
      <p:sp>
        <p:nvSpPr>
          <p:cNvPr id="24" name="Text 22"/>
          <p:cNvSpPr txBox="1"/>
          <p:nvPr/>
        </p:nvSpPr>
        <p:spPr>
          <a:xfrm>
            <a:off x="548640" y="3675888"/>
            <a:ext cx="365760" cy="457200"/>
          </a:xfrm>
          <a:prstGeom prst="rect">
            <a:avLst/>
          </a:prstGeom>
          <a:noFill/>
          <a:ln/>
        </p:spPr>
        <p:txBody>
          <a:bodyPr wrap="square" lIns="0" tIns="0" rIns="0" bIns="0" rtlCol="0" anchor="ctr"/>
          <a:lstStyle/>
          <a:p>
            <a:pPr indent="0" marL="0">
              <a:buNone/>
            </a:pPr>
            <a:r>
              <a:rPr lang="en-US" sz="1200" b="1" dirty="0">
                <a:solidFill>
                  <a:srgbClr val="5B6B8C"/>
                </a:solidFill>
                <a:latin typeface="Calibri" pitchFamily="34" charset="0"/>
                <a:ea typeface="Calibri" pitchFamily="34" charset="-122"/>
                <a:cs typeface="Calibri" pitchFamily="34" charset="-120"/>
              </a:rPr>
              <a:t>5</a:t>
            </a:r>
            <a:endParaRPr lang="en-US" sz="1200" dirty="0"/>
          </a:p>
        </p:txBody>
      </p:sp>
      <p:sp>
        <p:nvSpPr>
          <p:cNvPr id="25" name="Text 23"/>
          <p:cNvSpPr txBox="1"/>
          <p:nvPr/>
        </p:nvSpPr>
        <p:spPr>
          <a:xfrm>
            <a:off x="960120" y="3675888"/>
            <a:ext cx="3749040" cy="457200"/>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設定とナレッジ管理</a:t>
            </a:r>
            <a:endParaRPr lang="en-US" sz="1150" dirty="0"/>
          </a:p>
        </p:txBody>
      </p:sp>
      <p:sp>
        <p:nvSpPr>
          <p:cNvPr id="26" name="Shape 24"/>
          <p:cNvSpPr/>
          <p:nvPr/>
        </p:nvSpPr>
        <p:spPr>
          <a:xfrm>
            <a:off x="4846320" y="3749040"/>
            <a:ext cx="6400800" cy="310896"/>
          </a:xfrm>
          <a:prstGeom prst="rect">
            <a:avLst/>
          </a:prstGeom>
          <a:solidFill>
            <a:srgbClr val="EEF1F8"/>
          </a:solidFill>
          <a:ln/>
        </p:spPr>
      </p:sp>
      <p:sp>
        <p:nvSpPr>
          <p:cNvPr id="27" name="Shape 25"/>
          <p:cNvSpPr/>
          <p:nvPr/>
        </p:nvSpPr>
        <p:spPr>
          <a:xfrm>
            <a:off x="4846320" y="3749040"/>
            <a:ext cx="3657600" cy="310896"/>
          </a:xfrm>
          <a:prstGeom prst="rect">
            <a:avLst/>
          </a:prstGeom>
          <a:solidFill>
            <a:srgbClr val="2CB1BC"/>
          </a:solidFill>
          <a:ln/>
        </p:spPr>
      </p:sp>
      <p:sp>
        <p:nvSpPr>
          <p:cNvPr id="28" name="Text 26"/>
          <p:cNvSpPr txBox="1"/>
          <p:nvPr/>
        </p:nvSpPr>
        <p:spPr>
          <a:xfrm>
            <a:off x="11292840" y="3675888"/>
            <a:ext cx="457200" cy="457200"/>
          </a:xfrm>
          <a:prstGeom prst="rect">
            <a:avLst/>
          </a:prstGeom>
          <a:noFill/>
          <a:ln/>
        </p:spPr>
        <p:txBody>
          <a:bodyPr wrap="square" lIns="0" tIns="0" rIns="0" bIns="0" rtlCol="0" anchor="ctr"/>
          <a:lstStyle/>
          <a:p>
            <a:pPr indent="0" marL="0">
              <a:buNone/>
            </a:pPr>
            <a:r>
              <a:rPr lang="en-US" sz="1150" b="1" dirty="0">
                <a:solidFill>
                  <a:srgbClr val="16213E"/>
                </a:solidFill>
                <a:latin typeface="Calibri" pitchFamily="34" charset="0"/>
                <a:ea typeface="Calibri" pitchFamily="34" charset="-122"/>
                <a:cs typeface="Calibri" pitchFamily="34" charset="-120"/>
              </a:rPr>
              <a:t>12%</a:t>
            </a:r>
            <a:endParaRPr lang="en-US" sz="1150" dirty="0"/>
          </a:p>
        </p:txBody>
      </p:sp>
      <p:sp>
        <p:nvSpPr>
          <p:cNvPr id="29" name="Text 27"/>
          <p:cNvSpPr txBox="1"/>
          <p:nvPr/>
        </p:nvSpPr>
        <p:spPr>
          <a:xfrm>
            <a:off x="548640" y="4251960"/>
            <a:ext cx="365760" cy="457200"/>
          </a:xfrm>
          <a:prstGeom prst="rect">
            <a:avLst/>
          </a:prstGeom>
          <a:noFill/>
          <a:ln/>
        </p:spPr>
        <p:txBody>
          <a:bodyPr wrap="square" lIns="0" tIns="0" rIns="0" bIns="0" rtlCol="0" anchor="ctr"/>
          <a:lstStyle/>
          <a:p>
            <a:pPr indent="0" marL="0">
              <a:buNone/>
            </a:pPr>
            <a:r>
              <a:rPr lang="en-US" sz="1200" b="1" dirty="0">
                <a:solidFill>
                  <a:srgbClr val="5B6B8C"/>
                </a:solidFill>
                <a:latin typeface="Calibri" pitchFamily="34" charset="0"/>
                <a:ea typeface="Calibri" pitchFamily="34" charset="-122"/>
                <a:cs typeface="Calibri" pitchFamily="34" charset="-120"/>
              </a:rPr>
              <a:t>6</a:t>
            </a:r>
            <a:endParaRPr lang="en-US" sz="1200" dirty="0"/>
          </a:p>
        </p:txBody>
      </p:sp>
      <p:sp>
        <p:nvSpPr>
          <p:cNvPr id="30" name="Text 28"/>
          <p:cNvSpPr txBox="1"/>
          <p:nvPr/>
        </p:nvSpPr>
        <p:spPr>
          <a:xfrm>
            <a:off x="960120" y="4251960"/>
            <a:ext cx="3749040" cy="457200"/>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ガバナンス、リスク、責任ある利用</a:t>
            </a:r>
            <a:endParaRPr lang="en-US" sz="1150" dirty="0"/>
          </a:p>
        </p:txBody>
      </p:sp>
      <p:sp>
        <p:nvSpPr>
          <p:cNvPr id="31" name="Shape 29"/>
          <p:cNvSpPr/>
          <p:nvPr/>
        </p:nvSpPr>
        <p:spPr>
          <a:xfrm>
            <a:off x="4846320" y="4325112"/>
            <a:ext cx="6400800" cy="310896"/>
          </a:xfrm>
          <a:prstGeom prst="rect">
            <a:avLst/>
          </a:prstGeom>
          <a:solidFill>
            <a:srgbClr val="EEF1F8"/>
          </a:solidFill>
          <a:ln/>
        </p:spPr>
      </p:sp>
      <p:sp>
        <p:nvSpPr>
          <p:cNvPr id="32" name="Shape 30"/>
          <p:cNvSpPr/>
          <p:nvPr/>
        </p:nvSpPr>
        <p:spPr>
          <a:xfrm>
            <a:off x="4846320" y="4325112"/>
            <a:ext cx="4572000" cy="310896"/>
          </a:xfrm>
          <a:prstGeom prst="rect">
            <a:avLst/>
          </a:prstGeom>
          <a:solidFill>
            <a:srgbClr val="2CB1BC"/>
          </a:solidFill>
          <a:ln/>
        </p:spPr>
      </p:sp>
      <p:sp>
        <p:nvSpPr>
          <p:cNvPr id="33" name="Text 31"/>
          <p:cNvSpPr txBox="1"/>
          <p:nvPr/>
        </p:nvSpPr>
        <p:spPr>
          <a:xfrm>
            <a:off x="11292840" y="4251960"/>
            <a:ext cx="457200" cy="457200"/>
          </a:xfrm>
          <a:prstGeom prst="rect">
            <a:avLst/>
          </a:prstGeom>
          <a:noFill/>
          <a:ln/>
        </p:spPr>
        <p:txBody>
          <a:bodyPr wrap="square" lIns="0" tIns="0" rIns="0" bIns="0" rtlCol="0" anchor="ctr"/>
          <a:lstStyle/>
          <a:p>
            <a:pPr indent="0" marL="0">
              <a:buNone/>
            </a:pPr>
            <a:r>
              <a:rPr lang="en-US" sz="1150" b="1" dirty="0">
                <a:solidFill>
                  <a:srgbClr val="16213E"/>
                </a:solidFill>
                <a:latin typeface="Calibri" pitchFamily="34" charset="0"/>
                <a:ea typeface="Calibri" pitchFamily="34" charset="-122"/>
                <a:cs typeface="Calibri" pitchFamily="34" charset="-120"/>
              </a:rPr>
              <a:t>15%</a:t>
            </a:r>
            <a:endParaRPr lang="en-US" sz="1150" dirty="0"/>
          </a:p>
        </p:txBody>
      </p:sp>
      <p:sp>
        <p:nvSpPr>
          <p:cNvPr id="34" name="Text 32"/>
          <p:cNvSpPr txBox="1"/>
          <p:nvPr/>
        </p:nvSpPr>
        <p:spPr>
          <a:xfrm>
            <a:off x="548640" y="4828032"/>
            <a:ext cx="365760" cy="457200"/>
          </a:xfrm>
          <a:prstGeom prst="rect">
            <a:avLst/>
          </a:prstGeom>
          <a:noFill/>
          <a:ln/>
        </p:spPr>
        <p:txBody>
          <a:bodyPr wrap="square" lIns="0" tIns="0" rIns="0" bIns="0" rtlCol="0" anchor="ctr"/>
          <a:lstStyle/>
          <a:p>
            <a:pPr indent="0" marL="0">
              <a:buNone/>
            </a:pPr>
            <a:r>
              <a:rPr lang="en-US" sz="1200" b="1" dirty="0">
                <a:solidFill>
                  <a:srgbClr val="5B6B8C"/>
                </a:solidFill>
                <a:latin typeface="Calibri" pitchFamily="34" charset="0"/>
                <a:ea typeface="Calibri" pitchFamily="34" charset="-122"/>
                <a:cs typeface="Calibri" pitchFamily="34" charset="-120"/>
              </a:rPr>
              <a:t>7</a:t>
            </a:r>
            <a:endParaRPr lang="en-US" sz="1200" dirty="0"/>
          </a:p>
        </p:txBody>
      </p:sp>
      <p:sp>
        <p:nvSpPr>
          <p:cNvPr id="35" name="Text 33"/>
          <p:cNvSpPr txBox="1"/>
          <p:nvPr/>
        </p:nvSpPr>
        <p:spPr>
          <a:xfrm>
            <a:off x="960120" y="4828032"/>
            <a:ext cx="3749040" cy="457200"/>
          </a:xfrm>
          <a:prstGeom prst="rect">
            <a:avLst/>
          </a:prstGeom>
          <a:noFill/>
          <a:ln/>
        </p:spPr>
        <p:txBody>
          <a:bodyPr wrap="square" lIns="0" tIns="0" rIns="0" bIns="0" rtlCol="0" anchor="ctr"/>
          <a:lstStyle/>
          <a:p>
            <a:pPr indent="0" marL="0">
              <a:buNone/>
            </a:pPr>
            <a:r>
              <a:rPr lang="en-US" sz="1150" dirty="0">
                <a:solidFill>
                  <a:srgbClr val="16213E"/>
                </a:solidFill>
                <a:latin typeface="Calibri" pitchFamily="34" charset="0"/>
                <a:ea typeface="Calibri" pitchFamily="34" charset="-122"/>
                <a:cs typeface="Calibri" pitchFamily="34" charset="-120"/>
              </a:rPr>
              <a:t>トラブルシューティングと最適化</a:t>
            </a:r>
            <a:endParaRPr lang="en-US" sz="1150" dirty="0"/>
          </a:p>
        </p:txBody>
      </p:sp>
      <p:sp>
        <p:nvSpPr>
          <p:cNvPr id="36" name="Shape 34"/>
          <p:cNvSpPr/>
          <p:nvPr/>
        </p:nvSpPr>
        <p:spPr>
          <a:xfrm>
            <a:off x="4846320" y="4901184"/>
            <a:ext cx="6400800" cy="310896"/>
          </a:xfrm>
          <a:prstGeom prst="rect">
            <a:avLst/>
          </a:prstGeom>
          <a:solidFill>
            <a:srgbClr val="EEF1F8"/>
          </a:solidFill>
          <a:ln/>
        </p:spPr>
      </p:sp>
      <p:sp>
        <p:nvSpPr>
          <p:cNvPr id="37" name="Shape 35"/>
          <p:cNvSpPr/>
          <p:nvPr/>
        </p:nvSpPr>
        <p:spPr>
          <a:xfrm>
            <a:off x="4846320" y="4901184"/>
            <a:ext cx="3048000" cy="310896"/>
          </a:xfrm>
          <a:prstGeom prst="rect">
            <a:avLst/>
          </a:prstGeom>
          <a:solidFill>
            <a:srgbClr val="2CB1BC"/>
          </a:solidFill>
          <a:ln/>
        </p:spPr>
      </p:sp>
      <p:sp>
        <p:nvSpPr>
          <p:cNvPr id="38" name="Text 36"/>
          <p:cNvSpPr txBox="1"/>
          <p:nvPr/>
        </p:nvSpPr>
        <p:spPr>
          <a:xfrm>
            <a:off x="11292840" y="4828032"/>
            <a:ext cx="457200" cy="457200"/>
          </a:xfrm>
          <a:prstGeom prst="rect">
            <a:avLst/>
          </a:prstGeom>
          <a:noFill/>
          <a:ln/>
        </p:spPr>
        <p:txBody>
          <a:bodyPr wrap="square" lIns="0" tIns="0" rIns="0" bIns="0" rtlCol="0" anchor="ctr"/>
          <a:lstStyle/>
          <a:p>
            <a:pPr indent="0" marL="0">
              <a:buNone/>
            </a:pPr>
            <a:r>
              <a:rPr lang="en-US" sz="1150" b="1" dirty="0">
                <a:solidFill>
                  <a:srgbClr val="16213E"/>
                </a:solidFill>
                <a:latin typeface="Calibri" pitchFamily="34" charset="0"/>
                <a:ea typeface="Calibri" pitchFamily="34" charset="-122"/>
                <a:cs typeface="Calibri" pitchFamily="34" charset="-120"/>
              </a:rPr>
              <a:t>10%</a:t>
            </a:r>
            <a:endParaRPr lang="en-US" sz="1150" dirty="0"/>
          </a:p>
        </p:txBody>
      </p:sp>
      <p:sp>
        <p:nvSpPr>
          <p:cNvPr id="39" name="Text 37"/>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200" i="1" dirty="0">
                <a:solidFill>
                  <a:srgbClr val="3E64FF"/>
                </a:solidFill>
                <a:latin typeface="Calibri" pitchFamily="34" charset="0"/>
                <a:ea typeface="Calibri" pitchFamily="34" charset="-122"/>
                <a:cs typeface="Calibri" pitchFamily="34" charset="-120"/>
              </a:rPr>
              <a:t>最大配点は「プロンプト作成」ではなく「出力の評価と検証」(21%)。問われるのは「AIに書かせる力」より「AIの出力を見極める力」</a:t>
            </a:r>
            <a:endParaRPr lang="en-US" sz="1200" dirty="0"/>
          </a:p>
        </p:txBody>
      </p:sp>
      <p:sp>
        <p:nvSpPr>
          <p:cNvPr id="40" name="Text 38"/>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セクション6</a:t>
            </a:r>
            <a:endParaRPr lang="en-US" sz="900" dirty="0"/>
          </a:p>
        </p:txBody>
      </p:sp>
      <p:sp>
        <p:nvSpPr>
          <p:cNvPr id="41" name="Text 39"/>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3</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分野1: プロンプト作成とタスク実行(配点14%)</a:t>
            </a:r>
            <a:endParaRPr lang="en-US" sz="2200" dirty="0"/>
          </a:p>
        </p:txBody>
      </p:sp>
      <p:sp>
        <p:nvSpPr>
          <p:cNvPr id="4" name="Text 2"/>
          <p:cNvSpPr txBox="1"/>
          <p:nvPr/>
        </p:nvSpPr>
        <p:spPr>
          <a:xfrm>
            <a:off x="548640" y="1371600"/>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公式の目標(試験ガイドより)</a:t>
            </a:r>
            <a:endParaRPr lang="en-US" sz="1250" dirty="0"/>
          </a:p>
        </p:txBody>
      </p:sp>
      <p:sp>
        <p:nvSpPr>
          <p:cNvPr id="5" name="Text 3"/>
          <p:cNvSpPr txBox="1"/>
          <p:nvPr/>
        </p:nvSpPr>
        <p:spPr>
          <a:xfrm>
            <a:off x="548640" y="1691640"/>
            <a:ext cx="10881360" cy="1353312"/>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ビジネス・技術タスクのための効果的なプロンプトを作成する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タスク分解の手法を適用し、複雑な依頼を構造化する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プロンプトを反復的に改良し出力品質を高める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タスクの種類(分析・調査・下書き・ブレスト)に応じ戦略を調整する</a:t>
            </a:r>
            <a:endParaRPr lang="en-US" sz="1050" dirty="0"/>
          </a:p>
        </p:txBody>
      </p:sp>
      <p:sp>
        <p:nvSpPr>
          <p:cNvPr id="6" name="Text 4"/>
          <p:cNvSpPr txBox="1"/>
          <p:nvPr/>
        </p:nvSpPr>
        <p:spPr>
          <a:xfrm>
            <a:off x="548640" y="3273552"/>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実例・ポイント</a:t>
            </a:r>
            <a:endParaRPr lang="en-US" sz="1250" dirty="0"/>
          </a:p>
        </p:txBody>
      </p:sp>
      <p:sp>
        <p:nvSpPr>
          <p:cNvPr id="7" name="Shape 5"/>
          <p:cNvSpPr/>
          <p:nvPr/>
        </p:nvSpPr>
        <p:spPr>
          <a:xfrm>
            <a:off x="548640" y="3593592"/>
            <a:ext cx="10881360" cy="2441448"/>
          </a:xfrm>
          <a:prstGeom prst="roundRect">
            <a:avLst>
              <a:gd name="adj" fmla="val 2996"/>
            </a:avLst>
          </a:prstGeom>
          <a:solidFill>
            <a:srgbClr val="F5F7FB"/>
          </a:solidFill>
          <a:ln w="12700">
            <a:solidFill>
              <a:srgbClr val="E1E6F0"/>
            </a:solidFill>
            <a:prstDash val="solid"/>
          </a:ln>
        </p:spPr>
      </p:sp>
      <p:sp>
        <p:nvSpPr>
          <p:cNvPr id="8" name="Text 6"/>
          <p:cNvSpPr txBox="1"/>
          <p:nvPr/>
        </p:nvSpPr>
        <p:spPr>
          <a:xfrm>
            <a:off x="777240" y="3776472"/>
            <a:ext cx="10424160" cy="2121408"/>
          </a:xfrm>
          <a:prstGeom prst="rect">
            <a:avLst/>
          </a:prstGeom>
          <a:noFill/>
          <a:ln/>
        </p:spPr>
        <p:txBody>
          <a:bodyPr wrap="square" lIns="0" tIns="0" rIns="0" bIns="0" rtlCol="0" anchor="t"/>
          <a:lstStyle/>
          <a:p>
            <a:pPr indent="0" marL="0">
              <a:buNone/>
            </a:pPr>
            <a:r>
              <a:rPr lang="en-US" sz="1100" dirty="0">
                <a:solidFill>
                  <a:srgbClr val="16213E"/>
                </a:solidFill>
                <a:latin typeface="Calibri" pitchFamily="34" charset="0"/>
                <a:ea typeface="Calibri" pitchFamily="34" charset="-122"/>
                <a:cs typeface="Calibri" pitchFamily="34" charset="-120"/>
              </a:rPr>
              <a:t>実際の出題例: 「顧客ジャーニーマップ作成」の正しい分解順序は、①ペルソナ・範囲定義 → ②主要ステージ特定 → ③タッチポイント特定 → ④課題抽出 → ⑤成果物統合、という「大枠から詳細へ」向かう順序。</a:t>
            </a:r>
            <a:endParaRPr lang="en-US" sz="1100" dirty="0"/>
          </a:p>
          <a:p>
            <a:pPr indent="0" marL="0">
              <a:buNone/>
            </a:pPr>
            <a:endParaRPr lang="en-US" sz="1100" dirty="0"/>
          </a:p>
          <a:p>
            <a:pPr indent="0" marL="0">
              <a:buNone/>
            </a:pPr>
            <a:r>
              <a:rPr lang="en-US" sz="1100" dirty="0">
                <a:solidFill>
                  <a:srgbClr val="16213E"/>
                </a:solidFill>
                <a:latin typeface="Calibri" pitchFamily="34" charset="0"/>
                <a:ea typeface="Calibri" pitchFamily="34" charset="-122"/>
                <a:cs typeface="Calibri" pitchFamily="34" charset="-120"/>
              </a:rPr>
              <a:t>反復改良で出力がズレ続ける場合は、大きな変更を繰り返すのではなく「最も近い結果を出したバージョンに戻り、そこを起点に調整し直す」のが体系的アプローチ。</a:t>
            </a:r>
            <a:endParaRPr lang="en-US" sz="1100" dirty="0"/>
          </a:p>
        </p:txBody>
      </p:sp>
      <p:sp>
        <p:nvSpPr>
          <p:cNvPr id="9" name="Text 7"/>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 ユーザー提供の練習問題サンプルより</a:t>
            </a:r>
            <a:endParaRPr lang="en-US" sz="900" dirty="0"/>
          </a:p>
        </p:txBody>
      </p:sp>
      <p:sp>
        <p:nvSpPr>
          <p:cNvPr id="10" name="Text 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3</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F2F4F8"/>
                </a:solidFill>
                <a:latin typeface="Cambria" pitchFamily="34" charset="0"/>
                <a:ea typeface="Cambria" pitchFamily="34" charset="-122"/>
                <a:cs typeface="Cambria" pitchFamily="34" charset="-120"/>
              </a:rPr>
              <a:t>分野2: 出力の評価と検証(配点21%)</a:t>
            </a:r>
            <a:endParaRPr lang="en-US" sz="2200" dirty="0"/>
          </a:p>
        </p:txBody>
      </p:sp>
      <p:sp>
        <p:nvSpPr>
          <p:cNvPr id="4" name="Text 2"/>
          <p:cNvSpPr txBox="1"/>
          <p:nvPr/>
        </p:nvSpPr>
        <p:spPr>
          <a:xfrm>
            <a:off x="548640" y="1371600"/>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公式の目標(試験ガイドより)</a:t>
            </a:r>
            <a:endParaRPr lang="en-US" sz="1250" dirty="0"/>
          </a:p>
        </p:txBody>
      </p:sp>
      <p:sp>
        <p:nvSpPr>
          <p:cNvPr id="5" name="Text 3"/>
          <p:cNvSpPr txBox="1"/>
          <p:nvPr/>
        </p:nvSpPr>
        <p:spPr>
          <a:xfrm>
            <a:off x="548640" y="1691640"/>
            <a:ext cx="10881360" cy="182880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Claude出力の正確性・網羅性を評価する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ハルシネーション・不整合・バイアスを特定する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ファクトチェック・検証の手法を適用する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人間レビュー・追加検証が必要な場面を判断する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対象読者に合わせ出力を編集・調整・比較する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適切な出力形式(アーティファクト/インライン/構造化データ)を選択する</a:t>
            </a:r>
            <a:endParaRPr lang="en-US" sz="1050" dirty="0"/>
          </a:p>
        </p:txBody>
      </p:sp>
      <p:sp>
        <p:nvSpPr>
          <p:cNvPr id="6" name="Text 4"/>
          <p:cNvSpPr txBox="1"/>
          <p:nvPr/>
        </p:nvSpPr>
        <p:spPr>
          <a:xfrm>
            <a:off x="548640" y="3749040"/>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実例・ポイント</a:t>
            </a:r>
            <a:endParaRPr lang="en-US" sz="1250" dirty="0"/>
          </a:p>
        </p:txBody>
      </p:sp>
      <p:sp>
        <p:nvSpPr>
          <p:cNvPr id="7" name="Shape 5"/>
          <p:cNvSpPr/>
          <p:nvPr/>
        </p:nvSpPr>
        <p:spPr>
          <a:xfrm>
            <a:off x="548640" y="4069080"/>
            <a:ext cx="10881360" cy="1965960"/>
          </a:xfrm>
          <a:prstGeom prst="roundRect">
            <a:avLst>
              <a:gd name="adj" fmla="val 3721"/>
            </a:avLst>
          </a:prstGeom>
          <a:solidFill>
            <a:srgbClr val="1F2F52"/>
          </a:solidFill>
          <a:ln w="12700">
            <a:solidFill>
              <a:srgbClr val="2C3C66"/>
            </a:solidFill>
            <a:prstDash val="solid"/>
          </a:ln>
        </p:spPr>
      </p:sp>
      <p:sp>
        <p:nvSpPr>
          <p:cNvPr id="8" name="Text 6"/>
          <p:cNvSpPr txBox="1"/>
          <p:nvPr/>
        </p:nvSpPr>
        <p:spPr>
          <a:xfrm>
            <a:off x="777240" y="4251960"/>
            <a:ext cx="10424160" cy="1645920"/>
          </a:xfrm>
          <a:prstGeom prst="rect">
            <a:avLst/>
          </a:prstGeom>
          <a:noFill/>
          <a:ln/>
        </p:spPr>
        <p:txBody>
          <a:bodyPr wrap="square" lIns="0" tIns="0" rIns="0" bIns="0" rtlCol="0" anchor="t"/>
          <a:lstStyle/>
          <a:p>
            <a:pPr indent="0" marL="0">
              <a:buNone/>
            </a:pPr>
            <a:r>
              <a:rPr lang="en-US" sz="1100" dirty="0">
                <a:solidFill>
                  <a:srgbClr val="F2F4F8"/>
                </a:solidFill>
                <a:latin typeface="Calibri" pitchFamily="34" charset="0"/>
                <a:ea typeface="Calibri" pitchFamily="34" charset="-122"/>
                <a:cs typeface="Calibri" pitchFamily="34" charset="-120"/>
              </a:rPr>
              <a:t>Claudeは引用番号のような「具体的に見える詳細」をもっともらしく捏造することがある(ハルシネーション)。自己申告の確信度は正確性の信頼できる指標にはならない。</a:t>
            </a:r>
            <a:endParaRPr lang="en-US" sz="1100" dirty="0"/>
          </a:p>
          <a:p>
            <a:pPr indent="0" marL="0">
              <a:buNone/>
            </a:pPr>
            <a:endParaRPr lang="en-US" sz="1100" dirty="0"/>
          </a:p>
          <a:p>
            <a:pPr indent="0" marL="0">
              <a:buNone/>
            </a:pPr>
            <a:r>
              <a:rPr lang="en-US" sz="1100" dirty="0">
                <a:solidFill>
                  <a:srgbClr val="F2F4F8"/>
                </a:solidFill>
                <a:latin typeface="Calibri" pitchFamily="34" charset="0"/>
                <a:ea typeface="Calibri" pitchFamily="34" charset="-122"/>
                <a:cs typeface="Calibri" pitchFamily="34" charset="-120"/>
              </a:rPr>
              <a:t>実際の出題例: 「有料顧客向けの未修正下書きで、SLA(サービスレベル)の約束を含む」ケースは、最もエスカレーションが必要な高インパクトな状況として扱われる。</a:t>
            </a:r>
            <a:endParaRPr lang="en-US" sz="1100" dirty="0"/>
          </a:p>
        </p:txBody>
      </p:sp>
      <p:sp>
        <p:nvSpPr>
          <p:cNvPr id="9" name="Text 7"/>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B9C4DB"/>
                </a:solidFill>
                <a:latin typeface="Calibri" pitchFamily="34" charset="0"/>
                <a:ea typeface="Calibri" pitchFamily="34" charset="-122"/>
                <a:cs typeface="Calibri" pitchFamily="34" charset="-120"/>
              </a:rPr>
              <a:t>出典: Anthropic公式試験ガイド + ユーザー提供の練習問題サンプルより</a:t>
            </a:r>
            <a:endParaRPr lang="en-US" sz="900" dirty="0"/>
          </a:p>
        </p:txBody>
      </p:sp>
      <p:sp>
        <p:nvSpPr>
          <p:cNvPr id="10" name="Text 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3</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分野3: 製品とモデルの選択(配点12%)</a:t>
            </a:r>
            <a:endParaRPr lang="en-US" sz="2200" dirty="0"/>
          </a:p>
        </p:txBody>
      </p:sp>
      <p:sp>
        <p:nvSpPr>
          <p:cNvPr id="4" name="Text 2"/>
          <p:cNvSpPr txBox="1"/>
          <p:nvPr/>
        </p:nvSpPr>
        <p:spPr>
          <a:xfrm>
            <a:off x="548640" y="1371600"/>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公式の目標(試験ガイドより)</a:t>
            </a:r>
            <a:endParaRPr lang="en-US" sz="1250" dirty="0"/>
          </a:p>
        </p:txBody>
      </p:sp>
      <p:sp>
        <p:nvSpPr>
          <p:cNvPr id="5" name="Text 3"/>
          <p:cNvSpPr txBox="1"/>
          <p:nvPr/>
        </p:nvSpPr>
        <p:spPr>
          <a:xfrm>
            <a:off x="548640" y="1691640"/>
            <a:ext cx="10881360" cy="1353312"/>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適切な製品機能(プロジェクト・リサーチ・チャット・アーティファクト)を選択する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Claudeのモデル種類(Haiku・Sonnet・Opus)を区別する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タスク要件(コスト・速度・品質)にモデル選択を合わせる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コンテキスト制限・メモリの考慮事項を理解・管理する</a:t>
            </a:r>
            <a:endParaRPr lang="en-US" sz="1050" dirty="0"/>
          </a:p>
        </p:txBody>
      </p:sp>
      <p:sp>
        <p:nvSpPr>
          <p:cNvPr id="6" name="Text 4"/>
          <p:cNvSpPr txBox="1"/>
          <p:nvPr/>
        </p:nvSpPr>
        <p:spPr>
          <a:xfrm>
            <a:off x="548640" y="3273552"/>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実例・ポイント</a:t>
            </a:r>
            <a:endParaRPr lang="en-US" sz="1250" dirty="0"/>
          </a:p>
        </p:txBody>
      </p:sp>
      <p:sp>
        <p:nvSpPr>
          <p:cNvPr id="7" name="Shape 5"/>
          <p:cNvSpPr/>
          <p:nvPr/>
        </p:nvSpPr>
        <p:spPr>
          <a:xfrm>
            <a:off x="548640" y="3593592"/>
            <a:ext cx="10881360" cy="2441448"/>
          </a:xfrm>
          <a:prstGeom prst="roundRect">
            <a:avLst>
              <a:gd name="adj" fmla="val 2996"/>
            </a:avLst>
          </a:prstGeom>
          <a:solidFill>
            <a:srgbClr val="F5F7FB"/>
          </a:solidFill>
          <a:ln w="12700">
            <a:solidFill>
              <a:srgbClr val="E1E6F0"/>
            </a:solidFill>
            <a:prstDash val="solid"/>
          </a:ln>
        </p:spPr>
      </p:sp>
      <p:sp>
        <p:nvSpPr>
          <p:cNvPr id="8" name="Text 6"/>
          <p:cNvSpPr txBox="1"/>
          <p:nvPr/>
        </p:nvSpPr>
        <p:spPr>
          <a:xfrm>
            <a:off x="777240" y="3776472"/>
            <a:ext cx="10424160" cy="2121408"/>
          </a:xfrm>
          <a:prstGeom prst="rect">
            <a:avLst/>
          </a:prstGeom>
          <a:noFill/>
          <a:ln/>
        </p:spPr>
        <p:txBody>
          <a:bodyPr wrap="square" lIns="0" tIns="0" rIns="0" bIns="0" rtlCol="0" anchor="t"/>
          <a:lstStyle/>
          <a:p>
            <a:pPr indent="0" marL="0">
              <a:buNone/>
            </a:pPr>
            <a:r>
              <a:rPr lang="en-US" sz="1100" dirty="0">
                <a:solidFill>
                  <a:srgbClr val="16213E"/>
                </a:solidFill>
                <a:latin typeface="Calibri" pitchFamily="34" charset="0"/>
                <a:ea typeface="Calibri" pitchFamily="34" charset="-122"/>
                <a:cs typeface="Calibri" pitchFamily="34" charset="-120"/>
              </a:rPr>
              <a:t>公式サンプル問題より: 「速度とコストが深い推論より重要な、大量の短い顧客返信ドラフト生成」には高速・低コストなモデルを使うのが正解。「常に最上位モデルを使う」はコスト・レイテンシの無駄遣いとして不正解。</a:t>
            </a:r>
            <a:endParaRPr lang="en-US" sz="1100" dirty="0"/>
          </a:p>
          <a:p>
            <a:pPr indent="0" marL="0">
              <a:buNone/>
            </a:pPr>
            <a:endParaRPr lang="en-US" sz="1100" dirty="0"/>
          </a:p>
          <a:p>
            <a:pPr indent="0" marL="0">
              <a:buNone/>
            </a:pPr>
            <a:r>
              <a:rPr lang="en-US" sz="1100" dirty="0">
                <a:solidFill>
                  <a:srgbClr val="16213E"/>
                </a:solidFill>
                <a:latin typeface="Calibri" pitchFamily="34" charset="0"/>
                <a:ea typeface="Calibri" pitchFamily="34" charset="-122"/>
                <a:cs typeface="Calibri" pitchFamily="34" charset="-120"/>
              </a:rPr>
              <a:t>Haiku=高速・低コスト(単純作業向け)/ Sonnet=バランス型 / Opus=高性能・高コスト(複雑な推論向け)。</a:t>
            </a:r>
            <a:endParaRPr lang="en-US" sz="1100" dirty="0"/>
          </a:p>
        </p:txBody>
      </p:sp>
      <p:sp>
        <p:nvSpPr>
          <p:cNvPr id="9" name="Text 7"/>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 ユーザー提供の練習問題サンプルより</a:t>
            </a:r>
            <a:endParaRPr lang="en-US" sz="900" dirty="0"/>
          </a:p>
        </p:txBody>
      </p:sp>
      <p:sp>
        <p:nvSpPr>
          <p:cNvPr id="10" name="Text 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3</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F2F4F8"/>
                </a:solidFill>
                <a:latin typeface="Cambria" pitchFamily="34" charset="0"/>
                <a:ea typeface="Cambria" pitchFamily="34" charset="-122"/>
                <a:cs typeface="Cambria" pitchFamily="34" charset="-120"/>
              </a:rPr>
              <a:t>分野4: ワークフロー統合とソリューション設計(配点16%)</a:t>
            </a:r>
            <a:endParaRPr lang="en-US" sz="2200" dirty="0"/>
          </a:p>
        </p:txBody>
      </p:sp>
      <p:sp>
        <p:nvSpPr>
          <p:cNvPr id="4" name="Text 2"/>
          <p:cNvSpPr txBox="1"/>
          <p:nvPr/>
        </p:nvSpPr>
        <p:spPr>
          <a:xfrm>
            <a:off x="548640" y="1371600"/>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公式の目標(試験ガイドより)</a:t>
            </a:r>
            <a:endParaRPr lang="en-US" sz="1250" dirty="0"/>
          </a:p>
        </p:txBody>
      </p:sp>
      <p:sp>
        <p:nvSpPr>
          <p:cNvPr id="5" name="Text 3"/>
          <p:cNvSpPr txBox="1"/>
          <p:nvPr/>
        </p:nvSpPr>
        <p:spPr>
          <a:xfrm>
            <a:off x="548640" y="1691640"/>
            <a:ext cx="10881360" cy="164592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要件・ユースケースの分析にClaudeを適用する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調査・計画・プロセス最適化にClaudeを活用する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ソリューションの設計・開発・反復改善を支援する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既存ワークフローにClaudeを統合し強化または再設計する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Claudeの価値と限界をステークホルダーに伝える</a:t>
            </a:r>
            <a:endParaRPr lang="en-US" sz="1050" dirty="0"/>
          </a:p>
        </p:txBody>
      </p:sp>
      <p:sp>
        <p:nvSpPr>
          <p:cNvPr id="6" name="Text 4"/>
          <p:cNvSpPr txBox="1"/>
          <p:nvPr/>
        </p:nvSpPr>
        <p:spPr>
          <a:xfrm>
            <a:off x="548640" y="3566160"/>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実例・ポイント</a:t>
            </a:r>
            <a:endParaRPr lang="en-US" sz="1250" dirty="0"/>
          </a:p>
        </p:txBody>
      </p:sp>
      <p:sp>
        <p:nvSpPr>
          <p:cNvPr id="7" name="Shape 5"/>
          <p:cNvSpPr/>
          <p:nvPr/>
        </p:nvSpPr>
        <p:spPr>
          <a:xfrm>
            <a:off x="548640" y="3886200"/>
            <a:ext cx="10881360" cy="2148840"/>
          </a:xfrm>
          <a:prstGeom prst="roundRect">
            <a:avLst>
              <a:gd name="adj" fmla="val 3404"/>
            </a:avLst>
          </a:prstGeom>
          <a:solidFill>
            <a:srgbClr val="1F2F52"/>
          </a:solidFill>
          <a:ln w="12700">
            <a:solidFill>
              <a:srgbClr val="2C3C66"/>
            </a:solidFill>
            <a:prstDash val="solid"/>
          </a:ln>
        </p:spPr>
      </p:sp>
      <p:sp>
        <p:nvSpPr>
          <p:cNvPr id="8" name="Text 6"/>
          <p:cNvSpPr txBox="1"/>
          <p:nvPr/>
        </p:nvSpPr>
        <p:spPr>
          <a:xfrm>
            <a:off x="777240" y="4069080"/>
            <a:ext cx="10424160" cy="1828800"/>
          </a:xfrm>
          <a:prstGeom prst="rect">
            <a:avLst/>
          </a:prstGeom>
          <a:noFill/>
          <a:ln/>
        </p:spPr>
        <p:txBody>
          <a:bodyPr wrap="square" lIns="0" tIns="0" rIns="0" bIns="0" rtlCol="0" anchor="t"/>
          <a:lstStyle/>
          <a:p>
            <a:pPr indent="0" marL="0">
              <a:buNone/>
            </a:pPr>
            <a:r>
              <a:rPr lang="en-US" sz="1100" dirty="0">
                <a:solidFill>
                  <a:srgbClr val="F2F4F8"/>
                </a:solidFill>
                <a:latin typeface="Calibri" pitchFamily="34" charset="0"/>
                <a:ea typeface="Calibri" pitchFamily="34" charset="-122"/>
                <a:cs typeface="Calibri" pitchFamily="34" charset="-120"/>
              </a:rPr>
              <a:t>統合パターン: 単発利用(都度チャット)/ プロジェクト(継続的な文脈保持)/ コネクタ(外部ツール連携)/ 定型業務の自動化・テンプレート化。</a:t>
            </a:r>
            <a:endParaRPr lang="en-US" sz="1100" dirty="0"/>
          </a:p>
          <a:p>
            <a:pPr indent="0" marL="0">
              <a:buNone/>
            </a:pPr>
            <a:endParaRPr lang="en-US" sz="1100" dirty="0"/>
          </a:p>
          <a:p>
            <a:pPr indent="0" marL="0">
              <a:buNone/>
            </a:pPr>
            <a:r>
              <a:rPr lang="en-US" sz="1100" dirty="0">
                <a:solidFill>
                  <a:srgbClr val="F2F4F8"/>
                </a:solidFill>
                <a:latin typeface="Calibri" pitchFamily="34" charset="0"/>
                <a:ea typeface="Calibri" pitchFamily="34" charset="-122"/>
                <a:cs typeface="Calibri" pitchFamily="34" charset="-120"/>
              </a:rPr>
              <a:t>既存プロセスにそのままClaudeを足すだけでなく、プロセス自体をClaudeの能力に合わせて再設計する視点(承認フローの順序変更、レビューポイントの再配置など)も問われる。</a:t>
            </a:r>
            <a:endParaRPr lang="en-US" sz="1100" dirty="0"/>
          </a:p>
        </p:txBody>
      </p:sp>
      <p:sp>
        <p:nvSpPr>
          <p:cNvPr id="9" name="Text 7"/>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B9C4DB"/>
                </a:solidFill>
                <a:latin typeface="Calibri" pitchFamily="34" charset="0"/>
                <a:ea typeface="Calibri" pitchFamily="34" charset="-122"/>
                <a:cs typeface="Calibri" pitchFamily="34" charset="-120"/>
              </a:rPr>
              <a:t>出典: Anthropic公式試験ガイド + ユーザー提供の練習問題サンプルより</a:t>
            </a:r>
            <a:endParaRPr lang="en-US" sz="900" dirty="0"/>
          </a:p>
        </p:txBody>
      </p:sp>
      <p:sp>
        <p:nvSpPr>
          <p:cNvPr id="10" name="Text 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3</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分野5: 設定とナレッジ管理(配点12%)</a:t>
            </a:r>
            <a:endParaRPr lang="en-US" sz="2200" dirty="0"/>
          </a:p>
        </p:txBody>
      </p:sp>
      <p:sp>
        <p:nvSpPr>
          <p:cNvPr id="4" name="Text 2"/>
          <p:cNvSpPr txBox="1"/>
          <p:nvPr/>
        </p:nvSpPr>
        <p:spPr>
          <a:xfrm>
            <a:off x="548640" y="1371600"/>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公式の目標(試験ガイドより)</a:t>
            </a:r>
            <a:endParaRPr lang="en-US" sz="1250" dirty="0"/>
          </a:p>
        </p:txBody>
      </p:sp>
      <p:sp>
        <p:nvSpPr>
          <p:cNvPr id="5" name="Text 3"/>
          <p:cNvSpPr txBox="1"/>
          <p:nvPr/>
        </p:nvSpPr>
        <p:spPr>
          <a:xfrm>
            <a:off x="548640" y="1691640"/>
            <a:ext cx="10881360" cy="1353312"/>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指示とナレッジソースを使いClaudeのプロジェクトを設定する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アップロードしたナレッジとコネクタを管理する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効果的なシステムレベルの指示を作成する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設定・ナレッジソース・指示を維持・更新する</a:t>
            </a:r>
            <a:endParaRPr lang="en-US" sz="1050" dirty="0"/>
          </a:p>
        </p:txBody>
      </p:sp>
      <p:sp>
        <p:nvSpPr>
          <p:cNvPr id="6" name="Text 4"/>
          <p:cNvSpPr txBox="1"/>
          <p:nvPr/>
        </p:nvSpPr>
        <p:spPr>
          <a:xfrm>
            <a:off x="548640" y="3273552"/>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実例・ポイント</a:t>
            </a:r>
            <a:endParaRPr lang="en-US" sz="1250" dirty="0"/>
          </a:p>
        </p:txBody>
      </p:sp>
      <p:sp>
        <p:nvSpPr>
          <p:cNvPr id="7" name="Shape 5"/>
          <p:cNvSpPr/>
          <p:nvPr/>
        </p:nvSpPr>
        <p:spPr>
          <a:xfrm>
            <a:off x="548640" y="3593592"/>
            <a:ext cx="10881360" cy="2441448"/>
          </a:xfrm>
          <a:prstGeom prst="roundRect">
            <a:avLst>
              <a:gd name="adj" fmla="val 2996"/>
            </a:avLst>
          </a:prstGeom>
          <a:solidFill>
            <a:srgbClr val="F5F7FB"/>
          </a:solidFill>
          <a:ln w="12700">
            <a:solidFill>
              <a:srgbClr val="E1E6F0"/>
            </a:solidFill>
            <a:prstDash val="solid"/>
          </a:ln>
        </p:spPr>
      </p:sp>
      <p:sp>
        <p:nvSpPr>
          <p:cNvPr id="8" name="Text 6"/>
          <p:cNvSpPr txBox="1"/>
          <p:nvPr/>
        </p:nvSpPr>
        <p:spPr>
          <a:xfrm>
            <a:off x="777240" y="3776472"/>
            <a:ext cx="10424160" cy="2121408"/>
          </a:xfrm>
          <a:prstGeom prst="rect">
            <a:avLst/>
          </a:prstGeom>
          <a:noFill/>
          <a:ln/>
        </p:spPr>
        <p:txBody>
          <a:bodyPr wrap="square" lIns="0" tIns="0" rIns="0" bIns="0" rtlCol="0" anchor="t"/>
          <a:lstStyle/>
          <a:p>
            <a:pPr indent="0" marL="0">
              <a:buNone/>
            </a:pPr>
            <a:r>
              <a:rPr lang="en-US" sz="1100" dirty="0">
                <a:solidFill>
                  <a:srgbClr val="16213E"/>
                </a:solidFill>
                <a:latin typeface="Calibri" pitchFamily="34" charset="0"/>
                <a:ea typeface="Calibri" pitchFamily="34" charset="-122"/>
                <a:cs typeface="Calibri" pitchFamily="34" charset="-120"/>
              </a:rPr>
              <a:t>実際の出題例: 「一度動けば永久に動く」という考えでプロジェクト設定を一切更新しない習慣は不適切。出力品質が目に見えて劣化していなくても、ポリシー・用語・参照文書が変化すれば定期的に設定を見直すべき、が正解パターン。</a:t>
            </a:r>
            <a:endParaRPr lang="en-US" sz="1100" dirty="0"/>
          </a:p>
          <a:p>
            <a:pPr indent="0" marL="0">
              <a:buNone/>
            </a:pPr>
            <a:endParaRPr lang="en-US" sz="1100" dirty="0"/>
          </a:p>
          <a:p>
            <a:pPr indent="0" marL="0">
              <a:buNone/>
            </a:pPr>
            <a:r>
              <a:rPr lang="en-US" sz="1100" dirty="0">
                <a:solidFill>
                  <a:srgbClr val="16213E"/>
                </a:solidFill>
                <a:latin typeface="Calibri" pitchFamily="34" charset="0"/>
                <a:ea typeface="Calibri" pitchFamily="34" charset="-122"/>
                <a:cs typeface="Calibri" pitchFamily="34" charset="-120"/>
              </a:rPr>
              <a:t>固定スケジュールでの機械的な更新も、劣化してからの事後対応も、どちらも最適ではない。</a:t>
            </a:r>
            <a:endParaRPr lang="en-US" sz="1100" dirty="0"/>
          </a:p>
        </p:txBody>
      </p:sp>
      <p:sp>
        <p:nvSpPr>
          <p:cNvPr id="9" name="Text 7"/>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 ユーザー提供の練習問題サンプルより</a:t>
            </a:r>
            <a:endParaRPr lang="en-US" sz="900" dirty="0"/>
          </a:p>
        </p:txBody>
      </p:sp>
      <p:sp>
        <p:nvSpPr>
          <p:cNvPr id="10" name="Text 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3</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F2F4F8"/>
                </a:solidFill>
                <a:latin typeface="Cambria" pitchFamily="34" charset="0"/>
                <a:ea typeface="Cambria" pitchFamily="34" charset="-122"/>
                <a:cs typeface="Cambria" pitchFamily="34" charset="-120"/>
              </a:rPr>
              <a:t>分野6: ガバナンス、リスク、責任ある利用(配点15%)</a:t>
            </a:r>
            <a:endParaRPr lang="en-US" sz="2200" dirty="0"/>
          </a:p>
        </p:txBody>
      </p:sp>
      <p:sp>
        <p:nvSpPr>
          <p:cNvPr id="4" name="Text 2"/>
          <p:cNvSpPr txBox="1"/>
          <p:nvPr/>
        </p:nvSpPr>
        <p:spPr>
          <a:xfrm>
            <a:off x="548640" y="1371600"/>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公式の目標(試験ガイドより)</a:t>
            </a:r>
            <a:endParaRPr lang="en-US" sz="1250" dirty="0"/>
          </a:p>
        </p:txBody>
      </p:sp>
      <p:sp>
        <p:nvSpPr>
          <p:cNvPr id="5" name="Text 3"/>
          <p:cNvSpPr txBox="1"/>
          <p:nvPr/>
        </p:nvSpPr>
        <p:spPr>
          <a:xfrm>
            <a:off x="548640" y="1691640"/>
            <a:ext cx="10881360" cy="1353312"/>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適切・不適切なユースケースを特定する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データの機密性・規制・プライバシーの考慮事項を適用する</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組織のAIポリシー・ガバナンス基準に従う</a:t>
            </a:r>
            <a:endParaRPr lang="en-US" sz="1050" dirty="0"/>
          </a:p>
          <a:p>
            <a:pPr marL="342900" indent="-342900">
              <a:spcAft>
                <a:spcPts val="300"/>
              </a:spcAft>
              <a:buSzPct val="100000"/>
              <a:buChar char="•"/>
            </a:pPr>
            <a:r>
              <a:rPr lang="en-US" sz="1050" dirty="0">
                <a:solidFill>
                  <a:srgbClr val="F2F4F8"/>
                </a:solidFill>
                <a:latin typeface="Calibri" pitchFamily="34" charset="0"/>
                <a:ea typeface="Calibri" pitchFamily="34" charset="-122"/>
                <a:cs typeface="Calibri" pitchFamily="34" charset="-120"/>
              </a:rPr>
              <a:t>AI利用の倫理的な影響を理解する</a:t>
            </a:r>
            <a:endParaRPr lang="en-US" sz="1050" dirty="0"/>
          </a:p>
        </p:txBody>
      </p:sp>
      <p:sp>
        <p:nvSpPr>
          <p:cNvPr id="6" name="Text 4"/>
          <p:cNvSpPr txBox="1"/>
          <p:nvPr/>
        </p:nvSpPr>
        <p:spPr>
          <a:xfrm>
            <a:off x="548640" y="3273552"/>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実例・ポイント</a:t>
            </a:r>
            <a:endParaRPr lang="en-US" sz="1250" dirty="0"/>
          </a:p>
        </p:txBody>
      </p:sp>
      <p:sp>
        <p:nvSpPr>
          <p:cNvPr id="7" name="Shape 5"/>
          <p:cNvSpPr/>
          <p:nvPr/>
        </p:nvSpPr>
        <p:spPr>
          <a:xfrm>
            <a:off x="548640" y="3593592"/>
            <a:ext cx="10881360" cy="2441448"/>
          </a:xfrm>
          <a:prstGeom prst="roundRect">
            <a:avLst>
              <a:gd name="adj" fmla="val 2996"/>
            </a:avLst>
          </a:prstGeom>
          <a:solidFill>
            <a:srgbClr val="1F2F52"/>
          </a:solidFill>
          <a:ln w="12700">
            <a:solidFill>
              <a:srgbClr val="2C3C66"/>
            </a:solidFill>
            <a:prstDash val="solid"/>
          </a:ln>
        </p:spPr>
      </p:sp>
      <p:sp>
        <p:nvSpPr>
          <p:cNvPr id="8" name="Text 6"/>
          <p:cNvSpPr txBox="1"/>
          <p:nvPr/>
        </p:nvSpPr>
        <p:spPr>
          <a:xfrm>
            <a:off x="777240" y="3776472"/>
            <a:ext cx="10424160" cy="2121408"/>
          </a:xfrm>
          <a:prstGeom prst="rect">
            <a:avLst/>
          </a:prstGeom>
          <a:noFill/>
          <a:ln/>
        </p:spPr>
        <p:txBody>
          <a:bodyPr wrap="square" lIns="0" tIns="0" rIns="0" bIns="0" rtlCol="0" anchor="t"/>
          <a:lstStyle/>
          <a:p>
            <a:pPr indent="0" marL="0">
              <a:buNone/>
            </a:pPr>
            <a:r>
              <a:rPr lang="en-US" sz="1100" dirty="0">
                <a:solidFill>
                  <a:srgbClr val="F2F4F8"/>
                </a:solidFill>
                <a:latin typeface="Calibri" pitchFamily="34" charset="0"/>
                <a:ea typeface="Calibri" pitchFamily="34" charset="-122"/>
                <a:cs typeface="Calibri" pitchFamily="34" charset="-120"/>
              </a:rPr>
              <a:t>公式サンプル問題より: 顧客名・口座番号を含むデータは、ポリシーに従いアップロード前に個人識別情報を削除・匿名化するのが正解。</a:t>
            </a:r>
            <a:endParaRPr lang="en-US" sz="1100" dirty="0"/>
          </a:p>
          <a:p>
            <a:pPr indent="0" marL="0">
              <a:buNone/>
            </a:pPr>
            <a:endParaRPr lang="en-US" sz="1100" dirty="0"/>
          </a:p>
          <a:p>
            <a:pPr indent="0" marL="0">
              <a:buNone/>
            </a:pPr>
            <a:r>
              <a:rPr lang="en-US" sz="1100" dirty="0">
                <a:solidFill>
                  <a:srgbClr val="F2F4F8"/>
                </a:solidFill>
                <a:latin typeface="Calibri" pitchFamily="34" charset="0"/>
                <a:ea typeface="Calibri" pitchFamily="34" charset="-122"/>
                <a:cs typeface="Calibri" pitchFamily="34" charset="-120"/>
              </a:rPr>
              <a:t>✅ 匿名化されたHRポリシー要約、redacted(黒塗り)された求人票 → 適切</a:t>
            </a:r>
            <a:endParaRPr lang="en-US" sz="1100" dirty="0"/>
          </a:p>
          <a:p>
            <a:pPr indent="0" marL="0">
              <a:buNone/>
            </a:pPr>
            <a:r>
              <a:rPr lang="en-US" sz="1100" dirty="0">
                <a:solidFill>
                  <a:srgbClr val="F2F4F8"/>
                </a:solidFill>
                <a:latin typeface="Calibri" pitchFamily="34" charset="0"/>
                <a:ea typeface="Calibri" pitchFamily="34" charset="-122"/>
                <a:cs typeface="Calibri" pitchFamily="34" charset="-120"/>
              </a:rPr>
              <a:t>❌ 社員ID・入社日、氏名+給与額、未加工の配慮事項メモ → 不適切(未加工の個人情報)</a:t>
            </a:r>
            <a:endParaRPr lang="en-US" sz="1100" dirty="0"/>
          </a:p>
        </p:txBody>
      </p:sp>
      <p:sp>
        <p:nvSpPr>
          <p:cNvPr id="9" name="Text 7"/>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B9C4DB"/>
                </a:solidFill>
                <a:latin typeface="Calibri" pitchFamily="34" charset="0"/>
                <a:ea typeface="Calibri" pitchFamily="34" charset="-122"/>
                <a:cs typeface="Calibri" pitchFamily="34" charset="-120"/>
              </a:rPr>
              <a:t>出典: Anthropic公式試験ガイド + ユーザー提供の練習問題サンプルより</a:t>
            </a:r>
            <a:endParaRPr lang="en-US" sz="900" dirty="0"/>
          </a:p>
        </p:txBody>
      </p:sp>
      <p:sp>
        <p:nvSpPr>
          <p:cNvPr id="10" name="Text 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3</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分野7: トラブルシューティングと最適化(配点10%)</a:t>
            </a:r>
            <a:endParaRPr lang="en-US" sz="2200" dirty="0"/>
          </a:p>
        </p:txBody>
      </p:sp>
      <p:sp>
        <p:nvSpPr>
          <p:cNvPr id="4" name="Text 2"/>
          <p:cNvSpPr txBox="1"/>
          <p:nvPr/>
        </p:nvSpPr>
        <p:spPr>
          <a:xfrm>
            <a:off x="548640" y="1371600"/>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公式の目標(試験ガイドより)</a:t>
            </a:r>
            <a:endParaRPr lang="en-US" sz="1250" dirty="0"/>
          </a:p>
        </p:txBody>
      </p:sp>
      <p:sp>
        <p:nvSpPr>
          <p:cNvPr id="5" name="Text 3"/>
          <p:cNvSpPr txBox="1"/>
          <p:nvPr/>
        </p:nvSpPr>
        <p:spPr>
          <a:xfrm>
            <a:off x="548640" y="1691640"/>
            <a:ext cx="10881360" cy="1060704"/>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パフォーマンスの低いプロンプトや質の低い出力を特定・診断・解決する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フィードバックと結果に基づきアプローチを調整する</a:t>
            </a:r>
            <a:endParaRPr lang="en-US" sz="1050" dirty="0"/>
          </a:p>
          <a:p>
            <a:pPr marL="342900" indent="-342900">
              <a:spcAft>
                <a:spcPts val="300"/>
              </a:spcAft>
              <a:buSzPct val="100000"/>
              <a:buChar char="•"/>
            </a:pPr>
            <a:r>
              <a:rPr lang="en-US" sz="1050" dirty="0">
                <a:solidFill>
                  <a:srgbClr val="16213E"/>
                </a:solidFill>
                <a:latin typeface="Calibri" pitchFamily="34" charset="0"/>
                <a:ea typeface="Calibri" pitchFamily="34" charset="-122"/>
                <a:cs typeface="Calibri" pitchFamily="34" charset="-120"/>
              </a:rPr>
              <a:t>効率と効果のためワークフローを最適化する</a:t>
            </a:r>
            <a:endParaRPr lang="en-US" sz="1050" dirty="0"/>
          </a:p>
        </p:txBody>
      </p:sp>
      <p:sp>
        <p:nvSpPr>
          <p:cNvPr id="6" name="Text 4"/>
          <p:cNvSpPr txBox="1"/>
          <p:nvPr/>
        </p:nvSpPr>
        <p:spPr>
          <a:xfrm>
            <a:off x="548640" y="2980944"/>
            <a:ext cx="10881360" cy="292608"/>
          </a:xfrm>
          <a:prstGeom prst="rect">
            <a:avLst/>
          </a:prstGeom>
          <a:noFill/>
          <a:ln/>
        </p:spPr>
        <p:txBody>
          <a:bodyPr wrap="square" lIns="0" tIns="0" rIns="0" bIns="0" rtlCol="0" anchor="ctr"/>
          <a:lstStyle/>
          <a:p>
            <a:pPr indent="0" marL="0">
              <a:buNone/>
            </a:pPr>
            <a:r>
              <a:rPr lang="en-US" sz="1250" b="1" dirty="0">
                <a:solidFill>
                  <a:srgbClr val="3E64FF"/>
                </a:solidFill>
                <a:latin typeface="Calibri" pitchFamily="34" charset="0"/>
                <a:ea typeface="Calibri" pitchFamily="34" charset="-122"/>
                <a:cs typeface="Calibri" pitchFamily="34" charset="-120"/>
              </a:rPr>
              <a:t>実例・ポイント</a:t>
            </a:r>
            <a:endParaRPr lang="en-US" sz="1250" dirty="0"/>
          </a:p>
        </p:txBody>
      </p:sp>
      <p:sp>
        <p:nvSpPr>
          <p:cNvPr id="7" name="Shape 5"/>
          <p:cNvSpPr/>
          <p:nvPr/>
        </p:nvSpPr>
        <p:spPr>
          <a:xfrm>
            <a:off x="548640" y="3300984"/>
            <a:ext cx="10881360" cy="2734056"/>
          </a:xfrm>
          <a:prstGeom prst="roundRect">
            <a:avLst>
              <a:gd name="adj" fmla="val 2676"/>
            </a:avLst>
          </a:prstGeom>
          <a:solidFill>
            <a:srgbClr val="F5F7FB"/>
          </a:solidFill>
          <a:ln w="12700">
            <a:solidFill>
              <a:srgbClr val="E1E6F0"/>
            </a:solidFill>
            <a:prstDash val="solid"/>
          </a:ln>
        </p:spPr>
      </p:sp>
      <p:sp>
        <p:nvSpPr>
          <p:cNvPr id="8" name="Text 6"/>
          <p:cNvSpPr txBox="1"/>
          <p:nvPr/>
        </p:nvSpPr>
        <p:spPr>
          <a:xfrm>
            <a:off x="777240" y="3483864"/>
            <a:ext cx="10424160" cy="2414016"/>
          </a:xfrm>
          <a:prstGeom prst="rect">
            <a:avLst/>
          </a:prstGeom>
          <a:noFill/>
          <a:ln/>
        </p:spPr>
        <p:txBody>
          <a:bodyPr wrap="square" lIns="0" tIns="0" rIns="0" bIns="0" rtlCol="0" anchor="t"/>
          <a:lstStyle/>
          <a:p>
            <a:pPr indent="0" marL="0">
              <a:buNone/>
            </a:pPr>
            <a:r>
              <a:rPr lang="en-US" sz="1100" dirty="0">
                <a:solidFill>
                  <a:srgbClr val="16213E"/>
                </a:solidFill>
                <a:latin typeface="Calibri" pitchFamily="34" charset="0"/>
                <a:ea typeface="Calibri" pitchFamily="34" charset="-122"/>
                <a:cs typeface="Calibri" pitchFamily="34" charset="-120"/>
              </a:rPr>
              <a:t>実際の出題例: レビューアーが2点だけ指摘した場合、指摘された2点だけに対応し、無関係な部分はそのまま、変更内容を次回レビュー用に記録するのが適切(スコープ逸脱を避ける)。</a:t>
            </a:r>
            <a:endParaRPr lang="en-US" sz="1100" dirty="0"/>
          </a:p>
          <a:p>
            <a:pPr indent="0" marL="0">
              <a:buNone/>
            </a:pPr>
            <a:endParaRPr lang="en-US" sz="1100" dirty="0"/>
          </a:p>
          <a:p>
            <a:pPr indent="0" marL="0">
              <a:buNone/>
            </a:pPr>
            <a:r>
              <a:rPr lang="en-US" sz="1100" dirty="0">
                <a:solidFill>
                  <a:srgbClr val="16213E"/>
                </a:solidFill>
                <a:latin typeface="Calibri" pitchFamily="34" charset="0"/>
                <a:ea typeface="Calibri" pitchFamily="34" charset="-122"/>
                <a:cs typeface="Calibri" pitchFamily="34" charset="-120"/>
              </a:rPr>
              <a:t>自動化ステップの信頼性設計では「入力フォーマットの標準化」+「人間による妥当性確認ステップ」の組み合わせが基本。</a:t>
            </a:r>
            <a:endParaRPr lang="en-US" sz="1100" dirty="0"/>
          </a:p>
        </p:txBody>
      </p:sp>
      <p:sp>
        <p:nvSpPr>
          <p:cNvPr id="9" name="Text 7"/>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 ユーザー提供の練習問題サンプルより</a:t>
            </a:r>
            <a:endParaRPr lang="en-US" sz="900" dirty="0"/>
          </a:p>
        </p:txBody>
      </p:sp>
      <p:sp>
        <p:nvSpPr>
          <p:cNvPr id="10" name="Text 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3+</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追加の着眼点: 分野1・2</a:t>
            </a:r>
            <a:endParaRPr lang="en-US" sz="2200" dirty="0"/>
          </a:p>
        </p:txBody>
      </p:sp>
      <p:sp>
        <p:nvSpPr>
          <p:cNvPr id="4" name="Text 2"/>
          <p:cNvSpPr txBox="1"/>
          <p:nvPr/>
        </p:nvSpPr>
        <p:spPr>
          <a:xfrm>
            <a:off x="548640" y="1325880"/>
            <a:ext cx="10881360" cy="365760"/>
          </a:xfrm>
          <a:prstGeom prst="rect">
            <a:avLst/>
          </a:prstGeom>
          <a:noFill/>
          <a:ln/>
        </p:spPr>
        <p:txBody>
          <a:bodyPr wrap="square" lIns="0" tIns="0" rIns="0" bIns="0" rtlCol="0" anchor="ctr"/>
          <a:lstStyle/>
          <a:p>
            <a:pPr indent="0" marL="0">
              <a:buNone/>
            </a:pPr>
            <a:r>
              <a:rPr lang="en-US" sz="1250" i="1" dirty="0">
                <a:solidFill>
                  <a:srgbClr val="5B6B8C"/>
                </a:solidFill>
                <a:latin typeface="Calibri" pitchFamily="34" charset="0"/>
                <a:ea typeface="Calibri" pitchFamily="34" charset="-122"/>
                <a:cs typeface="Calibri" pitchFamily="34" charset="-120"/>
              </a:rPr>
              <a:t>模擬試験(Udemy)で確認できた追加パターン</a:t>
            </a:r>
            <a:endParaRPr lang="en-US" sz="1250" dirty="0"/>
          </a:p>
        </p:txBody>
      </p:sp>
      <p:sp>
        <p:nvSpPr>
          <p:cNvPr id="5" name="Text 3"/>
          <p:cNvSpPr txBox="1"/>
          <p:nvPr/>
        </p:nvSpPr>
        <p:spPr>
          <a:xfrm>
            <a:off x="548640" y="1783080"/>
            <a:ext cx="10881360" cy="320040"/>
          </a:xfrm>
          <a:prstGeom prst="rect">
            <a:avLst/>
          </a:prstGeom>
          <a:noFill/>
          <a:ln/>
        </p:spPr>
        <p:txBody>
          <a:bodyPr wrap="square" lIns="0" tIns="0" rIns="0" bIns="0" rtlCol="0" anchor="ctr"/>
          <a:lstStyle/>
          <a:p>
            <a:pPr indent="0" marL="0">
              <a:buNone/>
            </a:pPr>
            <a:r>
              <a:rPr lang="en-US" sz="1350" b="1" dirty="0">
                <a:solidFill>
                  <a:srgbClr val="3E64FF"/>
                </a:solidFill>
                <a:latin typeface="Calibri" pitchFamily="34" charset="0"/>
                <a:ea typeface="Calibri" pitchFamily="34" charset="-122"/>
                <a:cs typeface="Calibri" pitchFamily="34" charset="-120"/>
              </a:rPr>
              <a:t>分野1: 制約を「先に」与えるか「後で」適用するか</a:t>
            </a:r>
            <a:endParaRPr lang="en-US" sz="1350" dirty="0"/>
          </a:p>
        </p:txBody>
      </p:sp>
      <p:sp>
        <p:nvSpPr>
          <p:cNvPr id="6" name="Text 4"/>
          <p:cNvSpPr txBox="1"/>
          <p:nvPr/>
        </p:nvSpPr>
        <p:spPr>
          <a:xfrm>
            <a:off x="548640" y="2103120"/>
            <a:ext cx="10881360" cy="13716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ブレインストーミング: まず幅広く発散的にアイデアを求め、その後に予算・時間枠などの条件で絞り込む(先に制約を与えると「無難な案」に偏りやすい)</a:t>
            </a:r>
            <a:endParaRPr lang="en-US" sz="1100" dirty="0"/>
          </a:p>
          <a:p>
            <a:pPr marL="342900" indent="-3429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コンプライアンス制約(承認済み文言・禁止表現など): こちらは最初から明示した方がよい — 必須要件と好みの絞り込み条件を区別する</a:t>
            </a:r>
            <a:endParaRPr lang="en-US" sz="1100" dirty="0"/>
          </a:p>
        </p:txBody>
      </p:sp>
      <p:sp>
        <p:nvSpPr>
          <p:cNvPr id="7" name="Text 5"/>
          <p:cNvSpPr txBox="1"/>
          <p:nvPr/>
        </p:nvSpPr>
        <p:spPr>
          <a:xfrm>
            <a:off x="548640" y="3657600"/>
            <a:ext cx="10881360" cy="320040"/>
          </a:xfrm>
          <a:prstGeom prst="rect">
            <a:avLst/>
          </a:prstGeom>
          <a:noFill/>
          <a:ln/>
        </p:spPr>
        <p:txBody>
          <a:bodyPr wrap="square" lIns="0" tIns="0" rIns="0" bIns="0" rtlCol="0" anchor="ctr"/>
          <a:lstStyle/>
          <a:p>
            <a:pPr indent="0" marL="0">
              <a:buNone/>
            </a:pPr>
            <a:r>
              <a:rPr lang="en-US" sz="1350" b="1" dirty="0">
                <a:solidFill>
                  <a:srgbClr val="3E64FF"/>
                </a:solidFill>
                <a:latin typeface="Calibri" pitchFamily="34" charset="0"/>
                <a:ea typeface="Calibri" pitchFamily="34" charset="-122"/>
                <a:cs typeface="Calibri" pitchFamily="34" charset="-120"/>
              </a:rPr>
              <a:t>分野2: 多項目比較には表形式</a:t>
            </a:r>
            <a:endParaRPr lang="en-US" sz="1350" dirty="0"/>
          </a:p>
        </p:txBody>
      </p:sp>
      <p:sp>
        <p:nvSpPr>
          <p:cNvPr id="8" name="Shape 6"/>
          <p:cNvSpPr/>
          <p:nvPr/>
        </p:nvSpPr>
        <p:spPr>
          <a:xfrm>
            <a:off x="548640" y="3977640"/>
            <a:ext cx="10881360" cy="1280160"/>
          </a:xfrm>
          <a:prstGeom prst="roundRect">
            <a:avLst>
              <a:gd name="adj" fmla="val 5714"/>
            </a:avLst>
          </a:prstGeom>
          <a:solidFill>
            <a:srgbClr val="F5F7FB"/>
          </a:solidFill>
          <a:ln w="12700">
            <a:solidFill>
              <a:srgbClr val="E1E6F0"/>
            </a:solidFill>
            <a:prstDash val="solid"/>
          </a:ln>
        </p:spPr>
      </p:sp>
      <p:sp>
        <p:nvSpPr>
          <p:cNvPr id="9" name="Text 7"/>
          <p:cNvSpPr txBox="1"/>
          <p:nvPr/>
        </p:nvSpPr>
        <p:spPr>
          <a:xfrm>
            <a:off x="777240" y="4160520"/>
            <a:ext cx="10424160" cy="1005840"/>
          </a:xfrm>
          <a:prstGeom prst="rect">
            <a:avLst/>
          </a:prstGeom>
          <a:noFill/>
          <a:ln/>
        </p:spPr>
        <p:txBody>
          <a:bodyPr wrap="square" lIns="0" tIns="0" rIns="0" bIns="0" rtlCol="0" anchor="ctr"/>
          <a:lstStyle/>
          <a:p>
            <a:pPr indent="0" marL="0">
              <a:buNone/>
            </a:pPr>
            <a:r>
              <a:rPr lang="en-US" sz="1100" dirty="0">
                <a:solidFill>
                  <a:srgbClr val="16213E"/>
                </a:solidFill>
                <a:latin typeface="Calibri" pitchFamily="34" charset="0"/>
                <a:ea typeface="Calibri" pitchFamily="34" charset="-122"/>
                <a:cs typeface="Calibri" pitchFamily="34" charset="-120"/>
              </a:rPr>
              <a:t>多数の項目(例: 12地域×複数指標)を限られた時間で素早く横断比較する場面では、物語形式や箇条書きより「行・列が揃った構造化された表」が最適。詳細を「求めに応じて後出し」にする設計は、全項目を同じ基準で見比べたいという要件に反する</a:t>
            </a:r>
            <a:endParaRPr lang="en-US" sz="1100" dirty="0"/>
          </a:p>
        </p:txBody>
      </p:sp>
      <p:sp>
        <p:nvSpPr>
          <p:cNvPr id="10" name="Text 8"/>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ユーザー提供のUdemy模擬試験(Practice Exams Claude Certified Associate Foundations CCAO-F)より</a:t>
            </a:r>
            <a:endParaRPr lang="en-US" sz="900" dirty="0"/>
          </a:p>
        </p:txBody>
      </p:sp>
      <p:sp>
        <p:nvSpPr>
          <p:cNvPr id="11" name="Text 9"/>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4+</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F2F4F8"/>
                </a:solidFill>
                <a:latin typeface="Cambria" pitchFamily="34" charset="0"/>
                <a:ea typeface="Cambria" pitchFamily="34" charset="-122"/>
                <a:cs typeface="Cambria" pitchFamily="34" charset="-120"/>
              </a:rPr>
              <a:t>追加の着眼点: 分野4・6</a:t>
            </a:r>
            <a:endParaRPr lang="en-US" sz="2200" dirty="0"/>
          </a:p>
        </p:txBody>
      </p:sp>
      <p:sp>
        <p:nvSpPr>
          <p:cNvPr id="4" name="Text 2"/>
          <p:cNvSpPr txBox="1"/>
          <p:nvPr/>
        </p:nvSpPr>
        <p:spPr>
          <a:xfrm>
            <a:off x="548640" y="1325880"/>
            <a:ext cx="10881360" cy="365760"/>
          </a:xfrm>
          <a:prstGeom prst="rect">
            <a:avLst/>
          </a:prstGeom>
          <a:noFill/>
          <a:ln/>
        </p:spPr>
        <p:txBody>
          <a:bodyPr wrap="square" lIns="0" tIns="0" rIns="0" bIns="0" rtlCol="0" anchor="ctr"/>
          <a:lstStyle/>
          <a:p>
            <a:pPr indent="0" marL="0">
              <a:buNone/>
            </a:pPr>
            <a:r>
              <a:rPr lang="en-US" sz="1250" i="1" dirty="0">
                <a:solidFill>
                  <a:srgbClr val="B9C4DB"/>
                </a:solidFill>
                <a:latin typeface="Calibri" pitchFamily="34" charset="0"/>
                <a:ea typeface="Calibri" pitchFamily="34" charset="-122"/>
                <a:cs typeface="Calibri" pitchFamily="34" charset="-120"/>
              </a:rPr>
              <a:t>模擬試験(Udemy)で確認できた追加パターン</a:t>
            </a:r>
            <a:endParaRPr lang="en-US" sz="1250" dirty="0"/>
          </a:p>
        </p:txBody>
      </p:sp>
      <p:sp>
        <p:nvSpPr>
          <p:cNvPr id="5" name="Text 3"/>
          <p:cNvSpPr txBox="1"/>
          <p:nvPr/>
        </p:nvSpPr>
        <p:spPr>
          <a:xfrm>
            <a:off x="548640" y="1783080"/>
            <a:ext cx="10881360" cy="320040"/>
          </a:xfrm>
          <a:prstGeom prst="rect">
            <a:avLst/>
          </a:prstGeom>
          <a:noFill/>
          <a:ln/>
        </p:spPr>
        <p:txBody>
          <a:bodyPr wrap="square" lIns="0" tIns="0" rIns="0" bIns="0" rtlCol="0" anchor="ctr"/>
          <a:lstStyle/>
          <a:p>
            <a:pPr indent="0" marL="0">
              <a:buNone/>
            </a:pPr>
            <a:r>
              <a:rPr lang="en-US" sz="1350" b="1" dirty="0">
                <a:solidFill>
                  <a:srgbClr val="2CB1BC"/>
                </a:solidFill>
                <a:latin typeface="Calibri" pitchFamily="34" charset="0"/>
                <a:ea typeface="Calibri" pitchFamily="34" charset="-122"/>
                <a:cs typeface="Calibri" pitchFamily="34" charset="-120"/>
              </a:rPr>
              <a:t>分野4: 実データに基づく分析 / 再設計の型 / 根本原因対処</a:t>
            </a:r>
            <a:endParaRPr lang="en-US" sz="1350" dirty="0"/>
          </a:p>
        </p:txBody>
      </p:sp>
      <p:sp>
        <p:nvSpPr>
          <p:cNvPr id="6" name="Text 4"/>
          <p:cNvSpPr txBox="1"/>
          <p:nvPr/>
        </p:nvSpPr>
        <p:spPr>
          <a:xfrm>
            <a:off x="548640" y="2103120"/>
            <a:ext cx="10881360" cy="173736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F2F4F8"/>
                </a:solidFill>
                <a:latin typeface="Calibri" pitchFamily="34" charset="0"/>
                <a:ea typeface="Calibri" pitchFamily="34" charset="-122"/>
                <a:cs typeface="Calibri" pitchFamily="34" charset="-120"/>
              </a:rPr>
              <a:t>手元の完了記録・ログなどの実データを使ってボトルネックを特定する(一般的なベストプラクティスの当てはめだけでは組織固有の実態を反映できない)</a:t>
            </a:r>
            <a:endParaRPr lang="en-US" sz="1050" dirty="0"/>
          </a:p>
          <a:p>
            <a:pPr marL="342900" indent="-342900">
              <a:spcAft>
                <a:spcPts val="500"/>
              </a:spcAft>
              <a:buSzPct val="100000"/>
              <a:buChar char="•"/>
            </a:pPr>
            <a:r>
              <a:rPr lang="en-US" sz="1050" dirty="0">
                <a:solidFill>
                  <a:srgbClr val="F2F4F8"/>
                </a:solidFill>
                <a:latin typeface="Calibri" pitchFamily="34" charset="0"/>
                <a:ea typeface="Calibri" pitchFamily="34" charset="-122"/>
                <a:cs typeface="Calibri" pitchFamily="34" charset="-120"/>
              </a:rPr>
              <a:t>ワークフロー再設計の型: 収集(出所記録)→矛盾のフラグ→人間承認→成果物作成→配布、の順序を守る</a:t>
            </a:r>
            <a:endParaRPr lang="en-US" sz="1050" dirty="0"/>
          </a:p>
          <a:p>
            <a:pPr marL="342900" indent="-342900">
              <a:spcAft>
                <a:spcPts val="500"/>
              </a:spcAft>
              <a:buSzPct val="100000"/>
              <a:buChar char="•"/>
            </a:pPr>
            <a:r>
              <a:rPr lang="en-US" sz="1050" dirty="0">
                <a:solidFill>
                  <a:srgbClr val="F2F4F8"/>
                </a:solidFill>
                <a:latin typeface="Calibri" pitchFamily="34" charset="0"/>
                <a:ea typeface="Calibri" pitchFamily="34" charset="-122"/>
                <a:cs typeface="Calibri" pitchFamily="34" charset="-120"/>
              </a:rPr>
              <a:t>非効率なワークフローの改善は、対症療法(文書を増やす等)ではなく根本原因(データソースの不統一)を解消する</a:t>
            </a:r>
            <a:endParaRPr lang="en-US" sz="1050" dirty="0"/>
          </a:p>
        </p:txBody>
      </p:sp>
      <p:sp>
        <p:nvSpPr>
          <p:cNvPr id="7" name="Text 5"/>
          <p:cNvSpPr txBox="1"/>
          <p:nvPr/>
        </p:nvSpPr>
        <p:spPr>
          <a:xfrm>
            <a:off x="548640" y="4114800"/>
            <a:ext cx="10881360" cy="320040"/>
          </a:xfrm>
          <a:prstGeom prst="rect">
            <a:avLst/>
          </a:prstGeom>
          <a:noFill/>
          <a:ln/>
        </p:spPr>
        <p:txBody>
          <a:bodyPr wrap="square" lIns="0" tIns="0" rIns="0" bIns="0" rtlCol="0" anchor="ctr"/>
          <a:lstStyle/>
          <a:p>
            <a:pPr indent="0" marL="0">
              <a:buNone/>
            </a:pPr>
            <a:r>
              <a:rPr lang="en-US" sz="1350" b="1" dirty="0">
                <a:solidFill>
                  <a:srgbClr val="2CB1BC"/>
                </a:solidFill>
                <a:latin typeface="Calibri" pitchFamily="34" charset="0"/>
                <a:ea typeface="Calibri" pitchFamily="34" charset="-122"/>
                <a:cs typeface="Calibri" pitchFamily="34" charset="-120"/>
              </a:rPr>
              <a:t>分野6: PIIの機微度判断 / 適切なユースケースの境界線</a:t>
            </a:r>
            <a:endParaRPr lang="en-US" sz="1350" dirty="0"/>
          </a:p>
        </p:txBody>
      </p:sp>
      <p:sp>
        <p:nvSpPr>
          <p:cNvPr id="8" name="Text 6"/>
          <p:cNvSpPr txBox="1"/>
          <p:nvPr/>
        </p:nvSpPr>
        <p:spPr>
          <a:xfrm>
            <a:off x="548640" y="4434840"/>
            <a:ext cx="10881360" cy="155448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F2F4F8"/>
                </a:solidFill>
                <a:latin typeface="Calibri" pitchFamily="34" charset="0"/>
                <a:ea typeface="Calibri" pitchFamily="34" charset="-122"/>
                <a:cs typeface="Calibri" pitchFamily="34" charset="-120"/>
              </a:rPr>
              <a:t>政府発行ID+決済カード番号全桁+氏名の紐付けのように複数の機微要素が重なるデータが、最も明確に追加対応(削除・匿名化・個別認可)を要する</a:t>
            </a:r>
            <a:endParaRPr lang="en-US" sz="1050" dirty="0"/>
          </a:p>
          <a:p>
            <a:pPr marL="342900" indent="-342900">
              <a:spcAft>
                <a:spcPts val="500"/>
              </a:spcAft>
              <a:buSzPct val="100000"/>
              <a:buChar char="•"/>
            </a:pPr>
            <a:r>
              <a:rPr lang="en-US" sz="1050" dirty="0">
                <a:solidFill>
                  <a:srgbClr val="F2F4F8"/>
                </a:solidFill>
                <a:latin typeface="Calibri" pitchFamily="34" charset="0"/>
                <a:ea typeface="Calibri" pitchFamily="34" charset="-122"/>
                <a:cs typeface="Calibri" pitchFamily="34" charset="-120"/>
              </a:rPr>
              <a:t>適切な使い方の境界線: AIによる下書き作成の一律禁止(過度に保守的)でも、使用前レビューの省略(過度に楽観的)でもなく、人間が使用前に確認・テストする設計が適切</a:t>
            </a:r>
            <a:endParaRPr lang="en-US" sz="1050" dirty="0"/>
          </a:p>
        </p:txBody>
      </p:sp>
      <p:sp>
        <p:nvSpPr>
          <p:cNvPr id="9" name="Text 7"/>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B9C4DB"/>
                </a:solidFill>
                <a:latin typeface="Calibri" pitchFamily="34" charset="0"/>
                <a:ea typeface="Calibri" pitchFamily="34" charset="-122"/>
                <a:cs typeface="Calibri" pitchFamily="34" charset="-120"/>
              </a:rPr>
              <a:t>出典: ユーザー提供のUdemy模擬試験(Practice Exams Claude Certified Associate Foundations CCAO-F)より</a:t>
            </a:r>
            <a:endParaRPr lang="en-US" sz="900" dirty="0"/>
          </a:p>
        </p:txBody>
      </p:sp>
      <p:sp>
        <p:nvSpPr>
          <p:cNvPr id="10" name="Text 8"/>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4</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F2F4F8"/>
                </a:solidFill>
                <a:latin typeface="Cambria" pitchFamily="34" charset="0"/>
                <a:ea typeface="Cambria" pitchFamily="34" charset="-122"/>
                <a:cs typeface="Cambria" pitchFamily="34" charset="-120"/>
              </a:rPr>
              <a:t>試験対策テクニック: 「動詞パターン」のヒント</a:t>
            </a:r>
            <a:endParaRPr lang="en-US" sz="2200" dirty="0"/>
          </a:p>
        </p:txBody>
      </p:sp>
      <p:sp>
        <p:nvSpPr>
          <p:cNvPr id="4" name="Text 2"/>
          <p:cNvSpPr txBox="1"/>
          <p:nvPr/>
        </p:nvSpPr>
        <p:spPr>
          <a:xfrm>
            <a:off x="548640" y="1371600"/>
            <a:ext cx="10881360" cy="365760"/>
          </a:xfrm>
          <a:prstGeom prst="rect">
            <a:avLst/>
          </a:prstGeom>
          <a:noFill/>
          <a:ln/>
        </p:spPr>
        <p:txBody>
          <a:bodyPr wrap="square" lIns="0" tIns="0" rIns="0" bIns="0" rtlCol="0" anchor="ctr"/>
          <a:lstStyle/>
          <a:p>
            <a:pPr indent="0" marL="0">
              <a:buNone/>
            </a:pPr>
            <a:r>
              <a:rPr lang="en-US" sz="1250" i="1" dirty="0">
                <a:solidFill>
                  <a:srgbClr val="B9C4DB"/>
                </a:solidFill>
                <a:latin typeface="Calibri" pitchFamily="34" charset="0"/>
                <a:ea typeface="Calibri" pitchFamily="34" charset="-122"/>
                <a:cs typeface="Calibri" pitchFamily="34" charset="-120"/>
              </a:rPr>
              <a:t>英語読解の実務的なコツ(受験記事より)</a:t>
            </a:r>
            <a:endParaRPr lang="en-US" sz="1250" dirty="0"/>
          </a:p>
        </p:txBody>
      </p:sp>
      <p:sp>
        <p:nvSpPr>
          <p:cNvPr id="5" name="Shape 3"/>
          <p:cNvSpPr/>
          <p:nvPr/>
        </p:nvSpPr>
        <p:spPr>
          <a:xfrm>
            <a:off x="548640" y="1920240"/>
            <a:ext cx="5303520" cy="2926080"/>
          </a:xfrm>
          <a:prstGeom prst="roundRect">
            <a:avLst>
              <a:gd name="adj" fmla="val 3125"/>
            </a:avLst>
          </a:prstGeom>
          <a:solidFill>
            <a:srgbClr val="16331F"/>
          </a:solidFill>
          <a:ln w="12700">
            <a:solidFill>
              <a:srgbClr val="2E6B3E"/>
            </a:solidFill>
            <a:prstDash val="solid"/>
          </a:ln>
        </p:spPr>
      </p:sp>
      <p:sp>
        <p:nvSpPr>
          <p:cNvPr id="6" name="Text 4"/>
          <p:cNvSpPr txBox="1"/>
          <p:nvPr/>
        </p:nvSpPr>
        <p:spPr>
          <a:xfrm>
            <a:off x="777240" y="2103120"/>
            <a:ext cx="4846320" cy="365760"/>
          </a:xfrm>
          <a:prstGeom prst="rect">
            <a:avLst/>
          </a:prstGeom>
          <a:noFill/>
          <a:ln/>
        </p:spPr>
        <p:txBody>
          <a:bodyPr wrap="square" lIns="0" tIns="0" rIns="0" bIns="0" rtlCol="0" anchor="ctr"/>
          <a:lstStyle/>
          <a:p>
            <a:pPr indent="0" marL="0">
              <a:buNone/>
            </a:pPr>
            <a:r>
              <a:rPr lang="en-US" sz="1400" b="1" dirty="0">
                <a:solidFill>
                  <a:srgbClr val="6FCF97"/>
                </a:solidFill>
                <a:latin typeface="Calibri" pitchFamily="34" charset="0"/>
                <a:ea typeface="Calibri" pitchFamily="34" charset="-122"/>
                <a:cs typeface="Calibri" pitchFamily="34" charset="-120"/>
              </a:rPr>
              <a:t>正解側に出やすい動詞</a:t>
            </a:r>
            <a:endParaRPr lang="en-US" sz="1400" dirty="0"/>
          </a:p>
        </p:txBody>
      </p:sp>
      <p:sp>
        <p:nvSpPr>
          <p:cNvPr id="7" name="Text 5"/>
          <p:cNvSpPr txBox="1"/>
          <p:nvPr/>
        </p:nvSpPr>
        <p:spPr>
          <a:xfrm>
            <a:off x="777240" y="2560320"/>
            <a:ext cx="4846320" cy="21031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2F4F8"/>
                </a:solidFill>
                <a:latin typeface="Calibri" pitchFamily="34" charset="0"/>
                <a:ea typeface="Calibri" pitchFamily="34" charset="-122"/>
                <a:cs typeface="Calibri" pitchFamily="34" charset="-120"/>
              </a:rPr>
              <a:t>verify(確認する)</a:t>
            </a:r>
            <a:endParaRPr lang="en-US" sz="1300" dirty="0"/>
          </a:p>
          <a:p>
            <a:pPr marL="342900" indent="-342900">
              <a:spcAft>
                <a:spcPts val="1000"/>
              </a:spcAft>
              <a:buSzPct val="100000"/>
              <a:buChar char="•"/>
            </a:pPr>
            <a:r>
              <a:rPr lang="en-US" sz="1300" dirty="0">
                <a:solidFill>
                  <a:srgbClr val="F2F4F8"/>
                </a:solidFill>
                <a:latin typeface="Calibri" pitchFamily="34" charset="0"/>
                <a:ea typeface="Calibri" pitchFamily="34" charset="-122"/>
                <a:cs typeface="Calibri" pitchFamily="34" charset="-120"/>
              </a:rPr>
              <a:t>escalate(エスカレーションする)</a:t>
            </a:r>
            <a:endParaRPr lang="en-US" sz="1300" dirty="0"/>
          </a:p>
          <a:p>
            <a:pPr marL="342900" indent="-342900">
              <a:spcAft>
                <a:spcPts val="1000"/>
              </a:spcAft>
              <a:buSzPct val="100000"/>
              <a:buChar char="•"/>
            </a:pPr>
            <a:r>
              <a:rPr lang="en-US" sz="1300" dirty="0">
                <a:solidFill>
                  <a:srgbClr val="F2F4F8"/>
                </a:solidFill>
                <a:latin typeface="Calibri" pitchFamily="34" charset="0"/>
                <a:ea typeface="Calibri" pitchFamily="34" charset="-122"/>
                <a:cs typeface="Calibri" pitchFamily="34" charset="-120"/>
              </a:rPr>
              <a:t>flag(注意喚起する)</a:t>
            </a:r>
            <a:endParaRPr lang="en-US" sz="1300" dirty="0"/>
          </a:p>
          <a:p>
            <a:pPr marL="342900" indent="-342900">
              <a:spcAft>
                <a:spcPts val="1000"/>
              </a:spcAft>
              <a:buSzPct val="100000"/>
              <a:buChar char="•"/>
            </a:pPr>
            <a:r>
              <a:rPr lang="en-US" sz="1300" dirty="0">
                <a:solidFill>
                  <a:srgbClr val="F2F4F8"/>
                </a:solidFill>
                <a:latin typeface="Calibri" pitchFamily="34" charset="0"/>
                <a:ea typeface="Calibri" pitchFamily="34" charset="-122"/>
                <a:cs typeface="Calibri" pitchFamily="34" charset="-120"/>
              </a:rPr>
              <a:t>anonymize / redact(匿名化する)</a:t>
            </a:r>
            <a:endParaRPr lang="en-US" sz="1300" dirty="0"/>
          </a:p>
        </p:txBody>
      </p:sp>
      <p:sp>
        <p:nvSpPr>
          <p:cNvPr id="8" name="Shape 6"/>
          <p:cNvSpPr/>
          <p:nvPr/>
        </p:nvSpPr>
        <p:spPr>
          <a:xfrm>
            <a:off x="6126480" y="1920240"/>
            <a:ext cx="5303520" cy="2926080"/>
          </a:xfrm>
          <a:prstGeom prst="roundRect">
            <a:avLst>
              <a:gd name="adj" fmla="val 3125"/>
            </a:avLst>
          </a:prstGeom>
          <a:solidFill>
            <a:srgbClr val="33181B"/>
          </a:solidFill>
          <a:ln w="12700">
            <a:solidFill>
              <a:srgbClr val="6B2E33"/>
            </a:solidFill>
            <a:prstDash val="solid"/>
          </a:ln>
        </p:spPr>
      </p:sp>
      <p:sp>
        <p:nvSpPr>
          <p:cNvPr id="9" name="Text 7"/>
          <p:cNvSpPr txBox="1"/>
          <p:nvPr/>
        </p:nvSpPr>
        <p:spPr>
          <a:xfrm>
            <a:off x="6355080" y="2103120"/>
            <a:ext cx="4846320" cy="365760"/>
          </a:xfrm>
          <a:prstGeom prst="rect">
            <a:avLst/>
          </a:prstGeom>
          <a:noFill/>
          <a:ln/>
        </p:spPr>
        <p:txBody>
          <a:bodyPr wrap="square" lIns="0" tIns="0" rIns="0" bIns="0" rtlCol="0" anchor="ctr"/>
          <a:lstStyle/>
          <a:p>
            <a:pPr indent="0" marL="0">
              <a:buNone/>
            </a:pPr>
            <a:r>
              <a:rPr lang="en-US" sz="1400" b="1" dirty="0">
                <a:solidFill>
                  <a:srgbClr val="EB8F8F"/>
                </a:solidFill>
                <a:latin typeface="Calibri" pitchFamily="34" charset="0"/>
                <a:ea typeface="Calibri" pitchFamily="34" charset="-122"/>
                <a:cs typeface="Calibri" pitchFamily="34" charset="-120"/>
              </a:rPr>
              <a:t>不正解側に出やすい動詞</a:t>
            </a:r>
            <a:endParaRPr lang="en-US" sz="1400" dirty="0"/>
          </a:p>
        </p:txBody>
      </p:sp>
      <p:sp>
        <p:nvSpPr>
          <p:cNvPr id="10" name="Text 8"/>
          <p:cNvSpPr txBox="1"/>
          <p:nvPr/>
        </p:nvSpPr>
        <p:spPr>
          <a:xfrm>
            <a:off x="6355080" y="2560320"/>
            <a:ext cx="4846320" cy="21031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2F4F8"/>
                </a:solidFill>
                <a:latin typeface="Calibri" pitchFamily="34" charset="0"/>
                <a:ea typeface="Calibri" pitchFamily="34" charset="-122"/>
                <a:cs typeface="Calibri" pitchFamily="34" charset="-120"/>
              </a:rPr>
              <a:t>send as-is(そのまま送る)</a:t>
            </a:r>
            <a:endParaRPr lang="en-US" sz="1300" dirty="0"/>
          </a:p>
          <a:p>
            <a:pPr marL="342900" indent="-342900">
              <a:spcAft>
                <a:spcPts val="1000"/>
              </a:spcAft>
              <a:buSzPct val="100000"/>
              <a:buChar char="•"/>
            </a:pPr>
            <a:r>
              <a:rPr lang="en-US" sz="1300" dirty="0">
                <a:solidFill>
                  <a:srgbClr val="F2F4F8"/>
                </a:solidFill>
                <a:latin typeface="Calibri" pitchFamily="34" charset="0"/>
                <a:ea typeface="Calibri" pitchFamily="34" charset="-122"/>
                <a:cs typeface="Calibri" pitchFamily="34" charset="-120"/>
              </a:rPr>
              <a:t>assume(決めつける)</a:t>
            </a:r>
            <a:endParaRPr lang="en-US" sz="1300" dirty="0"/>
          </a:p>
          <a:p>
            <a:pPr marL="342900" indent="-342900">
              <a:spcAft>
                <a:spcPts val="1000"/>
              </a:spcAft>
              <a:buSzPct val="100000"/>
              <a:buChar char="•"/>
            </a:pPr>
            <a:r>
              <a:rPr lang="en-US" sz="1300" dirty="0">
                <a:solidFill>
                  <a:srgbClr val="F2F4F8"/>
                </a:solidFill>
                <a:latin typeface="Calibri" pitchFamily="34" charset="0"/>
                <a:ea typeface="Calibri" pitchFamily="34" charset="-122"/>
                <a:cs typeface="Calibri" pitchFamily="34" charset="-120"/>
              </a:rPr>
              <a:t>skip(省略する)</a:t>
            </a:r>
            <a:endParaRPr lang="en-US" sz="1300" dirty="0"/>
          </a:p>
        </p:txBody>
      </p:sp>
      <p:sp>
        <p:nvSpPr>
          <p:cNvPr id="11" name="Text 9"/>
          <p:cNvSpPr txBox="1"/>
          <p:nvPr/>
        </p:nvSpPr>
        <p:spPr>
          <a:xfrm>
            <a:off x="548640" y="5120640"/>
            <a:ext cx="10881360" cy="822960"/>
          </a:xfrm>
          <a:prstGeom prst="rect">
            <a:avLst/>
          </a:prstGeom>
          <a:noFill/>
          <a:ln/>
        </p:spPr>
        <p:txBody>
          <a:bodyPr wrap="square" lIns="0" tIns="0" rIns="0" bIns="0" rtlCol="0" anchor="ctr"/>
          <a:lstStyle/>
          <a:p>
            <a:pPr indent="0" marL="0">
              <a:buNone/>
            </a:pPr>
            <a:r>
              <a:rPr lang="en-US" sz="1200" i="1" dirty="0">
                <a:solidFill>
                  <a:srgbClr val="B9C4DB"/>
                </a:solidFill>
                <a:latin typeface="Calibri" pitchFamily="34" charset="0"/>
                <a:ea typeface="Calibri" pitchFamily="34" charset="-122"/>
                <a:cs typeface="Calibri" pitchFamily="34" charset="-120"/>
              </a:rPr>
              <a:t>公式サンプル問題3問すべての正解パターン(照合して確認する／適切なモデル選定／削除・匿名化する)とも一致。迷った際の有力な手がかりになる</a:t>
            </a:r>
            <a:endParaRPr lang="en-US" sz="1200" dirty="0"/>
          </a:p>
        </p:txBody>
      </p:sp>
      <p:sp>
        <p:nvSpPr>
          <p:cNvPr id="12" name="Text 10"/>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B9C4DB"/>
                </a:solidFill>
                <a:latin typeface="Calibri" pitchFamily="34" charset="0"/>
                <a:ea typeface="Calibri" pitchFamily="34" charset="-122"/>
                <a:cs typeface="Calibri" pitchFamily="34" charset="-120"/>
              </a:rPr>
              <a:t>出典: ユーザー収集の受験記事(Qiita)より</a:t>
            </a:r>
            <a:endParaRPr lang="en-US" sz="900" dirty="0"/>
          </a:p>
        </p:txBody>
      </p:sp>
      <p:sp>
        <p:nvSpPr>
          <p:cNvPr id="13" name="Text 11"/>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5</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公式サンプル問題 1 — 分野2</a:t>
            </a:r>
            <a:endParaRPr lang="en-US" sz="2200" dirty="0"/>
          </a:p>
        </p:txBody>
      </p:sp>
      <p:sp>
        <p:nvSpPr>
          <p:cNvPr id="4" name="Text 2"/>
          <p:cNvSpPr txBox="1"/>
          <p:nvPr/>
        </p:nvSpPr>
        <p:spPr>
          <a:xfrm>
            <a:off x="548640" y="1371600"/>
            <a:ext cx="10881360" cy="109728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あるアソシエイトがClaudeに新しい規制の要約を依頼したところ、Claudeは特定の項番号を引用した、確信に満ちた要約を作成しました。この要約をコンプライアンスチームに送る前に取るべき最も適切な行動はどれですか。</a:t>
            </a:r>
            <a:endParaRPr lang="en-US" sz="1200" dirty="0"/>
          </a:p>
        </p:txBody>
      </p:sp>
      <p:sp>
        <p:nvSpPr>
          <p:cNvPr id="5" name="Shape 3"/>
          <p:cNvSpPr/>
          <p:nvPr/>
        </p:nvSpPr>
        <p:spPr>
          <a:xfrm>
            <a:off x="548640" y="2606040"/>
            <a:ext cx="10881360" cy="502920"/>
          </a:xfrm>
          <a:prstGeom prst="roundRect">
            <a:avLst>
              <a:gd name="adj" fmla="val 10909"/>
            </a:avLst>
          </a:prstGeom>
          <a:solidFill>
            <a:srgbClr val="F7F7F9"/>
          </a:solidFill>
          <a:ln w="12700">
            <a:solidFill>
              <a:srgbClr val="E1E6F0"/>
            </a:solidFill>
            <a:prstDash val="solid"/>
          </a:ln>
        </p:spPr>
      </p:sp>
      <p:sp>
        <p:nvSpPr>
          <p:cNvPr id="6" name="Text 4"/>
          <p:cNvSpPr txBox="1"/>
          <p:nvPr/>
        </p:nvSpPr>
        <p:spPr>
          <a:xfrm>
            <a:off x="731520" y="2651760"/>
            <a:ext cx="10332720" cy="41148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  Claudeが高い確信を示しているので、そのまま送る。</a:t>
            </a:r>
            <a:endParaRPr lang="en-US" sz="1050" dirty="0"/>
          </a:p>
        </p:txBody>
      </p:sp>
      <p:sp>
        <p:nvSpPr>
          <p:cNvPr id="7" name="Shape 5"/>
          <p:cNvSpPr/>
          <p:nvPr/>
        </p:nvSpPr>
        <p:spPr>
          <a:xfrm>
            <a:off x="548640" y="3172968"/>
            <a:ext cx="10881360" cy="502920"/>
          </a:xfrm>
          <a:prstGeom prst="roundRect">
            <a:avLst>
              <a:gd name="adj" fmla="val 10909"/>
            </a:avLst>
          </a:prstGeom>
          <a:solidFill>
            <a:srgbClr val="E8F5EC"/>
          </a:solidFill>
          <a:ln w="12700">
            <a:solidFill>
              <a:srgbClr val="6FCF97"/>
            </a:solidFill>
            <a:prstDash val="solid"/>
          </a:ln>
        </p:spPr>
      </p:sp>
      <p:sp>
        <p:nvSpPr>
          <p:cNvPr id="8" name="Text 6"/>
          <p:cNvSpPr txBox="1"/>
          <p:nvPr/>
        </p:nvSpPr>
        <p:spPr>
          <a:xfrm>
            <a:off x="731520" y="3218688"/>
            <a:ext cx="10332720" cy="411480"/>
          </a:xfrm>
          <a:prstGeom prst="rect">
            <a:avLst/>
          </a:prstGeom>
          <a:noFill/>
          <a:ln/>
        </p:spPr>
        <p:txBody>
          <a:bodyPr wrap="square" lIns="0" tIns="0" rIns="0" bIns="0" rtlCol="0" anchor="ctr"/>
          <a:lstStyle/>
          <a:p>
            <a:pPr indent="0" marL="0">
              <a:buNone/>
            </a:pPr>
            <a:r>
              <a:rPr lang="en-US" sz="1050" b="1" dirty="0">
                <a:solidFill>
                  <a:srgbClr val="1F7A3E"/>
                </a:solidFill>
                <a:latin typeface="Calibri" pitchFamily="34" charset="0"/>
                <a:ea typeface="Calibri" pitchFamily="34" charset="-122"/>
                <a:cs typeface="Calibri" pitchFamily="34" charset="-120"/>
              </a:rPr>
              <a:t>B.  共有する前に、引用された項を規制の公式な条文と照合して確認する。</a:t>
            </a:r>
            <a:endParaRPr lang="en-US" sz="1050" dirty="0"/>
          </a:p>
        </p:txBody>
      </p:sp>
      <p:sp>
        <p:nvSpPr>
          <p:cNvPr id="9" name="Shape 7"/>
          <p:cNvSpPr/>
          <p:nvPr/>
        </p:nvSpPr>
        <p:spPr>
          <a:xfrm>
            <a:off x="548640" y="3739896"/>
            <a:ext cx="10881360" cy="502920"/>
          </a:xfrm>
          <a:prstGeom prst="roundRect">
            <a:avLst>
              <a:gd name="adj" fmla="val 10909"/>
            </a:avLst>
          </a:prstGeom>
          <a:solidFill>
            <a:srgbClr val="F7F7F9"/>
          </a:solidFill>
          <a:ln w="12700">
            <a:solidFill>
              <a:srgbClr val="E1E6F0"/>
            </a:solidFill>
            <a:prstDash val="solid"/>
          </a:ln>
        </p:spPr>
      </p:sp>
      <p:sp>
        <p:nvSpPr>
          <p:cNvPr id="10" name="Text 8"/>
          <p:cNvSpPr txBox="1"/>
          <p:nvPr/>
        </p:nvSpPr>
        <p:spPr>
          <a:xfrm>
            <a:off x="731520" y="3785616"/>
            <a:ext cx="10332720" cy="41148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C.  Claudeに自身の確信度を評価させ、評価が高ければ送る。</a:t>
            </a:r>
            <a:endParaRPr lang="en-US" sz="1050" dirty="0"/>
          </a:p>
        </p:txBody>
      </p:sp>
      <p:sp>
        <p:nvSpPr>
          <p:cNvPr id="11" name="Shape 9"/>
          <p:cNvSpPr/>
          <p:nvPr/>
        </p:nvSpPr>
        <p:spPr>
          <a:xfrm>
            <a:off x="548640" y="4306824"/>
            <a:ext cx="10881360" cy="502920"/>
          </a:xfrm>
          <a:prstGeom prst="roundRect">
            <a:avLst>
              <a:gd name="adj" fmla="val 10909"/>
            </a:avLst>
          </a:prstGeom>
          <a:solidFill>
            <a:srgbClr val="F7F7F9"/>
          </a:solidFill>
          <a:ln w="12700">
            <a:solidFill>
              <a:srgbClr val="E1E6F0"/>
            </a:solidFill>
            <a:prstDash val="solid"/>
          </a:ln>
        </p:spPr>
      </p:sp>
      <p:sp>
        <p:nvSpPr>
          <p:cNvPr id="12" name="Text 10"/>
          <p:cNvSpPr txBox="1"/>
          <p:nvPr/>
        </p:nvSpPr>
        <p:spPr>
          <a:xfrm>
            <a:off x="731520" y="4352544"/>
            <a:ext cx="10332720" cy="41148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D.  よりフォーマルに聞こえるように要約を書き換えてから送る。</a:t>
            </a:r>
            <a:endParaRPr lang="en-US" sz="1050" dirty="0"/>
          </a:p>
        </p:txBody>
      </p:sp>
      <p:sp>
        <p:nvSpPr>
          <p:cNvPr id="13" name="Text 11"/>
          <p:cNvSpPr txBox="1"/>
          <p:nvPr/>
        </p:nvSpPr>
        <p:spPr>
          <a:xfrm>
            <a:off x="548640" y="4965192"/>
            <a:ext cx="10881360" cy="1069848"/>
          </a:xfrm>
          <a:prstGeom prst="rect">
            <a:avLst/>
          </a:prstGeom>
          <a:noFill/>
          <a:ln/>
        </p:spPr>
        <p:txBody>
          <a:bodyPr wrap="square" lIns="0" tIns="0" rIns="0" bIns="0" rtlCol="0" anchor="ctr"/>
          <a:lstStyle/>
          <a:p>
            <a:pPr indent="0" marL="0">
              <a:buNone/>
            </a:pPr>
            <a:r>
              <a:rPr lang="en-US" sz="1000" i="1" dirty="0">
                <a:solidFill>
                  <a:srgbClr val="5B6B8C"/>
                </a:solidFill>
                <a:latin typeface="Calibri" pitchFamily="34" charset="0"/>
                <a:ea typeface="Calibri" pitchFamily="34" charset="-122"/>
                <a:cs typeface="Calibri" pitchFamily="34" charset="-120"/>
              </a:rPr>
              <a:t>解説: 言語モデルは引用番号のような具体的に見える詳細を捏造することがある(ハルシネーション)。自己申告の確信度(A・C)は正確性の信頼できる指標ではなく、体裁の変更(D)は正しさの問題に対処しない。</a:t>
            </a:r>
            <a:endParaRPr lang="en-US" sz="1000" dirty="0"/>
          </a:p>
        </p:txBody>
      </p:sp>
      <p:sp>
        <p:nvSpPr>
          <p:cNvPr id="14" name="Text 12"/>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セクション8(原文訳)</a:t>
            </a:r>
            <a:endParaRPr lang="en-US" sz="900" dirty="0"/>
          </a:p>
        </p:txBody>
      </p:sp>
      <p:sp>
        <p:nvSpPr>
          <p:cNvPr id="15" name="Text 13"/>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5</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公式サンプル問題 2 — 分野3</a:t>
            </a:r>
            <a:endParaRPr lang="en-US" sz="2200" dirty="0"/>
          </a:p>
        </p:txBody>
      </p:sp>
      <p:sp>
        <p:nvSpPr>
          <p:cNvPr id="4" name="Text 2"/>
          <p:cNvSpPr txBox="1"/>
          <p:nvPr/>
        </p:nvSpPr>
        <p:spPr>
          <a:xfrm>
            <a:off x="548640" y="1371600"/>
            <a:ext cx="10881360" cy="109728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あるアソシエイトは、短い顧客返信の下書きを大量に生成する必要があり、深い推論よりも速度とコストが重要です。このタスクに最も適した選択肢はどれですか。</a:t>
            </a:r>
            <a:endParaRPr lang="en-US" sz="1200" dirty="0"/>
          </a:p>
        </p:txBody>
      </p:sp>
      <p:sp>
        <p:nvSpPr>
          <p:cNvPr id="5" name="Shape 3"/>
          <p:cNvSpPr/>
          <p:nvPr/>
        </p:nvSpPr>
        <p:spPr>
          <a:xfrm>
            <a:off x="548640" y="2606040"/>
            <a:ext cx="10881360" cy="502920"/>
          </a:xfrm>
          <a:prstGeom prst="roundRect">
            <a:avLst>
              <a:gd name="adj" fmla="val 10909"/>
            </a:avLst>
          </a:prstGeom>
          <a:solidFill>
            <a:srgbClr val="F7F7F9"/>
          </a:solidFill>
          <a:ln w="12700">
            <a:solidFill>
              <a:srgbClr val="E1E6F0"/>
            </a:solidFill>
            <a:prstDash val="solid"/>
          </a:ln>
        </p:spPr>
      </p:sp>
      <p:sp>
        <p:nvSpPr>
          <p:cNvPr id="6" name="Text 4"/>
          <p:cNvSpPr txBox="1"/>
          <p:nvPr/>
        </p:nvSpPr>
        <p:spPr>
          <a:xfrm>
            <a:off x="731520" y="2651760"/>
            <a:ext cx="10332720" cy="41148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  品質を最大化するために、すべての返信に最も高性能で最もコストの高いモデルを使用する。</a:t>
            </a:r>
            <a:endParaRPr lang="en-US" sz="1050" dirty="0"/>
          </a:p>
        </p:txBody>
      </p:sp>
      <p:sp>
        <p:nvSpPr>
          <p:cNvPr id="7" name="Shape 5"/>
          <p:cNvSpPr/>
          <p:nvPr/>
        </p:nvSpPr>
        <p:spPr>
          <a:xfrm>
            <a:off x="548640" y="3172968"/>
            <a:ext cx="10881360" cy="502920"/>
          </a:xfrm>
          <a:prstGeom prst="roundRect">
            <a:avLst>
              <a:gd name="adj" fmla="val 10909"/>
            </a:avLst>
          </a:prstGeom>
          <a:solidFill>
            <a:srgbClr val="E8F5EC"/>
          </a:solidFill>
          <a:ln w="12700">
            <a:solidFill>
              <a:srgbClr val="6FCF97"/>
            </a:solidFill>
            <a:prstDash val="solid"/>
          </a:ln>
        </p:spPr>
      </p:sp>
      <p:sp>
        <p:nvSpPr>
          <p:cNvPr id="8" name="Text 6"/>
          <p:cNvSpPr txBox="1"/>
          <p:nvPr/>
        </p:nvSpPr>
        <p:spPr>
          <a:xfrm>
            <a:off x="731520" y="3218688"/>
            <a:ext cx="10332720" cy="411480"/>
          </a:xfrm>
          <a:prstGeom prst="rect">
            <a:avLst/>
          </a:prstGeom>
          <a:noFill/>
          <a:ln/>
        </p:spPr>
        <p:txBody>
          <a:bodyPr wrap="square" lIns="0" tIns="0" rIns="0" bIns="0" rtlCol="0" anchor="ctr"/>
          <a:lstStyle/>
          <a:p>
            <a:pPr indent="0" marL="0">
              <a:buNone/>
            </a:pPr>
            <a:r>
              <a:rPr lang="en-US" sz="1050" b="1" dirty="0">
                <a:solidFill>
                  <a:srgbClr val="1F7A3E"/>
                </a:solidFill>
                <a:latin typeface="Calibri" pitchFamily="34" charset="0"/>
                <a:ea typeface="Calibri" pitchFamily="34" charset="-122"/>
                <a:cs typeface="Calibri" pitchFamily="34" charset="-120"/>
              </a:rPr>
              <a:t>B.  単純で大量のタスクに適した、より高速で低コストのモデルを使用する。</a:t>
            </a:r>
            <a:endParaRPr lang="en-US" sz="1050" dirty="0"/>
          </a:p>
        </p:txBody>
      </p:sp>
      <p:sp>
        <p:nvSpPr>
          <p:cNvPr id="9" name="Shape 7"/>
          <p:cNvSpPr/>
          <p:nvPr/>
        </p:nvSpPr>
        <p:spPr>
          <a:xfrm>
            <a:off x="548640" y="3739896"/>
            <a:ext cx="10881360" cy="502920"/>
          </a:xfrm>
          <a:prstGeom prst="roundRect">
            <a:avLst>
              <a:gd name="adj" fmla="val 10909"/>
            </a:avLst>
          </a:prstGeom>
          <a:solidFill>
            <a:srgbClr val="F7F7F9"/>
          </a:solidFill>
          <a:ln w="12700">
            <a:solidFill>
              <a:srgbClr val="E1E6F0"/>
            </a:solidFill>
            <a:prstDash val="solid"/>
          </a:ln>
        </p:spPr>
      </p:sp>
      <p:sp>
        <p:nvSpPr>
          <p:cNvPr id="10" name="Text 8"/>
          <p:cNvSpPr txBox="1"/>
          <p:nvPr/>
        </p:nvSpPr>
        <p:spPr>
          <a:xfrm>
            <a:off x="731520" y="3785616"/>
            <a:ext cx="10332720" cy="41148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C.  コストを削減するために、すべての製品機能を無効にする。</a:t>
            </a:r>
            <a:endParaRPr lang="en-US" sz="1050" dirty="0"/>
          </a:p>
        </p:txBody>
      </p:sp>
      <p:sp>
        <p:nvSpPr>
          <p:cNvPr id="11" name="Shape 9"/>
          <p:cNvSpPr/>
          <p:nvPr/>
        </p:nvSpPr>
        <p:spPr>
          <a:xfrm>
            <a:off x="548640" y="4306824"/>
            <a:ext cx="10881360" cy="502920"/>
          </a:xfrm>
          <a:prstGeom prst="roundRect">
            <a:avLst>
              <a:gd name="adj" fmla="val 10909"/>
            </a:avLst>
          </a:prstGeom>
          <a:solidFill>
            <a:srgbClr val="F7F7F9"/>
          </a:solidFill>
          <a:ln w="12700">
            <a:solidFill>
              <a:srgbClr val="E1E6F0"/>
            </a:solidFill>
            <a:prstDash val="solid"/>
          </a:ln>
        </p:spPr>
      </p:sp>
      <p:sp>
        <p:nvSpPr>
          <p:cNvPr id="12" name="Text 10"/>
          <p:cNvSpPr txBox="1"/>
          <p:nvPr/>
        </p:nvSpPr>
        <p:spPr>
          <a:xfrm>
            <a:off x="731520" y="4352544"/>
            <a:ext cx="10332720" cy="41148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D.  別のAIプラットフォームに切り替える。</a:t>
            </a:r>
            <a:endParaRPr lang="en-US" sz="1050" dirty="0"/>
          </a:p>
        </p:txBody>
      </p:sp>
      <p:sp>
        <p:nvSpPr>
          <p:cNvPr id="13" name="Text 11"/>
          <p:cNvSpPr txBox="1"/>
          <p:nvPr/>
        </p:nvSpPr>
        <p:spPr>
          <a:xfrm>
            <a:off x="548640" y="4965192"/>
            <a:ext cx="10881360" cy="1069848"/>
          </a:xfrm>
          <a:prstGeom prst="rect">
            <a:avLst/>
          </a:prstGeom>
          <a:noFill/>
          <a:ln/>
        </p:spPr>
        <p:txBody>
          <a:bodyPr wrap="square" lIns="0" tIns="0" rIns="0" bIns="0" rtlCol="0" anchor="ctr"/>
          <a:lstStyle/>
          <a:p>
            <a:pPr indent="0" marL="0">
              <a:buNone/>
            </a:pPr>
            <a:r>
              <a:rPr lang="en-US" sz="1000" i="1" dirty="0">
                <a:solidFill>
                  <a:srgbClr val="5B6B8C"/>
                </a:solidFill>
                <a:latin typeface="Calibri" pitchFamily="34" charset="0"/>
                <a:ea typeface="Calibri" pitchFamily="34" charset="-122"/>
                <a:cs typeface="Calibri" pitchFamily="34" charset="-120"/>
              </a:rPr>
              <a:t>解説: モデル選択をタスク要件に合わせるとは、単純で大量の作業にはより高速・低コストなモデルを割り当て、最も高性能なモデルは複雑な推論のために取っておくことを意味する。常に最上位モデルを使用する(A)のはコスト・レイテンシの無駄。</a:t>
            </a:r>
            <a:endParaRPr lang="en-US" sz="1000" dirty="0"/>
          </a:p>
        </p:txBody>
      </p:sp>
      <p:sp>
        <p:nvSpPr>
          <p:cNvPr id="14" name="Text 12"/>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セクション8(原文訳)</a:t>
            </a:r>
            <a:endParaRPr lang="en-US" sz="900" dirty="0"/>
          </a:p>
        </p:txBody>
      </p:sp>
      <p:sp>
        <p:nvSpPr>
          <p:cNvPr id="15" name="Text 13"/>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5</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公式サンプル問題 3 — 分野6</a:t>
            </a:r>
            <a:endParaRPr lang="en-US" sz="2200" dirty="0"/>
          </a:p>
        </p:txBody>
      </p:sp>
      <p:sp>
        <p:nvSpPr>
          <p:cNvPr id="4" name="Text 2"/>
          <p:cNvSpPr txBox="1"/>
          <p:nvPr/>
        </p:nvSpPr>
        <p:spPr>
          <a:xfrm>
            <a:off x="548640" y="1371600"/>
            <a:ext cx="10881360" cy="1097280"/>
          </a:xfrm>
          <a:prstGeom prst="rect">
            <a:avLst/>
          </a:prstGeom>
          <a:noFill/>
          <a:ln/>
        </p:spPr>
        <p:txBody>
          <a:bodyPr wrap="square" lIns="0" tIns="0" rIns="0" bIns="0" rtlCol="0" anchor="ctr"/>
          <a:lstStyle/>
          <a:p>
            <a:pPr indent="0" marL="0">
              <a:buNone/>
            </a:pPr>
            <a:r>
              <a:rPr lang="en-US" sz="1200" dirty="0">
                <a:solidFill>
                  <a:srgbClr val="16213E"/>
                </a:solidFill>
                <a:latin typeface="Calibri" pitchFamily="34" charset="0"/>
                <a:ea typeface="Calibri" pitchFamily="34" charset="-122"/>
                <a:cs typeface="Calibri" pitchFamily="34" charset="-120"/>
              </a:rPr>
              <a:t>あるプロジェクトマネージャーが、Claudeに傾向を分析させるために、顧客名と口座番号を含むスプレッドシートをアップロードしたいと考えています。組織のポリシーでは、規制対象の個人データの共有が制限されています。最も適切な行動はどれですか。</a:t>
            </a:r>
            <a:endParaRPr lang="en-US" sz="1200" dirty="0"/>
          </a:p>
        </p:txBody>
      </p:sp>
      <p:sp>
        <p:nvSpPr>
          <p:cNvPr id="5" name="Shape 3"/>
          <p:cNvSpPr/>
          <p:nvPr/>
        </p:nvSpPr>
        <p:spPr>
          <a:xfrm>
            <a:off x="548640" y="2606040"/>
            <a:ext cx="10881360" cy="502920"/>
          </a:xfrm>
          <a:prstGeom prst="roundRect">
            <a:avLst>
              <a:gd name="adj" fmla="val 10909"/>
            </a:avLst>
          </a:prstGeom>
          <a:solidFill>
            <a:srgbClr val="F7F7F9"/>
          </a:solidFill>
          <a:ln w="12700">
            <a:solidFill>
              <a:srgbClr val="E1E6F0"/>
            </a:solidFill>
            <a:prstDash val="solid"/>
          </a:ln>
        </p:spPr>
      </p:sp>
      <p:sp>
        <p:nvSpPr>
          <p:cNvPr id="6" name="Text 4"/>
          <p:cNvSpPr txBox="1"/>
          <p:nvPr/>
        </p:nvSpPr>
        <p:spPr>
          <a:xfrm>
            <a:off x="731520" y="2651760"/>
            <a:ext cx="10332720" cy="41148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  分析は社内向けなので、ファイルをそのままアップロードする。</a:t>
            </a:r>
            <a:endParaRPr lang="en-US" sz="1050" dirty="0"/>
          </a:p>
        </p:txBody>
      </p:sp>
      <p:sp>
        <p:nvSpPr>
          <p:cNvPr id="7" name="Shape 5"/>
          <p:cNvSpPr/>
          <p:nvPr/>
        </p:nvSpPr>
        <p:spPr>
          <a:xfrm>
            <a:off x="548640" y="3172968"/>
            <a:ext cx="10881360" cy="502920"/>
          </a:xfrm>
          <a:prstGeom prst="roundRect">
            <a:avLst>
              <a:gd name="adj" fmla="val 10909"/>
            </a:avLst>
          </a:prstGeom>
          <a:solidFill>
            <a:srgbClr val="E8F5EC"/>
          </a:solidFill>
          <a:ln w="12700">
            <a:solidFill>
              <a:srgbClr val="6FCF97"/>
            </a:solidFill>
            <a:prstDash val="solid"/>
          </a:ln>
        </p:spPr>
      </p:sp>
      <p:sp>
        <p:nvSpPr>
          <p:cNvPr id="8" name="Text 6"/>
          <p:cNvSpPr txBox="1"/>
          <p:nvPr/>
        </p:nvSpPr>
        <p:spPr>
          <a:xfrm>
            <a:off x="731520" y="3218688"/>
            <a:ext cx="10332720" cy="411480"/>
          </a:xfrm>
          <a:prstGeom prst="rect">
            <a:avLst/>
          </a:prstGeom>
          <a:noFill/>
          <a:ln/>
        </p:spPr>
        <p:txBody>
          <a:bodyPr wrap="square" lIns="0" tIns="0" rIns="0" bIns="0" rtlCol="0" anchor="ctr"/>
          <a:lstStyle/>
          <a:p>
            <a:pPr indent="0" marL="0">
              <a:buNone/>
            </a:pPr>
            <a:r>
              <a:rPr lang="en-US" sz="1050" b="1" dirty="0">
                <a:solidFill>
                  <a:srgbClr val="1F7A3E"/>
                </a:solidFill>
                <a:latin typeface="Calibri" pitchFamily="34" charset="0"/>
                <a:ea typeface="Calibri" pitchFamily="34" charset="-122"/>
                <a:cs typeface="Calibri" pitchFamily="34" charset="-120"/>
              </a:rPr>
              <a:t>B.  ポリシーに従い、アップロードする前に個人を識別する情報を削除または匿名化する。</a:t>
            </a:r>
            <a:endParaRPr lang="en-US" sz="1050" dirty="0"/>
          </a:p>
        </p:txBody>
      </p:sp>
      <p:sp>
        <p:nvSpPr>
          <p:cNvPr id="9" name="Shape 7"/>
          <p:cNvSpPr/>
          <p:nvPr/>
        </p:nvSpPr>
        <p:spPr>
          <a:xfrm>
            <a:off x="548640" y="3739896"/>
            <a:ext cx="10881360" cy="502920"/>
          </a:xfrm>
          <a:prstGeom prst="roundRect">
            <a:avLst>
              <a:gd name="adj" fmla="val 10909"/>
            </a:avLst>
          </a:prstGeom>
          <a:solidFill>
            <a:srgbClr val="F7F7F9"/>
          </a:solidFill>
          <a:ln w="12700">
            <a:solidFill>
              <a:srgbClr val="E1E6F0"/>
            </a:solidFill>
            <a:prstDash val="solid"/>
          </a:ln>
        </p:spPr>
      </p:sp>
      <p:sp>
        <p:nvSpPr>
          <p:cNvPr id="10" name="Text 8"/>
          <p:cNvSpPr txBox="1"/>
          <p:nvPr/>
        </p:nvSpPr>
        <p:spPr>
          <a:xfrm>
            <a:off x="731520" y="3785616"/>
            <a:ext cx="10332720" cy="41148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C.  ファイルをアップロードするが、Claudeに保持しないよう指示する。</a:t>
            </a:r>
            <a:endParaRPr lang="en-US" sz="1050" dirty="0"/>
          </a:p>
        </p:txBody>
      </p:sp>
      <p:sp>
        <p:nvSpPr>
          <p:cNvPr id="11" name="Shape 9"/>
          <p:cNvSpPr/>
          <p:nvPr/>
        </p:nvSpPr>
        <p:spPr>
          <a:xfrm>
            <a:off x="548640" y="4306824"/>
            <a:ext cx="10881360" cy="502920"/>
          </a:xfrm>
          <a:prstGeom prst="roundRect">
            <a:avLst>
              <a:gd name="adj" fmla="val 10909"/>
            </a:avLst>
          </a:prstGeom>
          <a:solidFill>
            <a:srgbClr val="F7F7F9"/>
          </a:solidFill>
          <a:ln w="12700">
            <a:solidFill>
              <a:srgbClr val="E1E6F0"/>
            </a:solidFill>
            <a:prstDash val="solid"/>
          </a:ln>
        </p:spPr>
      </p:sp>
      <p:sp>
        <p:nvSpPr>
          <p:cNvPr id="12" name="Text 10"/>
          <p:cNvSpPr txBox="1"/>
          <p:nvPr/>
        </p:nvSpPr>
        <p:spPr>
          <a:xfrm>
            <a:off x="731520" y="4352544"/>
            <a:ext cx="10332720" cy="41148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D.  分析そのものをやめる。</a:t>
            </a:r>
            <a:endParaRPr lang="en-US" sz="1050" dirty="0"/>
          </a:p>
        </p:txBody>
      </p:sp>
      <p:sp>
        <p:nvSpPr>
          <p:cNvPr id="13" name="Text 11"/>
          <p:cNvSpPr txBox="1"/>
          <p:nvPr/>
        </p:nvSpPr>
        <p:spPr>
          <a:xfrm>
            <a:off x="548640" y="4965192"/>
            <a:ext cx="10881360" cy="1069848"/>
          </a:xfrm>
          <a:prstGeom prst="rect">
            <a:avLst/>
          </a:prstGeom>
          <a:noFill/>
          <a:ln/>
        </p:spPr>
        <p:txBody>
          <a:bodyPr wrap="square" lIns="0" tIns="0" rIns="0" bIns="0" rtlCol="0" anchor="ctr"/>
          <a:lstStyle/>
          <a:p>
            <a:pPr indent="0" marL="0">
              <a:buNone/>
            </a:pPr>
            <a:r>
              <a:rPr lang="en-US" sz="1000" i="1" dirty="0">
                <a:solidFill>
                  <a:srgbClr val="5B6B8C"/>
                </a:solidFill>
                <a:latin typeface="Calibri" pitchFamily="34" charset="0"/>
                <a:ea typeface="Calibri" pitchFamily="34" charset="-122"/>
                <a:cs typeface="Calibri" pitchFamily="34" charset="-120"/>
              </a:rPr>
              <a:t>解説: データ機密性・プライバシーの保護措置を適用するとは、規制対象の識別情報を使用前に削除・匿名化することを意味する。そのままアップロード(A)はポリシー違反、保持しないよう指示する(C)だけでは管理要件を満たさない。</a:t>
            </a:r>
            <a:endParaRPr lang="en-US" sz="1000" dirty="0"/>
          </a:p>
        </p:txBody>
      </p:sp>
      <p:sp>
        <p:nvSpPr>
          <p:cNvPr id="14" name="Text 12"/>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セクション8(原文訳)</a:t>
            </a:r>
            <a:endParaRPr lang="en-US" sz="900" dirty="0"/>
          </a:p>
        </p:txBody>
      </p:sp>
      <p:sp>
        <p:nvSpPr>
          <p:cNvPr id="15" name="Text 13"/>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6</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F2F4F8"/>
                </a:solidFill>
                <a:latin typeface="Cambria" pitchFamily="34" charset="0"/>
                <a:ea typeface="Cambria" pitchFamily="34" charset="-122"/>
                <a:cs typeface="Cambria" pitchFamily="34" charset="-120"/>
              </a:rPr>
              <a:t>試験ポリシー(1/2): 申込み・本人確認</a:t>
            </a:r>
            <a:endParaRPr lang="en-US" sz="2200" dirty="0"/>
          </a:p>
        </p:txBody>
      </p:sp>
      <p:sp>
        <p:nvSpPr>
          <p:cNvPr id="4" name="Text 2"/>
          <p:cNvSpPr txBox="1"/>
          <p:nvPr/>
        </p:nvSpPr>
        <p:spPr>
          <a:xfrm>
            <a:off x="548640" y="1371600"/>
            <a:ext cx="10881360" cy="320040"/>
          </a:xfrm>
          <a:prstGeom prst="rect">
            <a:avLst/>
          </a:prstGeom>
          <a:noFill/>
          <a:ln/>
        </p:spPr>
        <p:txBody>
          <a:bodyPr wrap="square" lIns="0" tIns="0" rIns="0" bIns="0" rtlCol="0" anchor="ctr"/>
          <a:lstStyle/>
          <a:p>
            <a:pPr indent="0" marL="0">
              <a:buNone/>
            </a:pPr>
            <a:r>
              <a:rPr lang="en-US" sz="1350" b="1" dirty="0">
                <a:solidFill>
                  <a:srgbClr val="2CB1BC"/>
                </a:solidFill>
                <a:latin typeface="Calibri" pitchFamily="34" charset="0"/>
                <a:ea typeface="Calibri" pitchFamily="34" charset="-122"/>
                <a:cs typeface="Calibri" pitchFamily="34" charset="-120"/>
              </a:rPr>
              <a:t>申込み・予約の流れ</a:t>
            </a:r>
            <a:endParaRPr lang="en-US" sz="1350" dirty="0"/>
          </a:p>
        </p:txBody>
      </p:sp>
      <p:sp>
        <p:nvSpPr>
          <p:cNvPr id="5" name="Text 3"/>
          <p:cNvSpPr txBox="1"/>
          <p:nvPr/>
        </p:nvSpPr>
        <p:spPr>
          <a:xfrm>
            <a:off x="548640" y="1737360"/>
            <a:ext cx="10881360" cy="146304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F2F4F8"/>
                </a:solidFill>
                <a:latin typeface="Calibri" pitchFamily="34" charset="0"/>
                <a:ea typeface="Calibri" pitchFamily="34" charset="-122"/>
                <a:cs typeface="Calibri" pitchFamily="34" charset="-120"/>
              </a:rPr>
              <a:t>Anthropic Partner Academyで資格ページ・試験ガイドを確認する</a:t>
            </a:r>
            <a:endParaRPr lang="en-US" sz="1150" dirty="0"/>
          </a:p>
          <a:p>
            <a:pPr marL="342900" indent="-342900">
              <a:spcAft>
                <a:spcPts val="500"/>
              </a:spcAft>
              <a:buSzPct val="100000"/>
              <a:buChar char="•"/>
            </a:pPr>
            <a:r>
              <a:rPr lang="en-US" sz="1150" dirty="0">
                <a:solidFill>
                  <a:srgbClr val="F2F4F8"/>
                </a:solidFill>
                <a:latin typeface="Calibri" pitchFamily="34" charset="0"/>
                <a:ea typeface="Calibri" pitchFamily="34" charset="-122"/>
                <a:cs typeface="Calibri" pitchFamily="34" charset="-120"/>
              </a:rPr>
              <a:t>申込み・支払い手続き(パートナー階層に応じた割引あり)</a:t>
            </a:r>
            <a:endParaRPr lang="en-US" sz="1150" dirty="0"/>
          </a:p>
          <a:p>
            <a:pPr marL="342900" indent="-342900">
              <a:spcAft>
                <a:spcPts val="500"/>
              </a:spcAft>
              <a:buSzPct val="100000"/>
              <a:buChar char="•"/>
            </a:pPr>
            <a:r>
              <a:rPr lang="en-US" sz="1150" dirty="0">
                <a:solidFill>
                  <a:srgbClr val="F2F4F8"/>
                </a:solidFill>
                <a:latin typeface="Calibri" pitchFamily="34" charset="0"/>
                <a:ea typeface="Calibri" pitchFamily="34" charset="-122"/>
                <a:cs typeface="Calibri" pitchFamily="34" charset="-120"/>
              </a:rPr>
              <a:t>Pearson VUEアカウントを作成し試験セッションを予約する</a:t>
            </a:r>
            <a:endParaRPr lang="en-US" sz="1150" dirty="0"/>
          </a:p>
          <a:p>
            <a:pPr marL="342900" indent="-342900">
              <a:spcAft>
                <a:spcPts val="500"/>
              </a:spcAft>
              <a:buSzPct val="100000"/>
              <a:buChar char="•"/>
            </a:pPr>
            <a:r>
              <a:rPr lang="en-US" sz="1150" dirty="0">
                <a:solidFill>
                  <a:srgbClr val="F2F4F8"/>
                </a:solidFill>
                <a:latin typeface="Calibri" pitchFamily="34" charset="0"/>
                <a:ea typeface="Calibri" pitchFamily="34" charset="-122"/>
                <a:cs typeface="Calibri" pitchFamily="34" charset="-120"/>
              </a:rPr>
              <a:t>オンライン監督またはPearsonテストセンターを選択する</a:t>
            </a:r>
            <a:endParaRPr lang="en-US" sz="1150" dirty="0"/>
          </a:p>
        </p:txBody>
      </p:sp>
      <p:sp>
        <p:nvSpPr>
          <p:cNvPr id="6" name="Shape 4"/>
          <p:cNvSpPr/>
          <p:nvPr/>
        </p:nvSpPr>
        <p:spPr>
          <a:xfrm>
            <a:off x="548640" y="3291840"/>
            <a:ext cx="10881360" cy="777240"/>
          </a:xfrm>
          <a:prstGeom prst="roundRect">
            <a:avLst>
              <a:gd name="adj" fmla="val 9412"/>
            </a:avLst>
          </a:prstGeom>
          <a:solidFill>
            <a:srgbClr val="332616"/>
          </a:solidFill>
          <a:ln w="12700">
            <a:solidFill>
              <a:srgbClr val="6B4E2E"/>
            </a:solidFill>
            <a:prstDash val="solid"/>
          </a:ln>
        </p:spPr>
      </p:sp>
      <p:sp>
        <p:nvSpPr>
          <p:cNvPr id="7" name="Text 5"/>
          <p:cNvSpPr txBox="1"/>
          <p:nvPr/>
        </p:nvSpPr>
        <p:spPr>
          <a:xfrm>
            <a:off x="731520" y="3401568"/>
            <a:ext cx="10515600" cy="594360"/>
          </a:xfrm>
          <a:prstGeom prst="rect">
            <a:avLst/>
          </a:prstGeom>
          <a:noFill/>
          <a:ln/>
        </p:spPr>
        <p:txBody>
          <a:bodyPr wrap="square" lIns="0" tIns="0" rIns="0" bIns="0" rtlCol="0" anchor="ctr"/>
          <a:lstStyle/>
          <a:p>
            <a:pPr indent="0" marL="0">
              <a:buNone/>
            </a:pPr>
            <a:r>
              <a:rPr lang="en-US" sz="1050" dirty="0">
                <a:solidFill>
                  <a:srgbClr val="F2C879"/>
                </a:solidFill>
                <a:latin typeface="Calibri" pitchFamily="34" charset="0"/>
                <a:ea typeface="Calibri" pitchFamily="34" charset="-122"/>
                <a:cs typeface="Calibri" pitchFamily="34" charset="-120"/>
              </a:rPr>
              <a:t>⚠ 予約変更・キャンセル: 公式Exam Guideでは「24時間前まで無料」、Pearson VUE公式ページでは「48時間前まで」と記載に差異あり。余裕を持って48時間前までに済ませるのが安全</a:t>
            </a:r>
            <a:endParaRPr lang="en-US" sz="1050" dirty="0"/>
          </a:p>
        </p:txBody>
      </p:sp>
      <p:sp>
        <p:nvSpPr>
          <p:cNvPr id="8" name="Text 6"/>
          <p:cNvSpPr txBox="1"/>
          <p:nvPr/>
        </p:nvSpPr>
        <p:spPr>
          <a:xfrm>
            <a:off x="548640" y="4251960"/>
            <a:ext cx="10881360" cy="320040"/>
          </a:xfrm>
          <a:prstGeom prst="rect">
            <a:avLst/>
          </a:prstGeom>
          <a:noFill/>
          <a:ln/>
        </p:spPr>
        <p:txBody>
          <a:bodyPr wrap="square" lIns="0" tIns="0" rIns="0" bIns="0" rtlCol="0" anchor="ctr"/>
          <a:lstStyle/>
          <a:p>
            <a:pPr indent="0" marL="0">
              <a:buNone/>
            </a:pPr>
            <a:r>
              <a:rPr lang="en-US" sz="1350" b="1" dirty="0">
                <a:solidFill>
                  <a:srgbClr val="2CB1BC"/>
                </a:solidFill>
                <a:latin typeface="Calibri" pitchFamily="34" charset="0"/>
                <a:ea typeface="Calibri" pitchFamily="34" charset="-122"/>
                <a:cs typeface="Calibri" pitchFamily="34" charset="-120"/>
              </a:rPr>
              <a:t>本人確認・受験資格</a:t>
            </a:r>
            <a:endParaRPr lang="en-US" sz="1350" dirty="0"/>
          </a:p>
        </p:txBody>
      </p:sp>
      <p:sp>
        <p:nvSpPr>
          <p:cNvPr id="9" name="Text 7"/>
          <p:cNvSpPr txBox="1"/>
          <p:nvPr/>
        </p:nvSpPr>
        <p:spPr>
          <a:xfrm>
            <a:off x="548640" y="4572000"/>
            <a:ext cx="10881360" cy="1554480"/>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F2F4F8"/>
                </a:solidFill>
                <a:latin typeface="Calibri" pitchFamily="34" charset="0"/>
                <a:ea typeface="Calibri" pitchFamily="34" charset="-122"/>
                <a:cs typeface="Calibri" pitchFamily="34" charset="-120"/>
              </a:rPr>
              <a:t>受験資格: Claude Partner Network(CPN)加盟企業に所属する者のみ(会社用メールアドレスでの登録が必要)</a:t>
            </a:r>
            <a:endParaRPr lang="en-US" sz="1150" dirty="0"/>
          </a:p>
          <a:p>
            <a:pPr marL="342900" indent="-342900">
              <a:spcAft>
                <a:spcPts val="500"/>
              </a:spcAft>
              <a:buSzPct val="100000"/>
              <a:buChar char="•"/>
            </a:pPr>
            <a:r>
              <a:rPr lang="en-US" sz="1150" dirty="0">
                <a:solidFill>
                  <a:srgbClr val="F2F4F8"/>
                </a:solidFill>
                <a:latin typeface="Calibri" pitchFamily="34" charset="0"/>
                <a:ea typeface="Calibri" pitchFamily="34" charset="-122"/>
                <a:cs typeface="Calibri" pitchFamily="34" charset="-120"/>
              </a:rPr>
              <a:t>本人確認: 政府発行の有効な写真付き身分証が必要。登録名と完全一致している必要がある</a:t>
            </a:r>
            <a:endParaRPr lang="en-US" sz="1150" dirty="0"/>
          </a:p>
          <a:p>
            <a:pPr marL="342900" indent="-342900">
              <a:spcAft>
                <a:spcPts val="500"/>
              </a:spcAft>
              <a:buSzPct val="100000"/>
              <a:buChar char="•"/>
            </a:pPr>
            <a:r>
              <a:rPr lang="en-US" sz="1150" dirty="0">
                <a:solidFill>
                  <a:srgbClr val="F2F4F8"/>
                </a:solidFill>
                <a:latin typeface="Calibri" pitchFamily="34" charset="0"/>
                <a:ea typeface="Calibri" pitchFamily="34" charset="-122"/>
                <a:cs typeface="Calibri" pitchFamily="34" charset="-120"/>
              </a:rPr>
              <a:t>試験開始前に機密保持・秘密保持契約(NDA)への同意が必須。同意しない場合、返金なしでセッション終了</a:t>
            </a:r>
            <a:endParaRPr lang="en-US" sz="1150" dirty="0"/>
          </a:p>
        </p:txBody>
      </p:sp>
      <p:sp>
        <p:nvSpPr>
          <p:cNvPr id="10" name="Text 8"/>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B9C4DB"/>
                </a:solidFill>
                <a:latin typeface="Calibri" pitchFamily="34" charset="0"/>
                <a:ea typeface="Calibri" pitchFamily="34" charset="-122"/>
                <a:cs typeface="Calibri" pitchFamily="34" charset="-120"/>
              </a:rPr>
              <a:t>出典: Anthropic公式試験ガイド セクション10・11・13 + Pearson VUE公式ページ</a:t>
            </a:r>
            <a:endParaRPr lang="en-US" sz="900" dirty="0"/>
          </a:p>
        </p:txBody>
      </p:sp>
      <p:sp>
        <p:nvSpPr>
          <p:cNvPr id="11" name="Text 9"/>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6</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試験ポリシー(2/2): 再受験・資格維持</a:t>
            </a:r>
            <a:endParaRPr lang="en-US" sz="2200" dirty="0"/>
          </a:p>
        </p:txBody>
      </p:sp>
      <p:sp>
        <p:nvSpPr>
          <p:cNvPr id="4" name="Text 2"/>
          <p:cNvSpPr txBox="1"/>
          <p:nvPr/>
        </p:nvSpPr>
        <p:spPr>
          <a:xfrm>
            <a:off x="548640" y="1371600"/>
            <a:ext cx="5303520" cy="320040"/>
          </a:xfrm>
          <a:prstGeom prst="rect">
            <a:avLst/>
          </a:prstGeom>
          <a:noFill/>
          <a:ln/>
        </p:spPr>
        <p:txBody>
          <a:bodyPr wrap="square" lIns="0" tIns="0" rIns="0" bIns="0" rtlCol="0" anchor="ctr"/>
          <a:lstStyle/>
          <a:p>
            <a:pPr indent="0" marL="0">
              <a:buNone/>
            </a:pPr>
            <a:r>
              <a:rPr lang="en-US" sz="1350" b="1" dirty="0">
                <a:solidFill>
                  <a:srgbClr val="3E64FF"/>
                </a:solidFill>
                <a:latin typeface="Calibri" pitchFamily="34" charset="0"/>
                <a:ea typeface="Calibri" pitchFamily="34" charset="-122"/>
                <a:cs typeface="Calibri" pitchFamily="34" charset="-120"/>
              </a:rPr>
              <a:t>再受験ポリシー</a:t>
            </a:r>
            <a:endParaRPr lang="en-US" sz="1350" dirty="0"/>
          </a:p>
        </p:txBody>
      </p:sp>
      <p:sp>
        <p:nvSpPr>
          <p:cNvPr id="5" name="Shape 3"/>
          <p:cNvSpPr/>
          <p:nvPr/>
        </p:nvSpPr>
        <p:spPr>
          <a:xfrm>
            <a:off x="548640" y="1737360"/>
            <a:ext cx="1691640" cy="960120"/>
          </a:xfrm>
          <a:prstGeom prst="roundRect">
            <a:avLst>
              <a:gd name="adj" fmla="val 7619"/>
            </a:avLst>
          </a:prstGeom>
          <a:solidFill>
            <a:srgbClr val="FFFFFF"/>
          </a:solidFill>
          <a:ln w="12700">
            <a:solidFill>
              <a:srgbClr val="E1E6F0"/>
            </a:solidFill>
            <a:prstDash val="solid"/>
          </a:ln>
          <a:effectLst>
            <a:outerShdw sx="100000" sy="100000" kx="0" ky="0" algn="bl" rotWithShape="0" blurRad="63500" dist="25400" dir="5400000">
              <a:srgbClr val="000000">
                <a:alpha val="8000"/>
              </a:srgbClr>
            </a:outerShdw>
          </a:effectLst>
        </p:spPr>
      </p:sp>
      <p:sp>
        <p:nvSpPr>
          <p:cNvPr id="6" name="Text 4"/>
          <p:cNvSpPr txBox="1"/>
          <p:nvPr/>
        </p:nvSpPr>
        <p:spPr>
          <a:xfrm>
            <a:off x="548640" y="1828800"/>
            <a:ext cx="1691640" cy="457200"/>
          </a:xfrm>
          <a:prstGeom prst="rect">
            <a:avLst/>
          </a:prstGeom>
          <a:noFill/>
          <a:ln/>
        </p:spPr>
        <p:txBody>
          <a:bodyPr wrap="square" lIns="0" tIns="0" rIns="0" bIns="0" rtlCol="0" anchor="ctr"/>
          <a:lstStyle/>
          <a:p>
            <a:pPr algn="ctr" indent="0" marL="0">
              <a:buNone/>
            </a:pPr>
            <a:r>
              <a:rPr lang="en-US" sz="1700" b="1" dirty="0">
                <a:solidFill>
                  <a:srgbClr val="3E64FF"/>
                </a:solidFill>
                <a:latin typeface="Calibri" pitchFamily="34" charset="0"/>
                <a:ea typeface="Calibri" pitchFamily="34" charset="-122"/>
                <a:cs typeface="Calibri" pitchFamily="34" charset="-120"/>
              </a:rPr>
              <a:t>14日</a:t>
            </a:r>
            <a:endParaRPr lang="en-US" sz="1700" dirty="0"/>
          </a:p>
        </p:txBody>
      </p:sp>
      <p:sp>
        <p:nvSpPr>
          <p:cNvPr id="7" name="Text 5"/>
          <p:cNvSpPr txBox="1"/>
          <p:nvPr/>
        </p:nvSpPr>
        <p:spPr>
          <a:xfrm>
            <a:off x="548640" y="2286000"/>
            <a:ext cx="1691640" cy="365760"/>
          </a:xfrm>
          <a:prstGeom prst="rect">
            <a:avLst/>
          </a:prstGeom>
          <a:noFill/>
          <a:ln/>
        </p:spPr>
        <p:txBody>
          <a:bodyPr wrap="square" lIns="0" tIns="0" rIns="0" bIns="0" rtlCol="0" anchor="ctr"/>
          <a:lstStyle/>
          <a:p>
            <a:pPr algn="ctr" indent="0" marL="0">
              <a:buNone/>
            </a:pPr>
            <a:r>
              <a:rPr lang="en-US" sz="900" dirty="0">
                <a:solidFill>
                  <a:srgbClr val="5B6B8C"/>
                </a:solidFill>
                <a:latin typeface="Calibri" pitchFamily="34" charset="0"/>
                <a:ea typeface="Calibri" pitchFamily="34" charset="-122"/>
                <a:cs typeface="Calibri" pitchFamily="34" charset="-120"/>
              </a:rPr>
              <a:t>1回目不合格後</a:t>
            </a:r>
            <a:endParaRPr lang="en-US" sz="900" dirty="0"/>
          </a:p>
        </p:txBody>
      </p:sp>
      <p:sp>
        <p:nvSpPr>
          <p:cNvPr id="8" name="Shape 6"/>
          <p:cNvSpPr/>
          <p:nvPr/>
        </p:nvSpPr>
        <p:spPr>
          <a:xfrm>
            <a:off x="2377440" y="1737360"/>
            <a:ext cx="1691640" cy="960120"/>
          </a:xfrm>
          <a:prstGeom prst="roundRect">
            <a:avLst>
              <a:gd name="adj" fmla="val 7619"/>
            </a:avLst>
          </a:prstGeom>
          <a:solidFill>
            <a:srgbClr val="FFFFFF"/>
          </a:solidFill>
          <a:ln w="12700">
            <a:solidFill>
              <a:srgbClr val="E1E6F0"/>
            </a:solidFill>
            <a:prstDash val="solid"/>
          </a:ln>
          <a:effectLst>
            <a:outerShdw sx="100000" sy="100000" kx="0" ky="0" algn="bl" rotWithShape="0" blurRad="63500" dist="25400" dir="5400000">
              <a:srgbClr val="000000">
                <a:alpha val="8000"/>
              </a:srgbClr>
            </a:outerShdw>
          </a:effectLst>
        </p:spPr>
      </p:sp>
      <p:sp>
        <p:nvSpPr>
          <p:cNvPr id="9" name="Text 7"/>
          <p:cNvSpPr txBox="1"/>
          <p:nvPr/>
        </p:nvSpPr>
        <p:spPr>
          <a:xfrm>
            <a:off x="2377440" y="1828800"/>
            <a:ext cx="1691640" cy="457200"/>
          </a:xfrm>
          <a:prstGeom prst="rect">
            <a:avLst/>
          </a:prstGeom>
          <a:noFill/>
          <a:ln/>
        </p:spPr>
        <p:txBody>
          <a:bodyPr wrap="square" lIns="0" tIns="0" rIns="0" bIns="0" rtlCol="0" anchor="ctr"/>
          <a:lstStyle/>
          <a:p>
            <a:pPr algn="ctr" indent="0" marL="0">
              <a:buNone/>
            </a:pPr>
            <a:r>
              <a:rPr lang="en-US" sz="1700" b="1" dirty="0">
                <a:solidFill>
                  <a:srgbClr val="3E64FF"/>
                </a:solidFill>
                <a:latin typeface="Calibri" pitchFamily="34" charset="0"/>
                <a:ea typeface="Calibri" pitchFamily="34" charset="-122"/>
                <a:cs typeface="Calibri" pitchFamily="34" charset="-120"/>
              </a:rPr>
              <a:t>30日</a:t>
            </a:r>
            <a:endParaRPr lang="en-US" sz="1700" dirty="0"/>
          </a:p>
        </p:txBody>
      </p:sp>
      <p:sp>
        <p:nvSpPr>
          <p:cNvPr id="10" name="Text 8"/>
          <p:cNvSpPr txBox="1"/>
          <p:nvPr/>
        </p:nvSpPr>
        <p:spPr>
          <a:xfrm>
            <a:off x="2377440" y="2286000"/>
            <a:ext cx="1691640" cy="365760"/>
          </a:xfrm>
          <a:prstGeom prst="rect">
            <a:avLst/>
          </a:prstGeom>
          <a:noFill/>
          <a:ln/>
        </p:spPr>
        <p:txBody>
          <a:bodyPr wrap="square" lIns="0" tIns="0" rIns="0" bIns="0" rtlCol="0" anchor="ctr"/>
          <a:lstStyle/>
          <a:p>
            <a:pPr algn="ctr" indent="0" marL="0">
              <a:buNone/>
            </a:pPr>
            <a:r>
              <a:rPr lang="en-US" sz="900" dirty="0">
                <a:solidFill>
                  <a:srgbClr val="5B6B8C"/>
                </a:solidFill>
                <a:latin typeface="Calibri" pitchFamily="34" charset="0"/>
                <a:ea typeface="Calibri" pitchFamily="34" charset="-122"/>
                <a:cs typeface="Calibri" pitchFamily="34" charset="-120"/>
              </a:rPr>
              <a:t>2回目不合格後</a:t>
            </a:r>
            <a:endParaRPr lang="en-US" sz="900" dirty="0"/>
          </a:p>
        </p:txBody>
      </p:sp>
      <p:sp>
        <p:nvSpPr>
          <p:cNvPr id="11" name="Shape 9"/>
          <p:cNvSpPr/>
          <p:nvPr/>
        </p:nvSpPr>
        <p:spPr>
          <a:xfrm>
            <a:off x="4206240" y="1737360"/>
            <a:ext cx="1691640" cy="960120"/>
          </a:xfrm>
          <a:prstGeom prst="roundRect">
            <a:avLst>
              <a:gd name="adj" fmla="val 7619"/>
            </a:avLst>
          </a:prstGeom>
          <a:solidFill>
            <a:srgbClr val="FFFFFF"/>
          </a:solidFill>
          <a:ln w="12700">
            <a:solidFill>
              <a:srgbClr val="E1E6F0"/>
            </a:solidFill>
            <a:prstDash val="solid"/>
          </a:ln>
          <a:effectLst>
            <a:outerShdw sx="100000" sy="100000" kx="0" ky="0" algn="bl" rotWithShape="0" blurRad="63500" dist="25400" dir="5400000">
              <a:srgbClr val="000000">
                <a:alpha val="8000"/>
              </a:srgbClr>
            </a:outerShdw>
          </a:effectLst>
        </p:spPr>
      </p:sp>
      <p:sp>
        <p:nvSpPr>
          <p:cNvPr id="12" name="Text 10"/>
          <p:cNvSpPr txBox="1"/>
          <p:nvPr/>
        </p:nvSpPr>
        <p:spPr>
          <a:xfrm>
            <a:off x="4206240" y="1828800"/>
            <a:ext cx="1691640" cy="457200"/>
          </a:xfrm>
          <a:prstGeom prst="rect">
            <a:avLst/>
          </a:prstGeom>
          <a:noFill/>
          <a:ln/>
        </p:spPr>
        <p:txBody>
          <a:bodyPr wrap="square" lIns="0" tIns="0" rIns="0" bIns="0" rtlCol="0" anchor="ctr"/>
          <a:lstStyle/>
          <a:p>
            <a:pPr algn="ctr" indent="0" marL="0">
              <a:buNone/>
            </a:pPr>
            <a:r>
              <a:rPr lang="en-US" sz="1700" b="1" dirty="0">
                <a:solidFill>
                  <a:srgbClr val="3E64FF"/>
                </a:solidFill>
                <a:latin typeface="Calibri" pitchFamily="34" charset="0"/>
                <a:ea typeface="Calibri" pitchFamily="34" charset="-122"/>
                <a:cs typeface="Calibri" pitchFamily="34" charset="-120"/>
              </a:rPr>
              <a:t>90日</a:t>
            </a:r>
            <a:endParaRPr lang="en-US" sz="1700" dirty="0"/>
          </a:p>
        </p:txBody>
      </p:sp>
      <p:sp>
        <p:nvSpPr>
          <p:cNvPr id="13" name="Text 11"/>
          <p:cNvSpPr txBox="1"/>
          <p:nvPr/>
        </p:nvSpPr>
        <p:spPr>
          <a:xfrm>
            <a:off x="4206240" y="2286000"/>
            <a:ext cx="1691640" cy="365760"/>
          </a:xfrm>
          <a:prstGeom prst="rect">
            <a:avLst/>
          </a:prstGeom>
          <a:noFill/>
          <a:ln/>
        </p:spPr>
        <p:txBody>
          <a:bodyPr wrap="square" lIns="0" tIns="0" rIns="0" bIns="0" rtlCol="0" anchor="ctr"/>
          <a:lstStyle/>
          <a:p>
            <a:pPr algn="ctr" indent="0" marL="0">
              <a:buNone/>
            </a:pPr>
            <a:r>
              <a:rPr lang="en-US" sz="900" dirty="0">
                <a:solidFill>
                  <a:srgbClr val="5B6B8C"/>
                </a:solidFill>
                <a:latin typeface="Calibri" pitchFamily="34" charset="0"/>
                <a:ea typeface="Calibri" pitchFamily="34" charset="-122"/>
                <a:cs typeface="Calibri" pitchFamily="34" charset="-120"/>
              </a:rPr>
              <a:t>3回目不合格後</a:t>
            </a:r>
            <a:endParaRPr lang="en-US" sz="900" dirty="0"/>
          </a:p>
        </p:txBody>
      </p:sp>
      <p:sp>
        <p:nvSpPr>
          <p:cNvPr id="14" name="Text 12"/>
          <p:cNvSpPr txBox="1"/>
          <p:nvPr/>
        </p:nvSpPr>
        <p:spPr>
          <a:xfrm>
            <a:off x="548640" y="2880360"/>
            <a:ext cx="5303520" cy="73152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任意の連続する12ヶ月以内に最大4回まで受験可能(上限は試験ごとに適用)。受験料は毎回必要</a:t>
            </a:r>
            <a:endParaRPr lang="en-US" sz="1050" dirty="0"/>
          </a:p>
        </p:txBody>
      </p:sp>
      <p:sp>
        <p:nvSpPr>
          <p:cNvPr id="15" name="Text 13"/>
          <p:cNvSpPr txBox="1"/>
          <p:nvPr/>
        </p:nvSpPr>
        <p:spPr>
          <a:xfrm>
            <a:off x="6126480" y="1371600"/>
            <a:ext cx="5303520" cy="320040"/>
          </a:xfrm>
          <a:prstGeom prst="rect">
            <a:avLst/>
          </a:prstGeom>
          <a:noFill/>
          <a:ln/>
        </p:spPr>
        <p:txBody>
          <a:bodyPr wrap="square" lIns="0" tIns="0" rIns="0" bIns="0" rtlCol="0" anchor="ctr"/>
          <a:lstStyle/>
          <a:p>
            <a:pPr indent="0" marL="0">
              <a:buNone/>
            </a:pPr>
            <a:r>
              <a:rPr lang="en-US" sz="1350" b="1" dirty="0">
                <a:solidFill>
                  <a:srgbClr val="3E64FF"/>
                </a:solidFill>
                <a:latin typeface="Calibri" pitchFamily="34" charset="0"/>
                <a:ea typeface="Calibri" pitchFamily="34" charset="-122"/>
                <a:cs typeface="Calibri" pitchFamily="34" charset="-120"/>
              </a:rPr>
              <a:t>資格の維持と再認定</a:t>
            </a:r>
            <a:endParaRPr lang="en-US" sz="1350" dirty="0"/>
          </a:p>
        </p:txBody>
      </p:sp>
      <p:sp>
        <p:nvSpPr>
          <p:cNvPr id="16" name="Shape 14"/>
          <p:cNvSpPr/>
          <p:nvPr/>
        </p:nvSpPr>
        <p:spPr>
          <a:xfrm>
            <a:off x="6126480" y="1737360"/>
            <a:ext cx="5303520" cy="1874520"/>
          </a:xfrm>
          <a:prstGeom prst="roundRect">
            <a:avLst>
              <a:gd name="adj" fmla="val 3902"/>
            </a:avLst>
          </a:prstGeom>
          <a:solidFill>
            <a:srgbClr val="F5F7FB"/>
          </a:solidFill>
          <a:ln w="12700">
            <a:solidFill>
              <a:srgbClr val="E1E6F0"/>
            </a:solidFill>
            <a:prstDash val="solid"/>
          </a:ln>
        </p:spPr>
      </p:sp>
      <p:sp>
        <p:nvSpPr>
          <p:cNvPr id="17" name="Text 15"/>
          <p:cNvSpPr txBox="1"/>
          <p:nvPr/>
        </p:nvSpPr>
        <p:spPr>
          <a:xfrm>
            <a:off x="6309360" y="1874520"/>
            <a:ext cx="4937760" cy="16459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16213E"/>
                </a:solidFill>
                <a:latin typeface="Calibri" pitchFamily="34" charset="0"/>
                <a:ea typeface="Calibri" pitchFamily="34" charset="-122"/>
                <a:cs typeface="Calibri" pitchFamily="34" charset="-120"/>
              </a:rPr>
              <a:t>有効期間: 認定日から12ヶ月</a:t>
            </a:r>
            <a:endParaRPr lang="en-US" sz="1000" dirty="0"/>
          </a:p>
          <a:p>
            <a:pPr marL="342900" indent="-342900">
              <a:spcAft>
                <a:spcPts val="400"/>
              </a:spcAft>
              <a:buSzPct val="100000"/>
              <a:buChar char="•"/>
            </a:pPr>
            <a:r>
              <a:rPr lang="en-US" sz="1000" dirty="0">
                <a:solidFill>
                  <a:srgbClr val="16213E"/>
                </a:solidFill>
                <a:latin typeface="Calibri" pitchFamily="34" charset="0"/>
                <a:ea typeface="Calibri" pitchFamily="34" charset="-122"/>
                <a:cs typeface="Calibri" pitchFamily="34" charset="-120"/>
              </a:rPr>
              <a:t>期限内更新: Partner Academyでの無料・監督なしアセスメントで完了(費用なし)</a:t>
            </a:r>
            <a:endParaRPr lang="en-US" sz="1000" dirty="0"/>
          </a:p>
          <a:p>
            <a:pPr marL="342900" indent="-342900">
              <a:spcAft>
                <a:spcPts val="400"/>
              </a:spcAft>
              <a:buSzPct val="100000"/>
              <a:buChar char="•"/>
            </a:pPr>
            <a:r>
              <a:rPr lang="en-US" sz="1000" dirty="0">
                <a:solidFill>
                  <a:srgbClr val="16213E"/>
                </a:solidFill>
                <a:latin typeface="Calibri" pitchFamily="34" charset="0"/>
                <a:ea typeface="Calibri" pitchFamily="34" charset="-122"/>
                <a:cs typeface="Calibri" pitchFamily="34" charset="-120"/>
              </a:rPr>
              <a:t>失効した場合: 正規の受験料でフル試験を再受験</a:t>
            </a:r>
            <a:endParaRPr lang="en-US" sz="1000" dirty="0"/>
          </a:p>
          <a:p>
            <a:pPr marL="342900" indent="-342900">
              <a:spcAft>
                <a:spcPts val="400"/>
              </a:spcAft>
              <a:buSzPct val="100000"/>
              <a:buChar char="•"/>
            </a:pPr>
            <a:r>
              <a:rPr lang="en-US" sz="1000" dirty="0">
                <a:solidFill>
                  <a:srgbClr val="16213E"/>
                </a:solidFill>
                <a:latin typeface="Calibri" pitchFamily="34" charset="0"/>
                <a:ea typeface="Calibri" pitchFamily="34" charset="-122"/>
                <a:cs typeface="Calibri" pitchFamily="34" charset="-120"/>
              </a:rPr>
              <a:t>試験内容が大幅変更された場合、フル試験の再受験を求められることがある</a:t>
            </a:r>
            <a:endParaRPr lang="en-US" sz="1000" dirty="0"/>
          </a:p>
        </p:txBody>
      </p:sp>
      <p:sp>
        <p:nvSpPr>
          <p:cNvPr id="18" name="Text 16"/>
          <p:cNvSpPr txBox="1"/>
          <p:nvPr/>
        </p:nvSpPr>
        <p:spPr>
          <a:xfrm>
            <a:off x="548640" y="3840480"/>
            <a:ext cx="10881360" cy="320040"/>
          </a:xfrm>
          <a:prstGeom prst="rect">
            <a:avLst/>
          </a:prstGeom>
          <a:noFill/>
          <a:ln/>
        </p:spPr>
        <p:txBody>
          <a:bodyPr wrap="square" lIns="0" tIns="0" rIns="0" bIns="0" rtlCol="0" anchor="ctr"/>
          <a:lstStyle/>
          <a:p>
            <a:pPr indent="0" marL="0">
              <a:buNone/>
            </a:pPr>
            <a:r>
              <a:rPr lang="en-US" sz="1350" b="1" dirty="0">
                <a:solidFill>
                  <a:srgbClr val="3E64FF"/>
                </a:solidFill>
                <a:latin typeface="Calibri" pitchFamily="34" charset="0"/>
                <a:ea typeface="Calibri" pitchFamily="34" charset="-122"/>
                <a:cs typeface="Calibri" pitchFamily="34" charset="-120"/>
              </a:rPr>
              <a:t>試験当日のルール(抜粋)</a:t>
            </a:r>
            <a:endParaRPr lang="en-US" sz="1350" dirty="0"/>
          </a:p>
        </p:txBody>
      </p:sp>
      <p:sp>
        <p:nvSpPr>
          <p:cNvPr id="19" name="Text 17"/>
          <p:cNvSpPr txBox="1"/>
          <p:nvPr/>
        </p:nvSpPr>
        <p:spPr>
          <a:xfrm>
            <a:off x="548640" y="4160520"/>
            <a:ext cx="10881360" cy="11887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6213E"/>
                </a:solidFill>
                <a:latin typeface="Calibri" pitchFamily="34" charset="0"/>
                <a:ea typeface="Calibri" pitchFamily="34" charset="-122"/>
                <a:cs typeface="Calibri" pitchFamily="34" charset="-120"/>
              </a:rPr>
              <a:t>オンライン受験: セッション中は常に試験監督者・ウェブカメラの視界内にとどまる</a:t>
            </a:r>
            <a:endParaRPr lang="en-US" sz="1100" dirty="0"/>
          </a:p>
          <a:p>
            <a:pPr marL="342900" indent="-342900">
              <a:spcAft>
                <a:spcPts val="400"/>
              </a:spcAft>
              <a:buSzPct val="100000"/>
              <a:buChar char="•"/>
            </a:pPr>
            <a:r>
              <a:rPr lang="en-US" sz="1100" dirty="0">
                <a:solidFill>
                  <a:srgbClr val="16213E"/>
                </a:solidFill>
                <a:latin typeface="Calibri" pitchFamily="34" charset="0"/>
                <a:ea typeface="Calibri" pitchFamily="34" charset="-122"/>
                <a:cs typeface="Calibri" pitchFamily="34" charset="-120"/>
              </a:rPr>
              <a:t>持ち込み禁止: 携帯電話・スマートウォッチ・ヘッドホン・学習教材・録音録画機器</a:t>
            </a:r>
            <a:endParaRPr lang="en-US" sz="1100" dirty="0"/>
          </a:p>
          <a:p>
            <a:pPr marL="342900" indent="-342900">
              <a:spcAft>
                <a:spcPts val="400"/>
              </a:spcAft>
              <a:buSzPct val="100000"/>
              <a:buChar char="•"/>
            </a:pPr>
            <a:r>
              <a:rPr lang="en-US" sz="1100" dirty="0">
                <a:solidFill>
                  <a:srgbClr val="16213E"/>
                </a:solidFill>
                <a:latin typeface="Calibri" pitchFamily="34" charset="0"/>
                <a:ea typeface="Calibri" pitchFamily="34" charset="-122"/>
                <a:cs typeface="Calibri" pitchFamily="34" charset="-120"/>
              </a:rPr>
              <a:t>不正行為(カンニング・内容の開示等)は、結果無効化・資格取消・今後の受験禁止につながる</a:t>
            </a:r>
            <a:endParaRPr lang="en-US" sz="1100" dirty="0"/>
          </a:p>
        </p:txBody>
      </p:sp>
      <p:sp>
        <p:nvSpPr>
          <p:cNvPr id="20" name="Text 18"/>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5B6B8C"/>
                </a:solidFill>
                <a:latin typeface="Calibri" pitchFamily="34" charset="0"/>
                <a:ea typeface="Calibri" pitchFamily="34" charset="-122"/>
                <a:cs typeface="Calibri" pitchFamily="34" charset="-120"/>
              </a:rPr>
              <a:t>出典: Anthropic公式試験ガイド セクション11・12・14</a:t>
            </a:r>
            <a:endParaRPr lang="en-US" sz="900" dirty="0"/>
          </a:p>
        </p:txBody>
      </p:sp>
      <p:sp>
        <p:nvSpPr>
          <p:cNvPr id="21" name="Text 19"/>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548640" y="411480"/>
            <a:ext cx="731520" cy="685800"/>
          </a:xfrm>
          <a:prstGeom prst="rect">
            <a:avLst/>
          </a:prstGeom>
          <a:noFill/>
          <a:ln/>
        </p:spPr>
        <p:txBody>
          <a:bodyPr wrap="square" lIns="0" tIns="0" rIns="0" bIns="0" rtlCol="0" anchor="ctr"/>
          <a:lstStyle/>
          <a:p>
            <a:pPr indent="0" marL="0">
              <a:buNone/>
            </a:pPr>
            <a:r>
              <a:rPr lang="en-US" sz="2400" b="1" dirty="0">
                <a:solidFill>
                  <a:srgbClr val="3E64FF"/>
                </a:solidFill>
                <a:latin typeface="Cambria" pitchFamily="34" charset="0"/>
                <a:ea typeface="Cambria" pitchFamily="34" charset="-122"/>
                <a:cs typeface="Cambria" pitchFamily="34" charset="-120"/>
              </a:rPr>
              <a:t>7</a:t>
            </a:r>
            <a:endParaRPr lang="en-US" sz="2400" dirty="0"/>
          </a:p>
        </p:txBody>
      </p:sp>
      <p:sp>
        <p:nvSpPr>
          <p:cNvPr id="3" name="Text 1"/>
          <p:cNvSpPr txBox="1"/>
          <p:nvPr/>
        </p:nvSpPr>
        <p:spPr>
          <a:xfrm>
            <a:off x="1234440" y="457200"/>
            <a:ext cx="10332720" cy="594360"/>
          </a:xfrm>
          <a:prstGeom prst="rect">
            <a:avLst/>
          </a:prstGeom>
          <a:noFill/>
          <a:ln/>
        </p:spPr>
        <p:txBody>
          <a:bodyPr wrap="square" lIns="0" tIns="0" rIns="0" bIns="0" rtlCol="0" anchor="ctr"/>
          <a:lstStyle/>
          <a:p>
            <a:pPr indent="0" marL="0">
              <a:buNone/>
            </a:pPr>
            <a:r>
              <a:rPr lang="en-US" sz="2200" b="1" dirty="0">
                <a:solidFill>
                  <a:srgbClr val="F2F4F8"/>
                </a:solidFill>
                <a:latin typeface="Cambria" pitchFamily="34" charset="0"/>
                <a:ea typeface="Cambria" pitchFamily="34" charset="-122"/>
                <a:cs typeface="Cambria" pitchFamily="34" charset="-120"/>
              </a:rPr>
              <a:t>他のClaude認定資格との違い</a:t>
            </a:r>
            <a:endParaRPr lang="en-US" sz="2200" dirty="0"/>
          </a:p>
        </p:txBody>
      </p:sp>
      <p:sp>
        <p:nvSpPr>
          <p:cNvPr id="4" name="Text 2"/>
          <p:cNvSpPr txBox="1"/>
          <p:nvPr/>
        </p:nvSpPr>
        <p:spPr>
          <a:xfrm>
            <a:off x="548640" y="1371600"/>
            <a:ext cx="10881360" cy="365760"/>
          </a:xfrm>
          <a:prstGeom prst="rect">
            <a:avLst/>
          </a:prstGeom>
          <a:noFill/>
          <a:ln/>
        </p:spPr>
        <p:txBody>
          <a:bodyPr wrap="square" lIns="0" tIns="0" rIns="0" bIns="0" rtlCol="0" anchor="ctr"/>
          <a:lstStyle/>
          <a:p>
            <a:pPr indent="0" marL="0">
              <a:buNone/>
            </a:pPr>
            <a:r>
              <a:rPr lang="en-US" sz="1150" i="1" dirty="0">
                <a:solidFill>
                  <a:srgbClr val="B9C4DB"/>
                </a:solidFill>
                <a:latin typeface="Calibri" pitchFamily="34" charset="0"/>
                <a:ea typeface="Calibri" pitchFamily="34" charset="-122"/>
                <a:cs typeface="Calibri" pitchFamily="34" charset="-120"/>
              </a:rPr>
              <a:t>Claude認定資格は2026年3月のCPN発足時はCCAR-Fのみ、2026年7月から4資格体制に拡大(参考: 第三者記事より)</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2560320"/>
        </p:xfrm>
        <a:graphic>
          <a:graphicData uri="http://schemas.openxmlformats.org/drawingml/2006/table">
            <a:tbl>
              <a:tblPr/>
              <a:tblGrid>
                <a:gridCol w="3931920"/>
                <a:gridCol w="1463040"/>
                <a:gridCol w="1188720"/>
                <a:gridCol w="1005840"/>
                <a:gridCol w="3474720"/>
              </a:tblGrid>
              <a:tr h="51206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資格</a:t>
                      </a:r>
                      <a:endParaRPr lang="en-US" sz="110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3E64F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試験コード</a:t>
                      </a:r>
                      <a:endParaRPr lang="en-US" sz="110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3E64F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受験料</a:t>
                      </a:r>
                      <a:endParaRPr lang="en-US" sz="110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3E64F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出題数</a:t>
                      </a:r>
                      <a:endParaRPr lang="en-US" sz="110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3E64F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主な対象者</a:t>
                      </a:r>
                      <a:endParaRPr lang="en-US" sz="110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3E64FF"/>
                    </a:solidFill>
                  </a:tcPr>
                </a:tc>
              </a:tr>
              <a:tr h="512064">
                <a:tc>
                  <a:txBody>
                    <a:bodyPr/>
                    <a:lstStyle/>
                    <a:p>
                      <a:pPr indent="0" marL="0">
                        <a:buNone/>
                      </a:pPr>
                      <a:r>
                        <a:rPr lang="en-US" sz="1050" b="1" dirty="0">
                          <a:solidFill>
                            <a:srgbClr val="2CB1BC"/>
                          </a:solidFill>
                          <a:latin typeface="Calibri" pitchFamily="34" charset="0"/>
                          <a:ea typeface="Calibri" pitchFamily="34" charset="-122"/>
                          <a:cs typeface="Calibri" pitchFamily="34" charset="-120"/>
                        </a:rPr>
                        <a:t>Claude Certified Associate – Foundations</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b="1" dirty="0">
                          <a:solidFill>
                            <a:srgbClr val="2CB1BC"/>
                          </a:solidFill>
                          <a:latin typeface="Calibri" pitchFamily="34" charset="0"/>
                          <a:ea typeface="Calibri" pitchFamily="34" charset="-122"/>
                          <a:cs typeface="Calibri" pitchFamily="34" charset="-120"/>
                        </a:rPr>
                        <a:t>CCAO-F</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b="1" dirty="0">
                          <a:solidFill>
                            <a:srgbClr val="2CB1BC"/>
                          </a:solidFill>
                          <a:latin typeface="Calibri" pitchFamily="34" charset="0"/>
                          <a:ea typeface="Calibri" pitchFamily="34" charset="-122"/>
                          <a:cs typeface="Calibri" pitchFamily="34" charset="-120"/>
                        </a:rPr>
                        <a:t>$99</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b="1" dirty="0">
                          <a:solidFill>
                            <a:srgbClr val="2CB1BC"/>
                          </a:solidFill>
                          <a:latin typeface="Calibri" pitchFamily="34" charset="0"/>
                          <a:ea typeface="Calibri" pitchFamily="34" charset="-122"/>
                          <a:cs typeface="Calibri" pitchFamily="34" charset="-120"/>
                        </a:rPr>
                        <a:t>60問</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b="1" dirty="0">
                          <a:solidFill>
                            <a:srgbClr val="2CB1BC"/>
                          </a:solidFill>
                          <a:latin typeface="Calibri" pitchFamily="34" charset="0"/>
                          <a:ea typeface="Calibri" pitchFamily="34" charset="-122"/>
                          <a:cs typeface="Calibri" pitchFamily="34" charset="-120"/>
                        </a:rPr>
                        <a:t>業務でClaudeを使うビジネス職(本資料)</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12064">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Claude Certified Developer – Foundations</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CCDV-F</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53問</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Claude API・Agent SDKで開発するエンジニア</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12064">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Claude Certified Architect – Foundations</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CCAR-F</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60問</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本番ソリューションを設計するアーキテクト</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r h="512064">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Claude Certified Architect – Professional</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CCAR-P</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$175</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63問</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c>
                  <a:txBody>
                    <a:bodyPr/>
                    <a:lstStyle/>
                    <a:p>
                      <a:pPr indent="0" marL="0">
                        <a:buNone/>
                      </a:pPr>
                      <a:r>
                        <a:rPr lang="en-US" sz="1050" dirty="0">
                          <a:solidFill>
                            <a:srgbClr val="F2F4F8"/>
                          </a:solidFill>
                          <a:latin typeface="Calibri" pitchFamily="34" charset="0"/>
                          <a:ea typeface="Calibri" pitchFamily="34" charset="-122"/>
                          <a:cs typeface="Calibri" pitchFamily="34" charset="-120"/>
                        </a:rPr>
                        <a:t>ミドル〜シニアのアーキテクト・テックリード</a:t>
                      </a:r>
                      <a:endParaRPr lang="en-US" sz="1050" dirty="0">
                        <a:latin typeface="Calibri" charset="0"/>
                        <a:ea typeface="Calibri" charset="0"/>
                        <a:cs typeface="Calibri" charset="0"/>
                      </a:endParaRPr>
                    </a:p>
                  </a:txBody>
                  <a:tcPr marL="76200" marR="76200" marT="38100" marB="38100" anchor="ctr">
                    <a:lnL w="9525" cap="flat" cmpd="sng" algn="ctr">
                      <a:solidFill>
                        <a:srgbClr val="2C3C66"/>
                      </a:solidFill>
                      <a:prstDash val="solid"/>
                      <a:round/>
                      <a:headEnd type="none" w="med" len="med"/>
                      <a:tailEnd type="none" w="med" len="med"/>
                    </a:lnL>
                    <a:lnR w="9525" cap="flat" cmpd="sng" algn="ctr">
                      <a:solidFill>
                        <a:srgbClr val="2C3C66"/>
                      </a:solidFill>
                      <a:prstDash val="solid"/>
                      <a:round/>
                      <a:headEnd type="none" w="med" len="med"/>
                      <a:tailEnd type="none" w="med" len="med"/>
                    </a:lnR>
                    <a:lnT w="9525" cap="flat" cmpd="sng" algn="ctr">
                      <a:solidFill>
                        <a:srgbClr val="2C3C66"/>
                      </a:solidFill>
                      <a:prstDash val="solid"/>
                      <a:round/>
                      <a:headEnd type="none" w="med" len="med"/>
                      <a:tailEnd type="none" w="med" len="med"/>
                    </a:lnT>
                    <a:lnB w="9525" cap="flat" cmpd="sng" algn="ctr">
                      <a:solidFill>
                        <a:srgbClr val="2C3C66"/>
                      </a:solidFill>
                      <a:prstDash val="solid"/>
                      <a:round/>
                      <a:headEnd type="none" w="med" len="med"/>
                      <a:tailEnd type="none" w="med" len="med"/>
                    </a:lnB>
                    <a:solidFill>
                      <a:srgbClr val="1F2F52"/>
                    </a:solidFill>
                  </a:tcPr>
                </a:tc>
              </a:tr>
            </a:tbl>
          </a:graphicData>
        </a:graphic>
      </p:graphicFrame>
      <p:sp>
        <p:nvSpPr>
          <p:cNvPr id="6" name="Text 3"/>
          <p:cNvSpPr txBox="1"/>
          <p:nvPr/>
        </p:nvSpPr>
        <p:spPr>
          <a:xfrm>
            <a:off x="548640" y="4754880"/>
            <a:ext cx="11064240" cy="822960"/>
          </a:xfrm>
          <a:prstGeom prst="rect">
            <a:avLst/>
          </a:prstGeom>
          <a:noFill/>
          <a:ln/>
        </p:spPr>
        <p:txBody>
          <a:bodyPr wrap="square" lIns="0" tIns="0" rIns="0" bIns="0" rtlCol="0" anchor="ctr"/>
          <a:lstStyle/>
          <a:p>
            <a:pPr indent="0" marL="0">
              <a:buNone/>
            </a:pPr>
            <a:r>
              <a:rPr lang="en-US" sz="1100" i="1" dirty="0">
                <a:solidFill>
                  <a:srgbClr val="B9C4DB"/>
                </a:solidFill>
                <a:latin typeface="Calibri" pitchFamily="34" charset="0"/>
                <a:ea typeface="Calibri" pitchFamily="34" charset="-122"/>
                <a:cs typeface="Calibri" pitchFamily="34" charset="-120"/>
              </a:rPr>
              <a:t>コーディング前提ならCCAO-F、API/MCP開発担当ならCCDV-F、というように担当業務で選ぶのが基本。CCAO-FはPartner Networkのティア要件にはカウントされない(個人のスキル証明目的)</a:t>
            </a:r>
            <a:endParaRPr lang="en-US" sz="1100" dirty="0"/>
          </a:p>
        </p:txBody>
      </p:sp>
      <p:sp>
        <p:nvSpPr>
          <p:cNvPr id="7" name="Text 4"/>
          <p:cNvSpPr txBox="1"/>
          <p:nvPr/>
        </p:nvSpPr>
        <p:spPr>
          <a:xfrm>
            <a:off x="548640" y="6400800"/>
            <a:ext cx="11064240" cy="320040"/>
          </a:xfrm>
          <a:prstGeom prst="rect">
            <a:avLst/>
          </a:prstGeom>
          <a:noFill/>
          <a:ln/>
        </p:spPr>
        <p:txBody>
          <a:bodyPr wrap="square" lIns="0" tIns="0" rIns="0" bIns="0" rtlCol="0" anchor="ctr"/>
          <a:lstStyle/>
          <a:p>
            <a:pPr indent="0" marL="0">
              <a:buNone/>
            </a:pPr>
            <a:r>
              <a:rPr lang="en-US" sz="900" i="1" dirty="0">
                <a:solidFill>
                  <a:srgbClr val="B9C4DB"/>
                </a:solidFill>
                <a:latin typeface="Calibri" pitchFamily="34" charset="0"/>
                <a:ea typeface="Calibri" pitchFamily="34" charset="-122"/>
                <a:cs typeface="Calibri" pitchFamily="34" charset="-120"/>
              </a:rPr>
              <a:t>出典: 第三者記事(Qiita・note.com等)より。本リポジトリの cca-f-study-guide.pptx はCCAR-F対応</a:t>
            </a:r>
            <a:endParaRPr lang="en-US" sz="900" dirty="0"/>
          </a:p>
        </p:txBody>
      </p:sp>
      <p:sp>
        <p:nvSpPr>
          <p:cNvPr id="8" name="Text 5"/>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881360" cy="64008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用語集・頻出の誤答パターン・まとめ</a:t>
            </a:r>
            <a:endParaRPr lang="en-US" sz="2800" dirty="0"/>
          </a:p>
        </p:txBody>
      </p:sp>
      <p:sp>
        <p:nvSpPr>
          <p:cNvPr id="3" name="Text 1"/>
          <p:cNvSpPr txBox="1"/>
          <p:nvPr/>
        </p:nvSpPr>
        <p:spPr>
          <a:xfrm>
            <a:off x="548640" y="1234440"/>
            <a:ext cx="5303520" cy="320040"/>
          </a:xfrm>
          <a:prstGeom prst="rect">
            <a:avLst/>
          </a:prstGeom>
          <a:noFill/>
          <a:ln/>
        </p:spPr>
        <p:txBody>
          <a:bodyPr wrap="square" lIns="0" tIns="0" rIns="0" bIns="0" rtlCol="0" anchor="ctr"/>
          <a:lstStyle/>
          <a:p>
            <a:pPr indent="0" marL="0">
              <a:buNone/>
            </a:pPr>
            <a:r>
              <a:rPr lang="en-US" sz="1300" b="1" dirty="0">
                <a:solidFill>
                  <a:srgbClr val="3E64FF"/>
                </a:solidFill>
                <a:latin typeface="Calibri" pitchFamily="34" charset="0"/>
                <a:ea typeface="Calibri" pitchFamily="34" charset="-122"/>
                <a:cs typeface="Calibri" pitchFamily="34" charset="-120"/>
              </a:rPr>
              <a:t>重要用語</a:t>
            </a:r>
            <a:endParaRPr lang="en-US" sz="1300" dirty="0"/>
          </a:p>
        </p:txBody>
      </p:sp>
      <p:sp>
        <p:nvSpPr>
          <p:cNvPr id="4" name="Text 2"/>
          <p:cNvSpPr txBox="1"/>
          <p:nvPr/>
        </p:nvSpPr>
        <p:spPr>
          <a:xfrm>
            <a:off x="548640" y="1554480"/>
            <a:ext cx="1645920" cy="502920"/>
          </a:xfrm>
          <a:prstGeom prst="rect">
            <a:avLst/>
          </a:prstGeom>
          <a:noFill/>
          <a:ln/>
        </p:spPr>
        <p:txBody>
          <a:bodyPr wrap="square" lIns="0" tIns="0" rIns="0" bIns="0" rtlCol="0" anchor="t"/>
          <a:lstStyle/>
          <a:p>
            <a:pPr indent="0" marL="0">
              <a:buNone/>
            </a:pPr>
            <a:r>
              <a:rPr lang="en-US" sz="1050" b="1" dirty="0">
                <a:solidFill>
                  <a:srgbClr val="2CB1BC"/>
                </a:solidFill>
                <a:latin typeface="Calibri" pitchFamily="34" charset="0"/>
                <a:ea typeface="Calibri" pitchFamily="34" charset="-122"/>
                <a:cs typeface="Calibri" pitchFamily="34" charset="-120"/>
              </a:rPr>
              <a:t>ハルシネーション</a:t>
            </a:r>
            <a:endParaRPr lang="en-US" sz="1050" dirty="0"/>
          </a:p>
        </p:txBody>
      </p:sp>
      <p:sp>
        <p:nvSpPr>
          <p:cNvPr id="5" name="Text 3"/>
          <p:cNvSpPr txBox="1"/>
          <p:nvPr/>
        </p:nvSpPr>
        <p:spPr>
          <a:xfrm>
            <a:off x="2286000" y="1554480"/>
            <a:ext cx="3566160" cy="502920"/>
          </a:xfrm>
          <a:prstGeom prst="rect">
            <a:avLst/>
          </a:prstGeom>
          <a:noFill/>
          <a:ln/>
        </p:spPr>
        <p:txBody>
          <a:bodyPr wrap="square" lIns="0" tIns="0" rIns="0" bIns="0" rtlCol="0" anchor="ctr"/>
          <a:lstStyle/>
          <a:p>
            <a:pPr indent="0" marL="0">
              <a:buNone/>
            </a:pPr>
            <a:r>
              <a:rPr lang="en-US" sz="950" dirty="0">
                <a:solidFill>
                  <a:srgbClr val="5B6B8C"/>
                </a:solidFill>
                <a:latin typeface="Calibri" pitchFamily="34" charset="0"/>
                <a:ea typeface="Calibri" pitchFamily="34" charset="-122"/>
                <a:cs typeface="Calibri" pitchFamily="34" charset="-120"/>
              </a:rPr>
              <a:t>AIが事実と異なる情報をもっともらしく生成する現象</a:t>
            </a:r>
            <a:endParaRPr lang="en-US" sz="950" dirty="0"/>
          </a:p>
        </p:txBody>
      </p:sp>
      <p:sp>
        <p:nvSpPr>
          <p:cNvPr id="6" name="Text 4"/>
          <p:cNvSpPr txBox="1"/>
          <p:nvPr/>
        </p:nvSpPr>
        <p:spPr>
          <a:xfrm>
            <a:off x="548640" y="2130552"/>
            <a:ext cx="1645920" cy="502920"/>
          </a:xfrm>
          <a:prstGeom prst="rect">
            <a:avLst/>
          </a:prstGeom>
          <a:noFill/>
          <a:ln/>
        </p:spPr>
        <p:txBody>
          <a:bodyPr wrap="square" lIns="0" tIns="0" rIns="0" bIns="0" rtlCol="0" anchor="t"/>
          <a:lstStyle/>
          <a:p>
            <a:pPr indent="0" marL="0">
              <a:buNone/>
            </a:pPr>
            <a:r>
              <a:rPr lang="en-US" sz="1050" b="1" dirty="0">
                <a:solidFill>
                  <a:srgbClr val="2CB1BC"/>
                </a:solidFill>
                <a:latin typeface="Calibri" pitchFamily="34" charset="0"/>
                <a:ea typeface="Calibri" pitchFamily="34" charset="-122"/>
                <a:cs typeface="Calibri" pitchFamily="34" charset="-120"/>
              </a:rPr>
              <a:t>MQC</a:t>
            </a:r>
            <a:endParaRPr lang="en-US" sz="1050" dirty="0"/>
          </a:p>
        </p:txBody>
      </p:sp>
      <p:sp>
        <p:nvSpPr>
          <p:cNvPr id="7" name="Text 5"/>
          <p:cNvSpPr txBox="1"/>
          <p:nvPr/>
        </p:nvSpPr>
        <p:spPr>
          <a:xfrm>
            <a:off x="2286000" y="2130552"/>
            <a:ext cx="3566160" cy="502920"/>
          </a:xfrm>
          <a:prstGeom prst="rect">
            <a:avLst/>
          </a:prstGeom>
          <a:noFill/>
          <a:ln/>
        </p:spPr>
        <p:txBody>
          <a:bodyPr wrap="square" lIns="0" tIns="0" rIns="0" bIns="0" rtlCol="0" anchor="ctr"/>
          <a:lstStyle/>
          <a:p>
            <a:pPr indent="0" marL="0">
              <a:buNone/>
            </a:pPr>
            <a:r>
              <a:rPr lang="en-US" sz="950" dirty="0">
                <a:solidFill>
                  <a:srgbClr val="5B6B8C"/>
                </a:solidFill>
                <a:latin typeface="Calibri" pitchFamily="34" charset="0"/>
                <a:ea typeface="Calibri" pitchFamily="34" charset="-122"/>
                <a:cs typeface="Calibri" pitchFamily="34" charset="-120"/>
              </a:rPr>
              <a:t>最低限の能力を備えた受験者(合格基準設定の基準)</a:t>
            </a:r>
            <a:endParaRPr lang="en-US" sz="950" dirty="0"/>
          </a:p>
        </p:txBody>
      </p:sp>
      <p:sp>
        <p:nvSpPr>
          <p:cNvPr id="8" name="Text 6"/>
          <p:cNvSpPr txBox="1"/>
          <p:nvPr/>
        </p:nvSpPr>
        <p:spPr>
          <a:xfrm>
            <a:off x="548640" y="2706624"/>
            <a:ext cx="1645920" cy="502920"/>
          </a:xfrm>
          <a:prstGeom prst="rect">
            <a:avLst/>
          </a:prstGeom>
          <a:noFill/>
          <a:ln/>
        </p:spPr>
        <p:txBody>
          <a:bodyPr wrap="square" lIns="0" tIns="0" rIns="0" bIns="0" rtlCol="0" anchor="t"/>
          <a:lstStyle/>
          <a:p>
            <a:pPr indent="0" marL="0">
              <a:buNone/>
            </a:pPr>
            <a:r>
              <a:rPr lang="en-US" sz="1050" b="1" dirty="0">
                <a:solidFill>
                  <a:srgbClr val="2CB1BC"/>
                </a:solidFill>
                <a:latin typeface="Calibri" pitchFamily="34" charset="0"/>
                <a:ea typeface="Calibri" pitchFamily="34" charset="-122"/>
                <a:cs typeface="Calibri" pitchFamily="34" charset="-120"/>
              </a:rPr>
              <a:t>基準準拠型評価</a:t>
            </a:r>
            <a:endParaRPr lang="en-US" sz="1050" dirty="0"/>
          </a:p>
        </p:txBody>
      </p:sp>
      <p:sp>
        <p:nvSpPr>
          <p:cNvPr id="9" name="Text 7"/>
          <p:cNvSpPr txBox="1"/>
          <p:nvPr/>
        </p:nvSpPr>
        <p:spPr>
          <a:xfrm>
            <a:off x="2286000" y="2706624"/>
            <a:ext cx="3566160" cy="502920"/>
          </a:xfrm>
          <a:prstGeom prst="rect">
            <a:avLst/>
          </a:prstGeom>
          <a:noFill/>
          <a:ln/>
        </p:spPr>
        <p:txBody>
          <a:bodyPr wrap="square" lIns="0" tIns="0" rIns="0" bIns="0" rtlCol="0" anchor="ctr"/>
          <a:lstStyle/>
          <a:p>
            <a:pPr indent="0" marL="0">
              <a:buNone/>
            </a:pPr>
            <a:r>
              <a:rPr lang="en-US" sz="950" dirty="0">
                <a:solidFill>
                  <a:srgbClr val="5B6B8C"/>
                </a:solidFill>
                <a:latin typeface="Calibri" pitchFamily="34" charset="0"/>
                <a:ea typeface="Calibri" pitchFamily="34" charset="-122"/>
                <a:cs typeface="Calibri" pitchFamily="34" charset="-120"/>
              </a:rPr>
              <a:t>固定の到達基準に照らして合否を判定する方式</a:t>
            </a:r>
            <a:endParaRPr lang="en-US" sz="950" dirty="0"/>
          </a:p>
        </p:txBody>
      </p:sp>
      <p:sp>
        <p:nvSpPr>
          <p:cNvPr id="10" name="Text 8"/>
          <p:cNvSpPr txBox="1"/>
          <p:nvPr/>
        </p:nvSpPr>
        <p:spPr>
          <a:xfrm>
            <a:off x="548640" y="3282696"/>
            <a:ext cx="1645920" cy="502920"/>
          </a:xfrm>
          <a:prstGeom prst="rect">
            <a:avLst/>
          </a:prstGeom>
          <a:noFill/>
          <a:ln/>
        </p:spPr>
        <p:txBody>
          <a:bodyPr wrap="square" lIns="0" tIns="0" rIns="0" bIns="0" rtlCol="0" anchor="t"/>
          <a:lstStyle/>
          <a:p>
            <a:pPr indent="0" marL="0">
              <a:buNone/>
            </a:pPr>
            <a:r>
              <a:rPr lang="en-US" sz="1050" b="1" dirty="0">
                <a:solidFill>
                  <a:srgbClr val="2CB1BC"/>
                </a:solidFill>
                <a:latin typeface="Calibri" pitchFamily="34" charset="0"/>
                <a:ea typeface="Calibri" pitchFamily="34" charset="-122"/>
                <a:cs typeface="Calibri" pitchFamily="34" charset="-120"/>
              </a:rPr>
              <a:t>PII</a:t>
            </a:r>
            <a:endParaRPr lang="en-US" sz="1050" dirty="0"/>
          </a:p>
        </p:txBody>
      </p:sp>
      <p:sp>
        <p:nvSpPr>
          <p:cNvPr id="11" name="Text 9"/>
          <p:cNvSpPr txBox="1"/>
          <p:nvPr/>
        </p:nvSpPr>
        <p:spPr>
          <a:xfrm>
            <a:off x="2286000" y="3282696"/>
            <a:ext cx="3566160" cy="502920"/>
          </a:xfrm>
          <a:prstGeom prst="rect">
            <a:avLst/>
          </a:prstGeom>
          <a:noFill/>
          <a:ln/>
        </p:spPr>
        <p:txBody>
          <a:bodyPr wrap="square" lIns="0" tIns="0" rIns="0" bIns="0" rtlCol="0" anchor="ctr"/>
          <a:lstStyle/>
          <a:p>
            <a:pPr indent="0" marL="0">
              <a:buNone/>
            </a:pPr>
            <a:r>
              <a:rPr lang="en-US" sz="950" dirty="0">
                <a:solidFill>
                  <a:srgbClr val="5B6B8C"/>
                </a:solidFill>
                <a:latin typeface="Calibri" pitchFamily="34" charset="0"/>
                <a:ea typeface="Calibri" pitchFamily="34" charset="-122"/>
                <a:cs typeface="Calibri" pitchFamily="34" charset="-120"/>
              </a:rPr>
              <a:t>個人を識別できる情報(氏名・口座番号など)</a:t>
            </a:r>
            <a:endParaRPr lang="en-US" sz="950" dirty="0"/>
          </a:p>
        </p:txBody>
      </p:sp>
      <p:sp>
        <p:nvSpPr>
          <p:cNvPr id="12" name="Text 10"/>
          <p:cNvSpPr txBox="1"/>
          <p:nvPr/>
        </p:nvSpPr>
        <p:spPr>
          <a:xfrm>
            <a:off x="6126480" y="1234440"/>
            <a:ext cx="5303520" cy="320040"/>
          </a:xfrm>
          <a:prstGeom prst="rect">
            <a:avLst/>
          </a:prstGeom>
          <a:noFill/>
          <a:ln/>
        </p:spPr>
        <p:txBody>
          <a:bodyPr wrap="square" lIns="0" tIns="0" rIns="0" bIns="0" rtlCol="0" anchor="ctr"/>
          <a:lstStyle/>
          <a:p>
            <a:pPr indent="0" marL="0">
              <a:buNone/>
            </a:pPr>
            <a:r>
              <a:rPr lang="en-US" sz="1300" b="1" dirty="0">
                <a:solidFill>
                  <a:srgbClr val="3E64FF"/>
                </a:solidFill>
                <a:latin typeface="Calibri" pitchFamily="34" charset="0"/>
                <a:ea typeface="Calibri" pitchFamily="34" charset="-122"/>
                <a:cs typeface="Calibri" pitchFamily="34" charset="-120"/>
              </a:rPr>
              <a:t>頻出の誤答パターン</a:t>
            </a:r>
            <a:endParaRPr lang="en-US" sz="1300" dirty="0"/>
          </a:p>
        </p:txBody>
      </p:sp>
      <p:sp>
        <p:nvSpPr>
          <p:cNvPr id="13" name="Text 11"/>
          <p:cNvSpPr txBox="1"/>
          <p:nvPr/>
        </p:nvSpPr>
        <p:spPr>
          <a:xfrm>
            <a:off x="6126480" y="1554480"/>
            <a:ext cx="5303520" cy="2377440"/>
          </a:xfrm>
          <a:prstGeom prst="rect">
            <a:avLst/>
          </a:prstGeom>
          <a:noFill/>
          <a:ln/>
        </p:spPr>
        <p:txBody>
          <a:bodyPr wrap="square" lIns="0" tIns="0" rIns="0" bIns="0" rtlCol="0" anchor="ctr"/>
          <a:lstStyle/>
          <a:p>
            <a:pPr marL="342900" indent="-342900">
              <a:spcAft>
                <a:spcPts val="500"/>
              </a:spcAft>
              <a:buSzPct val="100000"/>
              <a:buChar char="•"/>
            </a:pPr>
            <a:r>
              <a:rPr lang="en-US" sz="1000" dirty="0">
                <a:solidFill>
                  <a:srgbClr val="16213E"/>
                </a:solidFill>
                <a:latin typeface="Calibri" pitchFamily="34" charset="0"/>
                <a:ea typeface="Calibri" pitchFamily="34" charset="-122"/>
                <a:cs typeface="Calibri" pitchFamily="34" charset="-120"/>
              </a:rPr>
              <a:t>「AIの出力(自己申告の確信度)は常に正確」→ 誤り</a:t>
            </a:r>
            <a:endParaRPr lang="en-US" sz="1000" dirty="0"/>
          </a:p>
          <a:p>
            <a:pPr marL="342900" indent="-342900">
              <a:spcAft>
                <a:spcPts val="500"/>
              </a:spcAft>
              <a:buSzPct val="100000"/>
              <a:buChar char="•"/>
            </a:pPr>
            <a:r>
              <a:rPr lang="en-US" sz="1000" dirty="0">
                <a:solidFill>
                  <a:srgbClr val="16213E"/>
                </a:solidFill>
                <a:latin typeface="Calibri" pitchFamily="34" charset="0"/>
                <a:ea typeface="Calibri" pitchFamily="34" charset="-122"/>
                <a:cs typeface="Calibri" pitchFamily="34" charset="-120"/>
              </a:rPr>
              <a:t>「常に最上位モデルが最適」→ 誤り</a:t>
            </a:r>
            <a:endParaRPr lang="en-US" sz="1000" dirty="0"/>
          </a:p>
          <a:p>
            <a:pPr marL="342900" indent="-342900">
              <a:spcAft>
                <a:spcPts val="500"/>
              </a:spcAft>
              <a:buSzPct val="100000"/>
              <a:buChar char="•"/>
            </a:pPr>
            <a:r>
              <a:rPr lang="en-US" sz="1000" dirty="0">
                <a:solidFill>
                  <a:srgbClr val="16213E"/>
                </a:solidFill>
                <a:latin typeface="Calibri" pitchFamily="34" charset="0"/>
                <a:ea typeface="Calibri" pitchFamily="34" charset="-122"/>
                <a:cs typeface="Calibri" pitchFamily="34" charset="-120"/>
              </a:rPr>
              <a:t>「社内利用なら個人情報もそのままでよい」→ 誤り</a:t>
            </a:r>
            <a:endParaRPr lang="en-US" sz="1000" dirty="0"/>
          </a:p>
          <a:p>
            <a:pPr marL="342900" indent="-342900">
              <a:spcAft>
                <a:spcPts val="500"/>
              </a:spcAft>
              <a:buSzPct val="100000"/>
              <a:buChar char="•"/>
            </a:pPr>
            <a:r>
              <a:rPr lang="en-US" sz="1000" dirty="0">
                <a:solidFill>
                  <a:srgbClr val="16213E"/>
                </a:solidFill>
                <a:latin typeface="Calibri" pitchFamily="34" charset="0"/>
                <a:ea typeface="Calibri" pitchFamily="34" charset="-122"/>
                <a:cs typeface="Calibri" pitchFamily="34" charset="-120"/>
              </a:rPr>
              <a:t>「一度設定すれば更新不要」→ 誤り</a:t>
            </a:r>
            <a:endParaRPr lang="en-US" sz="1000" dirty="0"/>
          </a:p>
          <a:p>
            <a:pPr marL="342900" indent="-342900">
              <a:spcAft>
                <a:spcPts val="500"/>
              </a:spcAft>
              <a:buSzPct val="100000"/>
              <a:buChar char="•"/>
            </a:pPr>
            <a:r>
              <a:rPr lang="en-US" sz="1000" dirty="0">
                <a:solidFill>
                  <a:srgbClr val="16213E"/>
                </a:solidFill>
                <a:latin typeface="Calibri" pitchFamily="34" charset="0"/>
                <a:ea typeface="Calibri" pitchFamily="34" charset="-122"/>
                <a:cs typeface="Calibri" pitchFamily="34" charset="-120"/>
              </a:rPr>
              <a:t>「指摘範囲を超えて気を利かせて直す」→ 誤り</a:t>
            </a:r>
            <a:endParaRPr lang="en-US" sz="1000" dirty="0"/>
          </a:p>
        </p:txBody>
      </p:sp>
      <p:sp>
        <p:nvSpPr>
          <p:cNvPr id="14" name="Text 12"/>
          <p:cNvSpPr txBox="1"/>
          <p:nvPr/>
        </p:nvSpPr>
        <p:spPr>
          <a:xfrm>
            <a:off x="548640" y="5394960"/>
            <a:ext cx="10881360" cy="320040"/>
          </a:xfrm>
          <a:prstGeom prst="rect">
            <a:avLst/>
          </a:prstGeom>
          <a:noFill/>
          <a:ln/>
        </p:spPr>
        <p:txBody>
          <a:bodyPr wrap="square" lIns="0" tIns="0" rIns="0" bIns="0" rtlCol="0" anchor="ctr"/>
          <a:lstStyle/>
          <a:p>
            <a:pPr indent="0" marL="0">
              <a:buNone/>
            </a:pPr>
            <a:r>
              <a:rPr lang="en-US" sz="1250" b="1" dirty="0">
                <a:solidFill>
                  <a:srgbClr val="16213E"/>
                </a:solidFill>
                <a:latin typeface="Calibri" pitchFamily="34" charset="0"/>
                <a:ea typeface="Calibri" pitchFamily="34" charset="-122"/>
                <a:cs typeface="Calibri" pitchFamily="34" charset="-120"/>
              </a:rPr>
              <a:t>このノートの位置づけ</a:t>
            </a:r>
            <a:endParaRPr lang="en-US" sz="1250" dirty="0"/>
          </a:p>
        </p:txBody>
      </p:sp>
      <p:sp>
        <p:nvSpPr>
          <p:cNvPr id="15" name="Text 13"/>
          <p:cNvSpPr txBox="1"/>
          <p:nvPr/>
        </p:nvSpPr>
        <p:spPr>
          <a:xfrm>
            <a:off x="548640" y="5715000"/>
            <a:ext cx="10881360" cy="685800"/>
          </a:xfrm>
          <a:prstGeom prst="rect">
            <a:avLst/>
          </a:prstGeom>
          <a:noFill/>
          <a:ln/>
        </p:spPr>
        <p:txBody>
          <a:bodyPr wrap="square" lIns="0" tIns="0" rIns="0" bIns="0" rtlCol="0" anchor="ctr"/>
          <a:lstStyle/>
          <a:p>
            <a:pPr indent="0" marL="0">
              <a:buNone/>
            </a:pPr>
            <a:r>
              <a:rPr lang="en-US" sz="1050" i="1" dirty="0">
                <a:solidFill>
                  <a:srgbClr val="5B6B8C"/>
                </a:solidFill>
                <a:latin typeface="Calibri" pitchFamily="34" charset="0"/>
                <a:ea typeface="Calibri" pitchFamily="34" charset="-122"/>
                <a:cs typeface="Calibri" pitchFamily="34" charset="-120"/>
              </a:rPr>
              <a:t>Anthropic公式試験ガイド(バージョン1.0・2026年7月発効)+ 公式サンプル問題 + 複数の受験記事・Udemy模擬試験を統合した学習ノート。全30問の問題集(解答確認済み)は md版(ccao-f-study-guide.md)に収録。試験内容は2026年12月7日より更新予定のため、受験前に必ず最新版の試験ガイドを確認すること</a:t>
            </a:r>
            <a:endParaRPr lang="en-US" sz="1050" dirty="0"/>
          </a:p>
        </p:txBody>
      </p:sp>
      <p:sp>
        <p:nvSpPr>
          <p:cNvPr id="16" name="Text 14"/>
          <p:cNvSpPr txBox="1"/>
          <p:nvPr/>
        </p:nvSpPr>
        <p:spPr>
          <a:xfrm>
            <a:off x="11521440" y="6492240"/>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2026-10-31T02:29:07Z</dcterms:created>
  <dcterms:modified xsi:type="dcterms:W3CDTF">2026-10-31T02:29:07Z</dcterms:modified>
</cp:coreProperties>
</file>