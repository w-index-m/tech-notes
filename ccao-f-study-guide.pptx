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Shape 0"/>
          <p:cNvSpPr/>
          <p:nvPr/>
        </p:nvSpPr>
        <p:spPr>
          <a:xfrm>
            <a:off x="8503920" y="-2011680"/>
            <a:ext cx="5852160" cy="5852160"/>
          </a:xfrm>
          <a:prstGeom prst="ellipse">
            <a:avLst/>
          </a:prstGeom>
          <a:solidFill>
            <a:srgbClr val="3E64FF">
              <a:alpha val="13000"/>
            </a:srgbClr>
          </a:solidFill>
          <a:ln/>
        </p:spPr>
      </p:sp>
      <p:sp>
        <p:nvSpPr>
          <p:cNvPr id="3" name="Shape 1"/>
          <p:cNvSpPr/>
          <p:nvPr/>
        </p:nvSpPr>
        <p:spPr>
          <a:xfrm>
            <a:off x="-1828800" y="4754880"/>
            <a:ext cx="4937760" cy="4937760"/>
          </a:xfrm>
          <a:prstGeom prst="ellipse">
            <a:avLst/>
          </a:prstGeom>
          <a:solidFill>
            <a:srgbClr val="2CB1BC">
              <a:alpha val="12000"/>
            </a:srgbClr>
          </a:solidFill>
          <a:ln/>
        </p:spPr>
      </p:sp>
      <p:sp>
        <p:nvSpPr>
          <p:cNvPr id="4" name="Text 2"/>
          <p:cNvSpPr txBox="1"/>
          <p:nvPr/>
        </p:nvSpPr>
        <p:spPr>
          <a:xfrm>
            <a:off x="731520" y="1920240"/>
            <a:ext cx="10607040" cy="1005840"/>
          </a:xfrm>
          <a:prstGeom prst="rect">
            <a:avLst/>
          </a:prstGeom>
          <a:noFill/>
          <a:ln/>
        </p:spPr>
        <p:txBody>
          <a:bodyPr wrap="square" lIns="0" tIns="0" rIns="0" bIns="0" rtlCol="0" anchor="ctr"/>
          <a:lstStyle/>
          <a:p>
            <a:pPr indent="0" marL="0">
              <a:buNone/>
            </a:pPr>
            <a:r>
              <a:rPr lang="en-US" sz="4200" b="1" dirty="0">
                <a:solidFill>
                  <a:srgbClr val="F2F4F8"/>
                </a:solidFill>
                <a:latin typeface="Cambria" pitchFamily="34" charset="0"/>
                <a:ea typeface="Cambria" pitchFamily="34" charset="-122"/>
                <a:cs typeface="Cambria" pitchFamily="34" charset="-120"/>
              </a:rPr>
              <a:t>CCAO-F 試験対策</a:t>
            </a:r>
            <a:endParaRPr lang="en-US" sz="4200" dirty="0"/>
          </a:p>
        </p:txBody>
      </p:sp>
      <p:sp>
        <p:nvSpPr>
          <p:cNvPr id="5" name="Text 3"/>
          <p:cNvSpPr txBox="1"/>
          <p:nvPr/>
        </p:nvSpPr>
        <p:spPr>
          <a:xfrm>
            <a:off x="731520" y="2788920"/>
            <a:ext cx="10607040" cy="502920"/>
          </a:xfrm>
          <a:prstGeom prst="rect">
            <a:avLst/>
          </a:prstGeom>
          <a:noFill/>
          <a:ln/>
        </p:spPr>
        <p:txBody>
          <a:bodyPr wrap="square" lIns="0" tIns="0" rIns="0" bIns="0" rtlCol="0" anchor="ctr"/>
          <a:lstStyle/>
          <a:p>
            <a:pPr indent="0" marL="0">
              <a:buNone/>
            </a:pPr>
            <a:r>
              <a:rPr lang="en-US" sz="2000" dirty="0">
                <a:solidFill>
                  <a:srgbClr val="2CB1BC"/>
                </a:solidFill>
                <a:latin typeface="Calibri" pitchFamily="34" charset="0"/>
                <a:ea typeface="Calibri" pitchFamily="34" charset="-122"/>
                <a:cs typeface="Calibri" pitchFamily="34" charset="-120"/>
              </a:rPr>
              <a:t>Claude Certified Associate – Foundations</a:t>
            </a:r>
            <a:endParaRPr lang="en-US" sz="2000" dirty="0"/>
          </a:p>
        </p:txBody>
      </p:sp>
      <p:sp>
        <p:nvSpPr>
          <p:cNvPr id="6" name="Text 4"/>
          <p:cNvSpPr txBox="1"/>
          <p:nvPr/>
        </p:nvSpPr>
        <p:spPr>
          <a:xfrm>
            <a:off x="731520" y="3337560"/>
            <a:ext cx="10607040" cy="457200"/>
          </a:xfrm>
          <a:prstGeom prst="rect">
            <a:avLst/>
          </a:prstGeom>
          <a:noFill/>
          <a:ln/>
        </p:spPr>
        <p:txBody>
          <a:bodyPr wrap="square" lIns="0" tIns="0" rIns="0" bIns="0" rtlCol="0" anchor="ctr"/>
          <a:lstStyle/>
          <a:p>
            <a:pPr indent="0" marL="0">
              <a:buNone/>
            </a:pPr>
            <a:r>
              <a:rPr lang="en-US" sz="1400" dirty="0">
                <a:solidFill>
                  <a:srgbClr val="B9C4DB"/>
                </a:solidFill>
                <a:latin typeface="Calibri" pitchFamily="34" charset="0"/>
                <a:ea typeface="Calibri" pitchFamily="34" charset="-122"/>
                <a:cs typeface="Calibri" pitchFamily="34" charset="-120"/>
              </a:rPr>
              <a:t>公式Exam Guide(英語版・日本語版)に基づく、非エンジニア向けClaude認定資格の学習ノート</a:t>
            </a:r>
            <a:endParaRPr lang="en-US" sz="1400" dirty="0"/>
          </a:p>
        </p:txBody>
      </p:sp>
      <p:sp>
        <p:nvSpPr>
          <p:cNvPr id="7" name="Text 5"/>
          <p:cNvSpPr txBox="1"/>
          <p:nvPr/>
        </p:nvSpPr>
        <p:spPr>
          <a:xfrm>
            <a:off x="731520" y="5760720"/>
            <a:ext cx="10607040" cy="365760"/>
          </a:xfrm>
          <a:prstGeom prst="rect">
            <a:avLst/>
          </a:prstGeom>
          <a:noFill/>
          <a:ln/>
        </p:spPr>
        <p:txBody>
          <a:bodyPr wrap="square" lIns="0" tIns="0" rIns="0" bIns="0" rtlCol="0" anchor="ctr"/>
          <a:lstStyle/>
          <a:p>
            <a:pPr indent="0" marL="0">
              <a:buNone/>
            </a:pPr>
            <a:r>
              <a:rPr lang="en-US" sz="1250" dirty="0">
                <a:solidFill>
                  <a:srgbClr val="3E64FF"/>
                </a:solidFill>
                <a:latin typeface="Calibri" pitchFamily="34" charset="0"/>
                <a:ea typeface="Calibri" pitchFamily="34" charset="-122"/>
                <a:cs typeface="Calibri" pitchFamily="34" charset="-120"/>
              </a:rPr>
              <a:t>試験コード: CCAO-F  |  60問 / 120分  |  $99 USD  |  合格ライン 720/1,000</a:t>
            </a:r>
            <a:endParaRPr lang="en-US" sz="1250" dirty="0"/>
          </a:p>
        </p:txBody>
      </p:sp>
      <p:sp>
        <p:nvSpPr>
          <p:cNvPr id="8" name="Text 6"/>
          <p:cNvSpPr txBox="1"/>
          <p:nvPr/>
        </p:nvSpPr>
        <p:spPr>
          <a:xfrm>
            <a:off x="731520" y="6126480"/>
            <a:ext cx="10607040" cy="320040"/>
          </a:xfrm>
          <a:prstGeom prst="rect">
            <a:avLst/>
          </a:prstGeom>
          <a:noFill/>
          <a:ln/>
        </p:spPr>
        <p:txBody>
          <a:bodyPr wrap="square" lIns="0" tIns="0" rIns="0" bIns="0" rtlCol="0" anchor="ctr"/>
          <a:lstStyle/>
          <a:p>
            <a:pPr indent="0" marL="0">
              <a:buNone/>
            </a:pPr>
            <a:r>
              <a:rPr lang="en-US" sz="1050" i="1" dirty="0">
                <a:solidFill>
                  <a:srgbClr val="B9C4DB"/>
                </a:solidFill>
                <a:latin typeface="Calibri" pitchFamily="34" charset="0"/>
                <a:ea typeface="Calibri" pitchFamily="34" charset="-122"/>
                <a:cs typeface="Calibri" pitchFamily="34" charset="-120"/>
              </a:rPr>
              <a:t>出典: Anthropic公式試験ガイド Version 1.0(2026年7月発効) ほか</a:t>
            </a:r>
            <a:endParaRPr lang="en-US" sz="1050" dirty="0"/>
          </a:p>
        </p:txBody>
      </p:sp>
      <p:sp>
        <p:nvSpPr>
          <p:cNvPr id="9" name="Text 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64008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目次</a:t>
            </a:r>
            <a:endParaRPr lang="en-US" sz="3000" dirty="0"/>
          </a:p>
        </p:txBody>
      </p:sp>
      <p:sp>
        <p:nvSpPr>
          <p:cNvPr id="3" name="Shape 1"/>
          <p:cNvSpPr/>
          <p:nvPr/>
        </p:nvSpPr>
        <p:spPr>
          <a:xfrm>
            <a:off x="640080" y="1051560"/>
            <a:ext cx="402336" cy="402336"/>
          </a:xfrm>
          <a:prstGeom prst="ellipse">
            <a:avLst/>
          </a:prstGeom>
          <a:solidFill>
            <a:srgbClr val="3E64FF"/>
          </a:solidFill>
          <a:ln/>
        </p:spPr>
      </p:sp>
      <p:sp>
        <p:nvSpPr>
          <p:cNvPr id="4" name="Text 2"/>
          <p:cNvSpPr txBox="1"/>
          <p:nvPr/>
        </p:nvSpPr>
        <p:spPr>
          <a:xfrm>
            <a:off x="640080" y="10515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261872" y="1024128"/>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この資格について / 対象者 / MQC像</a:t>
            </a:r>
            <a:endParaRPr lang="en-US" sz="1400" dirty="0"/>
          </a:p>
        </p:txBody>
      </p:sp>
      <p:sp>
        <p:nvSpPr>
          <p:cNvPr id="6" name="Text 4"/>
          <p:cNvSpPr txBox="1"/>
          <p:nvPr/>
        </p:nvSpPr>
        <p:spPr>
          <a:xfrm>
            <a:off x="1261872" y="1298448"/>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誰のための資格か、何を証明するか</a:t>
            </a:r>
            <a:endParaRPr lang="en-US" sz="1050" dirty="0"/>
          </a:p>
        </p:txBody>
      </p:sp>
      <p:sp>
        <p:nvSpPr>
          <p:cNvPr id="7" name="Shape 5"/>
          <p:cNvSpPr/>
          <p:nvPr/>
        </p:nvSpPr>
        <p:spPr>
          <a:xfrm>
            <a:off x="640080" y="1719072"/>
            <a:ext cx="402336" cy="402336"/>
          </a:xfrm>
          <a:prstGeom prst="ellipse">
            <a:avLst/>
          </a:prstGeom>
          <a:solidFill>
            <a:srgbClr val="3E64FF"/>
          </a:solidFill>
          <a:ln/>
        </p:spPr>
      </p:sp>
      <p:sp>
        <p:nvSpPr>
          <p:cNvPr id="8" name="Text 6"/>
          <p:cNvSpPr txBox="1"/>
          <p:nvPr/>
        </p:nvSpPr>
        <p:spPr>
          <a:xfrm>
            <a:off x="640080" y="17190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261872" y="1691640"/>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試験の概要と出題7分野</a:t>
            </a:r>
            <a:endParaRPr lang="en-US" sz="1400" dirty="0"/>
          </a:p>
        </p:txBody>
      </p:sp>
      <p:sp>
        <p:nvSpPr>
          <p:cNvPr id="10" name="Text 8"/>
          <p:cNvSpPr txBox="1"/>
          <p:nvPr/>
        </p:nvSpPr>
        <p:spPr>
          <a:xfrm>
            <a:off x="1261872" y="1965960"/>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問題数・時間・合格点、配点比率</a:t>
            </a:r>
            <a:endParaRPr lang="en-US" sz="1050" dirty="0"/>
          </a:p>
        </p:txBody>
      </p:sp>
      <p:sp>
        <p:nvSpPr>
          <p:cNvPr id="11" name="Shape 9"/>
          <p:cNvSpPr/>
          <p:nvPr/>
        </p:nvSpPr>
        <p:spPr>
          <a:xfrm>
            <a:off x="640080" y="2386584"/>
            <a:ext cx="402336" cy="402336"/>
          </a:xfrm>
          <a:prstGeom prst="ellipse">
            <a:avLst/>
          </a:prstGeom>
          <a:solidFill>
            <a:srgbClr val="3E64FF"/>
          </a:solidFill>
          <a:ln/>
        </p:spPr>
      </p:sp>
      <p:sp>
        <p:nvSpPr>
          <p:cNvPr id="12" name="Text 10"/>
          <p:cNvSpPr txBox="1"/>
          <p:nvPr/>
        </p:nvSpPr>
        <p:spPr>
          <a:xfrm>
            <a:off x="640080" y="23865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261872" y="2359152"/>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分野1〜7の詳細解説 + 追加の着眼点</a:t>
            </a:r>
            <a:endParaRPr lang="en-US" sz="1400" dirty="0"/>
          </a:p>
        </p:txBody>
      </p:sp>
      <p:sp>
        <p:nvSpPr>
          <p:cNvPr id="14" name="Text 12"/>
          <p:cNvSpPr txBox="1"/>
          <p:nvPr/>
        </p:nvSpPr>
        <p:spPr>
          <a:xfrm>
            <a:off x="1261872" y="2633472"/>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公式の学習目標 + 実例つき解説(Udemy模擬試験の知見も反映)</a:t>
            </a:r>
            <a:endParaRPr lang="en-US" sz="1050" dirty="0"/>
          </a:p>
        </p:txBody>
      </p:sp>
      <p:sp>
        <p:nvSpPr>
          <p:cNvPr id="15" name="Shape 13"/>
          <p:cNvSpPr/>
          <p:nvPr/>
        </p:nvSpPr>
        <p:spPr>
          <a:xfrm>
            <a:off x="640080" y="3054096"/>
            <a:ext cx="402336" cy="402336"/>
          </a:xfrm>
          <a:prstGeom prst="ellipse">
            <a:avLst/>
          </a:prstGeom>
          <a:solidFill>
            <a:srgbClr val="3E64FF"/>
          </a:solidFill>
          <a:ln/>
        </p:spPr>
      </p:sp>
      <p:sp>
        <p:nvSpPr>
          <p:cNvPr id="16" name="Text 14"/>
          <p:cNvSpPr txBox="1"/>
          <p:nvPr/>
        </p:nvSpPr>
        <p:spPr>
          <a:xfrm>
            <a:off x="640080" y="30540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261872" y="3026664"/>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試験対策テクニック</a:t>
            </a:r>
            <a:endParaRPr lang="en-US" sz="1400" dirty="0"/>
          </a:p>
        </p:txBody>
      </p:sp>
      <p:sp>
        <p:nvSpPr>
          <p:cNvPr id="18" name="Text 16"/>
          <p:cNvSpPr txBox="1"/>
          <p:nvPr/>
        </p:nvSpPr>
        <p:spPr>
          <a:xfrm>
            <a:off x="1261872" y="3300984"/>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動詞パターンによる正誤の見極め方</a:t>
            </a:r>
            <a:endParaRPr lang="en-US" sz="1050" dirty="0"/>
          </a:p>
        </p:txBody>
      </p:sp>
      <p:sp>
        <p:nvSpPr>
          <p:cNvPr id="19" name="Shape 17"/>
          <p:cNvSpPr/>
          <p:nvPr/>
        </p:nvSpPr>
        <p:spPr>
          <a:xfrm>
            <a:off x="640080" y="3721608"/>
            <a:ext cx="402336" cy="402336"/>
          </a:xfrm>
          <a:prstGeom prst="ellipse">
            <a:avLst/>
          </a:prstGeom>
          <a:solidFill>
            <a:srgbClr val="3E64FF"/>
          </a:solidFill>
          <a:ln/>
        </p:spPr>
      </p:sp>
      <p:sp>
        <p:nvSpPr>
          <p:cNvPr id="20" name="Text 18"/>
          <p:cNvSpPr txBox="1"/>
          <p:nvPr/>
        </p:nvSpPr>
        <p:spPr>
          <a:xfrm>
            <a:off x="640080" y="37216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1" name="Text 19"/>
          <p:cNvSpPr txBox="1"/>
          <p:nvPr/>
        </p:nvSpPr>
        <p:spPr>
          <a:xfrm>
            <a:off x="1261872" y="3694176"/>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公式サンプル問題3問</a:t>
            </a:r>
            <a:endParaRPr lang="en-US" sz="1400" dirty="0"/>
          </a:p>
        </p:txBody>
      </p:sp>
      <p:sp>
        <p:nvSpPr>
          <p:cNvPr id="22" name="Text 20"/>
          <p:cNvSpPr txBox="1"/>
          <p:nvPr/>
        </p:nvSpPr>
        <p:spPr>
          <a:xfrm>
            <a:off x="1261872" y="3968496"/>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Exam Guide掲載の原文訳+解説(全30問の問題集はmd版に収録)</a:t>
            </a:r>
            <a:endParaRPr lang="en-US" sz="1050" dirty="0"/>
          </a:p>
        </p:txBody>
      </p:sp>
      <p:sp>
        <p:nvSpPr>
          <p:cNvPr id="23" name="Shape 21"/>
          <p:cNvSpPr/>
          <p:nvPr/>
        </p:nvSpPr>
        <p:spPr>
          <a:xfrm>
            <a:off x="640080" y="4389120"/>
            <a:ext cx="402336" cy="402336"/>
          </a:xfrm>
          <a:prstGeom prst="ellipse">
            <a:avLst/>
          </a:prstGeom>
          <a:solidFill>
            <a:srgbClr val="3E64FF"/>
          </a:solidFill>
          <a:ln/>
        </p:spPr>
      </p:sp>
      <p:sp>
        <p:nvSpPr>
          <p:cNvPr id="24" name="Text 22"/>
          <p:cNvSpPr txBox="1"/>
          <p:nvPr/>
        </p:nvSpPr>
        <p:spPr>
          <a:xfrm>
            <a:off x="640080" y="43891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5" name="Text 23"/>
          <p:cNvSpPr txBox="1"/>
          <p:nvPr/>
        </p:nvSpPr>
        <p:spPr>
          <a:xfrm>
            <a:off x="1261872" y="4361688"/>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試験ポリシー</a:t>
            </a:r>
            <a:endParaRPr lang="en-US" sz="1400" dirty="0"/>
          </a:p>
        </p:txBody>
      </p:sp>
      <p:sp>
        <p:nvSpPr>
          <p:cNvPr id="26" name="Text 24"/>
          <p:cNvSpPr txBox="1"/>
          <p:nvPr/>
        </p:nvSpPr>
        <p:spPr>
          <a:xfrm>
            <a:off x="1261872" y="4636008"/>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申込み・本人確認・再受験・資格更新</a:t>
            </a:r>
            <a:endParaRPr lang="en-US" sz="1050" dirty="0"/>
          </a:p>
        </p:txBody>
      </p:sp>
      <p:sp>
        <p:nvSpPr>
          <p:cNvPr id="27" name="Shape 25"/>
          <p:cNvSpPr/>
          <p:nvPr/>
        </p:nvSpPr>
        <p:spPr>
          <a:xfrm>
            <a:off x="640080" y="5056632"/>
            <a:ext cx="402336" cy="402336"/>
          </a:xfrm>
          <a:prstGeom prst="ellipse">
            <a:avLst/>
          </a:prstGeom>
          <a:solidFill>
            <a:srgbClr val="3E64FF"/>
          </a:solidFill>
          <a:ln/>
        </p:spPr>
      </p:sp>
      <p:sp>
        <p:nvSpPr>
          <p:cNvPr id="28" name="Text 26"/>
          <p:cNvSpPr txBox="1"/>
          <p:nvPr/>
        </p:nvSpPr>
        <p:spPr>
          <a:xfrm>
            <a:off x="640080" y="50566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9" name="Text 27"/>
          <p:cNvSpPr txBox="1"/>
          <p:nvPr/>
        </p:nvSpPr>
        <p:spPr>
          <a:xfrm>
            <a:off x="1261872" y="5029200"/>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他のClaude認定資格との違い</a:t>
            </a:r>
            <a:endParaRPr lang="en-US" sz="1400" dirty="0"/>
          </a:p>
        </p:txBody>
      </p:sp>
      <p:sp>
        <p:nvSpPr>
          <p:cNvPr id="30" name="Text 28"/>
          <p:cNvSpPr txBox="1"/>
          <p:nvPr/>
        </p:nvSpPr>
        <p:spPr>
          <a:xfrm>
            <a:off x="1261872" y="5303520"/>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CCAO-F/CCDV-F/CCAR-F/CCAR-Pの比較</a:t>
            </a:r>
            <a:endParaRPr lang="en-US" sz="1050" dirty="0"/>
          </a:p>
        </p:txBody>
      </p:sp>
      <p:sp>
        <p:nvSpPr>
          <p:cNvPr id="31" name="Shape 29"/>
          <p:cNvSpPr/>
          <p:nvPr/>
        </p:nvSpPr>
        <p:spPr>
          <a:xfrm>
            <a:off x="640080" y="5724144"/>
            <a:ext cx="402336" cy="402336"/>
          </a:xfrm>
          <a:prstGeom prst="ellipse">
            <a:avLst/>
          </a:prstGeom>
          <a:solidFill>
            <a:srgbClr val="3E64FF"/>
          </a:solidFill>
          <a:ln/>
        </p:spPr>
      </p:sp>
      <p:sp>
        <p:nvSpPr>
          <p:cNvPr id="32" name="Text 30"/>
          <p:cNvSpPr txBox="1"/>
          <p:nvPr/>
        </p:nvSpPr>
        <p:spPr>
          <a:xfrm>
            <a:off x="640080" y="57241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3" name="Text 31"/>
          <p:cNvSpPr txBox="1"/>
          <p:nvPr/>
        </p:nvSpPr>
        <p:spPr>
          <a:xfrm>
            <a:off x="1261872" y="5696712"/>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用語集・誤答パターン・まとめ</a:t>
            </a:r>
            <a:endParaRPr lang="en-US" sz="1400" dirty="0"/>
          </a:p>
        </p:txBody>
      </p:sp>
      <p:sp>
        <p:nvSpPr>
          <p:cNvPr id="34" name="Text 32"/>
          <p:cNvSpPr txBox="1"/>
          <p:nvPr/>
        </p:nvSpPr>
        <p:spPr>
          <a:xfrm>
            <a:off x="1261872" y="5971032"/>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頻出の引っかけ選択肢</a:t>
            </a:r>
            <a:endParaRPr lang="en-US" sz="1050" dirty="0"/>
          </a:p>
        </p:txBody>
      </p:sp>
      <p:sp>
        <p:nvSpPr>
          <p:cNvPr id="35" name="Text 33"/>
          <p:cNvSpPr txBox="1"/>
          <p:nvPr/>
        </p:nvSpPr>
        <p:spPr>
          <a:xfrm>
            <a:off x="548640" y="6355080"/>
            <a:ext cx="11064240" cy="320040"/>
          </a:xfrm>
          <a:prstGeom prst="rect">
            <a:avLst/>
          </a:prstGeom>
          <a:noFill/>
          <a:ln/>
        </p:spPr>
        <p:txBody>
          <a:bodyPr wrap="square" lIns="0" tIns="0" rIns="0" bIns="0" rtlCol="0" anchor="ctr"/>
          <a:lstStyle/>
          <a:p>
            <a:pPr indent="0" marL="0">
              <a:buNone/>
            </a:pPr>
            <a:r>
              <a:rPr lang="en-US" sz="1000" i="1" dirty="0">
                <a:solidFill>
                  <a:srgbClr val="E0A526"/>
                </a:solidFill>
                <a:latin typeface="Calibri" pitchFamily="34" charset="0"/>
                <a:ea typeface="Calibri" pitchFamily="34" charset="-122"/>
                <a:cs typeface="Calibri" pitchFamily="34" charset="-120"/>
              </a:rPr>
              <a:t>⚠ 2026年12月7日より試験内容が更新予定(本資料はVersion 1.0/2026年7月発効に基づく)</a:t>
            </a:r>
            <a:endParaRPr lang="en-US" sz="1000" dirty="0"/>
          </a:p>
        </p:txBody>
      </p:sp>
      <p:sp>
        <p:nvSpPr>
          <p:cNvPr id="36" name="Text 3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1</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この資格について</a:t>
            </a:r>
            <a:endParaRPr lang="en-US" sz="2200" dirty="0"/>
          </a:p>
        </p:txBody>
      </p:sp>
      <p:sp>
        <p:nvSpPr>
          <p:cNvPr id="4" name="Text 2"/>
          <p:cNvSpPr txBox="1"/>
          <p:nvPr/>
        </p:nvSpPr>
        <p:spPr>
          <a:xfrm>
            <a:off x="548640" y="1325880"/>
            <a:ext cx="10881360" cy="365760"/>
          </a:xfrm>
          <a:prstGeom prst="rect">
            <a:avLst/>
          </a:prstGeom>
          <a:noFill/>
          <a:ln/>
        </p:spPr>
        <p:txBody>
          <a:bodyPr wrap="square" lIns="0" tIns="0" rIns="0" bIns="0" rtlCol="0" anchor="ctr"/>
          <a:lstStyle/>
          <a:p>
            <a:pPr indent="0" marL="0">
              <a:buNone/>
            </a:pPr>
            <a:r>
              <a:rPr lang="en-US" sz="1250" i="1" dirty="0">
                <a:solidFill>
                  <a:srgbClr val="5B6B8C"/>
                </a:solidFill>
                <a:latin typeface="Calibri" pitchFamily="34" charset="0"/>
                <a:ea typeface="Calibri" pitchFamily="34" charset="-122"/>
                <a:cs typeface="Calibri" pitchFamily="34" charset="-120"/>
              </a:rPr>
              <a:t>最小限のサポートで、Claudeを業務・生産性タスクに適用できることを証明する資格</a:t>
            </a:r>
            <a:endParaRPr lang="en-US" sz="1250" dirty="0"/>
          </a:p>
        </p:txBody>
      </p:sp>
      <p:sp>
        <p:nvSpPr>
          <p:cNvPr id="5" name="Text 3"/>
          <p:cNvSpPr txBox="1"/>
          <p:nvPr/>
        </p:nvSpPr>
        <p:spPr>
          <a:xfrm>
            <a:off x="548640" y="1783080"/>
            <a:ext cx="530352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証明できること</a:t>
            </a:r>
            <a:endParaRPr lang="en-US" sz="1350" dirty="0"/>
          </a:p>
        </p:txBody>
      </p:sp>
      <p:sp>
        <p:nvSpPr>
          <p:cNvPr id="6" name="Text 4"/>
          <p:cNvSpPr txBox="1"/>
          <p:nvPr/>
        </p:nvSpPr>
        <p:spPr>
          <a:xfrm>
            <a:off x="548640" y="2103120"/>
            <a:ext cx="5303520" cy="1920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組み込み機能・ツールを使いワークフローを効率化する</a:t>
            </a:r>
            <a:endParaRPr lang="en-US" sz="1100" dirty="0"/>
          </a:p>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Claudeでプロセスを改善できる機会を特定する</a:t>
            </a:r>
            <a:endParaRPr lang="en-US" sz="1100" dirty="0"/>
          </a:p>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品質・効率・コストのバランスを取るアプローチを選択する</a:t>
            </a:r>
            <a:endParaRPr lang="en-US" sz="1100" dirty="0"/>
          </a:p>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限界を認識し、より複雑な作業をArchitect/Developerへエスカレーションする</a:t>
            </a:r>
            <a:endParaRPr lang="en-US" sz="1100" dirty="0"/>
          </a:p>
        </p:txBody>
      </p:sp>
      <p:sp>
        <p:nvSpPr>
          <p:cNvPr id="7" name="Text 5"/>
          <p:cNvSpPr txBox="1"/>
          <p:nvPr/>
        </p:nvSpPr>
        <p:spPr>
          <a:xfrm>
            <a:off x="6126480" y="1783080"/>
            <a:ext cx="512064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対象とならない人</a:t>
            </a:r>
            <a:endParaRPr lang="en-US" sz="1350" dirty="0"/>
          </a:p>
        </p:txBody>
      </p:sp>
      <p:sp>
        <p:nvSpPr>
          <p:cNvPr id="8" name="Shape 6"/>
          <p:cNvSpPr/>
          <p:nvPr/>
        </p:nvSpPr>
        <p:spPr>
          <a:xfrm>
            <a:off x="6126480" y="2103120"/>
            <a:ext cx="5120640" cy="1920240"/>
          </a:xfrm>
          <a:prstGeom prst="roundRect">
            <a:avLst>
              <a:gd name="adj" fmla="val 3810"/>
            </a:avLst>
          </a:prstGeom>
          <a:solidFill>
            <a:srgbClr val="F5F7FB"/>
          </a:solidFill>
          <a:ln w="12700">
            <a:solidFill>
              <a:srgbClr val="E1E6F0"/>
            </a:solidFill>
            <a:prstDash val="solid"/>
          </a:ln>
        </p:spPr>
      </p:sp>
      <p:sp>
        <p:nvSpPr>
          <p:cNvPr id="9" name="Text 7"/>
          <p:cNvSpPr txBox="1"/>
          <p:nvPr/>
        </p:nvSpPr>
        <p:spPr>
          <a:xfrm>
            <a:off x="6309360" y="2286000"/>
            <a:ext cx="4754880" cy="1645920"/>
          </a:xfrm>
          <a:prstGeom prst="rect">
            <a:avLst/>
          </a:prstGeom>
          <a:noFill/>
          <a:ln/>
        </p:spPr>
        <p:txBody>
          <a:bodyPr wrap="square" lIns="0" tIns="0" rIns="0" bIns="0" rtlCol="0" anchor="ctr"/>
          <a:lstStyle/>
          <a:p>
            <a:pPr indent="0" marL="0">
              <a:buNone/>
            </a:pPr>
            <a:r>
              <a:rPr lang="en-US" sz="1100" dirty="0">
                <a:solidFill>
                  <a:srgbClr val="16213E"/>
                </a:solidFill>
                <a:latin typeface="Calibri" pitchFamily="34" charset="0"/>
                <a:ea typeface="Calibri" pitchFamily="34" charset="-122"/>
                <a:cs typeface="Calibri" pitchFamily="34" charset="-120"/>
              </a:rPr>
              <a:t>APIを利用して開発するソフトウェア開発者、エージェントシステムを設計する人、機械学習・ソフトウェアエンジニアリングの専門家は対象外。その範囲はClaude Architect・Claude Developer資格が担う</a:t>
            </a:r>
            <a:endParaRPr lang="en-US" sz="1100" dirty="0"/>
          </a:p>
        </p:txBody>
      </p:sp>
      <p:sp>
        <p:nvSpPr>
          <p:cNvPr id="10" name="Text 8"/>
          <p:cNvSpPr txBox="1"/>
          <p:nvPr/>
        </p:nvSpPr>
        <p:spPr>
          <a:xfrm>
            <a:off x="548640" y="4251960"/>
            <a:ext cx="1088136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MQC(最低限の能力を備えた受験者)像</a:t>
            </a:r>
            <a:endParaRPr lang="en-US" sz="1350" dirty="0"/>
          </a:p>
        </p:txBody>
      </p:sp>
      <p:sp>
        <p:nvSpPr>
          <p:cNvPr id="11" name="Text 9"/>
          <p:cNvSpPr txBox="1"/>
          <p:nvPr/>
        </p:nvSpPr>
        <p:spPr>
          <a:xfrm>
            <a:off x="548640" y="4572000"/>
            <a:ext cx="10881360" cy="914400"/>
          </a:xfrm>
          <a:prstGeom prst="rect">
            <a:avLst/>
          </a:prstGeom>
          <a:noFill/>
          <a:ln/>
        </p:spPr>
        <p:txBody>
          <a:bodyPr wrap="square" lIns="0" tIns="0" rIns="0" bIns="0" rtlCol="0" anchor="ctr"/>
          <a:lstStyle/>
          <a:p>
            <a:pPr indent="0" marL="0">
              <a:buNone/>
            </a:pPr>
            <a:r>
              <a:rPr lang="en-US" sz="1100" dirty="0">
                <a:solidFill>
                  <a:srgbClr val="16213E"/>
                </a:solidFill>
                <a:latin typeface="Calibri" pitchFamily="34" charset="0"/>
                <a:ea typeface="Calibri" pitchFamily="34" charset="-122"/>
                <a:cs typeface="Calibri" pitchFamily="34" charset="-120"/>
              </a:rPr>
              <a:t>Claudeを中核的な生産性向上ツールとして使用し、実際のワークフローの中で効果的に適用して効率・品質・成果を改善できる実務者。プロンプトの構造化・タスクのオーケストレーション・プロジェクト/アーティファクトなどの機能に習熟し、単純な質疑応答を超えてプロセスの再構想・タスク自動化・プロジェクト開発まで行う</a:t>
            </a:r>
            <a:endParaRPr lang="en-US" sz="1100" dirty="0"/>
          </a:p>
        </p:txBody>
      </p:sp>
      <p:sp>
        <p:nvSpPr>
          <p:cNvPr id="12" name="Text 10"/>
          <p:cNvSpPr txBox="1"/>
          <p:nvPr/>
        </p:nvSpPr>
        <p:spPr>
          <a:xfrm>
            <a:off x="548640" y="5623560"/>
            <a:ext cx="10881360" cy="548640"/>
          </a:xfrm>
          <a:prstGeom prst="rect">
            <a:avLst/>
          </a:prstGeom>
          <a:noFill/>
          <a:ln/>
        </p:spPr>
        <p:txBody>
          <a:bodyPr wrap="square" lIns="0" tIns="0" rIns="0" bIns="0" rtlCol="0" anchor="ctr"/>
          <a:lstStyle/>
          <a:p>
            <a:pPr indent="0" marL="0">
              <a:buNone/>
            </a:pPr>
            <a:r>
              <a:rPr lang="en-US" sz="1050" i="1" dirty="0">
                <a:solidFill>
                  <a:srgbClr val="5B6B8C"/>
                </a:solidFill>
                <a:latin typeface="Calibri" pitchFamily="34" charset="0"/>
                <a:ea typeface="Calibri" pitchFamily="34" charset="-122"/>
                <a:cs typeface="Calibri" pitchFamily="34" charset="-120"/>
              </a:rPr>
              <a:t>前提条件: 必須の前提資格・必修コースなし。ソフトウェア開発・API経験も不要。資格は試験の成績のみに基づいて授与される</a:t>
            </a:r>
            <a:endParaRPr lang="en-US" sz="1050" dirty="0"/>
          </a:p>
        </p:txBody>
      </p:sp>
      <p:sp>
        <p:nvSpPr>
          <p:cNvPr id="13" name="Text 11"/>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セクション1・4</a:t>
            </a:r>
            <a:endParaRPr lang="en-US" sz="900" dirty="0"/>
          </a:p>
        </p:txBody>
      </p:sp>
      <p:sp>
        <p:nvSpPr>
          <p:cNvPr id="14" name="Text 1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2</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試験の概要</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4754880"/>
        </p:xfrm>
        <a:graphic>
          <a:graphicData uri="http://schemas.openxmlformats.org/drawingml/2006/table">
            <a:tbl>
              <a:tblPr/>
              <a:tblGrid>
                <a:gridCol w="2743200"/>
                <a:gridCol w="8321040"/>
              </a:tblGrid>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資格</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Claude Certified Associate – Foundations</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試験コード</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CCAO-F</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問題数</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60(単一選択・複数選択式)</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制限時間</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120分</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実施方法</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オンライン監督付き または Pearsonテストセンター</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合格点</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100〜1,000のスケールで720</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受験料</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$99 USD(パートナー階層に応じ割引あり)</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有効期間</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認定日から12ヶ月(期限内更新は無料)</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受験資格</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Claude Partner Network(CPN)加盟企業所属者のみ</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bl>
          </a:graphicData>
        </a:graphic>
      </p:graphicFrame>
      <p:sp>
        <p:nvSpPr>
          <p:cNvPr id="5" name="Text 2"/>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セクション5</a:t>
            </a:r>
            <a:endParaRPr lang="en-US" sz="900" dirty="0"/>
          </a:p>
        </p:txBody>
      </p:sp>
      <p:sp>
        <p:nvSpPr>
          <p:cNvPr id="6" name="Text 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2</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出題7分野と配点比率</a:t>
            </a:r>
            <a:endParaRPr lang="en-US" sz="2200" dirty="0"/>
          </a:p>
        </p:txBody>
      </p:sp>
      <p:sp>
        <p:nvSpPr>
          <p:cNvPr id="4" name="Text 2"/>
          <p:cNvSpPr txBox="1"/>
          <p:nvPr/>
        </p:nvSpPr>
        <p:spPr>
          <a:xfrm>
            <a:off x="548640" y="1371600"/>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960120" y="1371600"/>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プロンプト作成とタスク実行</a:t>
            </a:r>
            <a:endParaRPr lang="en-US" sz="1150" dirty="0"/>
          </a:p>
        </p:txBody>
      </p:sp>
      <p:sp>
        <p:nvSpPr>
          <p:cNvPr id="6" name="Shape 4"/>
          <p:cNvSpPr/>
          <p:nvPr/>
        </p:nvSpPr>
        <p:spPr>
          <a:xfrm>
            <a:off x="4846320" y="1444752"/>
            <a:ext cx="6400800" cy="310896"/>
          </a:xfrm>
          <a:prstGeom prst="rect">
            <a:avLst/>
          </a:prstGeom>
          <a:solidFill>
            <a:srgbClr val="EEF1F8"/>
          </a:solidFill>
          <a:ln/>
        </p:spPr>
      </p:sp>
      <p:sp>
        <p:nvSpPr>
          <p:cNvPr id="7" name="Shape 5"/>
          <p:cNvSpPr/>
          <p:nvPr/>
        </p:nvSpPr>
        <p:spPr>
          <a:xfrm>
            <a:off x="4846320" y="1444752"/>
            <a:ext cx="4267200" cy="310896"/>
          </a:xfrm>
          <a:prstGeom prst="rect">
            <a:avLst/>
          </a:prstGeom>
          <a:solidFill>
            <a:srgbClr val="2CB1BC"/>
          </a:solidFill>
          <a:ln/>
        </p:spPr>
      </p:sp>
      <p:sp>
        <p:nvSpPr>
          <p:cNvPr id="8" name="Text 6"/>
          <p:cNvSpPr txBox="1"/>
          <p:nvPr/>
        </p:nvSpPr>
        <p:spPr>
          <a:xfrm>
            <a:off x="11292840" y="1371600"/>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14%</a:t>
            </a:r>
            <a:endParaRPr lang="en-US" sz="1150" dirty="0"/>
          </a:p>
        </p:txBody>
      </p:sp>
      <p:sp>
        <p:nvSpPr>
          <p:cNvPr id="9" name="Text 7"/>
          <p:cNvSpPr txBox="1"/>
          <p:nvPr/>
        </p:nvSpPr>
        <p:spPr>
          <a:xfrm>
            <a:off x="548640" y="1947672"/>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0120" y="1947672"/>
            <a:ext cx="3749040" cy="457200"/>
          </a:xfrm>
          <a:prstGeom prst="rect">
            <a:avLst/>
          </a:prstGeom>
          <a:noFill/>
          <a:ln/>
        </p:spPr>
        <p:txBody>
          <a:bodyPr wrap="square" lIns="0" tIns="0" rIns="0" bIns="0" rtlCol="0" anchor="ctr"/>
          <a:lstStyle/>
          <a:p>
            <a:pPr indent="0" marL="0">
              <a:buNone/>
            </a:pPr>
            <a:r>
              <a:rPr lang="en-US" sz="1150" b="1" dirty="0">
                <a:solidFill>
                  <a:srgbClr val="3E64FF"/>
                </a:solidFill>
                <a:latin typeface="Calibri" pitchFamily="34" charset="0"/>
                <a:ea typeface="Calibri" pitchFamily="34" charset="-122"/>
                <a:cs typeface="Calibri" pitchFamily="34" charset="-120"/>
              </a:rPr>
              <a:t>出力の評価と検証(最重要)</a:t>
            </a:r>
            <a:endParaRPr lang="en-US" sz="1150" dirty="0"/>
          </a:p>
        </p:txBody>
      </p:sp>
      <p:sp>
        <p:nvSpPr>
          <p:cNvPr id="11" name="Shape 9"/>
          <p:cNvSpPr/>
          <p:nvPr/>
        </p:nvSpPr>
        <p:spPr>
          <a:xfrm>
            <a:off x="4846320" y="2020824"/>
            <a:ext cx="6400800" cy="310896"/>
          </a:xfrm>
          <a:prstGeom prst="rect">
            <a:avLst/>
          </a:prstGeom>
          <a:solidFill>
            <a:srgbClr val="EEF1F8"/>
          </a:solidFill>
          <a:ln/>
        </p:spPr>
      </p:sp>
      <p:sp>
        <p:nvSpPr>
          <p:cNvPr id="12" name="Shape 10"/>
          <p:cNvSpPr/>
          <p:nvPr/>
        </p:nvSpPr>
        <p:spPr>
          <a:xfrm>
            <a:off x="4846320" y="2020824"/>
            <a:ext cx="6400800" cy="310896"/>
          </a:xfrm>
          <a:prstGeom prst="rect">
            <a:avLst/>
          </a:prstGeom>
          <a:solidFill>
            <a:srgbClr val="3E64FF"/>
          </a:solidFill>
          <a:ln/>
        </p:spPr>
      </p:sp>
      <p:sp>
        <p:nvSpPr>
          <p:cNvPr id="13" name="Text 11"/>
          <p:cNvSpPr txBox="1"/>
          <p:nvPr/>
        </p:nvSpPr>
        <p:spPr>
          <a:xfrm>
            <a:off x="11292840" y="1947672"/>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21%</a:t>
            </a:r>
            <a:endParaRPr lang="en-US" sz="1150" dirty="0"/>
          </a:p>
        </p:txBody>
      </p:sp>
      <p:sp>
        <p:nvSpPr>
          <p:cNvPr id="14" name="Text 12"/>
          <p:cNvSpPr txBox="1"/>
          <p:nvPr/>
        </p:nvSpPr>
        <p:spPr>
          <a:xfrm>
            <a:off x="548640" y="2523744"/>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960120" y="2523744"/>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製品とモデルの選択</a:t>
            </a:r>
            <a:endParaRPr lang="en-US" sz="1150" dirty="0"/>
          </a:p>
        </p:txBody>
      </p:sp>
      <p:sp>
        <p:nvSpPr>
          <p:cNvPr id="16" name="Shape 14"/>
          <p:cNvSpPr/>
          <p:nvPr/>
        </p:nvSpPr>
        <p:spPr>
          <a:xfrm>
            <a:off x="4846320" y="2596896"/>
            <a:ext cx="6400800" cy="310896"/>
          </a:xfrm>
          <a:prstGeom prst="rect">
            <a:avLst/>
          </a:prstGeom>
          <a:solidFill>
            <a:srgbClr val="EEF1F8"/>
          </a:solidFill>
          <a:ln/>
        </p:spPr>
      </p:sp>
      <p:sp>
        <p:nvSpPr>
          <p:cNvPr id="17" name="Shape 15"/>
          <p:cNvSpPr/>
          <p:nvPr/>
        </p:nvSpPr>
        <p:spPr>
          <a:xfrm>
            <a:off x="4846320" y="2596896"/>
            <a:ext cx="3657600" cy="310896"/>
          </a:xfrm>
          <a:prstGeom prst="rect">
            <a:avLst/>
          </a:prstGeom>
          <a:solidFill>
            <a:srgbClr val="2CB1BC"/>
          </a:solidFill>
          <a:ln/>
        </p:spPr>
      </p:sp>
      <p:sp>
        <p:nvSpPr>
          <p:cNvPr id="18" name="Text 16"/>
          <p:cNvSpPr txBox="1"/>
          <p:nvPr/>
        </p:nvSpPr>
        <p:spPr>
          <a:xfrm>
            <a:off x="11292840" y="2523744"/>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12%</a:t>
            </a:r>
            <a:endParaRPr lang="en-US" sz="1150" dirty="0"/>
          </a:p>
        </p:txBody>
      </p:sp>
      <p:sp>
        <p:nvSpPr>
          <p:cNvPr id="19" name="Text 17"/>
          <p:cNvSpPr txBox="1"/>
          <p:nvPr/>
        </p:nvSpPr>
        <p:spPr>
          <a:xfrm>
            <a:off x="548640" y="3099816"/>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960120" y="3099816"/>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ワークフロー統合とソリューション設計</a:t>
            </a:r>
            <a:endParaRPr lang="en-US" sz="1150" dirty="0"/>
          </a:p>
        </p:txBody>
      </p:sp>
      <p:sp>
        <p:nvSpPr>
          <p:cNvPr id="21" name="Shape 19"/>
          <p:cNvSpPr/>
          <p:nvPr/>
        </p:nvSpPr>
        <p:spPr>
          <a:xfrm>
            <a:off x="4846320" y="3172968"/>
            <a:ext cx="6400800" cy="310896"/>
          </a:xfrm>
          <a:prstGeom prst="rect">
            <a:avLst/>
          </a:prstGeom>
          <a:solidFill>
            <a:srgbClr val="EEF1F8"/>
          </a:solidFill>
          <a:ln/>
        </p:spPr>
      </p:sp>
      <p:sp>
        <p:nvSpPr>
          <p:cNvPr id="22" name="Shape 20"/>
          <p:cNvSpPr/>
          <p:nvPr/>
        </p:nvSpPr>
        <p:spPr>
          <a:xfrm>
            <a:off x="4846320" y="3172968"/>
            <a:ext cx="4876800" cy="310896"/>
          </a:xfrm>
          <a:prstGeom prst="rect">
            <a:avLst/>
          </a:prstGeom>
          <a:solidFill>
            <a:srgbClr val="2CB1BC"/>
          </a:solidFill>
          <a:ln/>
        </p:spPr>
      </p:sp>
      <p:sp>
        <p:nvSpPr>
          <p:cNvPr id="23" name="Text 21"/>
          <p:cNvSpPr txBox="1"/>
          <p:nvPr/>
        </p:nvSpPr>
        <p:spPr>
          <a:xfrm>
            <a:off x="11292840" y="3099816"/>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16%</a:t>
            </a:r>
            <a:endParaRPr lang="en-US" sz="1150" dirty="0"/>
          </a:p>
        </p:txBody>
      </p:sp>
      <p:sp>
        <p:nvSpPr>
          <p:cNvPr id="24" name="Text 22"/>
          <p:cNvSpPr txBox="1"/>
          <p:nvPr/>
        </p:nvSpPr>
        <p:spPr>
          <a:xfrm>
            <a:off x="548640" y="3675888"/>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960120" y="3675888"/>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設定とナレッジ管理</a:t>
            </a:r>
            <a:endParaRPr lang="en-US" sz="1150" dirty="0"/>
          </a:p>
        </p:txBody>
      </p:sp>
      <p:sp>
        <p:nvSpPr>
          <p:cNvPr id="26" name="Shape 24"/>
          <p:cNvSpPr/>
          <p:nvPr/>
        </p:nvSpPr>
        <p:spPr>
          <a:xfrm>
            <a:off x="4846320" y="3749040"/>
            <a:ext cx="6400800" cy="310896"/>
          </a:xfrm>
          <a:prstGeom prst="rect">
            <a:avLst/>
          </a:prstGeom>
          <a:solidFill>
            <a:srgbClr val="EEF1F8"/>
          </a:solidFill>
          <a:ln/>
        </p:spPr>
      </p:sp>
      <p:sp>
        <p:nvSpPr>
          <p:cNvPr id="27" name="Shape 25"/>
          <p:cNvSpPr/>
          <p:nvPr/>
        </p:nvSpPr>
        <p:spPr>
          <a:xfrm>
            <a:off x="4846320" y="3749040"/>
            <a:ext cx="3657600" cy="310896"/>
          </a:xfrm>
          <a:prstGeom prst="rect">
            <a:avLst/>
          </a:prstGeom>
          <a:solidFill>
            <a:srgbClr val="2CB1BC"/>
          </a:solidFill>
          <a:ln/>
        </p:spPr>
      </p:sp>
      <p:sp>
        <p:nvSpPr>
          <p:cNvPr id="28" name="Text 26"/>
          <p:cNvSpPr txBox="1"/>
          <p:nvPr/>
        </p:nvSpPr>
        <p:spPr>
          <a:xfrm>
            <a:off x="11292840" y="3675888"/>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12%</a:t>
            </a:r>
            <a:endParaRPr lang="en-US" sz="1150" dirty="0"/>
          </a:p>
        </p:txBody>
      </p:sp>
      <p:sp>
        <p:nvSpPr>
          <p:cNvPr id="29" name="Text 27"/>
          <p:cNvSpPr txBox="1"/>
          <p:nvPr/>
        </p:nvSpPr>
        <p:spPr>
          <a:xfrm>
            <a:off x="548640" y="4251960"/>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6</a:t>
            </a:r>
            <a:endParaRPr lang="en-US" sz="1200" dirty="0"/>
          </a:p>
        </p:txBody>
      </p:sp>
      <p:sp>
        <p:nvSpPr>
          <p:cNvPr id="30" name="Text 28"/>
          <p:cNvSpPr txBox="1"/>
          <p:nvPr/>
        </p:nvSpPr>
        <p:spPr>
          <a:xfrm>
            <a:off x="960120" y="4251960"/>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ガバナンス、リスク、責任ある利用</a:t>
            </a:r>
            <a:endParaRPr lang="en-US" sz="1150" dirty="0"/>
          </a:p>
        </p:txBody>
      </p:sp>
      <p:sp>
        <p:nvSpPr>
          <p:cNvPr id="31" name="Shape 29"/>
          <p:cNvSpPr/>
          <p:nvPr/>
        </p:nvSpPr>
        <p:spPr>
          <a:xfrm>
            <a:off x="4846320" y="4325112"/>
            <a:ext cx="6400800" cy="310896"/>
          </a:xfrm>
          <a:prstGeom prst="rect">
            <a:avLst/>
          </a:prstGeom>
          <a:solidFill>
            <a:srgbClr val="EEF1F8"/>
          </a:solidFill>
          <a:ln/>
        </p:spPr>
      </p:sp>
      <p:sp>
        <p:nvSpPr>
          <p:cNvPr id="32" name="Shape 30"/>
          <p:cNvSpPr/>
          <p:nvPr/>
        </p:nvSpPr>
        <p:spPr>
          <a:xfrm>
            <a:off x="4846320" y="4325112"/>
            <a:ext cx="4572000" cy="310896"/>
          </a:xfrm>
          <a:prstGeom prst="rect">
            <a:avLst/>
          </a:prstGeom>
          <a:solidFill>
            <a:srgbClr val="2CB1BC"/>
          </a:solidFill>
          <a:ln/>
        </p:spPr>
      </p:sp>
      <p:sp>
        <p:nvSpPr>
          <p:cNvPr id="33" name="Text 31"/>
          <p:cNvSpPr txBox="1"/>
          <p:nvPr/>
        </p:nvSpPr>
        <p:spPr>
          <a:xfrm>
            <a:off x="11292840" y="4251960"/>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15%</a:t>
            </a:r>
            <a:endParaRPr lang="en-US" sz="1150" dirty="0"/>
          </a:p>
        </p:txBody>
      </p:sp>
      <p:sp>
        <p:nvSpPr>
          <p:cNvPr id="34" name="Text 32"/>
          <p:cNvSpPr txBox="1"/>
          <p:nvPr/>
        </p:nvSpPr>
        <p:spPr>
          <a:xfrm>
            <a:off x="548640" y="4828032"/>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7</a:t>
            </a:r>
            <a:endParaRPr lang="en-US" sz="1200" dirty="0"/>
          </a:p>
        </p:txBody>
      </p:sp>
      <p:sp>
        <p:nvSpPr>
          <p:cNvPr id="35" name="Text 33"/>
          <p:cNvSpPr txBox="1"/>
          <p:nvPr/>
        </p:nvSpPr>
        <p:spPr>
          <a:xfrm>
            <a:off x="960120" y="4828032"/>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トラブルシューティングと最適化</a:t>
            </a:r>
            <a:endParaRPr lang="en-US" sz="1150" dirty="0"/>
          </a:p>
        </p:txBody>
      </p:sp>
      <p:sp>
        <p:nvSpPr>
          <p:cNvPr id="36" name="Shape 34"/>
          <p:cNvSpPr/>
          <p:nvPr/>
        </p:nvSpPr>
        <p:spPr>
          <a:xfrm>
            <a:off x="4846320" y="4901184"/>
            <a:ext cx="6400800" cy="310896"/>
          </a:xfrm>
          <a:prstGeom prst="rect">
            <a:avLst/>
          </a:prstGeom>
          <a:solidFill>
            <a:srgbClr val="EEF1F8"/>
          </a:solidFill>
          <a:ln/>
        </p:spPr>
      </p:sp>
      <p:sp>
        <p:nvSpPr>
          <p:cNvPr id="37" name="Shape 35"/>
          <p:cNvSpPr/>
          <p:nvPr/>
        </p:nvSpPr>
        <p:spPr>
          <a:xfrm>
            <a:off x="4846320" y="4901184"/>
            <a:ext cx="3048000" cy="310896"/>
          </a:xfrm>
          <a:prstGeom prst="rect">
            <a:avLst/>
          </a:prstGeom>
          <a:solidFill>
            <a:srgbClr val="2CB1BC"/>
          </a:solidFill>
          <a:ln/>
        </p:spPr>
      </p:sp>
      <p:sp>
        <p:nvSpPr>
          <p:cNvPr id="38" name="Text 36"/>
          <p:cNvSpPr txBox="1"/>
          <p:nvPr/>
        </p:nvSpPr>
        <p:spPr>
          <a:xfrm>
            <a:off x="11292840" y="4828032"/>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10%</a:t>
            </a:r>
            <a:endParaRPr lang="en-US" sz="1150" dirty="0"/>
          </a:p>
        </p:txBody>
      </p:sp>
      <p:sp>
        <p:nvSpPr>
          <p:cNvPr id="39" name="Text 3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200" i="1" dirty="0">
                <a:solidFill>
                  <a:srgbClr val="3E64FF"/>
                </a:solidFill>
                <a:latin typeface="Calibri" pitchFamily="34" charset="0"/>
                <a:ea typeface="Calibri" pitchFamily="34" charset="-122"/>
                <a:cs typeface="Calibri" pitchFamily="34" charset="-120"/>
              </a:rPr>
              <a:t>最大配点は「プロンプト作成」ではなく「出力の評価と検証」(21%)。問われるのは「AIに書かせる力」より「AIの出力を見極める力」</a:t>
            </a:r>
            <a:endParaRPr lang="en-US" sz="1200" dirty="0"/>
          </a:p>
        </p:txBody>
      </p:sp>
      <p:sp>
        <p:nvSpPr>
          <p:cNvPr id="40" name="Text 38"/>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セクション6</a:t>
            </a:r>
            <a:endParaRPr lang="en-US" sz="900" dirty="0"/>
          </a:p>
        </p:txBody>
      </p:sp>
      <p:sp>
        <p:nvSpPr>
          <p:cNvPr id="41" name="Text 3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分野1: プロンプト作成とタスク実行(配点14%)</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353312"/>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ビジネス・技術タスクのための効果的なプロンプトを作成する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タスク分解の手法を適用し、複雑な依頼を構造化する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プロンプトを反復的に改良し出力品質を高める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タスクの種類(分析・調査・下書き・ブレスト)に応じ戦略を調整する</a:t>
            </a:r>
            <a:endParaRPr lang="en-US" sz="1050" dirty="0"/>
          </a:p>
        </p:txBody>
      </p:sp>
      <p:sp>
        <p:nvSpPr>
          <p:cNvPr id="6" name="Text 4"/>
          <p:cNvSpPr txBox="1"/>
          <p:nvPr/>
        </p:nvSpPr>
        <p:spPr>
          <a:xfrm>
            <a:off x="548640" y="3273552"/>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593592"/>
            <a:ext cx="10881360" cy="2441448"/>
          </a:xfrm>
          <a:prstGeom prst="roundRect">
            <a:avLst>
              <a:gd name="adj" fmla="val 2996"/>
            </a:avLst>
          </a:prstGeom>
          <a:solidFill>
            <a:srgbClr val="F5F7FB"/>
          </a:solidFill>
          <a:ln w="12700">
            <a:solidFill>
              <a:srgbClr val="E1E6F0"/>
            </a:solidFill>
            <a:prstDash val="solid"/>
          </a:ln>
        </p:spPr>
      </p:sp>
      <p:sp>
        <p:nvSpPr>
          <p:cNvPr id="8" name="Text 6"/>
          <p:cNvSpPr txBox="1"/>
          <p:nvPr/>
        </p:nvSpPr>
        <p:spPr>
          <a:xfrm>
            <a:off x="777240" y="3776472"/>
            <a:ext cx="10424160" cy="2121408"/>
          </a:xfrm>
          <a:prstGeom prst="rect">
            <a:avLst/>
          </a:prstGeom>
          <a:noFill/>
          <a:ln/>
        </p:spPr>
        <p:txBody>
          <a:bodyPr wrap="square" lIns="0" tIns="0" rIns="0" bIns="0" rtlCol="0" anchor="t"/>
          <a:lstStyle/>
          <a:p>
            <a:pPr indent="0" marL="0">
              <a:buNone/>
            </a:pPr>
            <a:r>
              <a:rPr lang="en-US" sz="1100" dirty="0">
                <a:solidFill>
                  <a:srgbClr val="16213E"/>
                </a:solidFill>
                <a:latin typeface="Calibri" pitchFamily="34" charset="0"/>
                <a:ea typeface="Calibri" pitchFamily="34" charset="-122"/>
                <a:cs typeface="Calibri" pitchFamily="34" charset="-120"/>
              </a:rPr>
              <a:t>実際の出題例: 「顧客ジャーニーマップ作成」の正しい分解順序は、①ペルソナ・範囲定義 → ②主要ステージ特定 → ③タッチポイント特定 → ④課題抽出 → ⑤成果物統合、という「大枠から詳細へ」向かう順序。</a:t>
            </a:r>
            <a:endParaRPr lang="en-US" sz="1100" dirty="0"/>
          </a:p>
          <a:p>
            <a:pPr indent="0" marL="0">
              <a:buNone/>
            </a:pPr>
            <a:endParaRPr lang="en-US" sz="1100" dirty="0"/>
          </a:p>
          <a:p>
            <a:pPr indent="0" marL="0">
              <a:buNone/>
            </a:pPr>
            <a:r>
              <a:rPr lang="en-US" sz="1100" dirty="0">
                <a:solidFill>
                  <a:srgbClr val="16213E"/>
                </a:solidFill>
                <a:latin typeface="Calibri" pitchFamily="34" charset="0"/>
                <a:ea typeface="Calibri" pitchFamily="34" charset="-122"/>
                <a:cs typeface="Calibri" pitchFamily="34" charset="-120"/>
              </a:rPr>
              <a:t>反復改良で出力がズレ続ける場合は、大きな変更を繰り返すのではなく「最も近い結果を出したバージョンに戻り、そこを起点に調整し直す」のが体系的アプローチ。</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分野2: 出力の評価と検証(配点21%)</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82880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Claude出力の正確性・網羅性を評価する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ハルシネーション・不整合・バイアスを特定する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ファクトチェック・検証の手法を適用する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人間レビュー・追加検証が必要な場面を判断する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対象読者に合わせ出力を編集・調整・比較する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適切な出力形式(アーティファクト/インライン/構造化データ)を選択する</a:t>
            </a:r>
            <a:endParaRPr lang="en-US" sz="1050" dirty="0"/>
          </a:p>
        </p:txBody>
      </p:sp>
      <p:sp>
        <p:nvSpPr>
          <p:cNvPr id="6" name="Text 4"/>
          <p:cNvSpPr txBox="1"/>
          <p:nvPr/>
        </p:nvSpPr>
        <p:spPr>
          <a:xfrm>
            <a:off x="548640" y="374904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4069080"/>
            <a:ext cx="10881360" cy="1965960"/>
          </a:xfrm>
          <a:prstGeom prst="roundRect">
            <a:avLst>
              <a:gd name="adj" fmla="val 3721"/>
            </a:avLst>
          </a:prstGeom>
          <a:solidFill>
            <a:srgbClr val="1F2F52"/>
          </a:solidFill>
          <a:ln w="12700">
            <a:solidFill>
              <a:srgbClr val="2C3C66"/>
            </a:solidFill>
            <a:prstDash val="solid"/>
          </a:ln>
        </p:spPr>
      </p:sp>
      <p:sp>
        <p:nvSpPr>
          <p:cNvPr id="8" name="Text 6"/>
          <p:cNvSpPr txBox="1"/>
          <p:nvPr/>
        </p:nvSpPr>
        <p:spPr>
          <a:xfrm>
            <a:off x="777240" y="4251960"/>
            <a:ext cx="10424160" cy="1645920"/>
          </a:xfrm>
          <a:prstGeom prst="rect">
            <a:avLst/>
          </a:prstGeom>
          <a:noFill/>
          <a:ln/>
        </p:spPr>
        <p:txBody>
          <a:bodyPr wrap="square" lIns="0" tIns="0" rIns="0" bIns="0" rtlCol="0" anchor="t"/>
          <a:lstStyle/>
          <a:p>
            <a:pPr indent="0" marL="0">
              <a:buNone/>
            </a:pPr>
            <a:r>
              <a:rPr lang="en-US" sz="1100" dirty="0">
                <a:solidFill>
                  <a:srgbClr val="F2F4F8"/>
                </a:solidFill>
                <a:latin typeface="Calibri" pitchFamily="34" charset="0"/>
                <a:ea typeface="Calibri" pitchFamily="34" charset="-122"/>
                <a:cs typeface="Calibri" pitchFamily="34" charset="-120"/>
              </a:rPr>
              <a:t>Claudeは引用番号のような「具体的に見える詳細」をもっともらしく捏造することがある(ハルシネーション)。自己申告の確信度は正確性の信頼できる指標にはならない。</a:t>
            </a:r>
            <a:endParaRPr lang="en-US" sz="1100" dirty="0"/>
          </a:p>
          <a:p>
            <a:pPr indent="0" marL="0">
              <a:buNone/>
            </a:pPr>
            <a:endParaRPr lang="en-US" sz="1100" dirty="0"/>
          </a:p>
          <a:p>
            <a:pPr indent="0" marL="0">
              <a:buNone/>
            </a:pPr>
            <a:r>
              <a:rPr lang="en-US" sz="1100" dirty="0">
                <a:solidFill>
                  <a:srgbClr val="F2F4F8"/>
                </a:solidFill>
                <a:latin typeface="Calibri" pitchFamily="34" charset="0"/>
                <a:ea typeface="Calibri" pitchFamily="34" charset="-122"/>
                <a:cs typeface="Calibri" pitchFamily="34" charset="-120"/>
              </a:rPr>
              <a:t>実際の出題例: 「有料顧客向けの未修正下書きで、SLA(サービスレベル)の約束を含む」ケースは、最もエスカレーションが必要な高インパクトな状況として扱われる。</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分野3: 製品とモデルの選択(配点12%)</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353312"/>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適切な製品機能(プロジェクト・リサーチ・チャット・アーティファクト)を選択する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Claudeのモデル種類(Haiku・Sonnet・Opus)を区別する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タスク要件(コスト・速度・品質)にモデル選択を合わせる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コンテキスト制限・メモリの考慮事項を理解・管理する</a:t>
            </a:r>
            <a:endParaRPr lang="en-US" sz="1050" dirty="0"/>
          </a:p>
        </p:txBody>
      </p:sp>
      <p:sp>
        <p:nvSpPr>
          <p:cNvPr id="6" name="Text 4"/>
          <p:cNvSpPr txBox="1"/>
          <p:nvPr/>
        </p:nvSpPr>
        <p:spPr>
          <a:xfrm>
            <a:off x="548640" y="3273552"/>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593592"/>
            <a:ext cx="10881360" cy="2441448"/>
          </a:xfrm>
          <a:prstGeom prst="roundRect">
            <a:avLst>
              <a:gd name="adj" fmla="val 2996"/>
            </a:avLst>
          </a:prstGeom>
          <a:solidFill>
            <a:srgbClr val="F5F7FB"/>
          </a:solidFill>
          <a:ln w="12700">
            <a:solidFill>
              <a:srgbClr val="E1E6F0"/>
            </a:solidFill>
            <a:prstDash val="solid"/>
          </a:ln>
        </p:spPr>
      </p:sp>
      <p:sp>
        <p:nvSpPr>
          <p:cNvPr id="8" name="Text 6"/>
          <p:cNvSpPr txBox="1"/>
          <p:nvPr/>
        </p:nvSpPr>
        <p:spPr>
          <a:xfrm>
            <a:off x="777240" y="3776472"/>
            <a:ext cx="10424160" cy="2121408"/>
          </a:xfrm>
          <a:prstGeom prst="rect">
            <a:avLst/>
          </a:prstGeom>
          <a:noFill/>
          <a:ln/>
        </p:spPr>
        <p:txBody>
          <a:bodyPr wrap="square" lIns="0" tIns="0" rIns="0" bIns="0" rtlCol="0" anchor="t"/>
          <a:lstStyle/>
          <a:p>
            <a:pPr indent="0" marL="0">
              <a:buNone/>
            </a:pPr>
            <a:r>
              <a:rPr lang="en-US" sz="1100" dirty="0">
                <a:solidFill>
                  <a:srgbClr val="16213E"/>
                </a:solidFill>
                <a:latin typeface="Calibri" pitchFamily="34" charset="0"/>
                <a:ea typeface="Calibri" pitchFamily="34" charset="-122"/>
                <a:cs typeface="Calibri" pitchFamily="34" charset="-120"/>
              </a:rPr>
              <a:t>公式サンプル問題より: 「速度とコストが深い推論より重要な、大量の短い顧客返信ドラフト生成」には高速・低コストなモデルを使うのが正解。「常に最上位モデルを使う」はコスト・レイテンシの無駄遣いとして不正解。</a:t>
            </a:r>
            <a:endParaRPr lang="en-US" sz="1100" dirty="0"/>
          </a:p>
          <a:p>
            <a:pPr indent="0" marL="0">
              <a:buNone/>
            </a:pPr>
            <a:endParaRPr lang="en-US" sz="1100" dirty="0"/>
          </a:p>
          <a:p>
            <a:pPr indent="0" marL="0">
              <a:buNone/>
            </a:pPr>
            <a:r>
              <a:rPr lang="en-US" sz="1100" dirty="0">
                <a:solidFill>
                  <a:srgbClr val="16213E"/>
                </a:solidFill>
                <a:latin typeface="Calibri" pitchFamily="34" charset="0"/>
                <a:ea typeface="Calibri" pitchFamily="34" charset="-122"/>
                <a:cs typeface="Calibri" pitchFamily="34" charset="-120"/>
              </a:rPr>
              <a:t>Haiku=高速・低コスト(単純作業向け)/ Sonnet=バランス型 / Opus=高性能・高コスト(複雑な推論向け)。</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分野4: ワークフロー統合とソリューション設計(配点16%)</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64592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要件・ユースケースの分析にClaudeを適用する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調査・計画・プロセス最適化にClaudeを活用する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ソリューションの設計・開発・反復改善を支援する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既存ワークフローにClaudeを統合し強化または再設計する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Claudeの価値と限界をステークホルダーに伝える</a:t>
            </a:r>
            <a:endParaRPr lang="en-US" sz="1050" dirty="0"/>
          </a:p>
        </p:txBody>
      </p:sp>
      <p:sp>
        <p:nvSpPr>
          <p:cNvPr id="6" name="Text 4"/>
          <p:cNvSpPr txBox="1"/>
          <p:nvPr/>
        </p:nvSpPr>
        <p:spPr>
          <a:xfrm>
            <a:off x="548640" y="356616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886200"/>
            <a:ext cx="10881360" cy="2148840"/>
          </a:xfrm>
          <a:prstGeom prst="roundRect">
            <a:avLst>
              <a:gd name="adj" fmla="val 3404"/>
            </a:avLst>
          </a:prstGeom>
          <a:solidFill>
            <a:srgbClr val="1F2F52"/>
          </a:solidFill>
          <a:ln w="12700">
            <a:solidFill>
              <a:srgbClr val="2C3C66"/>
            </a:solidFill>
            <a:prstDash val="solid"/>
          </a:ln>
        </p:spPr>
      </p:sp>
      <p:sp>
        <p:nvSpPr>
          <p:cNvPr id="8" name="Text 6"/>
          <p:cNvSpPr txBox="1"/>
          <p:nvPr/>
        </p:nvSpPr>
        <p:spPr>
          <a:xfrm>
            <a:off x="777240" y="4069080"/>
            <a:ext cx="10424160" cy="1828800"/>
          </a:xfrm>
          <a:prstGeom prst="rect">
            <a:avLst/>
          </a:prstGeom>
          <a:noFill/>
          <a:ln/>
        </p:spPr>
        <p:txBody>
          <a:bodyPr wrap="square" lIns="0" tIns="0" rIns="0" bIns="0" rtlCol="0" anchor="t"/>
          <a:lstStyle/>
          <a:p>
            <a:pPr indent="0" marL="0">
              <a:buNone/>
            </a:pPr>
            <a:r>
              <a:rPr lang="en-US" sz="1100" dirty="0">
                <a:solidFill>
                  <a:srgbClr val="F2F4F8"/>
                </a:solidFill>
                <a:latin typeface="Calibri" pitchFamily="34" charset="0"/>
                <a:ea typeface="Calibri" pitchFamily="34" charset="-122"/>
                <a:cs typeface="Calibri" pitchFamily="34" charset="-120"/>
              </a:rPr>
              <a:t>統合パターン: 単発利用(都度チャット)/ プロジェクト(継続的な文脈保持)/ コネクタ(外部ツール連携)/ 定型業務の自動化・テンプレート化。</a:t>
            </a:r>
            <a:endParaRPr lang="en-US" sz="1100" dirty="0"/>
          </a:p>
          <a:p>
            <a:pPr indent="0" marL="0">
              <a:buNone/>
            </a:pPr>
            <a:endParaRPr lang="en-US" sz="1100" dirty="0"/>
          </a:p>
          <a:p>
            <a:pPr indent="0" marL="0">
              <a:buNone/>
            </a:pPr>
            <a:r>
              <a:rPr lang="en-US" sz="1100" dirty="0">
                <a:solidFill>
                  <a:srgbClr val="F2F4F8"/>
                </a:solidFill>
                <a:latin typeface="Calibri" pitchFamily="34" charset="0"/>
                <a:ea typeface="Calibri" pitchFamily="34" charset="-122"/>
                <a:cs typeface="Calibri" pitchFamily="34" charset="-120"/>
              </a:rPr>
              <a:t>既存プロセスにそのままClaudeを足すだけでなく、プロセス自体をClaudeの能力に合わせて再設計する視点(承認フローの順序変更、レビューポイントの再配置など)も問われる。</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分野5: 設定とナレッジ管理(配点12%)</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353312"/>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指示とナレッジソースを使いClaudeのプロジェクトを設定する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アップロードしたナレッジとコネクタを管理する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効果的なシステムレベルの指示を作成する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設定・ナレッジソース・指示を維持・更新する</a:t>
            </a:r>
            <a:endParaRPr lang="en-US" sz="1050" dirty="0"/>
          </a:p>
        </p:txBody>
      </p:sp>
      <p:sp>
        <p:nvSpPr>
          <p:cNvPr id="6" name="Text 4"/>
          <p:cNvSpPr txBox="1"/>
          <p:nvPr/>
        </p:nvSpPr>
        <p:spPr>
          <a:xfrm>
            <a:off x="548640" y="3273552"/>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593592"/>
            <a:ext cx="10881360" cy="2441448"/>
          </a:xfrm>
          <a:prstGeom prst="roundRect">
            <a:avLst>
              <a:gd name="adj" fmla="val 2996"/>
            </a:avLst>
          </a:prstGeom>
          <a:solidFill>
            <a:srgbClr val="F5F7FB"/>
          </a:solidFill>
          <a:ln w="12700">
            <a:solidFill>
              <a:srgbClr val="E1E6F0"/>
            </a:solidFill>
            <a:prstDash val="solid"/>
          </a:ln>
        </p:spPr>
      </p:sp>
      <p:sp>
        <p:nvSpPr>
          <p:cNvPr id="8" name="Text 6"/>
          <p:cNvSpPr txBox="1"/>
          <p:nvPr/>
        </p:nvSpPr>
        <p:spPr>
          <a:xfrm>
            <a:off x="777240" y="3776472"/>
            <a:ext cx="10424160" cy="2121408"/>
          </a:xfrm>
          <a:prstGeom prst="rect">
            <a:avLst/>
          </a:prstGeom>
          <a:noFill/>
          <a:ln/>
        </p:spPr>
        <p:txBody>
          <a:bodyPr wrap="square" lIns="0" tIns="0" rIns="0" bIns="0" rtlCol="0" anchor="t"/>
          <a:lstStyle/>
          <a:p>
            <a:pPr indent="0" marL="0">
              <a:buNone/>
            </a:pPr>
            <a:r>
              <a:rPr lang="en-US" sz="1100" dirty="0">
                <a:solidFill>
                  <a:srgbClr val="16213E"/>
                </a:solidFill>
                <a:latin typeface="Calibri" pitchFamily="34" charset="0"/>
                <a:ea typeface="Calibri" pitchFamily="34" charset="-122"/>
                <a:cs typeface="Calibri" pitchFamily="34" charset="-120"/>
              </a:rPr>
              <a:t>実際の出題例: 「一度動けば永久に動く」という考えでプロジェクト設定を一切更新しない習慣は不適切。出力品質が目に見えて劣化していなくても、ポリシー・用語・参照文書が変化すれば定期的に設定を見直すべき、が正解パターン。</a:t>
            </a:r>
            <a:endParaRPr lang="en-US" sz="1100" dirty="0"/>
          </a:p>
          <a:p>
            <a:pPr indent="0" marL="0">
              <a:buNone/>
            </a:pPr>
            <a:endParaRPr lang="en-US" sz="1100" dirty="0"/>
          </a:p>
          <a:p>
            <a:pPr indent="0" marL="0">
              <a:buNone/>
            </a:pPr>
            <a:r>
              <a:rPr lang="en-US" sz="1100" dirty="0">
                <a:solidFill>
                  <a:srgbClr val="16213E"/>
                </a:solidFill>
                <a:latin typeface="Calibri" pitchFamily="34" charset="0"/>
                <a:ea typeface="Calibri" pitchFamily="34" charset="-122"/>
                <a:cs typeface="Calibri" pitchFamily="34" charset="-120"/>
              </a:rPr>
              <a:t>固定スケジュールでの機械的な更新も、劣化してからの事後対応も、どちらも最適ではない。</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分野6: ガバナンス、リスク、責任ある利用(配点15%)</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353312"/>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適切・不適切なユースケースを特定する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データの機密性・規制・プライバシーの考慮事項を適用する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組織のAIポリシー・ガバナンス基準に従う</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AI利用の倫理的な影響を理解する</a:t>
            </a:r>
            <a:endParaRPr lang="en-US" sz="1050" dirty="0"/>
          </a:p>
        </p:txBody>
      </p:sp>
      <p:sp>
        <p:nvSpPr>
          <p:cNvPr id="6" name="Text 4"/>
          <p:cNvSpPr txBox="1"/>
          <p:nvPr/>
        </p:nvSpPr>
        <p:spPr>
          <a:xfrm>
            <a:off x="548640" y="3273552"/>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593592"/>
            <a:ext cx="10881360" cy="2441448"/>
          </a:xfrm>
          <a:prstGeom prst="roundRect">
            <a:avLst>
              <a:gd name="adj" fmla="val 2996"/>
            </a:avLst>
          </a:prstGeom>
          <a:solidFill>
            <a:srgbClr val="1F2F52"/>
          </a:solidFill>
          <a:ln w="12700">
            <a:solidFill>
              <a:srgbClr val="2C3C66"/>
            </a:solidFill>
            <a:prstDash val="solid"/>
          </a:ln>
        </p:spPr>
      </p:sp>
      <p:sp>
        <p:nvSpPr>
          <p:cNvPr id="8" name="Text 6"/>
          <p:cNvSpPr txBox="1"/>
          <p:nvPr/>
        </p:nvSpPr>
        <p:spPr>
          <a:xfrm>
            <a:off x="777240" y="3776472"/>
            <a:ext cx="10424160" cy="2121408"/>
          </a:xfrm>
          <a:prstGeom prst="rect">
            <a:avLst/>
          </a:prstGeom>
          <a:noFill/>
          <a:ln/>
        </p:spPr>
        <p:txBody>
          <a:bodyPr wrap="square" lIns="0" tIns="0" rIns="0" bIns="0" rtlCol="0" anchor="t"/>
          <a:lstStyle/>
          <a:p>
            <a:pPr indent="0" marL="0">
              <a:buNone/>
            </a:pPr>
            <a:r>
              <a:rPr lang="en-US" sz="1100" dirty="0">
                <a:solidFill>
                  <a:srgbClr val="F2F4F8"/>
                </a:solidFill>
                <a:latin typeface="Calibri" pitchFamily="34" charset="0"/>
                <a:ea typeface="Calibri" pitchFamily="34" charset="-122"/>
                <a:cs typeface="Calibri" pitchFamily="34" charset="-120"/>
              </a:rPr>
              <a:t>公式サンプル問題より: 顧客名・口座番号を含むデータは、ポリシーに従いアップロード前に個人識別情報を削除・匿名化するのが正解。</a:t>
            </a:r>
            <a:endParaRPr lang="en-US" sz="1100" dirty="0"/>
          </a:p>
          <a:p>
            <a:pPr indent="0" marL="0">
              <a:buNone/>
            </a:pPr>
            <a:endParaRPr lang="en-US" sz="1100" dirty="0"/>
          </a:p>
          <a:p>
            <a:pPr indent="0" marL="0">
              <a:buNone/>
            </a:pPr>
            <a:r>
              <a:rPr lang="en-US" sz="1100" dirty="0">
                <a:solidFill>
                  <a:srgbClr val="F2F4F8"/>
                </a:solidFill>
                <a:latin typeface="Calibri" pitchFamily="34" charset="0"/>
                <a:ea typeface="Calibri" pitchFamily="34" charset="-122"/>
                <a:cs typeface="Calibri" pitchFamily="34" charset="-120"/>
              </a:rPr>
              <a:t>✅ 匿名化されたHRポリシー要約、redacted(黒塗り)された求人票 → 適切</a:t>
            </a:r>
            <a:endParaRPr lang="en-US" sz="1100" dirty="0"/>
          </a:p>
          <a:p>
            <a:pPr indent="0" marL="0">
              <a:buNone/>
            </a:pPr>
            <a:r>
              <a:rPr lang="en-US" sz="1100" dirty="0">
                <a:solidFill>
                  <a:srgbClr val="F2F4F8"/>
                </a:solidFill>
                <a:latin typeface="Calibri" pitchFamily="34" charset="0"/>
                <a:ea typeface="Calibri" pitchFamily="34" charset="-122"/>
                <a:cs typeface="Calibri" pitchFamily="34" charset="-120"/>
              </a:rPr>
              <a:t>❌ 社員ID・入社日、氏名+給与額、未加工の配慮事項メモ → 不適切(未加工の個人情報)</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分野7: トラブルシューティングと最適化(配点10%)</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060704"/>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パフォーマンスの低いプロンプトや質の低い出力を特定・診断・解決する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フィードバックと結果に基づきアプローチを調整する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効率と効果のためワークフローを最適化する</a:t>
            </a:r>
            <a:endParaRPr lang="en-US" sz="1050" dirty="0"/>
          </a:p>
        </p:txBody>
      </p:sp>
      <p:sp>
        <p:nvSpPr>
          <p:cNvPr id="6" name="Text 4"/>
          <p:cNvSpPr txBox="1"/>
          <p:nvPr/>
        </p:nvSpPr>
        <p:spPr>
          <a:xfrm>
            <a:off x="548640" y="2980944"/>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300984"/>
            <a:ext cx="10881360" cy="2734056"/>
          </a:xfrm>
          <a:prstGeom prst="roundRect">
            <a:avLst>
              <a:gd name="adj" fmla="val 2676"/>
            </a:avLst>
          </a:prstGeom>
          <a:solidFill>
            <a:srgbClr val="F5F7FB"/>
          </a:solidFill>
          <a:ln w="12700">
            <a:solidFill>
              <a:srgbClr val="E1E6F0"/>
            </a:solidFill>
            <a:prstDash val="solid"/>
          </a:ln>
        </p:spPr>
      </p:sp>
      <p:sp>
        <p:nvSpPr>
          <p:cNvPr id="8" name="Text 6"/>
          <p:cNvSpPr txBox="1"/>
          <p:nvPr/>
        </p:nvSpPr>
        <p:spPr>
          <a:xfrm>
            <a:off x="777240" y="3483864"/>
            <a:ext cx="10424160" cy="2414016"/>
          </a:xfrm>
          <a:prstGeom prst="rect">
            <a:avLst/>
          </a:prstGeom>
          <a:noFill/>
          <a:ln/>
        </p:spPr>
        <p:txBody>
          <a:bodyPr wrap="square" lIns="0" tIns="0" rIns="0" bIns="0" rtlCol="0" anchor="t"/>
          <a:lstStyle/>
          <a:p>
            <a:pPr indent="0" marL="0">
              <a:buNone/>
            </a:pPr>
            <a:r>
              <a:rPr lang="en-US" sz="1100" dirty="0">
                <a:solidFill>
                  <a:srgbClr val="16213E"/>
                </a:solidFill>
                <a:latin typeface="Calibri" pitchFamily="34" charset="0"/>
                <a:ea typeface="Calibri" pitchFamily="34" charset="-122"/>
                <a:cs typeface="Calibri" pitchFamily="34" charset="-120"/>
              </a:rPr>
              <a:t>実際の出題例: レビューアーが2点だけ指摘した場合、指摘された2点だけに対応し、無関係な部分はそのまま、変更内容を次回レビュー用に記録するのが適切(スコープ逸脱を避ける)。</a:t>
            </a:r>
            <a:endParaRPr lang="en-US" sz="1100" dirty="0"/>
          </a:p>
          <a:p>
            <a:pPr indent="0" marL="0">
              <a:buNone/>
            </a:pPr>
            <a:endParaRPr lang="en-US" sz="1100" dirty="0"/>
          </a:p>
          <a:p>
            <a:pPr indent="0" marL="0">
              <a:buNone/>
            </a:pPr>
            <a:r>
              <a:rPr lang="en-US" sz="1100" dirty="0">
                <a:solidFill>
                  <a:srgbClr val="16213E"/>
                </a:solidFill>
                <a:latin typeface="Calibri" pitchFamily="34" charset="0"/>
                <a:ea typeface="Calibri" pitchFamily="34" charset="-122"/>
                <a:cs typeface="Calibri" pitchFamily="34" charset="-120"/>
              </a:rPr>
              <a:t>自動化ステップの信頼性設計では「入力フォーマットの標準化」+「人間による妥当性確認ステップ」の組み合わせが基本。</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追加の着眼点: 分野1・2</a:t>
            </a:r>
            <a:endParaRPr lang="en-US" sz="2200" dirty="0"/>
          </a:p>
        </p:txBody>
      </p:sp>
      <p:sp>
        <p:nvSpPr>
          <p:cNvPr id="4" name="Text 2"/>
          <p:cNvSpPr txBox="1"/>
          <p:nvPr/>
        </p:nvSpPr>
        <p:spPr>
          <a:xfrm>
            <a:off x="548640" y="1325880"/>
            <a:ext cx="10881360" cy="365760"/>
          </a:xfrm>
          <a:prstGeom prst="rect">
            <a:avLst/>
          </a:prstGeom>
          <a:noFill/>
          <a:ln/>
        </p:spPr>
        <p:txBody>
          <a:bodyPr wrap="square" lIns="0" tIns="0" rIns="0" bIns="0" rtlCol="0" anchor="ctr"/>
          <a:lstStyle/>
          <a:p>
            <a:pPr indent="0" marL="0">
              <a:buNone/>
            </a:pPr>
            <a:r>
              <a:rPr lang="en-US" sz="1250" i="1" dirty="0">
                <a:solidFill>
                  <a:srgbClr val="5B6B8C"/>
                </a:solidFill>
                <a:latin typeface="Calibri" pitchFamily="34" charset="0"/>
                <a:ea typeface="Calibri" pitchFamily="34" charset="-122"/>
                <a:cs typeface="Calibri" pitchFamily="34" charset="-120"/>
              </a:rPr>
              <a:t>模擬試験(Udemy)で確認できた追加パターン</a:t>
            </a:r>
            <a:endParaRPr lang="en-US" sz="1250" dirty="0"/>
          </a:p>
        </p:txBody>
      </p:sp>
      <p:sp>
        <p:nvSpPr>
          <p:cNvPr id="5" name="Text 3"/>
          <p:cNvSpPr txBox="1"/>
          <p:nvPr/>
        </p:nvSpPr>
        <p:spPr>
          <a:xfrm>
            <a:off x="548640" y="1783080"/>
            <a:ext cx="1088136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分野1: 制約を「先に」与えるか「後で」適用するか</a:t>
            </a:r>
            <a:endParaRPr lang="en-US" sz="1350" dirty="0"/>
          </a:p>
        </p:txBody>
      </p:sp>
      <p:sp>
        <p:nvSpPr>
          <p:cNvPr id="6" name="Text 4"/>
          <p:cNvSpPr txBox="1"/>
          <p:nvPr/>
        </p:nvSpPr>
        <p:spPr>
          <a:xfrm>
            <a:off x="548640" y="2103120"/>
            <a:ext cx="10881360" cy="137160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ブレインストーミング: まず幅広く発散的にアイデアを求め、その後に予算・時間枠などの条件で絞り込む(先に制約を与えると「無難な案」に偏りやすい)</a:t>
            </a:r>
            <a:endParaRPr lang="en-US" sz="1100" dirty="0"/>
          </a:p>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コンプライアンス制約(承認済み文言・禁止表現など): こちらは最初から明示した方がよい — 必須要件と好みの絞り込み条件を区別する</a:t>
            </a:r>
            <a:endParaRPr lang="en-US" sz="1100" dirty="0"/>
          </a:p>
        </p:txBody>
      </p:sp>
      <p:sp>
        <p:nvSpPr>
          <p:cNvPr id="7" name="Text 5"/>
          <p:cNvSpPr txBox="1"/>
          <p:nvPr/>
        </p:nvSpPr>
        <p:spPr>
          <a:xfrm>
            <a:off x="548640" y="3657600"/>
            <a:ext cx="1088136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分野2: 多項目比較には表形式</a:t>
            </a:r>
            <a:endParaRPr lang="en-US" sz="1350" dirty="0"/>
          </a:p>
        </p:txBody>
      </p:sp>
      <p:sp>
        <p:nvSpPr>
          <p:cNvPr id="8" name="Shape 6"/>
          <p:cNvSpPr/>
          <p:nvPr/>
        </p:nvSpPr>
        <p:spPr>
          <a:xfrm>
            <a:off x="548640" y="3977640"/>
            <a:ext cx="10881360" cy="1280160"/>
          </a:xfrm>
          <a:prstGeom prst="roundRect">
            <a:avLst>
              <a:gd name="adj" fmla="val 5714"/>
            </a:avLst>
          </a:prstGeom>
          <a:solidFill>
            <a:srgbClr val="F5F7FB"/>
          </a:solidFill>
          <a:ln w="12700">
            <a:solidFill>
              <a:srgbClr val="E1E6F0"/>
            </a:solidFill>
            <a:prstDash val="solid"/>
          </a:ln>
        </p:spPr>
      </p:sp>
      <p:sp>
        <p:nvSpPr>
          <p:cNvPr id="9" name="Text 7"/>
          <p:cNvSpPr txBox="1"/>
          <p:nvPr/>
        </p:nvSpPr>
        <p:spPr>
          <a:xfrm>
            <a:off x="777240" y="4160520"/>
            <a:ext cx="10424160" cy="1005840"/>
          </a:xfrm>
          <a:prstGeom prst="rect">
            <a:avLst/>
          </a:prstGeom>
          <a:noFill/>
          <a:ln/>
        </p:spPr>
        <p:txBody>
          <a:bodyPr wrap="square" lIns="0" tIns="0" rIns="0" bIns="0" rtlCol="0" anchor="ctr"/>
          <a:lstStyle/>
          <a:p>
            <a:pPr indent="0" marL="0">
              <a:buNone/>
            </a:pPr>
            <a:r>
              <a:rPr lang="en-US" sz="1100" dirty="0">
                <a:solidFill>
                  <a:srgbClr val="16213E"/>
                </a:solidFill>
                <a:latin typeface="Calibri" pitchFamily="34" charset="0"/>
                <a:ea typeface="Calibri" pitchFamily="34" charset="-122"/>
                <a:cs typeface="Calibri" pitchFamily="34" charset="-120"/>
              </a:rPr>
              <a:t>多数の項目(例: 12地域×複数指標)を限られた時間で素早く横断比較する場面では、物語形式や箇条書きより「行・列が揃った構造化された表」が最適。詳細を「求めに応じて後出し」にする設計は、全項目を同じ基準で見比べたいという要件に反する</a:t>
            </a:r>
            <a:endParaRPr lang="en-US" sz="1100" dirty="0"/>
          </a:p>
        </p:txBody>
      </p:sp>
      <p:sp>
        <p:nvSpPr>
          <p:cNvPr id="10" name="Text 8"/>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4+</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追加の着眼点: 分野4・6</a:t>
            </a:r>
            <a:endParaRPr lang="en-US" sz="2200" dirty="0"/>
          </a:p>
        </p:txBody>
      </p:sp>
      <p:sp>
        <p:nvSpPr>
          <p:cNvPr id="4" name="Text 2"/>
          <p:cNvSpPr txBox="1"/>
          <p:nvPr/>
        </p:nvSpPr>
        <p:spPr>
          <a:xfrm>
            <a:off x="548640" y="1325880"/>
            <a:ext cx="10881360" cy="365760"/>
          </a:xfrm>
          <a:prstGeom prst="rect">
            <a:avLst/>
          </a:prstGeom>
          <a:noFill/>
          <a:ln/>
        </p:spPr>
        <p:txBody>
          <a:bodyPr wrap="square" lIns="0" tIns="0" rIns="0" bIns="0" rtlCol="0" anchor="ctr"/>
          <a:lstStyle/>
          <a:p>
            <a:pPr indent="0" marL="0">
              <a:buNone/>
            </a:pPr>
            <a:r>
              <a:rPr lang="en-US" sz="1250" i="1" dirty="0">
                <a:solidFill>
                  <a:srgbClr val="B9C4DB"/>
                </a:solidFill>
                <a:latin typeface="Calibri" pitchFamily="34" charset="0"/>
                <a:ea typeface="Calibri" pitchFamily="34" charset="-122"/>
                <a:cs typeface="Calibri" pitchFamily="34" charset="-120"/>
              </a:rPr>
              <a:t>模擬試験(Udemy)で確認できた追加パターン</a:t>
            </a:r>
            <a:endParaRPr lang="en-US" sz="1250" dirty="0"/>
          </a:p>
        </p:txBody>
      </p:sp>
      <p:sp>
        <p:nvSpPr>
          <p:cNvPr id="5" name="Text 3"/>
          <p:cNvSpPr txBox="1"/>
          <p:nvPr/>
        </p:nvSpPr>
        <p:spPr>
          <a:xfrm>
            <a:off x="548640" y="1783080"/>
            <a:ext cx="10881360" cy="320040"/>
          </a:xfrm>
          <a:prstGeom prst="rect">
            <a:avLst/>
          </a:prstGeom>
          <a:noFill/>
          <a:ln/>
        </p:spPr>
        <p:txBody>
          <a:bodyPr wrap="square" lIns="0" tIns="0" rIns="0" bIns="0" rtlCol="0" anchor="ctr"/>
          <a:lstStyle/>
          <a:p>
            <a:pPr indent="0" marL="0">
              <a:buNone/>
            </a:pPr>
            <a:r>
              <a:rPr lang="en-US" sz="1350" b="1" dirty="0">
                <a:solidFill>
                  <a:srgbClr val="2CB1BC"/>
                </a:solidFill>
                <a:latin typeface="Calibri" pitchFamily="34" charset="0"/>
                <a:ea typeface="Calibri" pitchFamily="34" charset="-122"/>
                <a:cs typeface="Calibri" pitchFamily="34" charset="-120"/>
              </a:rPr>
              <a:t>分野4: 実データに基づく分析 / 再設計の型 / 根本原因対処</a:t>
            </a:r>
            <a:endParaRPr lang="en-US" sz="1350" dirty="0"/>
          </a:p>
        </p:txBody>
      </p:sp>
      <p:sp>
        <p:nvSpPr>
          <p:cNvPr id="6" name="Text 4"/>
          <p:cNvSpPr txBox="1"/>
          <p:nvPr/>
        </p:nvSpPr>
        <p:spPr>
          <a:xfrm>
            <a:off x="548640" y="2103120"/>
            <a:ext cx="10881360" cy="173736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F2F4F8"/>
                </a:solidFill>
                <a:latin typeface="Calibri" pitchFamily="34" charset="0"/>
                <a:ea typeface="Calibri" pitchFamily="34" charset="-122"/>
                <a:cs typeface="Calibri" pitchFamily="34" charset="-120"/>
              </a:rPr>
              <a:t>手元の完了記録・ログなどの実データを使ってボトルネックを特定する(一般的なベストプラクティスの当てはめだけでは組織固有の実態を反映できない)</a:t>
            </a:r>
            <a:endParaRPr lang="en-US" sz="1050" dirty="0"/>
          </a:p>
          <a:p>
            <a:pPr marL="342900" indent="-342900">
              <a:spcAft>
                <a:spcPts val="500"/>
              </a:spcAft>
              <a:buSzPct val="100000"/>
              <a:buChar char="•"/>
            </a:pPr>
            <a:r>
              <a:rPr lang="en-US" sz="1050" dirty="0">
                <a:solidFill>
                  <a:srgbClr val="F2F4F8"/>
                </a:solidFill>
                <a:latin typeface="Calibri" pitchFamily="34" charset="0"/>
                <a:ea typeface="Calibri" pitchFamily="34" charset="-122"/>
                <a:cs typeface="Calibri" pitchFamily="34" charset="-120"/>
              </a:rPr>
              <a:t>ワークフロー再設計の型: 収集(出所記録)→矛盾のフラグ→人間承認→成果物作成→配布、の順序を守る</a:t>
            </a:r>
            <a:endParaRPr lang="en-US" sz="1050" dirty="0"/>
          </a:p>
          <a:p>
            <a:pPr marL="342900" indent="-342900">
              <a:spcAft>
                <a:spcPts val="500"/>
              </a:spcAft>
              <a:buSzPct val="100000"/>
              <a:buChar char="•"/>
            </a:pPr>
            <a:r>
              <a:rPr lang="en-US" sz="1050" dirty="0">
                <a:solidFill>
                  <a:srgbClr val="F2F4F8"/>
                </a:solidFill>
                <a:latin typeface="Calibri" pitchFamily="34" charset="0"/>
                <a:ea typeface="Calibri" pitchFamily="34" charset="-122"/>
                <a:cs typeface="Calibri" pitchFamily="34" charset="-120"/>
              </a:rPr>
              <a:t>非効率なワークフローの改善は、対症療法(文書を増やす等)ではなく根本原因(データソースの不統一)を解消する</a:t>
            </a:r>
            <a:endParaRPr lang="en-US" sz="1050" dirty="0"/>
          </a:p>
        </p:txBody>
      </p:sp>
      <p:sp>
        <p:nvSpPr>
          <p:cNvPr id="7" name="Text 5"/>
          <p:cNvSpPr txBox="1"/>
          <p:nvPr/>
        </p:nvSpPr>
        <p:spPr>
          <a:xfrm>
            <a:off x="548640" y="4114800"/>
            <a:ext cx="10881360" cy="320040"/>
          </a:xfrm>
          <a:prstGeom prst="rect">
            <a:avLst/>
          </a:prstGeom>
          <a:noFill/>
          <a:ln/>
        </p:spPr>
        <p:txBody>
          <a:bodyPr wrap="square" lIns="0" tIns="0" rIns="0" bIns="0" rtlCol="0" anchor="ctr"/>
          <a:lstStyle/>
          <a:p>
            <a:pPr indent="0" marL="0">
              <a:buNone/>
            </a:pPr>
            <a:r>
              <a:rPr lang="en-US" sz="1350" b="1" dirty="0">
                <a:solidFill>
                  <a:srgbClr val="2CB1BC"/>
                </a:solidFill>
                <a:latin typeface="Calibri" pitchFamily="34" charset="0"/>
                <a:ea typeface="Calibri" pitchFamily="34" charset="-122"/>
                <a:cs typeface="Calibri" pitchFamily="34" charset="-120"/>
              </a:rPr>
              <a:t>分野6: PIIの機微度判断 / 適切なユースケースの境界線</a:t>
            </a:r>
            <a:endParaRPr lang="en-US" sz="1350" dirty="0"/>
          </a:p>
        </p:txBody>
      </p:sp>
      <p:sp>
        <p:nvSpPr>
          <p:cNvPr id="8" name="Text 6"/>
          <p:cNvSpPr txBox="1"/>
          <p:nvPr/>
        </p:nvSpPr>
        <p:spPr>
          <a:xfrm>
            <a:off x="548640" y="4434840"/>
            <a:ext cx="10881360" cy="155448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F2F4F8"/>
                </a:solidFill>
                <a:latin typeface="Calibri" pitchFamily="34" charset="0"/>
                <a:ea typeface="Calibri" pitchFamily="34" charset="-122"/>
                <a:cs typeface="Calibri" pitchFamily="34" charset="-120"/>
              </a:rPr>
              <a:t>政府発行ID+決済カード番号全桁+氏名の紐付けのように複数の機微要素が重なるデータが、最も明確に追加対応(削除・匿名化・個別認可)を要する</a:t>
            </a:r>
            <a:endParaRPr lang="en-US" sz="1050" dirty="0"/>
          </a:p>
          <a:p>
            <a:pPr marL="342900" indent="-342900">
              <a:spcAft>
                <a:spcPts val="500"/>
              </a:spcAft>
              <a:buSzPct val="100000"/>
              <a:buChar char="•"/>
            </a:pPr>
            <a:r>
              <a:rPr lang="en-US" sz="1050" dirty="0">
                <a:solidFill>
                  <a:srgbClr val="F2F4F8"/>
                </a:solidFill>
                <a:latin typeface="Calibri" pitchFamily="34" charset="0"/>
                <a:ea typeface="Calibri" pitchFamily="34" charset="-122"/>
                <a:cs typeface="Calibri" pitchFamily="34" charset="-120"/>
              </a:rPr>
              <a:t>適切な使い方の境界線: AIによる下書き作成の一律禁止(過度に保守的)でも、使用前レビューの省略(過度に楽観的)でもなく、人間が使用前に確認・テストする設計が適切</a:t>
            </a:r>
            <a:endParaRPr lang="en-US" sz="105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4</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試験対策テクニック: 「動詞パターン」のヒント</a:t>
            </a:r>
            <a:endParaRPr lang="en-US" sz="2200" dirty="0"/>
          </a:p>
        </p:txBody>
      </p:sp>
      <p:sp>
        <p:nvSpPr>
          <p:cNvPr id="4" name="Text 2"/>
          <p:cNvSpPr txBox="1"/>
          <p:nvPr/>
        </p:nvSpPr>
        <p:spPr>
          <a:xfrm>
            <a:off x="548640" y="1371600"/>
            <a:ext cx="10881360" cy="365760"/>
          </a:xfrm>
          <a:prstGeom prst="rect">
            <a:avLst/>
          </a:prstGeom>
          <a:noFill/>
          <a:ln/>
        </p:spPr>
        <p:txBody>
          <a:bodyPr wrap="square" lIns="0" tIns="0" rIns="0" bIns="0" rtlCol="0" anchor="ctr"/>
          <a:lstStyle/>
          <a:p>
            <a:pPr indent="0" marL="0">
              <a:buNone/>
            </a:pPr>
            <a:r>
              <a:rPr lang="en-US" sz="1250" i="1" dirty="0">
                <a:solidFill>
                  <a:srgbClr val="B9C4DB"/>
                </a:solidFill>
                <a:latin typeface="Calibri" pitchFamily="34" charset="0"/>
                <a:ea typeface="Calibri" pitchFamily="34" charset="-122"/>
                <a:cs typeface="Calibri" pitchFamily="34" charset="-120"/>
              </a:rPr>
              <a:t>英語読解の実務的なコツ(受験記事より)</a:t>
            </a:r>
            <a:endParaRPr lang="en-US" sz="1250" dirty="0"/>
          </a:p>
        </p:txBody>
      </p:sp>
      <p:sp>
        <p:nvSpPr>
          <p:cNvPr id="5" name="Shape 3"/>
          <p:cNvSpPr/>
          <p:nvPr/>
        </p:nvSpPr>
        <p:spPr>
          <a:xfrm>
            <a:off x="548640" y="1920240"/>
            <a:ext cx="5303520" cy="2926080"/>
          </a:xfrm>
          <a:prstGeom prst="roundRect">
            <a:avLst>
              <a:gd name="adj" fmla="val 3125"/>
            </a:avLst>
          </a:prstGeom>
          <a:solidFill>
            <a:srgbClr val="16331F"/>
          </a:solidFill>
          <a:ln w="12700">
            <a:solidFill>
              <a:srgbClr val="2E6B3E"/>
            </a:solidFill>
            <a:prstDash val="solid"/>
          </a:ln>
        </p:spPr>
      </p:sp>
      <p:sp>
        <p:nvSpPr>
          <p:cNvPr id="6" name="Text 4"/>
          <p:cNvSpPr txBox="1"/>
          <p:nvPr/>
        </p:nvSpPr>
        <p:spPr>
          <a:xfrm>
            <a:off x="777240" y="2103120"/>
            <a:ext cx="4846320" cy="365760"/>
          </a:xfrm>
          <a:prstGeom prst="rect">
            <a:avLst/>
          </a:prstGeom>
          <a:noFill/>
          <a:ln/>
        </p:spPr>
        <p:txBody>
          <a:bodyPr wrap="square" lIns="0" tIns="0" rIns="0" bIns="0" rtlCol="0" anchor="ctr"/>
          <a:lstStyle/>
          <a:p>
            <a:pPr indent="0" marL="0">
              <a:buNone/>
            </a:pPr>
            <a:r>
              <a:rPr lang="en-US" sz="1400" b="1" dirty="0">
                <a:solidFill>
                  <a:srgbClr val="6FCF97"/>
                </a:solidFill>
                <a:latin typeface="Calibri" pitchFamily="34" charset="0"/>
                <a:ea typeface="Calibri" pitchFamily="34" charset="-122"/>
                <a:cs typeface="Calibri" pitchFamily="34" charset="-120"/>
              </a:rPr>
              <a:t>正解側に出やすい動詞</a:t>
            </a:r>
            <a:endParaRPr lang="en-US" sz="1400" dirty="0"/>
          </a:p>
        </p:txBody>
      </p:sp>
      <p:sp>
        <p:nvSpPr>
          <p:cNvPr id="7" name="Text 5"/>
          <p:cNvSpPr txBox="1"/>
          <p:nvPr/>
        </p:nvSpPr>
        <p:spPr>
          <a:xfrm>
            <a:off x="777240" y="2560320"/>
            <a:ext cx="4846320" cy="21031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verify(確認する)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escalate(エスカレーションする)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flag(注意喚起する)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anonymize / redact(匿名化する)</a:t>
            </a:r>
            <a:endParaRPr lang="en-US" sz="1300" dirty="0"/>
          </a:p>
        </p:txBody>
      </p:sp>
      <p:sp>
        <p:nvSpPr>
          <p:cNvPr id="8" name="Shape 6"/>
          <p:cNvSpPr/>
          <p:nvPr/>
        </p:nvSpPr>
        <p:spPr>
          <a:xfrm>
            <a:off x="6126480" y="1920240"/>
            <a:ext cx="5303520" cy="2926080"/>
          </a:xfrm>
          <a:prstGeom prst="roundRect">
            <a:avLst>
              <a:gd name="adj" fmla="val 3125"/>
            </a:avLst>
          </a:prstGeom>
          <a:solidFill>
            <a:srgbClr val="33181B"/>
          </a:solidFill>
          <a:ln w="12700">
            <a:solidFill>
              <a:srgbClr val="6B2E33"/>
            </a:solidFill>
            <a:prstDash val="solid"/>
          </a:ln>
        </p:spPr>
      </p:sp>
      <p:sp>
        <p:nvSpPr>
          <p:cNvPr id="9" name="Text 7"/>
          <p:cNvSpPr txBox="1"/>
          <p:nvPr/>
        </p:nvSpPr>
        <p:spPr>
          <a:xfrm>
            <a:off x="6355080" y="2103120"/>
            <a:ext cx="4846320" cy="365760"/>
          </a:xfrm>
          <a:prstGeom prst="rect">
            <a:avLst/>
          </a:prstGeom>
          <a:noFill/>
          <a:ln/>
        </p:spPr>
        <p:txBody>
          <a:bodyPr wrap="square" lIns="0" tIns="0" rIns="0" bIns="0" rtlCol="0" anchor="ctr"/>
          <a:lstStyle/>
          <a:p>
            <a:pPr indent="0" marL="0">
              <a:buNone/>
            </a:pPr>
            <a:r>
              <a:rPr lang="en-US" sz="1400" b="1" dirty="0">
                <a:solidFill>
                  <a:srgbClr val="EB8F8F"/>
                </a:solidFill>
                <a:latin typeface="Calibri" pitchFamily="34" charset="0"/>
                <a:ea typeface="Calibri" pitchFamily="34" charset="-122"/>
                <a:cs typeface="Calibri" pitchFamily="34" charset="-120"/>
              </a:rPr>
              <a:t>不正解側に出やすい動詞</a:t>
            </a:r>
            <a:endParaRPr lang="en-US" sz="1400" dirty="0"/>
          </a:p>
        </p:txBody>
      </p:sp>
      <p:sp>
        <p:nvSpPr>
          <p:cNvPr id="10" name="Text 8"/>
          <p:cNvSpPr txBox="1"/>
          <p:nvPr/>
        </p:nvSpPr>
        <p:spPr>
          <a:xfrm>
            <a:off x="6355080" y="2560320"/>
            <a:ext cx="4846320" cy="21031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send as-is(そのまま送る)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assume(決めつける)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skip(省略する)</a:t>
            </a:r>
            <a:endParaRPr lang="en-US" sz="1300" dirty="0"/>
          </a:p>
        </p:txBody>
      </p:sp>
      <p:sp>
        <p:nvSpPr>
          <p:cNvPr id="11" name="Text 9"/>
          <p:cNvSpPr txBox="1"/>
          <p:nvPr/>
        </p:nvSpPr>
        <p:spPr>
          <a:xfrm>
            <a:off x="548640" y="5120640"/>
            <a:ext cx="10881360" cy="822960"/>
          </a:xfrm>
          <a:prstGeom prst="rect">
            <a:avLst/>
          </a:prstGeom>
          <a:noFill/>
          <a:ln/>
        </p:spPr>
        <p:txBody>
          <a:bodyPr wrap="square" lIns="0" tIns="0" rIns="0" bIns="0" rtlCol="0" anchor="ctr"/>
          <a:lstStyle/>
          <a:p>
            <a:pPr indent="0" marL="0">
              <a:buNone/>
            </a:pPr>
            <a:r>
              <a:rPr lang="en-US" sz="1200" i="1" dirty="0">
                <a:solidFill>
                  <a:srgbClr val="B9C4DB"/>
                </a:solidFill>
                <a:latin typeface="Calibri" pitchFamily="34" charset="0"/>
                <a:ea typeface="Calibri" pitchFamily="34" charset="-122"/>
                <a:cs typeface="Calibri" pitchFamily="34" charset="-120"/>
              </a:rPr>
              <a:t>公式サンプル問題3問すべての正解パターン(照合して確認する／適切なモデル選定／削除・匿名化する)とも一致。迷った際の有力な手がかりになる</a:t>
            </a:r>
            <a:endParaRPr lang="en-US" sz="1200" dirty="0"/>
          </a:p>
        </p:txBody>
      </p:sp>
      <p:sp>
        <p:nvSpPr>
          <p:cNvPr id="12" name="Text 10"/>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ユーザー収集の受験記事(Qiita)より</a:t>
            </a:r>
            <a:endParaRPr lang="en-US" sz="90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5</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公式サンプル問題 1 — 分野2</a:t>
            </a:r>
            <a:endParaRPr lang="en-US" sz="2200" dirty="0"/>
          </a:p>
        </p:txBody>
      </p:sp>
      <p:sp>
        <p:nvSpPr>
          <p:cNvPr id="4" name="Text 2"/>
          <p:cNvSpPr txBox="1"/>
          <p:nvPr/>
        </p:nvSpPr>
        <p:spPr>
          <a:xfrm>
            <a:off x="548640" y="1371600"/>
            <a:ext cx="10881360" cy="109728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あるアソシエイトがClaudeに新しい規制の要約を依頼したところ、Claudeは特定の項番号を引用した、確信に満ちた要約を作成しました。この要約をコンプライアンスチームに送る前に取るべき最も適切な行動はどれですか。</a:t>
            </a:r>
            <a:endParaRPr lang="en-US" sz="1200" dirty="0"/>
          </a:p>
        </p:txBody>
      </p:sp>
      <p:sp>
        <p:nvSpPr>
          <p:cNvPr id="5" name="Shape 3"/>
          <p:cNvSpPr/>
          <p:nvPr/>
        </p:nvSpPr>
        <p:spPr>
          <a:xfrm>
            <a:off x="548640" y="2606040"/>
            <a:ext cx="10881360" cy="502920"/>
          </a:xfrm>
          <a:prstGeom prst="roundRect">
            <a:avLst>
              <a:gd name="adj" fmla="val 10909"/>
            </a:avLst>
          </a:prstGeom>
          <a:solidFill>
            <a:srgbClr val="F7F7F9"/>
          </a:solidFill>
          <a:ln w="12700">
            <a:solidFill>
              <a:srgbClr val="E1E6F0"/>
            </a:solidFill>
            <a:prstDash val="solid"/>
          </a:ln>
        </p:spPr>
      </p:sp>
      <p:sp>
        <p:nvSpPr>
          <p:cNvPr id="6" name="Text 4"/>
          <p:cNvSpPr txBox="1"/>
          <p:nvPr/>
        </p:nvSpPr>
        <p:spPr>
          <a:xfrm>
            <a:off x="731520" y="2651760"/>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Claudeが高い確信を示しているので、そのまま送る。</a:t>
            </a:r>
            <a:endParaRPr lang="en-US" sz="1050" dirty="0"/>
          </a:p>
        </p:txBody>
      </p:sp>
      <p:sp>
        <p:nvSpPr>
          <p:cNvPr id="7" name="Shape 5"/>
          <p:cNvSpPr/>
          <p:nvPr/>
        </p:nvSpPr>
        <p:spPr>
          <a:xfrm>
            <a:off x="548640" y="3172968"/>
            <a:ext cx="10881360" cy="502920"/>
          </a:xfrm>
          <a:prstGeom prst="roundRect">
            <a:avLst>
              <a:gd name="adj" fmla="val 10909"/>
            </a:avLst>
          </a:prstGeom>
          <a:solidFill>
            <a:srgbClr val="E8F5EC"/>
          </a:solidFill>
          <a:ln w="12700">
            <a:solidFill>
              <a:srgbClr val="6FCF97"/>
            </a:solidFill>
            <a:prstDash val="solid"/>
          </a:ln>
        </p:spPr>
      </p:sp>
      <p:sp>
        <p:nvSpPr>
          <p:cNvPr id="8" name="Text 6"/>
          <p:cNvSpPr txBox="1"/>
          <p:nvPr/>
        </p:nvSpPr>
        <p:spPr>
          <a:xfrm>
            <a:off x="731520" y="3218688"/>
            <a:ext cx="10332720" cy="411480"/>
          </a:xfrm>
          <a:prstGeom prst="rect">
            <a:avLst/>
          </a:prstGeom>
          <a:noFill/>
          <a:ln/>
        </p:spPr>
        <p:txBody>
          <a:bodyPr wrap="square" lIns="0" tIns="0" rIns="0" bIns="0" rtlCol="0" anchor="ctr"/>
          <a:lstStyle/>
          <a:p>
            <a:pPr indent="0" marL="0">
              <a:buNone/>
            </a:pPr>
            <a:r>
              <a:rPr lang="en-US" sz="1050" b="1" dirty="0">
                <a:solidFill>
                  <a:srgbClr val="1F7A3E"/>
                </a:solidFill>
                <a:latin typeface="Calibri" pitchFamily="34" charset="0"/>
                <a:ea typeface="Calibri" pitchFamily="34" charset="-122"/>
                <a:cs typeface="Calibri" pitchFamily="34" charset="-120"/>
              </a:rPr>
              <a:t>B.  共有する前に、引用された項を規制の公式な条文と照合して確認する。</a:t>
            </a:r>
            <a:endParaRPr lang="en-US" sz="1050" dirty="0"/>
          </a:p>
        </p:txBody>
      </p:sp>
      <p:sp>
        <p:nvSpPr>
          <p:cNvPr id="9" name="Shape 7"/>
          <p:cNvSpPr/>
          <p:nvPr/>
        </p:nvSpPr>
        <p:spPr>
          <a:xfrm>
            <a:off x="548640" y="3739896"/>
            <a:ext cx="10881360" cy="502920"/>
          </a:xfrm>
          <a:prstGeom prst="roundRect">
            <a:avLst>
              <a:gd name="adj" fmla="val 10909"/>
            </a:avLst>
          </a:prstGeom>
          <a:solidFill>
            <a:srgbClr val="F7F7F9"/>
          </a:solidFill>
          <a:ln w="12700">
            <a:solidFill>
              <a:srgbClr val="E1E6F0"/>
            </a:solidFill>
            <a:prstDash val="solid"/>
          </a:ln>
        </p:spPr>
      </p:sp>
      <p:sp>
        <p:nvSpPr>
          <p:cNvPr id="10" name="Text 8"/>
          <p:cNvSpPr txBox="1"/>
          <p:nvPr/>
        </p:nvSpPr>
        <p:spPr>
          <a:xfrm>
            <a:off x="731520" y="3785616"/>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Claudeに自身の確信度を評価させ、評価が高ければ送る。</a:t>
            </a:r>
            <a:endParaRPr lang="en-US" sz="1050" dirty="0"/>
          </a:p>
        </p:txBody>
      </p:sp>
      <p:sp>
        <p:nvSpPr>
          <p:cNvPr id="11" name="Shape 9"/>
          <p:cNvSpPr/>
          <p:nvPr/>
        </p:nvSpPr>
        <p:spPr>
          <a:xfrm>
            <a:off x="548640" y="4306824"/>
            <a:ext cx="10881360" cy="502920"/>
          </a:xfrm>
          <a:prstGeom prst="roundRect">
            <a:avLst>
              <a:gd name="adj" fmla="val 10909"/>
            </a:avLst>
          </a:prstGeom>
          <a:solidFill>
            <a:srgbClr val="F7F7F9"/>
          </a:solidFill>
          <a:ln w="12700">
            <a:solidFill>
              <a:srgbClr val="E1E6F0"/>
            </a:solidFill>
            <a:prstDash val="solid"/>
          </a:ln>
        </p:spPr>
      </p:sp>
      <p:sp>
        <p:nvSpPr>
          <p:cNvPr id="12" name="Text 10"/>
          <p:cNvSpPr txBox="1"/>
          <p:nvPr/>
        </p:nvSpPr>
        <p:spPr>
          <a:xfrm>
            <a:off x="731520" y="4352544"/>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よりフォーマルに聞こえるように要約を書き換えてから送る。</a:t>
            </a:r>
            <a:endParaRPr lang="en-US" sz="1050" dirty="0"/>
          </a:p>
        </p:txBody>
      </p:sp>
      <p:sp>
        <p:nvSpPr>
          <p:cNvPr id="13" name="Text 11"/>
          <p:cNvSpPr txBox="1"/>
          <p:nvPr/>
        </p:nvSpPr>
        <p:spPr>
          <a:xfrm>
            <a:off x="548640" y="4965192"/>
            <a:ext cx="10881360" cy="1069848"/>
          </a:xfrm>
          <a:prstGeom prst="rect">
            <a:avLst/>
          </a:prstGeom>
          <a:noFill/>
          <a:ln/>
        </p:spPr>
        <p:txBody>
          <a:bodyPr wrap="square" lIns="0" tIns="0" rIns="0" bIns="0" rtlCol="0" anchor="ctr"/>
          <a:lstStyle/>
          <a:p>
            <a:pPr indent="0" marL="0">
              <a:buNone/>
            </a:pPr>
            <a:r>
              <a:rPr lang="en-US" sz="1000" i="1" dirty="0">
                <a:solidFill>
                  <a:srgbClr val="5B6B8C"/>
                </a:solidFill>
                <a:latin typeface="Calibri" pitchFamily="34" charset="0"/>
                <a:ea typeface="Calibri" pitchFamily="34" charset="-122"/>
                <a:cs typeface="Calibri" pitchFamily="34" charset="-120"/>
              </a:rPr>
              <a:t>解説: 言語モデルは引用番号のような具体的に見える詳細を捏造することがある(ハルシネーション)。自己申告の確信度(A・C)は正確性の信頼できる指標ではなく、体裁の変更(D)は正しさの問題に対処しない。</a:t>
            </a:r>
            <a:endParaRPr lang="en-US" sz="1000" dirty="0"/>
          </a:p>
        </p:txBody>
      </p:sp>
      <p:sp>
        <p:nvSpPr>
          <p:cNvPr id="14" name="Text 12"/>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5</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公式サンプル問題 2 — 分野3</a:t>
            </a:r>
            <a:endParaRPr lang="en-US" sz="2200" dirty="0"/>
          </a:p>
        </p:txBody>
      </p:sp>
      <p:sp>
        <p:nvSpPr>
          <p:cNvPr id="4" name="Text 2"/>
          <p:cNvSpPr txBox="1"/>
          <p:nvPr/>
        </p:nvSpPr>
        <p:spPr>
          <a:xfrm>
            <a:off x="548640" y="1371600"/>
            <a:ext cx="10881360" cy="109728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あるアソシエイトは、短い顧客返信の下書きを大量に生成する必要があり、深い推論よりも速度とコストが重要です。このタスクに最も適した選択肢はどれですか。</a:t>
            </a:r>
            <a:endParaRPr lang="en-US" sz="1200" dirty="0"/>
          </a:p>
        </p:txBody>
      </p:sp>
      <p:sp>
        <p:nvSpPr>
          <p:cNvPr id="5" name="Shape 3"/>
          <p:cNvSpPr/>
          <p:nvPr/>
        </p:nvSpPr>
        <p:spPr>
          <a:xfrm>
            <a:off x="548640" y="2606040"/>
            <a:ext cx="10881360" cy="502920"/>
          </a:xfrm>
          <a:prstGeom prst="roundRect">
            <a:avLst>
              <a:gd name="adj" fmla="val 10909"/>
            </a:avLst>
          </a:prstGeom>
          <a:solidFill>
            <a:srgbClr val="F7F7F9"/>
          </a:solidFill>
          <a:ln w="12700">
            <a:solidFill>
              <a:srgbClr val="E1E6F0"/>
            </a:solidFill>
            <a:prstDash val="solid"/>
          </a:ln>
        </p:spPr>
      </p:sp>
      <p:sp>
        <p:nvSpPr>
          <p:cNvPr id="6" name="Text 4"/>
          <p:cNvSpPr txBox="1"/>
          <p:nvPr/>
        </p:nvSpPr>
        <p:spPr>
          <a:xfrm>
            <a:off x="731520" y="2651760"/>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品質を最大化するために、すべての返信に最も高性能で最もコストの高いモデルを使用する。</a:t>
            </a:r>
            <a:endParaRPr lang="en-US" sz="1050" dirty="0"/>
          </a:p>
        </p:txBody>
      </p:sp>
      <p:sp>
        <p:nvSpPr>
          <p:cNvPr id="7" name="Shape 5"/>
          <p:cNvSpPr/>
          <p:nvPr/>
        </p:nvSpPr>
        <p:spPr>
          <a:xfrm>
            <a:off x="548640" y="3172968"/>
            <a:ext cx="10881360" cy="502920"/>
          </a:xfrm>
          <a:prstGeom prst="roundRect">
            <a:avLst>
              <a:gd name="adj" fmla="val 10909"/>
            </a:avLst>
          </a:prstGeom>
          <a:solidFill>
            <a:srgbClr val="E8F5EC"/>
          </a:solidFill>
          <a:ln w="12700">
            <a:solidFill>
              <a:srgbClr val="6FCF97"/>
            </a:solidFill>
            <a:prstDash val="solid"/>
          </a:ln>
        </p:spPr>
      </p:sp>
      <p:sp>
        <p:nvSpPr>
          <p:cNvPr id="8" name="Text 6"/>
          <p:cNvSpPr txBox="1"/>
          <p:nvPr/>
        </p:nvSpPr>
        <p:spPr>
          <a:xfrm>
            <a:off x="731520" y="3218688"/>
            <a:ext cx="10332720" cy="411480"/>
          </a:xfrm>
          <a:prstGeom prst="rect">
            <a:avLst/>
          </a:prstGeom>
          <a:noFill/>
          <a:ln/>
        </p:spPr>
        <p:txBody>
          <a:bodyPr wrap="square" lIns="0" tIns="0" rIns="0" bIns="0" rtlCol="0" anchor="ctr"/>
          <a:lstStyle/>
          <a:p>
            <a:pPr indent="0" marL="0">
              <a:buNone/>
            </a:pPr>
            <a:r>
              <a:rPr lang="en-US" sz="1050" b="1" dirty="0">
                <a:solidFill>
                  <a:srgbClr val="1F7A3E"/>
                </a:solidFill>
                <a:latin typeface="Calibri" pitchFamily="34" charset="0"/>
                <a:ea typeface="Calibri" pitchFamily="34" charset="-122"/>
                <a:cs typeface="Calibri" pitchFamily="34" charset="-120"/>
              </a:rPr>
              <a:t>B.  単純で大量のタスクに適した、より高速で低コストのモデルを使用する。</a:t>
            </a:r>
            <a:endParaRPr lang="en-US" sz="1050" dirty="0"/>
          </a:p>
        </p:txBody>
      </p:sp>
      <p:sp>
        <p:nvSpPr>
          <p:cNvPr id="9" name="Shape 7"/>
          <p:cNvSpPr/>
          <p:nvPr/>
        </p:nvSpPr>
        <p:spPr>
          <a:xfrm>
            <a:off x="548640" y="3739896"/>
            <a:ext cx="10881360" cy="502920"/>
          </a:xfrm>
          <a:prstGeom prst="roundRect">
            <a:avLst>
              <a:gd name="adj" fmla="val 10909"/>
            </a:avLst>
          </a:prstGeom>
          <a:solidFill>
            <a:srgbClr val="F7F7F9"/>
          </a:solidFill>
          <a:ln w="12700">
            <a:solidFill>
              <a:srgbClr val="E1E6F0"/>
            </a:solidFill>
            <a:prstDash val="solid"/>
          </a:ln>
        </p:spPr>
      </p:sp>
      <p:sp>
        <p:nvSpPr>
          <p:cNvPr id="10" name="Text 8"/>
          <p:cNvSpPr txBox="1"/>
          <p:nvPr/>
        </p:nvSpPr>
        <p:spPr>
          <a:xfrm>
            <a:off x="731520" y="3785616"/>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コストを削減するために、すべての製品機能を無効にする。</a:t>
            </a:r>
            <a:endParaRPr lang="en-US" sz="1050" dirty="0"/>
          </a:p>
        </p:txBody>
      </p:sp>
      <p:sp>
        <p:nvSpPr>
          <p:cNvPr id="11" name="Shape 9"/>
          <p:cNvSpPr/>
          <p:nvPr/>
        </p:nvSpPr>
        <p:spPr>
          <a:xfrm>
            <a:off x="548640" y="4306824"/>
            <a:ext cx="10881360" cy="502920"/>
          </a:xfrm>
          <a:prstGeom prst="roundRect">
            <a:avLst>
              <a:gd name="adj" fmla="val 10909"/>
            </a:avLst>
          </a:prstGeom>
          <a:solidFill>
            <a:srgbClr val="F7F7F9"/>
          </a:solidFill>
          <a:ln w="12700">
            <a:solidFill>
              <a:srgbClr val="E1E6F0"/>
            </a:solidFill>
            <a:prstDash val="solid"/>
          </a:ln>
        </p:spPr>
      </p:sp>
      <p:sp>
        <p:nvSpPr>
          <p:cNvPr id="12" name="Text 10"/>
          <p:cNvSpPr txBox="1"/>
          <p:nvPr/>
        </p:nvSpPr>
        <p:spPr>
          <a:xfrm>
            <a:off x="731520" y="4352544"/>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別のAIプラットフォームに切り替える。</a:t>
            </a:r>
            <a:endParaRPr lang="en-US" sz="1050" dirty="0"/>
          </a:p>
        </p:txBody>
      </p:sp>
      <p:sp>
        <p:nvSpPr>
          <p:cNvPr id="13" name="Text 11"/>
          <p:cNvSpPr txBox="1"/>
          <p:nvPr/>
        </p:nvSpPr>
        <p:spPr>
          <a:xfrm>
            <a:off x="548640" y="4965192"/>
            <a:ext cx="10881360" cy="1069848"/>
          </a:xfrm>
          <a:prstGeom prst="rect">
            <a:avLst/>
          </a:prstGeom>
          <a:noFill/>
          <a:ln/>
        </p:spPr>
        <p:txBody>
          <a:bodyPr wrap="square" lIns="0" tIns="0" rIns="0" bIns="0" rtlCol="0" anchor="ctr"/>
          <a:lstStyle/>
          <a:p>
            <a:pPr indent="0" marL="0">
              <a:buNone/>
            </a:pPr>
            <a:r>
              <a:rPr lang="en-US" sz="1000" i="1" dirty="0">
                <a:solidFill>
                  <a:srgbClr val="5B6B8C"/>
                </a:solidFill>
                <a:latin typeface="Calibri" pitchFamily="34" charset="0"/>
                <a:ea typeface="Calibri" pitchFamily="34" charset="-122"/>
                <a:cs typeface="Calibri" pitchFamily="34" charset="-120"/>
              </a:rPr>
              <a:t>解説: モデル選択をタスク要件に合わせるとは、単純で大量の作業にはより高速・低コストなモデルを割り当て、最も高性能なモデルは複雑な推論のために取っておくことを意味する。常に最上位モデルを使用する(A)のはコスト・レイテンシの無駄。</a:t>
            </a:r>
            <a:endParaRPr lang="en-US" sz="1000" dirty="0"/>
          </a:p>
        </p:txBody>
      </p:sp>
      <p:sp>
        <p:nvSpPr>
          <p:cNvPr id="14" name="Text 12"/>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5</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公式サンプル問題 3 — 分野6</a:t>
            </a:r>
            <a:endParaRPr lang="en-US" sz="2200" dirty="0"/>
          </a:p>
        </p:txBody>
      </p:sp>
      <p:sp>
        <p:nvSpPr>
          <p:cNvPr id="4" name="Text 2"/>
          <p:cNvSpPr txBox="1"/>
          <p:nvPr/>
        </p:nvSpPr>
        <p:spPr>
          <a:xfrm>
            <a:off x="548640" y="1371600"/>
            <a:ext cx="10881360" cy="109728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あるプロジェクトマネージャーが、Claudeに傾向を分析させるために、顧客名と口座番号を含むスプレッドシートをアップロードしたいと考えています。組織のポリシーでは、規制対象の個人データの共有が制限されています。最も適切な行動はどれですか。</a:t>
            </a:r>
            <a:endParaRPr lang="en-US" sz="1200" dirty="0"/>
          </a:p>
        </p:txBody>
      </p:sp>
      <p:sp>
        <p:nvSpPr>
          <p:cNvPr id="5" name="Shape 3"/>
          <p:cNvSpPr/>
          <p:nvPr/>
        </p:nvSpPr>
        <p:spPr>
          <a:xfrm>
            <a:off x="548640" y="2606040"/>
            <a:ext cx="10881360" cy="502920"/>
          </a:xfrm>
          <a:prstGeom prst="roundRect">
            <a:avLst>
              <a:gd name="adj" fmla="val 10909"/>
            </a:avLst>
          </a:prstGeom>
          <a:solidFill>
            <a:srgbClr val="F7F7F9"/>
          </a:solidFill>
          <a:ln w="12700">
            <a:solidFill>
              <a:srgbClr val="E1E6F0"/>
            </a:solidFill>
            <a:prstDash val="solid"/>
          </a:ln>
        </p:spPr>
      </p:sp>
      <p:sp>
        <p:nvSpPr>
          <p:cNvPr id="6" name="Text 4"/>
          <p:cNvSpPr txBox="1"/>
          <p:nvPr/>
        </p:nvSpPr>
        <p:spPr>
          <a:xfrm>
            <a:off x="731520" y="2651760"/>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分析は社内向けなので、ファイルをそのままアップロードする。</a:t>
            </a:r>
            <a:endParaRPr lang="en-US" sz="1050" dirty="0"/>
          </a:p>
        </p:txBody>
      </p:sp>
      <p:sp>
        <p:nvSpPr>
          <p:cNvPr id="7" name="Shape 5"/>
          <p:cNvSpPr/>
          <p:nvPr/>
        </p:nvSpPr>
        <p:spPr>
          <a:xfrm>
            <a:off x="548640" y="3172968"/>
            <a:ext cx="10881360" cy="502920"/>
          </a:xfrm>
          <a:prstGeom prst="roundRect">
            <a:avLst>
              <a:gd name="adj" fmla="val 10909"/>
            </a:avLst>
          </a:prstGeom>
          <a:solidFill>
            <a:srgbClr val="E8F5EC"/>
          </a:solidFill>
          <a:ln w="12700">
            <a:solidFill>
              <a:srgbClr val="6FCF97"/>
            </a:solidFill>
            <a:prstDash val="solid"/>
          </a:ln>
        </p:spPr>
      </p:sp>
      <p:sp>
        <p:nvSpPr>
          <p:cNvPr id="8" name="Text 6"/>
          <p:cNvSpPr txBox="1"/>
          <p:nvPr/>
        </p:nvSpPr>
        <p:spPr>
          <a:xfrm>
            <a:off x="731520" y="3218688"/>
            <a:ext cx="10332720" cy="411480"/>
          </a:xfrm>
          <a:prstGeom prst="rect">
            <a:avLst/>
          </a:prstGeom>
          <a:noFill/>
          <a:ln/>
        </p:spPr>
        <p:txBody>
          <a:bodyPr wrap="square" lIns="0" tIns="0" rIns="0" bIns="0" rtlCol="0" anchor="ctr"/>
          <a:lstStyle/>
          <a:p>
            <a:pPr indent="0" marL="0">
              <a:buNone/>
            </a:pPr>
            <a:r>
              <a:rPr lang="en-US" sz="1050" b="1" dirty="0">
                <a:solidFill>
                  <a:srgbClr val="1F7A3E"/>
                </a:solidFill>
                <a:latin typeface="Calibri" pitchFamily="34" charset="0"/>
                <a:ea typeface="Calibri" pitchFamily="34" charset="-122"/>
                <a:cs typeface="Calibri" pitchFamily="34" charset="-120"/>
              </a:rPr>
              <a:t>B.  ポリシーに従い、アップロードする前に個人を識別する情報を削除または匿名化する。</a:t>
            </a:r>
            <a:endParaRPr lang="en-US" sz="1050" dirty="0"/>
          </a:p>
        </p:txBody>
      </p:sp>
      <p:sp>
        <p:nvSpPr>
          <p:cNvPr id="9" name="Shape 7"/>
          <p:cNvSpPr/>
          <p:nvPr/>
        </p:nvSpPr>
        <p:spPr>
          <a:xfrm>
            <a:off x="548640" y="3739896"/>
            <a:ext cx="10881360" cy="502920"/>
          </a:xfrm>
          <a:prstGeom prst="roundRect">
            <a:avLst>
              <a:gd name="adj" fmla="val 10909"/>
            </a:avLst>
          </a:prstGeom>
          <a:solidFill>
            <a:srgbClr val="F7F7F9"/>
          </a:solidFill>
          <a:ln w="12700">
            <a:solidFill>
              <a:srgbClr val="E1E6F0"/>
            </a:solidFill>
            <a:prstDash val="solid"/>
          </a:ln>
        </p:spPr>
      </p:sp>
      <p:sp>
        <p:nvSpPr>
          <p:cNvPr id="10" name="Text 8"/>
          <p:cNvSpPr txBox="1"/>
          <p:nvPr/>
        </p:nvSpPr>
        <p:spPr>
          <a:xfrm>
            <a:off x="731520" y="3785616"/>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ファイルをアップロードするが、Claudeに保持しないよう指示する。</a:t>
            </a:r>
            <a:endParaRPr lang="en-US" sz="1050" dirty="0"/>
          </a:p>
        </p:txBody>
      </p:sp>
      <p:sp>
        <p:nvSpPr>
          <p:cNvPr id="11" name="Shape 9"/>
          <p:cNvSpPr/>
          <p:nvPr/>
        </p:nvSpPr>
        <p:spPr>
          <a:xfrm>
            <a:off x="548640" y="4306824"/>
            <a:ext cx="10881360" cy="502920"/>
          </a:xfrm>
          <a:prstGeom prst="roundRect">
            <a:avLst>
              <a:gd name="adj" fmla="val 10909"/>
            </a:avLst>
          </a:prstGeom>
          <a:solidFill>
            <a:srgbClr val="F7F7F9"/>
          </a:solidFill>
          <a:ln w="12700">
            <a:solidFill>
              <a:srgbClr val="E1E6F0"/>
            </a:solidFill>
            <a:prstDash val="solid"/>
          </a:ln>
        </p:spPr>
      </p:sp>
      <p:sp>
        <p:nvSpPr>
          <p:cNvPr id="12" name="Text 10"/>
          <p:cNvSpPr txBox="1"/>
          <p:nvPr/>
        </p:nvSpPr>
        <p:spPr>
          <a:xfrm>
            <a:off x="731520" y="4352544"/>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分析そのものをやめる。</a:t>
            </a:r>
            <a:endParaRPr lang="en-US" sz="1050" dirty="0"/>
          </a:p>
        </p:txBody>
      </p:sp>
      <p:sp>
        <p:nvSpPr>
          <p:cNvPr id="13" name="Text 11"/>
          <p:cNvSpPr txBox="1"/>
          <p:nvPr/>
        </p:nvSpPr>
        <p:spPr>
          <a:xfrm>
            <a:off x="548640" y="4965192"/>
            <a:ext cx="10881360" cy="1069848"/>
          </a:xfrm>
          <a:prstGeom prst="rect">
            <a:avLst/>
          </a:prstGeom>
          <a:noFill/>
          <a:ln/>
        </p:spPr>
        <p:txBody>
          <a:bodyPr wrap="square" lIns="0" tIns="0" rIns="0" bIns="0" rtlCol="0" anchor="ctr"/>
          <a:lstStyle/>
          <a:p>
            <a:pPr indent="0" marL="0">
              <a:buNone/>
            </a:pPr>
            <a:r>
              <a:rPr lang="en-US" sz="1000" i="1" dirty="0">
                <a:solidFill>
                  <a:srgbClr val="5B6B8C"/>
                </a:solidFill>
                <a:latin typeface="Calibri" pitchFamily="34" charset="0"/>
                <a:ea typeface="Calibri" pitchFamily="34" charset="-122"/>
                <a:cs typeface="Calibri" pitchFamily="34" charset="-120"/>
              </a:rPr>
              <a:t>解説: データ機密性・プライバシーの保護措置を適用するとは、規制対象の識別情報を使用前に削除・匿名化することを意味する。そのままアップロード(A)はポリシー違反、保持しないよう指示する(C)だけでは管理要件を満たさない。</a:t>
            </a:r>
            <a:endParaRPr lang="en-US" sz="1000" dirty="0"/>
          </a:p>
        </p:txBody>
      </p:sp>
      <p:sp>
        <p:nvSpPr>
          <p:cNvPr id="14" name="Text 12"/>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6</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試験ポリシー(1/2): 申込み・本人確認</a:t>
            </a:r>
            <a:endParaRPr lang="en-US" sz="2200" dirty="0"/>
          </a:p>
        </p:txBody>
      </p:sp>
      <p:sp>
        <p:nvSpPr>
          <p:cNvPr id="4" name="Text 2"/>
          <p:cNvSpPr txBox="1"/>
          <p:nvPr/>
        </p:nvSpPr>
        <p:spPr>
          <a:xfrm>
            <a:off x="548640" y="1371600"/>
            <a:ext cx="10881360" cy="320040"/>
          </a:xfrm>
          <a:prstGeom prst="rect">
            <a:avLst/>
          </a:prstGeom>
          <a:noFill/>
          <a:ln/>
        </p:spPr>
        <p:txBody>
          <a:bodyPr wrap="square" lIns="0" tIns="0" rIns="0" bIns="0" rtlCol="0" anchor="ctr"/>
          <a:lstStyle/>
          <a:p>
            <a:pPr indent="0" marL="0">
              <a:buNone/>
            </a:pPr>
            <a:r>
              <a:rPr lang="en-US" sz="1350" b="1" dirty="0">
                <a:solidFill>
                  <a:srgbClr val="2CB1BC"/>
                </a:solidFill>
                <a:latin typeface="Calibri" pitchFamily="34" charset="0"/>
                <a:ea typeface="Calibri" pitchFamily="34" charset="-122"/>
                <a:cs typeface="Calibri" pitchFamily="34" charset="-120"/>
              </a:rPr>
              <a:t>申込み・予約の流れ</a:t>
            </a:r>
            <a:endParaRPr lang="en-US" sz="1350" dirty="0"/>
          </a:p>
        </p:txBody>
      </p:sp>
      <p:sp>
        <p:nvSpPr>
          <p:cNvPr id="5" name="Text 3"/>
          <p:cNvSpPr txBox="1"/>
          <p:nvPr/>
        </p:nvSpPr>
        <p:spPr>
          <a:xfrm>
            <a:off x="548640" y="1737360"/>
            <a:ext cx="10881360" cy="1463040"/>
          </a:xfrm>
          <a:prstGeom prst="rect">
            <a:avLst/>
          </a:prstGeom>
          <a:noFill/>
          <a:ln/>
        </p:spPr>
        <p:txBody>
          <a:bodyPr wrap="square" lIns="0" tIns="0" rIns="0" bIns="0" rtlCol="0" anchor="ctr"/>
          <a:lstStyle/>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Anthropic Partner Academyで資格ページ・試験ガイドを確認する</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申込み・支払い手続き(パートナー階層に応じた割引あり)</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Pearson VUEアカウントを作成し試験セッションを予約する</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オンライン監督またはPearsonテストセンターを選択する</a:t>
            </a:r>
            <a:endParaRPr lang="en-US" sz="1150" dirty="0"/>
          </a:p>
        </p:txBody>
      </p:sp>
      <p:sp>
        <p:nvSpPr>
          <p:cNvPr id="6" name="Shape 4"/>
          <p:cNvSpPr/>
          <p:nvPr/>
        </p:nvSpPr>
        <p:spPr>
          <a:xfrm>
            <a:off x="548640" y="3291840"/>
            <a:ext cx="10881360" cy="777240"/>
          </a:xfrm>
          <a:prstGeom prst="roundRect">
            <a:avLst>
              <a:gd name="adj" fmla="val 9412"/>
            </a:avLst>
          </a:prstGeom>
          <a:solidFill>
            <a:srgbClr val="332616"/>
          </a:solidFill>
          <a:ln w="12700">
            <a:solidFill>
              <a:srgbClr val="6B4E2E"/>
            </a:solidFill>
            <a:prstDash val="solid"/>
          </a:ln>
        </p:spPr>
      </p:sp>
      <p:sp>
        <p:nvSpPr>
          <p:cNvPr id="7" name="Text 5"/>
          <p:cNvSpPr txBox="1"/>
          <p:nvPr/>
        </p:nvSpPr>
        <p:spPr>
          <a:xfrm>
            <a:off x="731520" y="3401568"/>
            <a:ext cx="10515600" cy="594360"/>
          </a:xfrm>
          <a:prstGeom prst="rect">
            <a:avLst/>
          </a:prstGeom>
          <a:noFill/>
          <a:ln/>
        </p:spPr>
        <p:txBody>
          <a:bodyPr wrap="square" lIns="0" tIns="0" rIns="0" bIns="0" rtlCol="0" anchor="ctr"/>
          <a:lstStyle/>
          <a:p>
            <a:pPr indent="0" marL="0">
              <a:buNone/>
            </a:pPr>
            <a:r>
              <a:rPr lang="en-US" sz="1050" dirty="0">
                <a:solidFill>
                  <a:srgbClr val="F2C879"/>
                </a:solidFill>
                <a:latin typeface="Calibri" pitchFamily="34" charset="0"/>
                <a:ea typeface="Calibri" pitchFamily="34" charset="-122"/>
                <a:cs typeface="Calibri" pitchFamily="34" charset="-120"/>
              </a:rPr>
              <a:t>⚠ 予約変更・キャンセル: 公式Exam Guideでは「24時間前まで無料」、Pearson VUE公式ページでは「48時間前まで」と記載に差異あり。余裕を持って48時間前までに済ませるのが安全</a:t>
            </a:r>
            <a:endParaRPr lang="en-US" sz="1050" dirty="0"/>
          </a:p>
        </p:txBody>
      </p:sp>
      <p:sp>
        <p:nvSpPr>
          <p:cNvPr id="8" name="Text 6"/>
          <p:cNvSpPr txBox="1"/>
          <p:nvPr/>
        </p:nvSpPr>
        <p:spPr>
          <a:xfrm>
            <a:off x="548640" y="4251960"/>
            <a:ext cx="10881360" cy="320040"/>
          </a:xfrm>
          <a:prstGeom prst="rect">
            <a:avLst/>
          </a:prstGeom>
          <a:noFill/>
          <a:ln/>
        </p:spPr>
        <p:txBody>
          <a:bodyPr wrap="square" lIns="0" tIns="0" rIns="0" bIns="0" rtlCol="0" anchor="ctr"/>
          <a:lstStyle/>
          <a:p>
            <a:pPr indent="0" marL="0">
              <a:buNone/>
            </a:pPr>
            <a:r>
              <a:rPr lang="en-US" sz="1350" b="1" dirty="0">
                <a:solidFill>
                  <a:srgbClr val="2CB1BC"/>
                </a:solidFill>
                <a:latin typeface="Calibri" pitchFamily="34" charset="0"/>
                <a:ea typeface="Calibri" pitchFamily="34" charset="-122"/>
                <a:cs typeface="Calibri" pitchFamily="34" charset="-120"/>
              </a:rPr>
              <a:t>本人確認・受験資格</a:t>
            </a:r>
            <a:endParaRPr lang="en-US" sz="1350" dirty="0"/>
          </a:p>
        </p:txBody>
      </p:sp>
      <p:sp>
        <p:nvSpPr>
          <p:cNvPr id="9" name="Text 7"/>
          <p:cNvSpPr txBox="1"/>
          <p:nvPr/>
        </p:nvSpPr>
        <p:spPr>
          <a:xfrm>
            <a:off x="548640" y="4572000"/>
            <a:ext cx="10881360" cy="1554480"/>
          </a:xfrm>
          <a:prstGeom prst="rect">
            <a:avLst/>
          </a:prstGeom>
          <a:noFill/>
          <a:ln/>
        </p:spPr>
        <p:txBody>
          <a:bodyPr wrap="square" lIns="0" tIns="0" rIns="0" bIns="0" rtlCol="0" anchor="ctr"/>
          <a:lstStyle/>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受験資格: Claude Partner Network(CPN)加盟企業に所属する者のみ(会社用メールアドレスでの登録が必要)</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本人確認: 政府発行の有効な写真付き身分証が必要。登録名と完全一致している必要がある</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試験開始前に機密保持・秘密保持契約(NDA)への同意が必須。同意しない場合、返金なしでセッション終了</a:t>
            </a:r>
            <a:endParaRPr lang="en-US" sz="1150" dirty="0"/>
          </a:p>
        </p:txBody>
      </p:sp>
      <p:sp>
        <p:nvSpPr>
          <p:cNvPr id="10" name="Text 8"/>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セクション10・11・13 + Pearson VUE公式ページ</a:t>
            </a:r>
            <a:endParaRPr lang="en-US" sz="90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6</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試験ポリシー(2/2): 再受験・資格維持</a:t>
            </a:r>
            <a:endParaRPr lang="en-US" sz="2200" dirty="0"/>
          </a:p>
        </p:txBody>
      </p:sp>
      <p:sp>
        <p:nvSpPr>
          <p:cNvPr id="4" name="Text 2"/>
          <p:cNvSpPr txBox="1"/>
          <p:nvPr/>
        </p:nvSpPr>
        <p:spPr>
          <a:xfrm>
            <a:off x="548640" y="1371600"/>
            <a:ext cx="530352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再受験ポリシー</a:t>
            </a:r>
            <a:endParaRPr lang="en-US" sz="1350" dirty="0"/>
          </a:p>
        </p:txBody>
      </p:sp>
      <p:sp>
        <p:nvSpPr>
          <p:cNvPr id="5" name="Shape 3"/>
          <p:cNvSpPr/>
          <p:nvPr/>
        </p:nvSpPr>
        <p:spPr>
          <a:xfrm>
            <a:off x="548640" y="1737360"/>
            <a:ext cx="1691640" cy="960120"/>
          </a:xfrm>
          <a:prstGeom prst="roundRect">
            <a:avLst>
              <a:gd name="adj" fmla="val 7619"/>
            </a:avLst>
          </a:prstGeom>
          <a:solidFill>
            <a:srgbClr val="FFFFFF"/>
          </a:solidFill>
          <a:ln w="12700">
            <a:solidFill>
              <a:srgbClr val="E1E6F0"/>
            </a:solidFill>
            <a:prstDash val="solid"/>
          </a:ln>
          <a:effectLst>
            <a:outerShdw sx="100000" sy="100000" kx="0" ky="0" algn="bl" rotWithShape="0" blurRad="63500" dist="25400" dir="5400000">
              <a:srgbClr val="000000">
                <a:alpha val="8000"/>
              </a:srgbClr>
            </a:outerShdw>
          </a:effectLst>
        </p:spPr>
      </p:sp>
      <p:sp>
        <p:nvSpPr>
          <p:cNvPr id="6" name="Text 4"/>
          <p:cNvSpPr txBox="1"/>
          <p:nvPr/>
        </p:nvSpPr>
        <p:spPr>
          <a:xfrm>
            <a:off x="548640" y="1828800"/>
            <a:ext cx="1691640" cy="457200"/>
          </a:xfrm>
          <a:prstGeom prst="rect">
            <a:avLst/>
          </a:prstGeom>
          <a:noFill/>
          <a:ln/>
        </p:spPr>
        <p:txBody>
          <a:bodyPr wrap="square" lIns="0" tIns="0" rIns="0" bIns="0" rtlCol="0" anchor="ctr"/>
          <a:lstStyle/>
          <a:p>
            <a:pPr algn="ctr" indent="0" marL="0">
              <a:buNone/>
            </a:pPr>
            <a:r>
              <a:rPr lang="en-US" sz="1700" b="1" dirty="0">
                <a:solidFill>
                  <a:srgbClr val="3E64FF"/>
                </a:solidFill>
                <a:latin typeface="Calibri" pitchFamily="34" charset="0"/>
                <a:ea typeface="Calibri" pitchFamily="34" charset="-122"/>
                <a:cs typeface="Calibri" pitchFamily="34" charset="-120"/>
              </a:rPr>
              <a:t>14日</a:t>
            </a:r>
            <a:endParaRPr lang="en-US" sz="1700" dirty="0"/>
          </a:p>
        </p:txBody>
      </p:sp>
      <p:sp>
        <p:nvSpPr>
          <p:cNvPr id="7" name="Text 5"/>
          <p:cNvSpPr txBox="1"/>
          <p:nvPr/>
        </p:nvSpPr>
        <p:spPr>
          <a:xfrm>
            <a:off x="548640" y="2286000"/>
            <a:ext cx="1691640" cy="365760"/>
          </a:xfrm>
          <a:prstGeom prst="rect">
            <a:avLst/>
          </a:prstGeom>
          <a:noFill/>
          <a:ln/>
        </p:spPr>
        <p:txBody>
          <a:bodyPr wrap="square" lIns="0" tIns="0" rIns="0" bIns="0" rtlCol="0" anchor="ctr"/>
          <a:lstStyle/>
          <a:p>
            <a:pPr algn="ctr" indent="0" marL="0">
              <a:buNone/>
            </a:pPr>
            <a:r>
              <a:rPr lang="en-US" sz="900" dirty="0">
                <a:solidFill>
                  <a:srgbClr val="5B6B8C"/>
                </a:solidFill>
                <a:latin typeface="Calibri" pitchFamily="34" charset="0"/>
                <a:ea typeface="Calibri" pitchFamily="34" charset="-122"/>
                <a:cs typeface="Calibri" pitchFamily="34" charset="-120"/>
              </a:rPr>
              <a:t>1回目不合格後</a:t>
            </a:r>
            <a:endParaRPr lang="en-US" sz="900" dirty="0"/>
          </a:p>
        </p:txBody>
      </p:sp>
      <p:sp>
        <p:nvSpPr>
          <p:cNvPr id="8" name="Shape 6"/>
          <p:cNvSpPr/>
          <p:nvPr/>
        </p:nvSpPr>
        <p:spPr>
          <a:xfrm>
            <a:off x="2377440" y="1737360"/>
            <a:ext cx="1691640" cy="960120"/>
          </a:xfrm>
          <a:prstGeom prst="roundRect">
            <a:avLst>
              <a:gd name="adj" fmla="val 7619"/>
            </a:avLst>
          </a:prstGeom>
          <a:solidFill>
            <a:srgbClr val="FFFFFF"/>
          </a:solidFill>
          <a:ln w="12700">
            <a:solidFill>
              <a:srgbClr val="E1E6F0"/>
            </a:solidFill>
            <a:prstDash val="solid"/>
          </a:ln>
          <a:effectLst>
            <a:outerShdw sx="100000" sy="100000" kx="0" ky="0" algn="bl" rotWithShape="0" blurRad="63500" dist="25400" dir="5400000">
              <a:srgbClr val="000000">
                <a:alpha val="8000"/>
              </a:srgbClr>
            </a:outerShdw>
          </a:effectLst>
        </p:spPr>
      </p:sp>
      <p:sp>
        <p:nvSpPr>
          <p:cNvPr id="9" name="Text 7"/>
          <p:cNvSpPr txBox="1"/>
          <p:nvPr/>
        </p:nvSpPr>
        <p:spPr>
          <a:xfrm>
            <a:off x="2377440" y="1828800"/>
            <a:ext cx="1691640" cy="457200"/>
          </a:xfrm>
          <a:prstGeom prst="rect">
            <a:avLst/>
          </a:prstGeom>
          <a:noFill/>
          <a:ln/>
        </p:spPr>
        <p:txBody>
          <a:bodyPr wrap="square" lIns="0" tIns="0" rIns="0" bIns="0" rtlCol="0" anchor="ctr"/>
          <a:lstStyle/>
          <a:p>
            <a:pPr algn="ctr" indent="0" marL="0">
              <a:buNone/>
            </a:pPr>
            <a:r>
              <a:rPr lang="en-US" sz="1700" b="1" dirty="0">
                <a:solidFill>
                  <a:srgbClr val="3E64FF"/>
                </a:solidFill>
                <a:latin typeface="Calibri" pitchFamily="34" charset="0"/>
                <a:ea typeface="Calibri" pitchFamily="34" charset="-122"/>
                <a:cs typeface="Calibri" pitchFamily="34" charset="-120"/>
              </a:rPr>
              <a:t>30日</a:t>
            </a:r>
            <a:endParaRPr lang="en-US" sz="1700" dirty="0"/>
          </a:p>
        </p:txBody>
      </p:sp>
      <p:sp>
        <p:nvSpPr>
          <p:cNvPr id="10" name="Text 8"/>
          <p:cNvSpPr txBox="1"/>
          <p:nvPr/>
        </p:nvSpPr>
        <p:spPr>
          <a:xfrm>
            <a:off x="2377440" y="2286000"/>
            <a:ext cx="1691640" cy="365760"/>
          </a:xfrm>
          <a:prstGeom prst="rect">
            <a:avLst/>
          </a:prstGeom>
          <a:noFill/>
          <a:ln/>
        </p:spPr>
        <p:txBody>
          <a:bodyPr wrap="square" lIns="0" tIns="0" rIns="0" bIns="0" rtlCol="0" anchor="ctr"/>
          <a:lstStyle/>
          <a:p>
            <a:pPr algn="ctr" indent="0" marL="0">
              <a:buNone/>
            </a:pPr>
            <a:r>
              <a:rPr lang="en-US" sz="900" dirty="0">
                <a:solidFill>
                  <a:srgbClr val="5B6B8C"/>
                </a:solidFill>
                <a:latin typeface="Calibri" pitchFamily="34" charset="0"/>
                <a:ea typeface="Calibri" pitchFamily="34" charset="-122"/>
                <a:cs typeface="Calibri" pitchFamily="34" charset="-120"/>
              </a:rPr>
              <a:t>2回目不合格後</a:t>
            </a:r>
            <a:endParaRPr lang="en-US" sz="900" dirty="0"/>
          </a:p>
        </p:txBody>
      </p:sp>
      <p:sp>
        <p:nvSpPr>
          <p:cNvPr id="11" name="Shape 9"/>
          <p:cNvSpPr/>
          <p:nvPr/>
        </p:nvSpPr>
        <p:spPr>
          <a:xfrm>
            <a:off x="4206240" y="1737360"/>
            <a:ext cx="1691640" cy="960120"/>
          </a:xfrm>
          <a:prstGeom prst="roundRect">
            <a:avLst>
              <a:gd name="adj" fmla="val 7619"/>
            </a:avLst>
          </a:prstGeom>
          <a:solidFill>
            <a:srgbClr val="FFFFFF"/>
          </a:solidFill>
          <a:ln w="12700">
            <a:solidFill>
              <a:srgbClr val="E1E6F0"/>
            </a:solidFill>
            <a:prstDash val="solid"/>
          </a:ln>
          <a:effectLst>
            <a:outerShdw sx="100000" sy="100000" kx="0" ky="0" algn="bl" rotWithShape="0" blurRad="63500" dist="25400" dir="5400000">
              <a:srgbClr val="000000">
                <a:alpha val="8000"/>
              </a:srgbClr>
            </a:outerShdw>
          </a:effectLst>
        </p:spPr>
      </p:sp>
      <p:sp>
        <p:nvSpPr>
          <p:cNvPr id="12" name="Text 10"/>
          <p:cNvSpPr txBox="1"/>
          <p:nvPr/>
        </p:nvSpPr>
        <p:spPr>
          <a:xfrm>
            <a:off x="4206240" y="1828800"/>
            <a:ext cx="1691640" cy="457200"/>
          </a:xfrm>
          <a:prstGeom prst="rect">
            <a:avLst/>
          </a:prstGeom>
          <a:noFill/>
          <a:ln/>
        </p:spPr>
        <p:txBody>
          <a:bodyPr wrap="square" lIns="0" tIns="0" rIns="0" bIns="0" rtlCol="0" anchor="ctr"/>
          <a:lstStyle/>
          <a:p>
            <a:pPr algn="ctr" indent="0" marL="0">
              <a:buNone/>
            </a:pPr>
            <a:r>
              <a:rPr lang="en-US" sz="1700" b="1" dirty="0">
                <a:solidFill>
                  <a:srgbClr val="3E64FF"/>
                </a:solidFill>
                <a:latin typeface="Calibri" pitchFamily="34" charset="0"/>
                <a:ea typeface="Calibri" pitchFamily="34" charset="-122"/>
                <a:cs typeface="Calibri" pitchFamily="34" charset="-120"/>
              </a:rPr>
              <a:t>90日</a:t>
            </a:r>
            <a:endParaRPr lang="en-US" sz="1700" dirty="0"/>
          </a:p>
        </p:txBody>
      </p:sp>
      <p:sp>
        <p:nvSpPr>
          <p:cNvPr id="13" name="Text 11"/>
          <p:cNvSpPr txBox="1"/>
          <p:nvPr/>
        </p:nvSpPr>
        <p:spPr>
          <a:xfrm>
            <a:off x="4206240" y="2286000"/>
            <a:ext cx="1691640" cy="365760"/>
          </a:xfrm>
          <a:prstGeom prst="rect">
            <a:avLst/>
          </a:prstGeom>
          <a:noFill/>
          <a:ln/>
        </p:spPr>
        <p:txBody>
          <a:bodyPr wrap="square" lIns="0" tIns="0" rIns="0" bIns="0" rtlCol="0" anchor="ctr"/>
          <a:lstStyle/>
          <a:p>
            <a:pPr algn="ctr" indent="0" marL="0">
              <a:buNone/>
            </a:pPr>
            <a:r>
              <a:rPr lang="en-US" sz="900" dirty="0">
                <a:solidFill>
                  <a:srgbClr val="5B6B8C"/>
                </a:solidFill>
                <a:latin typeface="Calibri" pitchFamily="34" charset="0"/>
                <a:ea typeface="Calibri" pitchFamily="34" charset="-122"/>
                <a:cs typeface="Calibri" pitchFamily="34" charset="-120"/>
              </a:rPr>
              <a:t>3回目不合格後</a:t>
            </a:r>
            <a:endParaRPr lang="en-US" sz="900" dirty="0"/>
          </a:p>
        </p:txBody>
      </p:sp>
      <p:sp>
        <p:nvSpPr>
          <p:cNvPr id="14" name="Text 12"/>
          <p:cNvSpPr txBox="1"/>
          <p:nvPr/>
        </p:nvSpPr>
        <p:spPr>
          <a:xfrm>
            <a:off x="548640" y="2880360"/>
            <a:ext cx="5303520" cy="73152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任意の連続する12ヶ月以内に最大4回まで受験可能(上限は試験ごとに適用)。受験料は毎回必要</a:t>
            </a:r>
            <a:endParaRPr lang="en-US" sz="1050" dirty="0"/>
          </a:p>
        </p:txBody>
      </p:sp>
      <p:sp>
        <p:nvSpPr>
          <p:cNvPr id="15" name="Text 13"/>
          <p:cNvSpPr txBox="1"/>
          <p:nvPr/>
        </p:nvSpPr>
        <p:spPr>
          <a:xfrm>
            <a:off x="6126480" y="1371600"/>
            <a:ext cx="530352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資格の維持と再認定</a:t>
            </a:r>
            <a:endParaRPr lang="en-US" sz="1350" dirty="0"/>
          </a:p>
        </p:txBody>
      </p:sp>
      <p:sp>
        <p:nvSpPr>
          <p:cNvPr id="16" name="Shape 14"/>
          <p:cNvSpPr/>
          <p:nvPr/>
        </p:nvSpPr>
        <p:spPr>
          <a:xfrm>
            <a:off x="6126480" y="1737360"/>
            <a:ext cx="5303520" cy="1874520"/>
          </a:xfrm>
          <a:prstGeom prst="roundRect">
            <a:avLst>
              <a:gd name="adj" fmla="val 3902"/>
            </a:avLst>
          </a:prstGeom>
          <a:solidFill>
            <a:srgbClr val="F5F7FB"/>
          </a:solidFill>
          <a:ln w="12700">
            <a:solidFill>
              <a:srgbClr val="E1E6F0"/>
            </a:solidFill>
            <a:prstDash val="solid"/>
          </a:ln>
        </p:spPr>
      </p:sp>
      <p:sp>
        <p:nvSpPr>
          <p:cNvPr id="17" name="Text 15"/>
          <p:cNvSpPr txBox="1"/>
          <p:nvPr/>
        </p:nvSpPr>
        <p:spPr>
          <a:xfrm>
            <a:off x="6309360" y="1874520"/>
            <a:ext cx="4937760" cy="164592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16213E"/>
                </a:solidFill>
                <a:latin typeface="Calibri" pitchFamily="34" charset="0"/>
                <a:ea typeface="Calibri" pitchFamily="34" charset="-122"/>
                <a:cs typeface="Calibri" pitchFamily="34" charset="-120"/>
              </a:rPr>
              <a:t>有効期間: 認定日から12ヶ月</a:t>
            </a:r>
            <a:endParaRPr lang="en-US" sz="1000" dirty="0"/>
          </a:p>
          <a:p>
            <a:pPr marL="342900" indent="-342900">
              <a:spcAft>
                <a:spcPts val="400"/>
              </a:spcAft>
              <a:buSzPct val="100000"/>
              <a:buChar char="•"/>
            </a:pPr>
            <a:r>
              <a:rPr lang="en-US" sz="1000" dirty="0">
                <a:solidFill>
                  <a:srgbClr val="16213E"/>
                </a:solidFill>
                <a:latin typeface="Calibri" pitchFamily="34" charset="0"/>
                <a:ea typeface="Calibri" pitchFamily="34" charset="-122"/>
                <a:cs typeface="Calibri" pitchFamily="34" charset="-120"/>
              </a:rPr>
              <a:t>期限内更新: Partner Academyでの無料・監督なしアセスメントで完了(費用なし)</a:t>
            </a:r>
            <a:endParaRPr lang="en-US" sz="1000" dirty="0"/>
          </a:p>
          <a:p>
            <a:pPr marL="342900" indent="-342900">
              <a:spcAft>
                <a:spcPts val="400"/>
              </a:spcAft>
              <a:buSzPct val="100000"/>
              <a:buChar char="•"/>
            </a:pPr>
            <a:r>
              <a:rPr lang="en-US" sz="1000" dirty="0">
                <a:solidFill>
                  <a:srgbClr val="16213E"/>
                </a:solidFill>
                <a:latin typeface="Calibri" pitchFamily="34" charset="0"/>
                <a:ea typeface="Calibri" pitchFamily="34" charset="-122"/>
                <a:cs typeface="Calibri" pitchFamily="34" charset="-120"/>
              </a:rPr>
              <a:t>失効した場合: 正規の受験料でフル試験を再受験</a:t>
            </a:r>
            <a:endParaRPr lang="en-US" sz="1000" dirty="0"/>
          </a:p>
          <a:p>
            <a:pPr marL="342900" indent="-342900">
              <a:spcAft>
                <a:spcPts val="400"/>
              </a:spcAft>
              <a:buSzPct val="100000"/>
              <a:buChar char="•"/>
            </a:pPr>
            <a:r>
              <a:rPr lang="en-US" sz="1000" dirty="0">
                <a:solidFill>
                  <a:srgbClr val="16213E"/>
                </a:solidFill>
                <a:latin typeface="Calibri" pitchFamily="34" charset="0"/>
                <a:ea typeface="Calibri" pitchFamily="34" charset="-122"/>
                <a:cs typeface="Calibri" pitchFamily="34" charset="-120"/>
              </a:rPr>
              <a:t>試験内容が大幅変更された場合、フル試験の再受験を求められることがある</a:t>
            </a:r>
            <a:endParaRPr lang="en-US" sz="1000" dirty="0"/>
          </a:p>
        </p:txBody>
      </p:sp>
      <p:sp>
        <p:nvSpPr>
          <p:cNvPr id="18" name="Text 16"/>
          <p:cNvSpPr txBox="1"/>
          <p:nvPr/>
        </p:nvSpPr>
        <p:spPr>
          <a:xfrm>
            <a:off x="548640" y="3840480"/>
            <a:ext cx="1088136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試験当日のルール(抜粋)</a:t>
            </a:r>
            <a:endParaRPr lang="en-US" sz="1350" dirty="0"/>
          </a:p>
        </p:txBody>
      </p:sp>
      <p:sp>
        <p:nvSpPr>
          <p:cNvPr id="19" name="Text 17"/>
          <p:cNvSpPr txBox="1"/>
          <p:nvPr/>
        </p:nvSpPr>
        <p:spPr>
          <a:xfrm>
            <a:off x="548640" y="4160520"/>
            <a:ext cx="10881360" cy="118872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16213E"/>
                </a:solidFill>
                <a:latin typeface="Calibri" pitchFamily="34" charset="0"/>
                <a:ea typeface="Calibri" pitchFamily="34" charset="-122"/>
                <a:cs typeface="Calibri" pitchFamily="34" charset="-120"/>
              </a:rPr>
              <a:t>オンライン受験: セッション中は常に試験監督者・ウェブカメラの視界内にとどまる</a:t>
            </a:r>
            <a:endParaRPr lang="en-US" sz="1100" dirty="0"/>
          </a:p>
          <a:p>
            <a:pPr marL="342900" indent="-342900">
              <a:spcAft>
                <a:spcPts val="400"/>
              </a:spcAft>
              <a:buSzPct val="100000"/>
              <a:buChar char="•"/>
            </a:pPr>
            <a:r>
              <a:rPr lang="en-US" sz="1100" dirty="0">
                <a:solidFill>
                  <a:srgbClr val="16213E"/>
                </a:solidFill>
                <a:latin typeface="Calibri" pitchFamily="34" charset="0"/>
                <a:ea typeface="Calibri" pitchFamily="34" charset="-122"/>
                <a:cs typeface="Calibri" pitchFamily="34" charset="-120"/>
              </a:rPr>
              <a:t>持ち込み禁止: 携帯電話・スマートウォッチ・ヘッドホン・学習教材・録音録画機器</a:t>
            </a:r>
            <a:endParaRPr lang="en-US" sz="1100" dirty="0"/>
          </a:p>
          <a:p>
            <a:pPr marL="342900" indent="-342900">
              <a:spcAft>
                <a:spcPts val="400"/>
              </a:spcAft>
              <a:buSzPct val="100000"/>
              <a:buChar char="•"/>
            </a:pPr>
            <a:r>
              <a:rPr lang="en-US" sz="1100" dirty="0">
                <a:solidFill>
                  <a:srgbClr val="16213E"/>
                </a:solidFill>
                <a:latin typeface="Calibri" pitchFamily="34" charset="0"/>
                <a:ea typeface="Calibri" pitchFamily="34" charset="-122"/>
                <a:cs typeface="Calibri" pitchFamily="34" charset="-120"/>
              </a:rPr>
              <a:t>不正行為(カンニング・内容の開示等)は、結果無効化・資格取消・今後の受験禁止につながる</a:t>
            </a:r>
            <a:endParaRPr lang="en-US" sz="1100" dirty="0"/>
          </a:p>
        </p:txBody>
      </p:sp>
      <p:sp>
        <p:nvSpPr>
          <p:cNvPr id="20" name="Text 18"/>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セクション11・12・14</a:t>
            </a:r>
            <a:endParaRPr lang="en-US" sz="90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7</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他のClaude認定資格との違い</a:t>
            </a:r>
            <a:endParaRPr lang="en-US" sz="2200" dirty="0"/>
          </a:p>
        </p:txBody>
      </p:sp>
      <p:sp>
        <p:nvSpPr>
          <p:cNvPr id="4" name="Text 2"/>
          <p:cNvSpPr txBox="1"/>
          <p:nvPr/>
        </p:nvSpPr>
        <p:spPr>
          <a:xfrm>
            <a:off x="548640" y="1371600"/>
            <a:ext cx="10881360" cy="365760"/>
          </a:xfrm>
          <a:prstGeom prst="rect">
            <a:avLst/>
          </a:prstGeom>
          <a:noFill/>
          <a:ln/>
        </p:spPr>
        <p:txBody>
          <a:bodyPr wrap="square" lIns="0" tIns="0" rIns="0" bIns="0" rtlCol="0" anchor="ctr"/>
          <a:lstStyle/>
          <a:p>
            <a:pPr indent="0" marL="0">
              <a:buNone/>
            </a:pPr>
            <a:r>
              <a:rPr lang="en-US" sz="1150" i="1" dirty="0">
                <a:solidFill>
                  <a:srgbClr val="B9C4DB"/>
                </a:solidFill>
                <a:latin typeface="Calibri" pitchFamily="34" charset="0"/>
                <a:ea typeface="Calibri" pitchFamily="34" charset="-122"/>
                <a:cs typeface="Calibri" pitchFamily="34" charset="-120"/>
              </a:rPr>
              <a:t>Claude認定資格は2026年3月のCPN発足時はCCAR-Fのみ、2026年7月から4資格体制に拡大(参考: 第三者記事より)</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2560320"/>
        </p:xfrm>
        <a:graphic>
          <a:graphicData uri="http://schemas.openxmlformats.org/drawingml/2006/table">
            <a:tbl>
              <a:tblPr/>
              <a:tblGrid>
                <a:gridCol w="3931920"/>
                <a:gridCol w="1463040"/>
                <a:gridCol w="1188720"/>
                <a:gridCol w="1005840"/>
                <a:gridCol w="3474720"/>
              </a:tblGrid>
              <a:tr h="51206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資格</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試験コード</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受験料</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出題数</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主な対象者</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r>
              <a:tr h="512064">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Claude Certified Associate – Foundations</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CCAO-F</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60問</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業務でClaudeを使うビジネス職(本資料)</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12064">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Claude Certified Developer – Foundations</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CCDV-F</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53問</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Claude API・Agent SDKで開発するエンジニア</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12064">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Claude Certified Architect – Foundations</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CCAR-F</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60問</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本番ソリューションを設計するアーキテクト</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12064">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Claude Certified Architect – Professional</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CCAR-P</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$175</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63問</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ミドル〜シニアのアーキテクト・テックリード</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bl>
          </a:graphicData>
        </a:graphic>
      </p:graphicFrame>
      <p:sp>
        <p:nvSpPr>
          <p:cNvPr id="6" name="Text 3"/>
          <p:cNvSpPr txBox="1"/>
          <p:nvPr/>
        </p:nvSpPr>
        <p:spPr>
          <a:xfrm>
            <a:off x="548640" y="4754880"/>
            <a:ext cx="11064240" cy="822960"/>
          </a:xfrm>
          <a:prstGeom prst="rect">
            <a:avLst/>
          </a:prstGeom>
          <a:noFill/>
          <a:ln/>
        </p:spPr>
        <p:txBody>
          <a:bodyPr wrap="square" lIns="0" tIns="0" rIns="0" bIns="0" rtlCol="0" anchor="ctr"/>
          <a:lstStyle/>
          <a:p>
            <a:pPr indent="0" marL="0">
              <a:buNone/>
            </a:pPr>
            <a:r>
              <a:rPr lang="en-US" sz="1100" i="1" dirty="0">
                <a:solidFill>
                  <a:srgbClr val="B9C4DB"/>
                </a:solidFill>
                <a:latin typeface="Calibri" pitchFamily="34" charset="0"/>
                <a:ea typeface="Calibri" pitchFamily="34" charset="-122"/>
                <a:cs typeface="Calibri" pitchFamily="34" charset="-120"/>
              </a:rPr>
              <a:t>コーディング前提ならCCAO-F、API/MCP開発担当ならCCDV-F、というように担当業務で選ぶのが基本。CCAO-FはPartner Networkのティア要件にはカウントされない(個人のスキル証明目的)</a:t>
            </a:r>
            <a:endParaRPr lang="en-US" sz="1100" dirty="0"/>
          </a:p>
        </p:txBody>
      </p:sp>
      <p:sp>
        <p:nvSpPr>
          <p:cNvPr id="7" name="Text 4"/>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第三者記事(Qiita・note.com等)より。本リポジトリの cca-f-study-guide.pptx はCCAR-F対応</a:t>
            </a:r>
            <a:endParaRPr lang="en-US" sz="900" dirty="0"/>
          </a:p>
        </p:txBody>
      </p:sp>
      <p:sp>
        <p:nvSpPr>
          <p:cNvPr id="8" name="Text 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881360" cy="64008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用語集・頻出の誤答パターン・まとめ</a:t>
            </a:r>
            <a:endParaRPr lang="en-US" sz="2800" dirty="0"/>
          </a:p>
        </p:txBody>
      </p:sp>
      <p:sp>
        <p:nvSpPr>
          <p:cNvPr id="3" name="Text 1"/>
          <p:cNvSpPr txBox="1"/>
          <p:nvPr/>
        </p:nvSpPr>
        <p:spPr>
          <a:xfrm>
            <a:off x="548640" y="1234440"/>
            <a:ext cx="5303520" cy="320040"/>
          </a:xfrm>
          <a:prstGeom prst="rect">
            <a:avLst/>
          </a:prstGeom>
          <a:noFill/>
          <a:ln/>
        </p:spPr>
        <p:txBody>
          <a:bodyPr wrap="square" lIns="0" tIns="0" rIns="0" bIns="0" rtlCol="0" anchor="ctr"/>
          <a:lstStyle/>
          <a:p>
            <a:pPr indent="0" marL="0">
              <a:buNone/>
            </a:pPr>
            <a:r>
              <a:rPr lang="en-US" sz="1300" b="1" dirty="0">
                <a:solidFill>
                  <a:srgbClr val="3E64FF"/>
                </a:solidFill>
                <a:latin typeface="Calibri" pitchFamily="34" charset="0"/>
                <a:ea typeface="Calibri" pitchFamily="34" charset="-122"/>
                <a:cs typeface="Calibri" pitchFamily="34" charset="-120"/>
              </a:rPr>
              <a:t>重要用語</a:t>
            </a:r>
            <a:endParaRPr lang="en-US" sz="1300" dirty="0"/>
          </a:p>
        </p:txBody>
      </p:sp>
      <p:sp>
        <p:nvSpPr>
          <p:cNvPr id="4" name="Text 2"/>
          <p:cNvSpPr txBox="1"/>
          <p:nvPr/>
        </p:nvSpPr>
        <p:spPr>
          <a:xfrm>
            <a:off x="548640" y="1554480"/>
            <a:ext cx="1645920" cy="502920"/>
          </a:xfrm>
          <a:prstGeom prst="rect">
            <a:avLst/>
          </a:prstGeom>
          <a:noFill/>
          <a:ln/>
        </p:spPr>
        <p:txBody>
          <a:bodyPr wrap="square" lIns="0" tIns="0" rIns="0" bIns="0" rtlCol="0" anchor="t"/>
          <a:lstStyle/>
          <a:p>
            <a:pPr indent="0" marL="0">
              <a:buNone/>
            </a:pPr>
            <a:r>
              <a:rPr lang="en-US" sz="1050" b="1" dirty="0">
                <a:solidFill>
                  <a:srgbClr val="2CB1BC"/>
                </a:solidFill>
                <a:latin typeface="Calibri" pitchFamily="34" charset="0"/>
                <a:ea typeface="Calibri" pitchFamily="34" charset="-122"/>
                <a:cs typeface="Calibri" pitchFamily="34" charset="-120"/>
              </a:rPr>
              <a:t>ハルシネーション</a:t>
            </a:r>
            <a:endParaRPr lang="en-US" sz="1050" dirty="0"/>
          </a:p>
        </p:txBody>
      </p:sp>
      <p:sp>
        <p:nvSpPr>
          <p:cNvPr id="5" name="Text 3"/>
          <p:cNvSpPr txBox="1"/>
          <p:nvPr/>
        </p:nvSpPr>
        <p:spPr>
          <a:xfrm>
            <a:off x="2286000" y="1554480"/>
            <a:ext cx="3566160" cy="502920"/>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AIが事実と異なる情報をもっともらしく生成する現象</a:t>
            </a:r>
            <a:endParaRPr lang="en-US" sz="950" dirty="0"/>
          </a:p>
        </p:txBody>
      </p:sp>
      <p:sp>
        <p:nvSpPr>
          <p:cNvPr id="6" name="Text 4"/>
          <p:cNvSpPr txBox="1"/>
          <p:nvPr/>
        </p:nvSpPr>
        <p:spPr>
          <a:xfrm>
            <a:off x="548640" y="2130552"/>
            <a:ext cx="1645920" cy="502920"/>
          </a:xfrm>
          <a:prstGeom prst="rect">
            <a:avLst/>
          </a:prstGeom>
          <a:noFill/>
          <a:ln/>
        </p:spPr>
        <p:txBody>
          <a:bodyPr wrap="square" lIns="0" tIns="0" rIns="0" bIns="0" rtlCol="0" anchor="t"/>
          <a:lstStyle/>
          <a:p>
            <a:pPr indent="0" marL="0">
              <a:buNone/>
            </a:pPr>
            <a:r>
              <a:rPr lang="en-US" sz="1050" b="1" dirty="0">
                <a:solidFill>
                  <a:srgbClr val="2CB1BC"/>
                </a:solidFill>
                <a:latin typeface="Calibri" pitchFamily="34" charset="0"/>
                <a:ea typeface="Calibri" pitchFamily="34" charset="-122"/>
                <a:cs typeface="Calibri" pitchFamily="34" charset="-120"/>
              </a:rPr>
              <a:t>MQC</a:t>
            </a:r>
            <a:endParaRPr lang="en-US" sz="1050" dirty="0"/>
          </a:p>
        </p:txBody>
      </p:sp>
      <p:sp>
        <p:nvSpPr>
          <p:cNvPr id="7" name="Text 5"/>
          <p:cNvSpPr txBox="1"/>
          <p:nvPr/>
        </p:nvSpPr>
        <p:spPr>
          <a:xfrm>
            <a:off x="2286000" y="2130552"/>
            <a:ext cx="3566160" cy="502920"/>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最低限の能力を備えた受験者(合格基準設定の基準)</a:t>
            </a:r>
            <a:endParaRPr lang="en-US" sz="950" dirty="0"/>
          </a:p>
        </p:txBody>
      </p:sp>
      <p:sp>
        <p:nvSpPr>
          <p:cNvPr id="8" name="Text 6"/>
          <p:cNvSpPr txBox="1"/>
          <p:nvPr/>
        </p:nvSpPr>
        <p:spPr>
          <a:xfrm>
            <a:off x="548640" y="2706624"/>
            <a:ext cx="1645920" cy="502920"/>
          </a:xfrm>
          <a:prstGeom prst="rect">
            <a:avLst/>
          </a:prstGeom>
          <a:noFill/>
          <a:ln/>
        </p:spPr>
        <p:txBody>
          <a:bodyPr wrap="square" lIns="0" tIns="0" rIns="0" bIns="0" rtlCol="0" anchor="t"/>
          <a:lstStyle/>
          <a:p>
            <a:pPr indent="0" marL="0">
              <a:buNone/>
            </a:pPr>
            <a:r>
              <a:rPr lang="en-US" sz="1050" b="1" dirty="0">
                <a:solidFill>
                  <a:srgbClr val="2CB1BC"/>
                </a:solidFill>
                <a:latin typeface="Calibri" pitchFamily="34" charset="0"/>
                <a:ea typeface="Calibri" pitchFamily="34" charset="-122"/>
                <a:cs typeface="Calibri" pitchFamily="34" charset="-120"/>
              </a:rPr>
              <a:t>基準準拠型評価</a:t>
            </a:r>
            <a:endParaRPr lang="en-US" sz="1050" dirty="0"/>
          </a:p>
        </p:txBody>
      </p:sp>
      <p:sp>
        <p:nvSpPr>
          <p:cNvPr id="9" name="Text 7"/>
          <p:cNvSpPr txBox="1"/>
          <p:nvPr/>
        </p:nvSpPr>
        <p:spPr>
          <a:xfrm>
            <a:off x="2286000" y="2706624"/>
            <a:ext cx="3566160" cy="502920"/>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固定の到達基準に照らして合否を判定する方式</a:t>
            </a:r>
            <a:endParaRPr lang="en-US" sz="950" dirty="0"/>
          </a:p>
        </p:txBody>
      </p:sp>
      <p:sp>
        <p:nvSpPr>
          <p:cNvPr id="10" name="Text 8"/>
          <p:cNvSpPr txBox="1"/>
          <p:nvPr/>
        </p:nvSpPr>
        <p:spPr>
          <a:xfrm>
            <a:off x="548640" y="3282696"/>
            <a:ext cx="1645920" cy="502920"/>
          </a:xfrm>
          <a:prstGeom prst="rect">
            <a:avLst/>
          </a:prstGeom>
          <a:noFill/>
          <a:ln/>
        </p:spPr>
        <p:txBody>
          <a:bodyPr wrap="square" lIns="0" tIns="0" rIns="0" bIns="0" rtlCol="0" anchor="t"/>
          <a:lstStyle/>
          <a:p>
            <a:pPr indent="0" marL="0">
              <a:buNone/>
            </a:pPr>
            <a:r>
              <a:rPr lang="en-US" sz="1050" b="1" dirty="0">
                <a:solidFill>
                  <a:srgbClr val="2CB1BC"/>
                </a:solidFill>
                <a:latin typeface="Calibri" pitchFamily="34" charset="0"/>
                <a:ea typeface="Calibri" pitchFamily="34" charset="-122"/>
                <a:cs typeface="Calibri" pitchFamily="34" charset="-120"/>
              </a:rPr>
              <a:t>PII</a:t>
            </a:r>
            <a:endParaRPr lang="en-US" sz="1050" dirty="0"/>
          </a:p>
        </p:txBody>
      </p:sp>
      <p:sp>
        <p:nvSpPr>
          <p:cNvPr id="11" name="Text 9"/>
          <p:cNvSpPr txBox="1"/>
          <p:nvPr/>
        </p:nvSpPr>
        <p:spPr>
          <a:xfrm>
            <a:off x="2286000" y="3282696"/>
            <a:ext cx="3566160" cy="502920"/>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個人を識別できる情報(氏名・口座番号など)</a:t>
            </a:r>
            <a:endParaRPr lang="en-US" sz="950" dirty="0"/>
          </a:p>
        </p:txBody>
      </p:sp>
      <p:sp>
        <p:nvSpPr>
          <p:cNvPr id="12" name="Text 10"/>
          <p:cNvSpPr txBox="1"/>
          <p:nvPr/>
        </p:nvSpPr>
        <p:spPr>
          <a:xfrm>
            <a:off x="6126480" y="1234440"/>
            <a:ext cx="5303520" cy="320040"/>
          </a:xfrm>
          <a:prstGeom prst="rect">
            <a:avLst/>
          </a:prstGeom>
          <a:noFill/>
          <a:ln/>
        </p:spPr>
        <p:txBody>
          <a:bodyPr wrap="square" lIns="0" tIns="0" rIns="0" bIns="0" rtlCol="0" anchor="ctr"/>
          <a:lstStyle/>
          <a:p>
            <a:pPr indent="0" marL="0">
              <a:buNone/>
            </a:pPr>
            <a:r>
              <a:rPr lang="en-US" sz="1300" b="1" dirty="0">
                <a:solidFill>
                  <a:srgbClr val="3E64FF"/>
                </a:solidFill>
                <a:latin typeface="Calibri" pitchFamily="34" charset="0"/>
                <a:ea typeface="Calibri" pitchFamily="34" charset="-122"/>
                <a:cs typeface="Calibri" pitchFamily="34" charset="-120"/>
              </a:rPr>
              <a:t>頻出の誤答パターン</a:t>
            </a:r>
            <a:endParaRPr lang="en-US" sz="1300" dirty="0"/>
          </a:p>
        </p:txBody>
      </p:sp>
      <p:sp>
        <p:nvSpPr>
          <p:cNvPr id="13" name="Text 11"/>
          <p:cNvSpPr txBox="1"/>
          <p:nvPr/>
        </p:nvSpPr>
        <p:spPr>
          <a:xfrm>
            <a:off x="6126480" y="1554480"/>
            <a:ext cx="5303520" cy="237744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「AIの出力(自己申告の確信度)は常に正確」→ 誤り</a:t>
            </a:r>
            <a:endParaRPr lang="en-US" sz="1000" dirty="0"/>
          </a:p>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「常に最上位モデルが最適」→ 誤り</a:t>
            </a:r>
            <a:endParaRPr lang="en-US" sz="1000" dirty="0"/>
          </a:p>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「社内利用なら個人情報もそのままでよい」→ 誤り</a:t>
            </a:r>
            <a:endParaRPr lang="en-US" sz="1000" dirty="0"/>
          </a:p>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「一度設定すれば更新不要」→ 誤り</a:t>
            </a:r>
            <a:endParaRPr lang="en-US" sz="1000" dirty="0"/>
          </a:p>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「指摘範囲を超えて気を利かせて直す」→ 誤り</a:t>
            </a:r>
            <a:endParaRPr lang="en-US" sz="1000" dirty="0"/>
          </a:p>
        </p:txBody>
      </p:sp>
      <p:sp>
        <p:nvSpPr>
          <p:cNvPr id="14" name="Text 12"/>
          <p:cNvSpPr txBox="1"/>
          <p:nvPr/>
        </p:nvSpPr>
        <p:spPr>
          <a:xfrm>
            <a:off x="548640" y="5394960"/>
            <a:ext cx="10881360" cy="320040"/>
          </a:xfrm>
          <a:prstGeom prst="rect">
            <a:avLst/>
          </a:prstGeom>
          <a:noFill/>
          <a:ln/>
        </p:spPr>
        <p:txBody>
          <a:bodyPr wrap="square" lIns="0" tIns="0" rIns="0" bIns="0" rtlCol="0" anchor="ctr"/>
          <a:lstStyle/>
          <a:p>
            <a:pPr indent="0" marL="0">
              <a:buNone/>
            </a:pPr>
            <a:r>
              <a:rPr lang="en-US" sz="1250" b="1" dirty="0">
                <a:solidFill>
                  <a:srgbClr val="16213E"/>
                </a:solidFill>
                <a:latin typeface="Calibri" pitchFamily="34" charset="0"/>
                <a:ea typeface="Calibri" pitchFamily="34" charset="-122"/>
                <a:cs typeface="Calibri" pitchFamily="34" charset="-120"/>
              </a:rPr>
              <a:t>このノートの位置づけ</a:t>
            </a:r>
            <a:endParaRPr lang="en-US" sz="1250" dirty="0"/>
          </a:p>
        </p:txBody>
      </p:sp>
      <p:sp>
        <p:nvSpPr>
          <p:cNvPr id="15" name="Text 13"/>
          <p:cNvSpPr txBox="1"/>
          <p:nvPr/>
        </p:nvSpPr>
        <p:spPr>
          <a:xfrm>
            <a:off x="548640" y="5715000"/>
            <a:ext cx="10881360" cy="685800"/>
          </a:xfrm>
          <a:prstGeom prst="rect">
            <a:avLst/>
          </a:prstGeom>
          <a:noFill/>
          <a:ln/>
        </p:spPr>
        <p:txBody>
          <a:bodyPr wrap="square" lIns="0" tIns="0" rIns="0" bIns="0" rtlCol="0" anchor="ctr"/>
          <a:lstStyle/>
          <a:p>
            <a:pPr indent="0" marL="0">
              <a:buNone/>
            </a:pPr>
            <a:r>
              <a:rPr lang="en-US" sz="1050" i="1" dirty="0">
                <a:solidFill>
                  <a:srgbClr val="5B6B8C"/>
                </a:solidFill>
                <a:latin typeface="Calibri" pitchFamily="34" charset="0"/>
                <a:ea typeface="Calibri" pitchFamily="34" charset="-122"/>
                <a:cs typeface="Calibri" pitchFamily="34" charset="-120"/>
              </a:rPr>
              <a:t>Anthropic公式試験ガイド(バージョン1.0・2026年7月発効)+ 公式サンプル問題 + 複数の受験記事・Udemy模擬試験を統合した学習ノート。全30問の問題集(解答確認済み)は、このパワポの末尾とmd版(ccao-f-study-guide.md)の両方に収録。試験内容は2026年12月7日より更新予定のため、受験前に必ず最新版の試験ガイドを確認すること</a:t>
            </a:r>
            <a:endParaRPr lang="en-US" sz="10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213E"/>
        </a:solidFill>
      </p:bgPr>
    </p:bg>
    <p:spTree>
      <p:nvGrpSpPr>
        <p:cNvPr id="1" name=""/>
        <p:cNvGrpSpPr/>
        <p:nvPr/>
      </p:nvGrpSpPr>
      <p:grpSpPr>
        <a:xfrm>
          <a:off x="0" y="0"/>
          <a:ext cx="0" cy="0"/>
          <a:chOff x="0" y="0"/>
          <a:chExt cx="0" cy="0"/>
        </a:xfrm>
      </p:grpSpPr>
      <p:sp>
        <p:nvSpPr>
          <p:cNvPr id="2" name="Shape 0"/>
          <p:cNvSpPr/>
          <p:nvPr/>
        </p:nvSpPr>
        <p:spPr>
          <a:xfrm>
            <a:off x="8503920" y="-2011680"/>
            <a:ext cx="5852160" cy="5852160"/>
          </a:xfrm>
          <a:prstGeom prst="ellipse">
            <a:avLst/>
          </a:prstGeom>
          <a:solidFill>
            <a:srgbClr val="3E64FF">
              <a:alpha val="13000"/>
            </a:srgbClr>
          </a:solidFill>
          <a:ln/>
        </p:spPr>
      </p:sp>
      <p:sp>
        <p:nvSpPr>
          <p:cNvPr id="3" name="Text 1"/>
          <p:cNvSpPr txBox="1"/>
          <p:nvPr/>
        </p:nvSpPr>
        <p:spPr>
          <a:xfrm>
            <a:off x="731520" y="2377440"/>
            <a:ext cx="10607040" cy="914400"/>
          </a:xfrm>
          <a:prstGeom prst="rect">
            <a:avLst/>
          </a:prstGeom>
          <a:noFill/>
          <a:ln/>
        </p:spPr>
        <p:txBody>
          <a:bodyPr wrap="square" lIns="0" tIns="0" rIns="0" bIns="0" rtlCol="0" anchor="ctr"/>
          <a:lstStyle/>
          <a:p>
            <a:pPr indent="0" marL="0">
              <a:buNone/>
            </a:pPr>
            <a:r>
              <a:rPr lang="en-US" sz="3800" b="1" dirty="0">
                <a:solidFill>
                  <a:srgbClr val="F2F4F8"/>
                </a:solidFill>
                <a:latin typeface="Cambria" pitchFamily="34" charset="0"/>
                <a:ea typeface="Cambria" pitchFamily="34" charset="-122"/>
                <a:cs typeface="Cambria" pitchFamily="34" charset="-120"/>
              </a:rPr>
              <a:t>問題集(全30問)</a:t>
            </a:r>
            <a:endParaRPr lang="en-US" sz="3800" dirty="0"/>
          </a:p>
        </p:txBody>
      </p:sp>
      <p:sp>
        <p:nvSpPr>
          <p:cNvPr id="4" name="Text 2"/>
          <p:cNvSpPr txBox="1"/>
          <p:nvPr/>
        </p:nvSpPr>
        <p:spPr>
          <a:xfrm>
            <a:off x="731520" y="3246120"/>
            <a:ext cx="10607040" cy="548640"/>
          </a:xfrm>
          <a:prstGeom prst="rect">
            <a:avLst/>
          </a:prstGeom>
          <a:noFill/>
          <a:ln/>
        </p:spPr>
        <p:txBody>
          <a:bodyPr wrap="square" lIns="0" tIns="0" rIns="0" bIns="0" rtlCol="0" anchor="ctr"/>
          <a:lstStyle/>
          <a:p>
            <a:pPr indent="0" marL="0">
              <a:buNone/>
            </a:pPr>
            <a:r>
              <a:rPr lang="en-US" sz="1400" dirty="0">
                <a:solidFill>
                  <a:srgbClr val="B9C4DB"/>
                </a:solidFill>
                <a:latin typeface="Calibri" pitchFamily="34" charset="0"/>
                <a:ea typeface="Calibri" pitchFamily="34" charset="-122"/>
                <a:cs typeface="Calibri" pitchFamily="34" charset="-120"/>
              </a:rPr>
              <a:t>公式サンプル3問(問題1-3) + オリジナル練習問題8問(問題4-11) + Udemy模擬試験19問(問題12-30・解答確認済み)</a:t>
            </a:r>
            <a:endParaRPr lang="en-US" sz="1400" dirty="0"/>
          </a:p>
        </p:txBody>
      </p:sp>
      <p:sp>
        <p:nvSpPr>
          <p:cNvPr id="5" name="Text 3"/>
          <p:cNvSpPr txBox="1"/>
          <p:nvPr/>
        </p:nvSpPr>
        <p:spPr>
          <a:xfrm>
            <a:off x="731520" y="5943600"/>
            <a:ext cx="10607040" cy="365760"/>
          </a:xfrm>
          <a:prstGeom prst="rect">
            <a:avLst/>
          </a:prstGeom>
          <a:noFill/>
          <a:ln/>
        </p:spPr>
        <p:txBody>
          <a:bodyPr wrap="square" lIns="0" tIns="0" rIns="0" bIns="0" rtlCol="0" anchor="ctr"/>
          <a:lstStyle/>
          <a:p>
            <a:pPr indent="0" marL="0">
              <a:buNone/>
            </a:pPr>
            <a:r>
              <a:rPr lang="en-US" sz="1100" i="1" dirty="0">
                <a:solidFill>
                  <a:srgbClr val="2CB1BC"/>
                </a:solidFill>
                <a:latin typeface="Calibri" pitchFamily="34" charset="0"/>
                <a:ea typeface="Calibri" pitchFamily="34" charset="-122"/>
                <a:cs typeface="Calibri" pitchFamily="34" charset="-120"/>
              </a:rPr>
              <a:t>出題順は分野1→7の流れに沿って並んでいます</a:t>
            </a:r>
            <a:endParaRPr lang="en-US" sz="1100" dirty="0"/>
          </a:p>
        </p:txBody>
      </p:sp>
      <p:sp>
        <p:nvSpPr>
          <p:cNvPr id="6" name="Text 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分野2: 出力の評価と検証</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公式サンプル問題</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あるアソシエイトがClaudeに新しい規制の要約を依頼したところ、Claudeは特定の項番号を引用した、確信に満ちた要約を作成しました。この要約をコンプライアンスチームに送る前に取るべき最も適切な行動はどれですか。</a:t>
            </a:r>
            <a:endParaRPr lang="en-US" sz="11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Claudeが高い確信を示しているので、そのまま送る。</a:t>
            </a:r>
            <a:endParaRPr lang="en-US" sz="1050" dirty="0"/>
          </a:p>
        </p:txBody>
      </p:sp>
      <p:sp>
        <p:nvSpPr>
          <p:cNvPr id="8" name="Shape 6"/>
          <p:cNvSpPr/>
          <p:nvPr/>
        </p:nvSpPr>
        <p:spPr>
          <a:xfrm>
            <a:off x="548640" y="2724912"/>
            <a:ext cx="10881360" cy="512064"/>
          </a:xfrm>
          <a:prstGeom prst="roundRect">
            <a:avLst>
              <a:gd name="adj" fmla="val 10714"/>
            </a:avLst>
          </a:prstGeom>
          <a:solidFill>
            <a:srgbClr val="E8F5EC"/>
          </a:solidFill>
          <a:ln w="12700">
            <a:solidFill>
              <a:srgbClr val="6FCF97"/>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B.  共有する前に、引用された項を規制の公式な条文と照合して確認する。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Claudeに自身の確信度を評価させ、評価が高ければ送る。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F7F7F9"/>
          </a:solidFill>
          <a:ln w="12700">
            <a:solidFill>
              <a:srgbClr val="E1E6F0"/>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よりフォーマルに聞こえるように要約を書き換えてから送る。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言語モデルは、引用番号のような具体的に見える詳細を捏造することがあり、これがハルシネーションです。事実に関する主張、特にコンプライアンス担当者に向けた引用を、信頼できる情報源と照合して検証することが求められる手順です。自己申告の確信度(A、C)は正確性の信頼できる指標ではなく、体裁の変更(D)は正しさの問題に対処しません。</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分野3: 製品とモデルの選択</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公式サンプル問題</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あるアソシエイトは、短い顧客返信の下書きを大量に生成する必要があり、深い推論よりも速度とコストが重要です。このタスクに最も適した選択肢はどれですか。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品質を最大化するために、すべての返信に最も高性能で最もコストの高いモデルを使用する。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6331F"/>
          </a:solidFill>
          <a:ln w="12700">
            <a:solidFill>
              <a:srgbClr val="6FCF97"/>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B.  単純で大量のタスクに適した、より高速で低コストのモデルを使用する。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コストを削減するために、すべての製品機能を無効にする。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別のAIプラットフォームに切り替える。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モデルの選択をタスクの要件に合わせるとは、単純で大量の作業にはより高速で低コストのモデルを割り当て、最も高性能なモデルは複雑な推論のために取っておくことを意味します。常に最上位のモデルを使用すること(A)は、コストとレイテンシの予算を無駄にします。機能を無効にすること(C)やプラットフォームを切り替えること(D)は、このトレードオフに対処しません。</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3</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分野6: ガバナンス、リスク、責任ある利用</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公式サンプル問題</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あるプロジェクトマネージャーが、Claudeに傾向を分析させるために、顧客名と口座番号を含むスプレッドシートをアップロードしたいと考えています。組織のポリシーでは、規制対象の個人データの共有が制限されています。最も適切な行動はどれですか。</a:t>
            </a:r>
            <a:endParaRPr lang="en-US" sz="11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分析は社内向けなので、ファイルをそのままアップロードする。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E8F5EC"/>
          </a:solidFill>
          <a:ln w="12700">
            <a:solidFill>
              <a:srgbClr val="6FCF97"/>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B.  ポリシーに従い、アップロードする前に個人を識別する情報を削除または匿名化する。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ファイルをアップロードするが、Claudeに保持しないよう指示する。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F7F7F9"/>
          </a:solidFill>
          <a:ln w="12700">
            <a:solidFill>
              <a:srgbClr val="E1E6F0"/>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分析そのものをやめる。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データの機密性とプライバシーの保護措置を適用するとは、規制対象の識別情報を使用前に削除または匿名化することを意味し、これにより保護対象のデータをさらすことなく分析を進められます。そのままアップロードすること(A)はポリシーに違反します。モデルにデータを保持しないよう指示すること(C)は、ポリシー上の管理要件を満たしません。匿名化によって分析が可能になるのであれば、タスクを断念すること(D)は不要です。</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4</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分野1: プロンプト作成とタスク実行 — タスク分解</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「顧客ジャーニーマップを作成して」という依頼を正しくタスク分解する順序はどれか? (1)各ステージでのタッチポイントを特定する (2)ペルソナとマッピング範囲を定義する (3)各タッチポイントでの課題・機会を把握する (4)結果を最終成果物に統合する (5)ペルソナが通過する主要ステージを特定する</a:t>
            </a:r>
            <a:endParaRPr lang="en-US" sz="1150" dirty="0"/>
          </a:p>
        </p:txBody>
      </p:sp>
      <p:sp>
        <p:nvSpPr>
          <p:cNvPr id="6" name="Shape 4"/>
          <p:cNvSpPr/>
          <p:nvPr/>
        </p:nvSpPr>
        <p:spPr>
          <a:xfrm>
            <a:off x="548640" y="2148840"/>
            <a:ext cx="10881360" cy="512064"/>
          </a:xfrm>
          <a:prstGeom prst="roundRect">
            <a:avLst>
              <a:gd name="adj" fmla="val 10714"/>
            </a:avLst>
          </a:prstGeom>
          <a:solidFill>
            <a:srgbClr val="16331F"/>
          </a:solidFill>
          <a:ln w="12700">
            <a:solidFill>
              <a:srgbClr val="6FCF97"/>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A.  2,5,1,3,4</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2,1,5,3,4</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5,2,1,3,4</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4,3,2,1,5</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「範囲定義→大枠(ステージ)→詳細(タッチポイント)→分析(課題抽出)→統合」という大枠から詳細へ向かう順序が正しい。</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5</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分野1: プロンプト作成とタスク実行 — 反復的な改良</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複数回の反復でプロンプトを改善しているが、変更を重ねるたびに出力が依頼したテンプレートからさらに遠ざかっていく。最も適切なステップはどれか?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反復を止め、最もズレたバージョンを受け入れる</a:t>
            </a:r>
            <a:endParaRPr lang="en-US" sz="1050" dirty="0"/>
          </a:p>
        </p:txBody>
      </p:sp>
      <p:sp>
        <p:nvSpPr>
          <p:cNvPr id="8" name="Shape 6"/>
          <p:cNvSpPr/>
          <p:nvPr/>
        </p:nvSpPr>
        <p:spPr>
          <a:xfrm>
            <a:off x="548640" y="2724912"/>
            <a:ext cx="10881360" cy="512064"/>
          </a:xfrm>
          <a:prstGeom prst="roundRect">
            <a:avLst>
              <a:gd name="adj" fmla="val 10714"/>
            </a:avLst>
          </a:prstGeom>
          <a:solidFill>
            <a:srgbClr val="F7F7F9"/>
          </a:solidFill>
          <a:ln w="12700">
            <a:solidFill>
              <a:srgbClr val="E1E6F0"/>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B.  それまでのバージョンを全て破棄し、何が機能したかの記録を残さず最初からやり直す</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出力が偶然一致するまで、大きな変更を同時に重ね続ける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E8F5EC"/>
          </a:solidFill>
          <a:ln w="12700">
            <a:solidFill>
              <a:srgbClr val="6FCF97"/>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D.  最も近い結果を出したプロンプトのバージョンに戻し、そのベースラインから調整し直す</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最良の既知の状態に戻ってから小さな変更を重ねる、体系的なデバッグの基本姿勢。</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6</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分野2: 出力の評価と検証 — ファクトチェック</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マーケティング担当者が、Claudeに競合他社の市場シェアの数値を含むレポートを作成させた。このレポートを社外向け資料にそのまま使う前に、最も優先すべき対応はどれか?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Claudeの出力は十分信頼できるため、そのまま使用する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6331F"/>
          </a:solidFill>
          <a:ln w="12700">
            <a:solidFill>
              <a:srgbClr val="6FCF97"/>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B.  レポート内の具体的な数値(市場シェアなど)を一次情報源と照合する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より高性能なモデルで再生成すれば検証は不要になる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文章の読みやすさだけを確認すれば十分</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検証可能な具体的数値は、ハルシネーションのリスクがあるため一次情報源との照合が最優先。公式サンプル問題1(問題1)と同じ考え方。</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7</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分野2: 出力の評価と検証 — エスカレーション判断</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カスタマーサクセスマネージャーが、Claudeが生成した応答を外部利用前にエスカレーションすべきか検討している。エスカレーションを最も強く支持する要因はどれか?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E8F5EC"/>
          </a:solidFill>
          <a:ln w="12700">
            <a:solidFill>
              <a:srgbClr val="6FCF97"/>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A.  サービスレベルの約束を含む、有料顧客向けの未修正の下書きである</a:t>
            </a:r>
            <a:endParaRPr lang="en-US" sz="1050" dirty="0"/>
          </a:p>
        </p:txBody>
      </p:sp>
      <p:sp>
        <p:nvSpPr>
          <p:cNvPr id="8" name="Shape 6"/>
          <p:cNvSpPr/>
          <p:nvPr/>
        </p:nvSpPr>
        <p:spPr>
          <a:xfrm>
            <a:off x="548640" y="2724912"/>
            <a:ext cx="10881360" cy="512064"/>
          </a:xfrm>
          <a:prstGeom prst="roundRect">
            <a:avLst>
              <a:gd name="adj" fmla="val 10714"/>
            </a:avLst>
          </a:prstGeom>
          <a:solidFill>
            <a:srgbClr val="F7F7F9"/>
          </a:solidFill>
          <a:ln w="12700">
            <a:solidFill>
              <a:srgbClr val="E1E6F0"/>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B.  今度のチーム全体会議についての簡単な社内アナウンスである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担当者自身の参考用に、顧客との通話メモを要約した社内向け下書きである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F7F7F9"/>
          </a:solidFill>
          <a:ln w="12700">
            <a:solidFill>
              <a:srgbClr val="E1E6F0"/>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社内向けステータス更新をカジュアルに言い換えたものである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外部の有料顧客向け・契約的な意味合い(SLA)を含む・未修正、という組み合わせが最もインパクト(=リスク)が大きく、エスカレーションが必要。B・C・Dはいずれも社内向け・低リスクな文脈。</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8</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分野5: 設定とナレッジ管理 — 設定の更新タイミング</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シニアマネージャーが、「一度動けば永久に動く」という理由でチームのプロジェクト設定を一切更新しない同僚の習慣を見直している。最も妥当なフィードバックはどれか?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チームが現在の出力に満足していれば設定はそのままでよく、必要な更新はチャットレベルで対応すべき</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基礎となるポリシーや参照文書が変化したかに関わらず、定期的に固定スケジュールで設定を更新すべき</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プロアクティブな更新は動作している設定に不具合を持ち込むリスクがあるため、出力品質が目に見えて劣化した時だけ更新すべき</a:t>
            </a:r>
            <a:endParaRPr lang="en-US" sz="1050" dirty="0"/>
          </a:p>
        </p:txBody>
      </p:sp>
      <p:sp>
        <p:nvSpPr>
          <p:cNvPr id="12" name="Shape 10"/>
          <p:cNvSpPr/>
          <p:nvPr/>
        </p:nvSpPr>
        <p:spPr>
          <a:xfrm>
            <a:off x="548640" y="3877056"/>
            <a:ext cx="10881360" cy="512064"/>
          </a:xfrm>
          <a:prstGeom prst="roundRect">
            <a:avLst>
              <a:gd name="adj" fmla="val 10714"/>
            </a:avLst>
          </a:prstGeom>
          <a:solidFill>
            <a:srgbClr val="16331F"/>
          </a:solidFill>
          <a:ln w="12700">
            <a:solidFill>
              <a:srgbClr val="6FCF97"/>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D.  ポリシー・用語・参照文書は時間とともに変化するため、出力品質が目に見えて劣化していなくても定期的に見直し・更新すべき</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更新の必要性を「目に見える劣化」ではなく「実際の変化(ポリシー・用語・参照文書)」に結びつけているDが最も妥当。Aは問題の放置、Cは事後対応のみ、Bは変化の有無と無関係な機械的スケジュールで非効率。</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9</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分野6: ガバナンス、リスク、責任ある利用 — プロンプトに含めるデータ</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HR担当者が、ルーティンタスク向けのClaudeプロンプトに含めるデータ項目を検討している。適切なデータ項目として最も適切な2つはどれか?(各正解は単独で完結した正解)</a:t>
            </a:r>
            <a:endParaRPr lang="en-US" sz="1150" dirty="0"/>
          </a:p>
        </p:txBody>
      </p:sp>
      <p:sp>
        <p:nvSpPr>
          <p:cNvPr id="6" name="Shape 4"/>
          <p:cNvSpPr/>
          <p:nvPr/>
        </p:nvSpPr>
        <p:spPr>
          <a:xfrm>
            <a:off x="548640" y="2148840"/>
            <a:ext cx="10881360" cy="420624"/>
          </a:xfrm>
          <a:prstGeom prst="roundRect">
            <a:avLst>
              <a:gd name="adj" fmla="val 13043"/>
            </a:avLst>
          </a:prstGeom>
          <a:solidFill>
            <a:srgbClr val="F7F7F9"/>
          </a:solidFill>
          <a:ln w="12700">
            <a:solidFill>
              <a:srgbClr val="E1E6F0"/>
            </a:solidFill>
            <a:prstDash val="solid"/>
          </a:ln>
        </p:spPr>
      </p:sp>
      <p:sp>
        <p:nvSpPr>
          <p:cNvPr id="7" name="Text 5"/>
          <p:cNvSpPr txBox="1"/>
          <p:nvPr/>
        </p:nvSpPr>
        <p:spPr>
          <a:xfrm>
            <a:off x="731520" y="2176272"/>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A.  オンボーディングコミュニケーションの個人化を助けるための、チーム名簿の社員ID番号と入社日</a:t>
            </a:r>
            <a:endParaRPr lang="en-US" sz="950" dirty="0"/>
          </a:p>
        </p:txBody>
      </p:sp>
      <p:sp>
        <p:nvSpPr>
          <p:cNvPr id="8" name="Shape 6"/>
          <p:cNvSpPr/>
          <p:nvPr/>
        </p:nvSpPr>
        <p:spPr>
          <a:xfrm>
            <a:off x="548640" y="2624328"/>
            <a:ext cx="10881360" cy="420624"/>
          </a:xfrm>
          <a:prstGeom prst="roundRect">
            <a:avLst>
              <a:gd name="adj" fmla="val 13043"/>
            </a:avLst>
          </a:prstGeom>
          <a:solidFill>
            <a:srgbClr val="F7F7F9"/>
          </a:solidFill>
          <a:ln w="12700">
            <a:solidFill>
              <a:srgbClr val="E1E6F0"/>
            </a:solidFill>
            <a:prstDash val="solid"/>
          </a:ln>
        </p:spPr>
      </p:sp>
      <p:sp>
        <p:nvSpPr>
          <p:cNvPr id="9" name="Text 7"/>
          <p:cNvSpPr txBox="1"/>
          <p:nvPr/>
        </p:nvSpPr>
        <p:spPr>
          <a:xfrm>
            <a:off x="731520" y="2651760"/>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B.  特定チームの、社員名と現在の給与額を含む報酬バンドのサマリ</a:t>
            </a:r>
            <a:endParaRPr lang="en-US" sz="950" dirty="0"/>
          </a:p>
        </p:txBody>
      </p:sp>
      <p:sp>
        <p:nvSpPr>
          <p:cNvPr id="10" name="Shape 8"/>
          <p:cNvSpPr/>
          <p:nvPr/>
        </p:nvSpPr>
        <p:spPr>
          <a:xfrm>
            <a:off x="548640" y="3099816"/>
            <a:ext cx="10881360" cy="420624"/>
          </a:xfrm>
          <a:prstGeom prst="roundRect">
            <a:avLst>
              <a:gd name="adj" fmla="val 13043"/>
            </a:avLst>
          </a:prstGeom>
          <a:solidFill>
            <a:srgbClr val="E8F5EC"/>
          </a:solidFill>
          <a:ln w="12700">
            <a:solidFill>
              <a:srgbClr val="6FCF97"/>
            </a:solidFill>
            <a:prstDash val="solid"/>
          </a:ln>
        </p:spPr>
      </p:sp>
      <p:sp>
        <p:nvSpPr>
          <p:cNvPr id="11" name="Text 9"/>
          <p:cNvSpPr txBox="1"/>
          <p:nvPr/>
        </p:nvSpPr>
        <p:spPr>
          <a:xfrm>
            <a:off x="731520" y="3127248"/>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C.  モデルが言い換える、匿名化されたHRポリシーの要約</a:t>
            </a:r>
            <a:endParaRPr lang="en-US" sz="950" dirty="0"/>
          </a:p>
        </p:txBody>
      </p:sp>
      <p:sp>
        <p:nvSpPr>
          <p:cNvPr id="12" name="Shape 10"/>
          <p:cNvSpPr/>
          <p:nvPr/>
        </p:nvSpPr>
        <p:spPr>
          <a:xfrm>
            <a:off x="548640" y="3575304"/>
            <a:ext cx="10881360" cy="420624"/>
          </a:xfrm>
          <a:prstGeom prst="roundRect">
            <a:avLst>
              <a:gd name="adj" fmla="val 13043"/>
            </a:avLst>
          </a:prstGeom>
          <a:solidFill>
            <a:srgbClr val="F7F7F9"/>
          </a:solidFill>
          <a:ln w="12700">
            <a:solidFill>
              <a:srgbClr val="E1E6F0"/>
            </a:solidFill>
            <a:prstDash val="solid"/>
          </a:ln>
        </p:spPr>
      </p:sp>
      <p:sp>
        <p:nvSpPr>
          <p:cNvPr id="13" name="Text 11"/>
          <p:cNvSpPr txBox="1"/>
          <p:nvPr/>
        </p:nvSpPr>
        <p:spPr>
          <a:xfrm>
            <a:off x="731520" y="3602736"/>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D.  役割調整メモの作成に必要な、社員のHRファイルからの配慮事項リクエストのメモ</a:t>
            </a:r>
            <a:endParaRPr lang="en-US" sz="950" dirty="0"/>
          </a:p>
        </p:txBody>
      </p:sp>
      <p:sp>
        <p:nvSpPr>
          <p:cNvPr id="14" name="Shape 12"/>
          <p:cNvSpPr/>
          <p:nvPr/>
        </p:nvSpPr>
        <p:spPr>
          <a:xfrm>
            <a:off x="548640" y="4050792"/>
            <a:ext cx="10881360" cy="420624"/>
          </a:xfrm>
          <a:prstGeom prst="roundRect">
            <a:avLst>
              <a:gd name="adj" fmla="val 13043"/>
            </a:avLst>
          </a:prstGeom>
          <a:solidFill>
            <a:srgbClr val="E8F5EC"/>
          </a:solidFill>
          <a:ln w="12700">
            <a:solidFill>
              <a:srgbClr val="6FCF97"/>
            </a:solidFill>
            <a:prstDash val="solid"/>
          </a:ln>
        </p:spPr>
      </p:sp>
      <p:sp>
        <p:nvSpPr>
          <p:cNvPr id="15" name="Text 13"/>
          <p:cNvSpPr txBox="1"/>
          <p:nvPr/>
        </p:nvSpPr>
        <p:spPr>
          <a:xfrm>
            <a:off x="731520" y="4078224"/>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E.  モデルが求人向けに調整する、redacted(黒塗り)された職務記述書</a:t>
            </a:r>
            <a:endParaRPr lang="en-US" sz="950" dirty="0"/>
          </a:p>
        </p:txBody>
      </p:sp>
      <p:sp>
        <p:nvSpPr>
          <p:cNvPr id="16" name="Text 14"/>
          <p:cNvSpPr txBox="1"/>
          <p:nvPr/>
        </p:nvSpPr>
        <p:spPr>
          <a:xfrm>
            <a:off x="548640" y="4599432"/>
            <a:ext cx="10881360" cy="1435608"/>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C・Eはいずれも個人識別情報が除去・匿名化された状態でプロンプトに含まれている。A(社員ID+入社日)・B(氏名+給与額)・D(未加工の機微な配慮事項)はいずれも未加工の個人情報を含んでおり不適切。</a:t>
            </a:r>
            <a:endParaRPr lang="en-US" sz="950" dirty="0"/>
          </a:p>
        </p:txBody>
      </p:sp>
      <p:sp>
        <p:nvSpPr>
          <p:cNvPr id="17" name="Text 15"/>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10</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分野7: トラブルシューティングと最適化 — レビュー対応のスコープ</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ある担当者が、Claudeが作成した資料案に対するレビュアーの指摘(具体的な2点のみ)を反映しようとしている。資料の残りの部分はそのまま承認されている。強いレビジョンを生む可能性が最も高い次のステップ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指摘された2点に対応し、編集後の一貫したトーンを保つため無関係な箇所も修正する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2点の指摘を反映しつつ、ゼロから資料を書き直す方が統合的だと考え書き直す</a:t>
            </a:r>
            <a:endParaRPr lang="en-US" sz="1050" dirty="0"/>
          </a:p>
        </p:txBody>
      </p:sp>
      <p:sp>
        <p:nvSpPr>
          <p:cNvPr id="10" name="Shape 8"/>
          <p:cNvSpPr/>
          <p:nvPr/>
        </p:nvSpPr>
        <p:spPr>
          <a:xfrm>
            <a:off x="548640" y="3300984"/>
            <a:ext cx="10881360" cy="512064"/>
          </a:xfrm>
          <a:prstGeom prst="roundRect">
            <a:avLst>
              <a:gd name="adj" fmla="val 10714"/>
            </a:avLst>
          </a:prstGeom>
          <a:solidFill>
            <a:srgbClr val="16331F"/>
          </a:solidFill>
          <a:ln w="12700">
            <a:solidFill>
              <a:srgbClr val="6FCF97"/>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C.  指摘された2点に直接対応し、無関係な部分はそのまま残し、次回レビュー用に変更内容を記録する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指摘された2点に加え、担当者自身が気づいた3点目の改善も反映する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レビュー指摘のスコープに厳密に従い、変更履歴を記録するのが適切。A・Dはスコープ逸脱、Bは非効率な全面書き直し。</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11</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分野7: トラブルシューティングと最適化 — 自動化ステップの設計</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オペレーション担当者が、定型的なデータ処理ワークフローのステップをコード実行で再設計している。信頼できる統合を支える設計上の選択として最も適切な2つはどれか?</a:t>
            </a:r>
            <a:endParaRPr lang="en-US" sz="1150" dirty="0"/>
          </a:p>
        </p:txBody>
      </p:sp>
      <p:sp>
        <p:nvSpPr>
          <p:cNvPr id="6" name="Shape 4"/>
          <p:cNvSpPr/>
          <p:nvPr/>
        </p:nvSpPr>
        <p:spPr>
          <a:xfrm>
            <a:off x="548640" y="2148840"/>
            <a:ext cx="10881360" cy="420624"/>
          </a:xfrm>
          <a:prstGeom prst="roundRect">
            <a:avLst>
              <a:gd name="adj" fmla="val 13043"/>
            </a:avLst>
          </a:prstGeom>
          <a:solidFill>
            <a:srgbClr val="E8F5EC"/>
          </a:solidFill>
          <a:ln w="12700">
            <a:solidFill>
              <a:srgbClr val="6FCF97"/>
            </a:solidFill>
            <a:prstDash val="solid"/>
          </a:ln>
        </p:spPr>
      </p:sp>
      <p:sp>
        <p:nvSpPr>
          <p:cNvPr id="7" name="Text 5"/>
          <p:cNvSpPr txBox="1"/>
          <p:nvPr/>
        </p:nvSpPr>
        <p:spPr>
          <a:xfrm>
            <a:off x="731520" y="2176272"/>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A.  ステップが期待する入力ファイル形式を標準化し、毎回一貫した検証可能な出力が得られるようにする</a:t>
            </a:r>
            <a:endParaRPr lang="en-US" sz="950" dirty="0"/>
          </a:p>
        </p:txBody>
      </p:sp>
      <p:sp>
        <p:nvSpPr>
          <p:cNvPr id="8" name="Shape 6"/>
          <p:cNvSpPr/>
          <p:nvPr/>
        </p:nvSpPr>
        <p:spPr>
          <a:xfrm>
            <a:off x="548640" y="2624328"/>
            <a:ext cx="10881360" cy="420624"/>
          </a:xfrm>
          <a:prstGeom prst="roundRect">
            <a:avLst>
              <a:gd name="adj" fmla="val 13043"/>
            </a:avLst>
          </a:prstGeom>
          <a:solidFill>
            <a:srgbClr val="F7F7F9"/>
          </a:solidFill>
          <a:ln w="12700">
            <a:solidFill>
              <a:srgbClr val="E1E6F0"/>
            </a:solidFill>
            <a:prstDash val="solid"/>
          </a:ln>
        </p:spPr>
      </p:sp>
      <p:sp>
        <p:nvSpPr>
          <p:cNvPr id="9" name="Text 7"/>
          <p:cNvSpPr txBox="1"/>
          <p:nvPr/>
        </p:nvSpPr>
        <p:spPr>
          <a:xfrm>
            <a:off x="731520" y="2651760"/>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B.  毎週異なるソースシステムに対応するため、入力ファイル形式を実行ごとに変える</a:t>
            </a:r>
            <a:endParaRPr lang="en-US" sz="950" dirty="0"/>
          </a:p>
        </p:txBody>
      </p:sp>
      <p:sp>
        <p:nvSpPr>
          <p:cNvPr id="10" name="Shape 8"/>
          <p:cNvSpPr/>
          <p:nvPr/>
        </p:nvSpPr>
        <p:spPr>
          <a:xfrm>
            <a:off x="548640" y="3099816"/>
            <a:ext cx="10881360" cy="420624"/>
          </a:xfrm>
          <a:prstGeom prst="roundRect">
            <a:avLst>
              <a:gd name="adj" fmla="val 13043"/>
            </a:avLst>
          </a:prstGeom>
          <a:solidFill>
            <a:srgbClr val="F7F7F9"/>
          </a:solidFill>
          <a:ln w="12700">
            <a:solidFill>
              <a:srgbClr val="E1E6F0"/>
            </a:solidFill>
            <a:prstDash val="solid"/>
          </a:ln>
        </p:spPr>
      </p:sp>
      <p:sp>
        <p:nvSpPr>
          <p:cNvPr id="11" name="Text 9"/>
          <p:cNvSpPr txBox="1"/>
          <p:nvPr/>
        </p:nvSpPr>
        <p:spPr>
          <a:xfrm>
            <a:off x="731520" y="3127248"/>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C.  サンドボックス環境がエラーなく実行されたことを既に検証しているため、コード実行後の人間レビューステップを廃止する</a:t>
            </a:r>
            <a:endParaRPr lang="en-US" sz="950" dirty="0"/>
          </a:p>
        </p:txBody>
      </p:sp>
      <p:sp>
        <p:nvSpPr>
          <p:cNvPr id="12" name="Shape 10"/>
          <p:cNvSpPr/>
          <p:nvPr/>
        </p:nvSpPr>
        <p:spPr>
          <a:xfrm>
            <a:off x="548640" y="3575304"/>
            <a:ext cx="10881360" cy="420624"/>
          </a:xfrm>
          <a:prstGeom prst="roundRect">
            <a:avLst>
              <a:gd name="adj" fmla="val 13043"/>
            </a:avLst>
          </a:prstGeom>
          <a:solidFill>
            <a:srgbClr val="F7F7F9"/>
          </a:solidFill>
          <a:ln w="12700">
            <a:solidFill>
              <a:srgbClr val="E1E6F0"/>
            </a:solidFill>
            <a:prstDash val="solid"/>
          </a:ln>
        </p:spPr>
      </p:sp>
      <p:sp>
        <p:nvSpPr>
          <p:cNvPr id="13" name="Text 11"/>
          <p:cNvSpPr txBox="1"/>
          <p:nvPr/>
        </p:nvSpPr>
        <p:spPr>
          <a:xfrm>
            <a:off x="731520" y="3602736"/>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D.  期待される出力形式やフィールドを文書化せず、コード実行ステップをワークフローに組み込む</a:t>
            </a:r>
            <a:endParaRPr lang="en-US" sz="950" dirty="0"/>
          </a:p>
        </p:txBody>
      </p:sp>
      <p:sp>
        <p:nvSpPr>
          <p:cNvPr id="14" name="Shape 12"/>
          <p:cNvSpPr/>
          <p:nvPr/>
        </p:nvSpPr>
        <p:spPr>
          <a:xfrm>
            <a:off x="548640" y="4050792"/>
            <a:ext cx="10881360" cy="420624"/>
          </a:xfrm>
          <a:prstGeom prst="roundRect">
            <a:avLst>
              <a:gd name="adj" fmla="val 13043"/>
            </a:avLst>
          </a:prstGeom>
          <a:solidFill>
            <a:srgbClr val="E8F5EC"/>
          </a:solidFill>
          <a:ln w="12700">
            <a:solidFill>
              <a:srgbClr val="6FCF97"/>
            </a:solidFill>
            <a:prstDash val="solid"/>
          </a:ln>
        </p:spPr>
      </p:sp>
      <p:sp>
        <p:nvSpPr>
          <p:cNvPr id="15" name="Text 13"/>
          <p:cNvSpPr txBox="1"/>
          <p:nvPr/>
        </p:nvSpPr>
        <p:spPr>
          <a:xfrm>
            <a:off x="731520" y="4078224"/>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E.  人間レビュアーが、出力を下流に進める前に、期待される範囲や妥当性(サニティチェック)を確認する簡潔な出力検証ステップを定義する</a:t>
            </a:r>
            <a:endParaRPr lang="en-US" sz="950" dirty="0"/>
          </a:p>
        </p:txBody>
      </p:sp>
      <p:sp>
        <p:nvSpPr>
          <p:cNvPr id="16" name="Text 14"/>
          <p:cNvSpPr txBox="1"/>
          <p:nvPr/>
        </p:nvSpPr>
        <p:spPr>
          <a:xfrm>
            <a:off x="548640" y="4599432"/>
            <a:ext cx="10881360" cy="1435608"/>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入力の標準化(A)と、人間による妥当性確認ステップ(E)の組み合わせが、信頼できる自動化統合の基本。B(フォーマットの不統一)・C(人間レビューの撤廃)・D(未文書化)はいずれも信頼性を損なう。</a:t>
            </a:r>
            <a:endParaRPr lang="en-US" sz="950" dirty="0"/>
          </a:p>
        </p:txBody>
      </p:sp>
      <p:sp>
        <p:nvSpPr>
          <p:cNvPr id="17" name="Text 15"/>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12</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分野2: 出力の評価と検証 — 配布前の照合</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オペレーション責任者がClaudeに新しい梱包規制の要約を依頼した。その要約は最終規則の公表前に書かれた業界ニュースレターに基づいている。責任者自身は最終規則を持っており、倉庫の監督者は来週からラベル表示の実務を変更する予定。要約を配布する前に責任者が取るべき行動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6331F"/>
          </a:solidFill>
          <a:ln w="12700">
            <a:solidFill>
              <a:srgbClr val="6FCF97"/>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A.  各義務・日付・適用範囲の記述を最終規則と照合し、倉庫監督者に届く前に要約を修正する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「詳細は変わる可能性がある」という注記付きでそのまま送り、ニュースレターの続報が出たら更新する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最終規則をアップロードし、Claudeにそこから要約を再生成させ、来週そのまま監督者に送る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Researchで規制に関する新しい記事を探し、要約の引用元として差し替える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一次情報源(最終規則)との照合・修正という「verify」系の対応が正解。Cは最終規則を使う点は良いが、人間による確認を介さずそのまま配布してしまう設計が弱点(再生成してもハルシネーションのリスクはゼロにならない)。Bは検証の先送り、Dは場当たり的な引用差し替えでいずれも不十分。</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13</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分野2・5: 出力の評価と検証 / 設定とナレッジ管理 — レビューの引き継ぎ設計</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見学受付チームが、学校団体の予約依頼への返信下書きにClaudeを使っている。スタッフは送信前に日付・料金・キャンセル規定を確認する必要がある。ワークフローアナリストが、各下書きを承認するスタッフへの「引き継ぎ」を設計している。責任とレビュー範囲を最もよく定義する設計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2つ目のClaudeチャットに下書きを承認させ、2つのチャットの結論が一致することをレビュアーが確認してから送信する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F7F7F9"/>
          </a:solidFill>
          <a:ln w="12700">
            <a:solidFill>
              <a:srgbClr val="E1E6F0"/>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B.  Claudeが不確実性をフラグした時だけレビュアーが詳しくチェックし、フラグしなかった下書きは抜き取りで確認する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Claudeに自分の下書きから承認チェックリストを作らせ、人間レビュアーはそのチェックリストを各予約返信の全レビュー基準として扱う</a:t>
            </a:r>
            <a:endParaRPr lang="en-US" sz="1050" dirty="0"/>
          </a:p>
        </p:txBody>
      </p:sp>
      <p:sp>
        <p:nvSpPr>
          <p:cNvPr id="12" name="Shape 10"/>
          <p:cNvSpPr/>
          <p:nvPr/>
        </p:nvSpPr>
        <p:spPr>
          <a:xfrm>
            <a:off x="548640" y="3877056"/>
            <a:ext cx="10881360" cy="512064"/>
          </a:xfrm>
          <a:prstGeom prst="roundRect">
            <a:avLst>
              <a:gd name="adj" fmla="val 10714"/>
            </a:avLst>
          </a:prstGeom>
          <a:solidFill>
            <a:srgbClr val="E8F5EC"/>
          </a:solidFill>
          <a:ln w="12700">
            <a:solidFill>
              <a:srgbClr val="6FCF97"/>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D.  Claudeが各下書きに含めるべき内容を文書化し、予約の事実関係・ポリシーチェック・承認条件のうち人間レビュアーが検証すべき項目を明記する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A・Cは「AI自身(または別のAIインスタンス)にレビュー基準を作らせる」循環構造になっており、独立した人間の検証になっていない。Bは「Claudeの自己申告(フラグの有無)」に依存しすぎており不十分。Dだけが、人間が検証すべき項目を明示的・独立に定義できている。</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14</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分野6: ガバナンス、リスク、責任ある利用 — AI Fluency/Diligence</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文化遺産プログラムのマネージャーが、組織外に送付するパートナー向け資料案をClaudeで作成した。配信前に「AI Fluency FrameworkのDiligence」コンピテンシーを適用したい。Diligenceを最もよく反映する行動はどれか?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経験豊富な同僚にトーン・明瞭さ・書式を校正してもらい、組織のハウススタイルに沿っているか確認する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別のClaudeチャットにエラー・根拠のない主張・数値の不整合をレビューさせ、提案された修正をそのまま適用し、変更内容を説明する短い送付状をつけてパートナーに送る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資料がClaudeの支援で作成されたことを明記する一文を追加し、どの部分をClaudeが作成しどう使ったかを説明し、求めがあれば情報源リストを提供すると申し出る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6331F"/>
          </a:solidFill>
          <a:ln w="12700">
            <a:solidFill>
              <a:srgbClr val="6FCF97"/>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D.  独立した確認が必要な主張を特定し、配信前に権威ある情報源の記録と照合し、マネージャーが送付するバージョンについて専門家としての責任を負う</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Diligence(誠実さ)は「AI利用の責任を自分自身が負う姿勢」が核心。Dだけが「独立した検証」+「専門家としての責任を負う」という当事者性を明示している。Aは一般的な校正(スタイルチェック)、Bは別AIへの丸投げ(人間の当事者性がない)、Cは透明性の開示であって検証・責任とは別軸。</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15</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分野3: 製品とモデルの選択 — 機能の適切な使い分け</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プランニングアナリストが、Claudeの長文コンテキスト機能と承認済みの計算ツールを利用できる。単純な言語タスクに不必要に使うのではなく、本当にその機能が必要な業務は次のうち2つか?</a:t>
            </a:r>
            <a:endParaRPr lang="en-US" sz="1150" dirty="0"/>
          </a:p>
        </p:txBody>
      </p:sp>
      <p:sp>
        <p:nvSpPr>
          <p:cNvPr id="6" name="Shape 4"/>
          <p:cNvSpPr/>
          <p:nvPr/>
        </p:nvSpPr>
        <p:spPr>
          <a:xfrm>
            <a:off x="548640" y="2148840"/>
            <a:ext cx="10881360" cy="420624"/>
          </a:xfrm>
          <a:prstGeom prst="roundRect">
            <a:avLst>
              <a:gd name="adj" fmla="val 13043"/>
            </a:avLst>
          </a:prstGeom>
          <a:solidFill>
            <a:srgbClr val="F7F7F9"/>
          </a:solidFill>
          <a:ln w="12700">
            <a:solidFill>
              <a:srgbClr val="E1E6F0"/>
            </a:solidFill>
            <a:prstDash val="solid"/>
          </a:ln>
        </p:spPr>
      </p:sp>
      <p:sp>
        <p:nvSpPr>
          <p:cNvPr id="7" name="Text 5"/>
          <p:cNvSpPr txBox="1"/>
          <p:nvPr/>
        </p:nvSpPr>
        <p:spPr>
          <a:xfrm>
            <a:off x="731520" y="2176272"/>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A.  計算ツールを使って、どちらの言い回しがより歓迎的に聞こえるか判断する</a:t>
            </a:r>
            <a:endParaRPr lang="en-US" sz="950" dirty="0"/>
          </a:p>
        </p:txBody>
      </p:sp>
      <p:sp>
        <p:nvSpPr>
          <p:cNvPr id="8" name="Shape 6"/>
          <p:cNvSpPr/>
          <p:nvPr/>
        </p:nvSpPr>
        <p:spPr>
          <a:xfrm>
            <a:off x="548640" y="2624328"/>
            <a:ext cx="10881360" cy="420624"/>
          </a:xfrm>
          <a:prstGeom prst="roundRect">
            <a:avLst>
              <a:gd name="adj" fmla="val 13043"/>
            </a:avLst>
          </a:prstGeom>
          <a:solidFill>
            <a:srgbClr val="E8F5EC"/>
          </a:solidFill>
          <a:ln w="12700">
            <a:solidFill>
              <a:srgbClr val="6FCF97"/>
            </a:solidFill>
            <a:prstDash val="solid"/>
          </a:ln>
        </p:spPr>
      </p:sp>
      <p:sp>
        <p:nvSpPr>
          <p:cNvPr id="9" name="Text 7"/>
          <p:cNvSpPr txBox="1"/>
          <p:nvPr/>
        </p:nvSpPr>
        <p:spPr>
          <a:xfrm>
            <a:off x="731520" y="2651760"/>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B.  長文コンテキスト分析を使って、多数の大量の承認済み情報源から年次レビューを統合する</a:t>
            </a:r>
            <a:endParaRPr lang="en-US" sz="950" dirty="0"/>
          </a:p>
        </p:txBody>
      </p:sp>
      <p:sp>
        <p:nvSpPr>
          <p:cNvPr id="10" name="Shape 8"/>
          <p:cNvSpPr/>
          <p:nvPr/>
        </p:nvSpPr>
        <p:spPr>
          <a:xfrm>
            <a:off x="548640" y="3099816"/>
            <a:ext cx="10881360" cy="420624"/>
          </a:xfrm>
          <a:prstGeom prst="roundRect">
            <a:avLst>
              <a:gd name="adj" fmla="val 13043"/>
            </a:avLst>
          </a:prstGeom>
          <a:solidFill>
            <a:srgbClr val="E8F5EC"/>
          </a:solidFill>
          <a:ln w="12700">
            <a:solidFill>
              <a:srgbClr val="6FCF97"/>
            </a:solidFill>
            <a:prstDash val="solid"/>
          </a:ln>
        </p:spPr>
      </p:sp>
      <p:sp>
        <p:nvSpPr>
          <p:cNvPr id="11" name="Text 9"/>
          <p:cNvSpPr txBox="1"/>
          <p:nvPr/>
        </p:nvSpPr>
        <p:spPr>
          <a:xfrm>
            <a:off x="731520" y="3127248"/>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C.  計算ツールを使って、複数の料率・数量制約を伴う多段階の配分計算を行う</a:t>
            </a:r>
            <a:endParaRPr lang="en-US" sz="950" dirty="0"/>
          </a:p>
        </p:txBody>
      </p:sp>
      <p:sp>
        <p:nvSpPr>
          <p:cNvPr id="12" name="Shape 10"/>
          <p:cNvSpPr/>
          <p:nvPr/>
        </p:nvSpPr>
        <p:spPr>
          <a:xfrm>
            <a:off x="548640" y="3575304"/>
            <a:ext cx="10881360" cy="420624"/>
          </a:xfrm>
          <a:prstGeom prst="roundRect">
            <a:avLst>
              <a:gd name="adj" fmla="val 13043"/>
            </a:avLst>
          </a:prstGeom>
          <a:solidFill>
            <a:srgbClr val="F7F7F9"/>
          </a:solidFill>
          <a:ln w="12700">
            <a:solidFill>
              <a:srgbClr val="E1E6F0"/>
            </a:solidFill>
            <a:prstDash val="solid"/>
          </a:ln>
        </p:spPr>
      </p:sp>
      <p:sp>
        <p:nvSpPr>
          <p:cNvPr id="13" name="Text 11"/>
          <p:cNvSpPr txBox="1"/>
          <p:nvPr/>
        </p:nvSpPr>
        <p:spPr>
          <a:xfrm>
            <a:off x="731520" y="3602736"/>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D.  長文コンテキスト分析を使って、短い承認済み手順書の中から1つの数式を調べる</a:t>
            </a:r>
            <a:endParaRPr lang="en-US" sz="950" dirty="0"/>
          </a:p>
        </p:txBody>
      </p:sp>
      <p:sp>
        <p:nvSpPr>
          <p:cNvPr id="14" name="Shape 12"/>
          <p:cNvSpPr/>
          <p:nvPr/>
        </p:nvSpPr>
        <p:spPr>
          <a:xfrm>
            <a:off x="548640" y="4050792"/>
            <a:ext cx="10881360" cy="420624"/>
          </a:xfrm>
          <a:prstGeom prst="roundRect">
            <a:avLst>
              <a:gd name="adj" fmla="val 13043"/>
            </a:avLst>
          </a:prstGeom>
          <a:solidFill>
            <a:srgbClr val="F7F7F9"/>
          </a:solidFill>
          <a:ln w="12700">
            <a:solidFill>
              <a:srgbClr val="E1E6F0"/>
            </a:solidFill>
            <a:prstDash val="solid"/>
          </a:ln>
        </p:spPr>
      </p:sp>
      <p:sp>
        <p:nvSpPr>
          <p:cNvPr id="15" name="Text 13"/>
          <p:cNvSpPr txBox="1"/>
          <p:nvPr/>
        </p:nvSpPr>
        <p:spPr>
          <a:xfrm>
            <a:off x="731520" y="4078224"/>
            <a:ext cx="10332720" cy="365760"/>
          </a:xfrm>
          <a:prstGeom prst="rect">
            <a:avLst/>
          </a:prstGeom>
          <a:noFill/>
          <a:ln/>
        </p:spPr>
        <p:txBody>
          <a:bodyPr wrap="square" lIns="0" tIns="0" rIns="0" bIns="0" rtlCol="0" anchor="ctr"/>
          <a:lstStyle/>
          <a:p>
            <a:pPr indent="0" marL="0">
              <a:buNone/>
            </a:pPr>
            <a:r>
              <a:rPr lang="en-US" sz="950" dirty="0">
                <a:solidFill>
                  <a:srgbClr val="16213E"/>
                </a:solidFill>
                <a:latin typeface="Calibri" pitchFamily="34" charset="0"/>
                <a:ea typeface="Calibri" pitchFamily="34" charset="-122"/>
                <a:cs typeface="Calibri" pitchFamily="34" charset="-120"/>
              </a:rPr>
              <a:t>E.  長文コンテキスト分析を使って、同僚からの一行の質問への短い返信を下書きする</a:t>
            </a:r>
            <a:endParaRPr lang="en-US" sz="950" dirty="0"/>
          </a:p>
        </p:txBody>
      </p:sp>
      <p:sp>
        <p:nvSpPr>
          <p:cNvPr id="16" name="Text 14"/>
          <p:cNvSpPr txBox="1"/>
          <p:nvPr/>
        </p:nvSpPr>
        <p:spPr>
          <a:xfrm>
            <a:off x="548640" y="4599432"/>
            <a:ext cx="10881360" cy="1435608"/>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B・Cは「本当にその機能の強みが必要なタスク」(大量情報源の統合、複雑な多段階計算)。A(言い回しの判断に計算ツールは無関係)、D・E(短い文書・一行の質問には長文コンテキストは過剰で不必要)はいずれも「機能とタスクの不一致」の誤答パターン。</a:t>
            </a:r>
            <a:endParaRPr lang="en-US" sz="950" dirty="0"/>
          </a:p>
        </p:txBody>
      </p:sp>
      <p:sp>
        <p:nvSpPr>
          <p:cNvPr id="17" name="Text 15"/>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16</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分野6: ガバナンス、リスク、責任ある利用 — 人間の権限が及ぶ範囲</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地域の実習プログラムチームが、外部公開と人事判断については人間が権限を持ち続けるという承認済みワークフローの中でClaudeの活用を検討している。Claudeの「支援」役割に当てはまる活動を2つ選べ。</a:t>
            </a:r>
            <a:endParaRPr lang="en-US" sz="1150" dirty="0"/>
          </a:p>
        </p:txBody>
      </p:sp>
      <p:sp>
        <p:nvSpPr>
          <p:cNvPr id="6" name="Shape 4"/>
          <p:cNvSpPr/>
          <p:nvPr/>
        </p:nvSpPr>
        <p:spPr>
          <a:xfrm>
            <a:off x="548640" y="2148840"/>
            <a:ext cx="10881360" cy="420624"/>
          </a:xfrm>
          <a:prstGeom prst="roundRect">
            <a:avLst>
              <a:gd name="adj" fmla="val 13043"/>
            </a:avLst>
          </a:prstGeom>
          <a:solidFill>
            <a:srgbClr val="16331F"/>
          </a:solidFill>
          <a:ln w="12700">
            <a:solidFill>
              <a:srgbClr val="6FCF97"/>
            </a:solidFill>
            <a:prstDash val="solid"/>
          </a:ln>
        </p:spPr>
      </p:sp>
      <p:sp>
        <p:nvSpPr>
          <p:cNvPr id="7" name="Text 5"/>
          <p:cNvSpPr txBox="1"/>
          <p:nvPr/>
        </p:nvSpPr>
        <p:spPr>
          <a:xfrm>
            <a:off x="731520" y="2176272"/>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A.  承認済みの会議メモから、人間レビュアー向けの構造化されたプロジェクト更新を下書きする</a:t>
            </a:r>
            <a:endParaRPr lang="en-US" sz="950" dirty="0"/>
          </a:p>
        </p:txBody>
      </p:sp>
      <p:sp>
        <p:nvSpPr>
          <p:cNvPr id="8" name="Shape 6"/>
          <p:cNvSpPr/>
          <p:nvPr/>
        </p:nvSpPr>
        <p:spPr>
          <a:xfrm>
            <a:off x="548640" y="2624328"/>
            <a:ext cx="10881360" cy="420624"/>
          </a:xfrm>
          <a:prstGeom prst="roundRect">
            <a:avLst>
              <a:gd name="adj" fmla="val 13043"/>
            </a:avLst>
          </a:prstGeom>
          <a:solidFill>
            <a:srgbClr val="1F2F52"/>
          </a:solidFill>
          <a:ln w="12700">
            <a:solidFill>
              <a:srgbClr val="2C3C66"/>
            </a:solidFill>
            <a:prstDash val="solid"/>
          </a:ln>
        </p:spPr>
      </p:sp>
      <p:sp>
        <p:nvSpPr>
          <p:cNvPr id="9" name="Text 7"/>
          <p:cNvSpPr txBox="1"/>
          <p:nvPr/>
        </p:nvSpPr>
        <p:spPr>
          <a:xfrm>
            <a:off x="731520" y="2651760"/>
            <a:ext cx="10332720" cy="365760"/>
          </a:xfrm>
          <a:prstGeom prst="rect">
            <a:avLst/>
          </a:prstGeom>
          <a:noFill/>
          <a:ln/>
        </p:spPr>
        <p:txBody>
          <a:bodyPr wrap="square" lIns="0" tIns="0" rIns="0" bIns="0" rtlCol="0" anchor="ctr"/>
          <a:lstStyle/>
          <a:p>
            <a:pPr indent="0" marL="0">
              <a:buNone/>
            </a:pPr>
            <a:r>
              <a:rPr lang="en-US" sz="950" dirty="0">
                <a:solidFill>
                  <a:srgbClr val="F2F4F8"/>
                </a:solidFill>
                <a:latin typeface="Calibri" pitchFamily="34" charset="0"/>
                <a:ea typeface="Calibri" pitchFamily="34" charset="-122"/>
                <a:cs typeface="Calibri" pitchFamily="34" charset="-120"/>
              </a:rPr>
              <a:t>B.  Claudeの下書きがハウススタイル・規定の語数を満たした時点で、組織の公開サイトに最終的な外部向け告知を投稿する</a:t>
            </a:r>
            <a:endParaRPr lang="en-US" sz="950" dirty="0"/>
          </a:p>
        </p:txBody>
      </p:sp>
      <p:sp>
        <p:nvSpPr>
          <p:cNvPr id="10" name="Shape 8"/>
          <p:cNvSpPr/>
          <p:nvPr/>
        </p:nvSpPr>
        <p:spPr>
          <a:xfrm>
            <a:off x="548640" y="3099816"/>
            <a:ext cx="10881360" cy="420624"/>
          </a:xfrm>
          <a:prstGeom prst="roundRect">
            <a:avLst>
              <a:gd name="adj" fmla="val 13043"/>
            </a:avLst>
          </a:prstGeom>
          <a:solidFill>
            <a:srgbClr val="1F2F52"/>
          </a:solidFill>
          <a:ln w="12700">
            <a:solidFill>
              <a:srgbClr val="2C3C66"/>
            </a:solidFill>
            <a:prstDash val="solid"/>
          </a:ln>
        </p:spPr>
      </p:sp>
      <p:sp>
        <p:nvSpPr>
          <p:cNvPr id="11" name="Text 9"/>
          <p:cNvSpPr txBox="1"/>
          <p:nvPr/>
        </p:nvSpPr>
        <p:spPr>
          <a:xfrm>
            <a:off x="731520" y="3127248"/>
            <a:ext cx="10332720" cy="365760"/>
          </a:xfrm>
          <a:prstGeom prst="rect">
            <a:avLst/>
          </a:prstGeom>
          <a:noFill/>
          <a:ln/>
        </p:spPr>
        <p:txBody>
          <a:bodyPr wrap="square" lIns="0" tIns="0" rIns="0" bIns="0" rtlCol="0" anchor="ctr"/>
          <a:lstStyle/>
          <a:p>
            <a:pPr indent="0" marL="0">
              <a:buNone/>
            </a:pPr>
            <a:r>
              <a:rPr lang="en-US" sz="950" dirty="0">
                <a:solidFill>
                  <a:srgbClr val="F2F4F8"/>
                </a:solidFill>
                <a:latin typeface="Calibri" pitchFamily="34" charset="0"/>
                <a:ea typeface="Calibri" pitchFamily="34" charset="-122"/>
                <a:cs typeface="Calibri" pitchFamily="34" charset="-120"/>
              </a:rPr>
              <a:t>C.  Claudeがより良い配属先を見つけた時はいつでも、実習配属記録を直接更新する</a:t>
            </a:r>
            <a:endParaRPr lang="en-US" sz="950" dirty="0"/>
          </a:p>
        </p:txBody>
      </p:sp>
      <p:sp>
        <p:nvSpPr>
          <p:cNvPr id="12" name="Shape 10"/>
          <p:cNvSpPr/>
          <p:nvPr/>
        </p:nvSpPr>
        <p:spPr>
          <a:xfrm>
            <a:off x="548640" y="3575304"/>
            <a:ext cx="10881360" cy="420624"/>
          </a:xfrm>
          <a:prstGeom prst="roundRect">
            <a:avLst>
              <a:gd name="adj" fmla="val 13043"/>
            </a:avLst>
          </a:prstGeom>
          <a:solidFill>
            <a:srgbClr val="1F2F52"/>
          </a:solidFill>
          <a:ln w="12700">
            <a:solidFill>
              <a:srgbClr val="2C3C66"/>
            </a:solidFill>
            <a:prstDash val="solid"/>
          </a:ln>
        </p:spPr>
      </p:sp>
      <p:sp>
        <p:nvSpPr>
          <p:cNvPr id="13" name="Text 11"/>
          <p:cNvSpPr txBox="1"/>
          <p:nvPr/>
        </p:nvSpPr>
        <p:spPr>
          <a:xfrm>
            <a:off x="731520" y="3602736"/>
            <a:ext cx="10332720" cy="365760"/>
          </a:xfrm>
          <a:prstGeom prst="rect">
            <a:avLst/>
          </a:prstGeom>
          <a:noFill/>
          <a:ln/>
        </p:spPr>
        <p:txBody>
          <a:bodyPr wrap="square" lIns="0" tIns="0" rIns="0" bIns="0" rtlCol="0" anchor="ctr"/>
          <a:lstStyle/>
          <a:p>
            <a:pPr indent="0" marL="0">
              <a:buNone/>
            </a:pPr>
            <a:r>
              <a:rPr lang="en-US" sz="950" dirty="0">
                <a:solidFill>
                  <a:srgbClr val="F2F4F8"/>
                </a:solidFill>
                <a:latin typeface="Calibri" pitchFamily="34" charset="0"/>
                <a:ea typeface="Calibri" pitchFamily="34" charset="-122"/>
                <a:cs typeface="Calibri" pitchFamily="34" charset="-120"/>
              </a:rPr>
              <a:t>D.  取引先が提示した納期条件を、組織として承諾するメールを送信する</a:t>
            </a:r>
            <a:endParaRPr lang="en-US" sz="950" dirty="0"/>
          </a:p>
        </p:txBody>
      </p:sp>
      <p:sp>
        <p:nvSpPr>
          <p:cNvPr id="14" name="Shape 12"/>
          <p:cNvSpPr/>
          <p:nvPr/>
        </p:nvSpPr>
        <p:spPr>
          <a:xfrm>
            <a:off x="548640" y="4050792"/>
            <a:ext cx="10881360" cy="420624"/>
          </a:xfrm>
          <a:prstGeom prst="roundRect">
            <a:avLst>
              <a:gd name="adj" fmla="val 13043"/>
            </a:avLst>
          </a:prstGeom>
          <a:solidFill>
            <a:srgbClr val="16331F"/>
          </a:solidFill>
          <a:ln w="12700">
            <a:solidFill>
              <a:srgbClr val="6FCF97"/>
            </a:solidFill>
            <a:prstDash val="solid"/>
          </a:ln>
        </p:spPr>
      </p:sp>
      <p:sp>
        <p:nvSpPr>
          <p:cNvPr id="15" name="Text 13"/>
          <p:cNvSpPr txBox="1"/>
          <p:nvPr/>
        </p:nvSpPr>
        <p:spPr>
          <a:xfrm>
            <a:off x="731520" y="4078224"/>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E.  承認済みのアップロード済み研究資料から、出典表記を保ちつつ文献レビューを統合する</a:t>
            </a:r>
            <a:endParaRPr lang="en-US" sz="950" dirty="0"/>
          </a:p>
        </p:txBody>
      </p:sp>
      <p:sp>
        <p:nvSpPr>
          <p:cNvPr id="16" name="Text 14"/>
          <p:cNvSpPr txBox="1"/>
          <p:nvPr/>
        </p:nvSpPr>
        <p:spPr>
          <a:xfrm>
            <a:off x="548640" y="4599432"/>
            <a:ext cx="10881360" cy="1435608"/>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A・Eは「人間への引き渡しを前提とした下書き・統合」という純粋な支援作業。B(外部公開の実行)・C(人事判断の実行)・D(対外的な契約条件の承諾)は、いずれも設問で明示された「人間が権限を持つ領域」をClaudeが代わりに実行してしまっており不適切。</a:t>
            </a:r>
            <a:endParaRPr lang="en-US" sz="950" dirty="0"/>
          </a:p>
        </p:txBody>
      </p:sp>
      <p:sp>
        <p:nvSpPr>
          <p:cNvPr id="17" name="Text 15"/>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17</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分野7: トラブルシューティングと最適化 — 原因診断</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Claude Project上の週次売上レポートが6ヶ月間安定稼働していた。今週、経理部門が2つの列名を変更し地域列を追加、Projectのナレッジ内のファイルも新しいものに差し替えられた。レポートは地域列を欠落させ、2つの指標のラベルを誤るようになった。最も適切な診断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Projectのナレッジがまだ先月のスプレッドシートを参照しており、Claudeが新しいファイルではなく古い数値を読んでいる</a:t>
            </a:r>
            <a:endParaRPr lang="en-US" sz="1050" dirty="0"/>
          </a:p>
        </p:txBody>
      </p:sp>
      <p:sp>
        <p:nvSpPr>
          <p:cNvPr id="8" name="Shape 6"/>
          <p:cNvSpPr/>
          <p:nvPr/>
        </p:nvSpPr>
        <p:spPr>
          <a:xfrm>
            <a:off x="548640" y="2724912"/>
            <a:ext cx="10881360" cy="512064"/>
          </a:xfrm>
          <a:prstGeom prst="roundRect">
            <a:avLst>
              <a:gd name="adj" fmla="val 10714"/>
            </a:avLst>
          </a:prstGeom>
          <a:solidFill>
            <a:srgbClr val="F7F7F9"/>
          </a:solidFill>
          <a:ln w="12700">
            <a:solidFill>
              <a:srgbClr val="E1E6F0"/>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B.  Projectの背後のモデルがレポート作成後に変更され、同じ(変更されていない)指示をClaudeが以前と異なる解釈をするようになった</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地域列の追加でレポートが長くなり、Claudeが出力上限に収めるため後半の行を切り捨てている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E8F5EC"/>
          </a:solidFill>
          <a:ln w="12700">
            <a:solidFill>
              <a:srgbClr val="6FCF97"/>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D.  Projectの指示(instructions)がまだ古い列名・地域リストを参照したままで、再構成されたスプレッドシートとかみ合わなくなっている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設問文で「新しいファイルに差し替えられた」と明記されているため、A(古いファイル参照)は誤り。B(モデル変更)・C(出力上限)もこのシナリオの手がかりと無関係。Dが唯一、「データは更新されたが、Project側の指示が追従していない」という実際の原因に一致する。これは問題8(設定放置への警鐘)と同じ教訓の、より具体的な実例。</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18</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分野2: 出力の評価と検証 — 情報の整理・出力形式の選択</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プログラム事務局が、決定事項・担当者・期限・未解決の論点、そして繰り返しの多い背景説明を含む80件の議事録を持っている。リーダー陣は月曜の計画会議で使える、実行可能なサマリーを必要としている。最も実行可能なサマリーを生むのはどの指示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何も失わないよう、80件の議事録を元の順序のまま要約する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6331F"/>
          </a:solidFill>
          <a:ln w="12700">
            <a:solidFill>
              <a:srgbClr val="6FCF97"/>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B.  検証済みの決定事項・担当者・期限・未解決の論点をそれぞれ別セクションにグループ化し、繰り返しの背景説明は省く</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決定事項・期限・未解決の論点を背景説明とともに織り交ぜた、日付順の1本の物語形式でまとめる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担当者・期限・未解決の論点は今後も変わるので別管理とし、最終決定事項だけをリストする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Bは「カテゴリ別に整理し、ノイズ(繰り返しの背景説明)を除く」という、分野2の「情報を整理・選別し、適切な出力形式を選択する」にそのまま合致する模範解答。Aは冗長なまま(整理されていない)、Cは物語形式で実行可能性が低い、Dは計画会議に不可欠な担当者・期限情報まで削ってしまっており本末転倒。</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19</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分野6: ガバナンス、リスク、責任ある利用 — 承認フローの正しい順序</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マーケティングチームが、新しくリリースされたClaude機能を顧客データに使いたいと考えている。組織のAIポリシーはまだこの機能を顧客データ向けに承認しておらず、チームはキャンペーンの締切に追われている。正しい手順の順序はどれか?  (1) 組織の承認プロセスを通じて機能とデータ利用案を申請する (2) 機能を使った顧客データ利用の計画を一旦保留する (3) 承認されたワークフローを、許可されたデータと統制のもとで実行する (4) AIポリシーが新機能・顧客データに何を求めているか確認する (5) 承認で設定された条件(データ最小化・レビューステップなど)を適用する</a:t>
            </a:r>
            <a:endParaRPr lang="en-US" sz="10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3, 5, 2, 1, 4</a:t>
            </a:r>
            <a:endParaRPr lang="en-US" sz="1050" dirty="0"/>
          </a:p>
        </p:txBody>
      </p:sp>
      <p:sp>
        <p:nvSpPr>
          <p:cNvPr id="8" name="Shape 6"/>
          <p:cNvSpPr/>
          <p:nvPr/>
        </p:nvSpPr>
        <p:spPr>
          <a:xfrm>
            <a:off x="548640" y="2724912"/>
            <a:ext cx="10881360" cy="512064"/>
          </a:xfrm>
          <a:prstGeom prst="roundRect">
            <a:avLst>
              <a:gd name="adj" fmla="val 10714"/>
            </a:avLst>
          </a:prstGeom>
          <a:solidFill>
            <a:srgbClr val="F7F7F9"/>
          </a:solidFill>
          <a:ln w="12700">
            <a:solidFill>
              <a:srgbClr val="E1E6F0"/>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B.  1, 3, 4, 2, 5</a:t>
            </a:r>
            <a:endParaRPr lang="en-US" sz="1050" dirty="0"/>
          </a:p>
        </p:txBody>
      </p:sp>
      <p:sp>
        <p:nvSpPr>
          <p:cNvPr id="10" name="Shape 8"/>
          <p:cNvSpPr/>
          <p:nvPr/>
        </p:nvSpPr>
        <p:spPr>
          <a:xfrm>
            <a:off x="548640" y="3300984"/>
            <a:ext cx="10881360" cy="512064"/>
          </a:xfrm>
          <a:prstGeom prst="roundRect">
            <a:avLst>
              <a:gd name="adj" fmla="val 10714"/>
            </a:avLst>
          </a:prstGeom>
          <a:solidFill>
            <a:srgbClr val="E8F5EC"/>
          </a:solidFill>
          <a:ln w="12700">
            <a:solidFill>
              <a:srgbClr val="6FCF97"/>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C.  2, 4, 1, 5, 3</a:t>
            </a:r>
            <a:endParaRPr lang="en-US" sz="1050" dirty="0"/>
          </a:p>
        </p:txBody>
      </p:sp>
      <p:sp>
        <p:nvSpPr>
          <p:cNvPr id="12" name="Shape 10"/>
          <p:cNvSpPr/>
          <p:nvPr/>
        </p:nvSpPr>
        <p:spPr>
          <a:xfrm>
            <a:off x="548640" y="3877056"/>
            <a:ext cx="10881360" cy="512064"/>
          </a:xfrm>
          <a:prstGeom prst="roundRect">
            <a:avLst>
              <a:gd name="adj" fmla="val 10714"/>
            </a:avLst>
          </a:prstGeom>
          <a:solidFill>
            <a:srgbClr val="F7F7F9"/>
          </a:solidFill>
          <a:ln w="12700">
            <a:solidFill>
              <a:srgbClr val="E1E6F0"/>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5, 4, 3, 1, 2</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締切に追われていても、まず(2)保留してから(4)ポリシー確認→(1)承認申請→(5)条件の適用→(3)承認済みワークフローの実行という順序が論理的。先に実行(3)したり、保留せず申請前に進めたりする他の選択肢は、無許可利用のリスクを冒すことになる。これは分野6の「組織のAIポリシー・ガバナンス基準に従う」をそのまま手順化した設問。</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20</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分野1: プロンプト作成とタスク実行 — タスク種別に応じた戦略調整/ブレスト</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ある講師が、任意参加の夜間セミナーの出席率を上げるための新しいアイデアが欲しく、その後に固定の会場予算と2時間枠という制約で最有力案を判断する予定。これまでClaudeに依頼した時は、無難でありきたりな提案しか出てこなかった。最も適切なプロンプト戦略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実装計画付きの、完成度の高い提案を1つだけClaudeに求める(1つの詳細な提案の方が制約と照合しやすいため)</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予算・時間枠の制約を先に伝え、最初からそれに合致するアイデアだけを生成させる(却下されるアイデアに時間を使わないため)</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アイデアを出す前に、夜間セミナーの出席率統計をClaudeにリサーチさせる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6331F"/>
          </a:solidFill>
          <a:ln w="12700">
            <a:solidFill>
              <a:srgbClr val="6FCF97"/>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D.  まず幅広く多様なアイデアを求め、その後に予算・時間枠の基準を適用して絞り込み・磨き上げる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これまでは無難な提案しか出なかった」という課題文がヒント。Bのように制約を先に課すと、Claudeは安全策に寄りやすくなり、まさに今起きている問題を悪化させる。Dは「発散(幅広いアイデア出し)→収束(制約で絞り込み)」という、分野1の「タスクの種類(ブレインストーミング)に応じて戦略を調整する」の典型的な正解パターン。A(提案を1つに絞る)は発散の機会を奪い、Cは本題と無関係な寄り道。</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21</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分野1: プロンプト作成とタスク実行 — 制約の与え方と創造性のバランス</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マーケティングチームは、承認済みの製品クレームと法務指定の必須文言に沿った、独創的なキャンペーン案が必要。前回のバッチは創造的だったが、法務に却下されたクレームが2つ含まれていた。創造性とコンプライアンスを最もよくバランスさせるアプローチ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プロンプトに制約を一切入れず最大限クリエイティブな案を求め、チームが気に入った案をキャンペーン開始前に法務が書き直す</a:t>
            </a:r>
            <a:endParaRPr lang="en-US" sz="1050" dirty="0"/>
          </a:p>
        </p:txBody>
      </p:sp>
      <p:sp>
        <p:nvSpPr>
          <p:cNvPr id="8" name="Shape 6"/>
          <p:cNvSpPr/>
          <p:nvPr/>
        </p:nvSpPr>
        <p:spPr>
          <a:xfrm>
            <a:off x="548640" y="2724912"/>
            <a:ext cx="10881360" cy="512064"/>
          </a:xfrm>
          <a:prstGeom prst="roundRect">
            <a:avLst>
              <a:gd name="adj" fmla="val 10714"/>
            </a:avLst>
          </a:prstGeom>
          <a:solidFill>
            <a:srgbClr val="E8F5EC"/>
          </a:solidFill>
          <a:ln w="12700">
            <a:solidFill>
              <a:srgbClr val="6FCF97"/>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B.  承認済みクレームと禁止文言を制約としてClaudeに与えた上で複数案を生成させ、その後に創造性とコンプライアンスの両面でレビューする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ブランドクレームをプロンプトから外し、既存の文言にClaudeのアイデアが縛られないようにする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F7F7F9"/>
          </a:solidFill>
          <a:ln w="12700">
            <a:solidFill>
              <a:srgbClr val="E1E6F0"/>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Claudeに過去の承認済みキャンペーンを忠実に模倣させ、すべての提案が法務の既承認文言を再利用するようにする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一見、問題20(「制約を先に与えると無難になる」)と矛盾するように見えるが、ここでの制約(承認済みクレーム・禁止文言)はコンプライアンス上の必須要件であり、好みの絞り込み条件ではない。これを最初から伝えることで、前回の「法務却下」の再発を防ぎつつ、「複数案を生成→レビュー」で創造性の余地も残すBが最適。Aは手戻りが発生、Cはコンプライアンス制約自体を外してしまい再発リスクが高い、Dは模倣に寄りすぎて「独創的」という要件を満たさない。</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22</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分野4: ワークフロー統合とソリューション設計 — 価値と限界の伝達</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あるチームが、即座のコスト削減と無誤りの出力を期待する経営層に、Claude活用のリサーチワークフローを紹介している。試験導入でリサーチ時間は3分の1短縮されたが、レビュアーは各レポートで依然として複数の事実誤りを修正していた。最も適切なメッセージ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3分の1の時間短縮と年間コスト削減見込みを前面に出し、限界やレビューの必要性は後日の技術ブリーフィングで扱う</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モデルのアーキテクチャやプロンプト設計を詳しく説明し、経営層自身がワークフローの価値を判断できるようにする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16331F"/>
          </a:solidFill>
          <a:ln w="12700">
            <a:solidFill>
              <a:srgbClr val="6FCF97"/>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C.  時間短縮の効果を、「事実確認のレビューが依然必要であること」「試験導入で測定した指標」「人間に残る判断」とあわせて提示する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ワークフローは複数の独立情報源からの引用と上級レビュアーを使うため、本格導入後は無誤りのレポートが期待できると説明する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Cは価値(時間短縮)と限界(事実確認が依然必要)の両方を正直に伝える、分野4の「Claudeの価値と限界をステークホルダーに伝える」そのもの。Aは限界の開示を先送りし、経営層の「無誤りを期待する」という誤った前提を放置してしまう。Bは経営層向けの粒度として技術的すぎる。Dは「レビュアーが実際に誤りを発見している」という事実に反して「無誤り」を約束しており、過大な期待を煽る典型的な誤答。</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23</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分野5: 設定とナレッジ管理 — ナレッジベースの整理</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共有Projectに、曖昧な名前・重複した手順書・期限切れのポリシー・地域ごとに混在したバージョンを含む70件のファイルがある。Claudeはしばしば誤った案内を取得しており、2つの地域のスタッフが互いに相手地域のルールに基づく回答を受け取ってしまっている。最も適切な対応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E8F5EC"/>
          </a:solidFill>
          <a:ln w="12700">
            <a:solidFill>
              <a:srgbClr val="6FCF97"/>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A.  廃止済み・重複ファイルを削除し、残りに分かりやすい名前を付け、地域ごとの正本版を明確に分離する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F7F7F9"/>
          </a:solidFill>
          <a:ln w="12700">
            <a:solidFill>
              <a:srgbClr val="E1E6F0"/>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B.  最も重要な最新手順書の追加コピーをアップロードし、各地域でClaudeがより参照しやすくする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地域ごとにProjectを分割し、70件全ファイルを新しい各Projectにそのままコピーする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F7F7F9"/>
          </a:solidFill>
          <a:ln w="12700">
            <a:solidFill>
              <a:srgbClr val="E1E6F0"/>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すべての旧版・地域版を知識ベースに残したまま、「どれが最新でどの地域向けか」をClaudeに判断させる指示を追加する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Aは「不要なものを削除し、残りを整理する」という、ナレッジ管理の最も基本的かつ根本的な対処。Bは重複を増やして悪化させる、Cは汚れたファイル群をそのまま複製するだけで根本解決になっていない、Dは本来人間が担うべき整理をClaudeに丸投げしており信頼性が低い。</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24</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分野1/4: プロンプト作成とタスク実行 / ワークフロー統合 — 根本原因への対処</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あるオペレーションチームが、毎週6時間かけてサービスレポートを作成している。スタッフは同じデータを3つの文書にコピーし、矛盾するラベルを手作業で調整し、似たような要約を手で書いており、3つのバージョンはしばしば食い違う。最も優先すべき改善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他の3バージョン間の差異を記録する4つ目の文書を毎週追加する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毎週のレビューステップを廃止し、Claudeが生データの抽出結果から直接レポートを生成するようにする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3つの文書はそのまま残し、スタッフがコピー・調整を終えた後にClaudeに各文書を書き直させ、要約だけは一貫して読めるようにする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6331F"/>
          </a:solidFill>
          <a:ln w="12700">
            <a:solidFill>
              <a:srgbClr val="6FCF97"/>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D.  ソースフィールドを1つのレビュー済みデータセットに標準化し、Claudeがその単一ソースから必要な各要約を生成するようにする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Dは「根本原因(データソースの不統一・重複入力)を直接解消する」という、問題11・問題3の自動化ステップの設計(入力標準化)と同じ考え方。A(差異記録の追加)は対症療法で業務を増やすだけ、B(レビュー撤廃)は品質担保を失う、C(3文書構造を維持したまま後工程だけ修正)は根本の重複作業・不整合の原因を残したまま。</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25</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分野4: ワークフロー統合とソリューション設計 — 再設計後の正しい手順</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あるチームが、メール・共有文書・カレンダー記録から更新情報を集め、矛盾を調整してプレゼン資料を作る、という月次エグゼクティブ向けブリーフィングを作成している。プロセスは遅いが重要度が高く、チームはClaudeを使って再設計しようとしている。再設計後のワークフローの正しい手順は?  (1) Claudeでプレゼンスライドを作成する (2) 矛盾する更新情報をレビュー対象としてフラグを立てる (3) 各承認済みソースから更新情報を集め、各項目の出所を記録する (4) プレゼンを経営層に配布する (5) レビュアーが、調整済みの事実・決定事項・未解決課題を承認する</a:t>
            </a:r>
            <a:endParaRPr lang="en-US" sz="1050" dirty="0"/>
          </a:p>
        </p:txBody>
      </p:sp>
      <p:sp>
        <p:nvSpPr>
          <p:cNvPr id="6" name="Shape 4"/>
          <p:cNvSpPr/>
          <p:nvPr/>
        </p:nvSpPr>
        <p:spPr>
          <a:xfrm>
            <a:off x="548640" y="2148840"/>
            <a:ext cx="10881360" cy="512064"/>
          </a:xfrm>
          <a:prstGeom prst="roundRect">
            <a:avLst>
              <a:gd name="adj" fmla="val 10714"/>
            </a:avLst>
          </a:prstGeom>
          <a:solidFill>
            <a:srgbClr val="E8F5EC"/>
          </a:solidFill>
          <a:ln w="12700">
            <a:solidFill>
              <a:srgbClr val="6FCF97"/>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A.  3, 2, 5, 1, 4</a:t>
            </a:r>
            <a:endParaRPr lang="en-US" sz="1050" dirty="0"/>
          </a:p>
        </p:txBody>
      </p:sp>
      <p:sp>
        <p:nvSpPr>
          <p:cNvPr id="8" name="Shape 6"/>
          <p:cNvSpPr/>
          <p:nvPr/>
        </p:nvSpPr>
        <p:spPr>
          <a:xfrm>
            <a:off x="548640" y="2724912"/>
            <a:ext cx="10881360" cy="512064"/>
          </a:xfrm>
          <a:prstGeom prst="roundRect">
            <a:avLst>
              <a:gd name="adj" fmla="val 10714"/>
            </a:avLst>
          </a:prstGeom>
          <a:solidFill>
            <a:srgbClr val="F7F7F9"/>
          </a:solidFill>
          <a:ln w="12700">
            <a:solidFill>
              <a:srgbClr val="E1E6F0"/>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B.  1, 2, 4, 5, 3</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5, 4, 2, 3, 1</a:t>
            </a:r>
            <a:endParaRPr lang="en-US" sz="1050" dirty="0"/>
          </a:p>
        </p:txBody>
      </p:sp>
      <p:sp>
        <p:nvSpPr>
          <p:cNvPr id="12" name="Shape 10"/>
          <p:cNvSpPr/>
          <p:nvPr/>
        </p:nvSpPr>
        <p:spPr>
          <a:xfrm>
            <a:off x="548640" y="3877056"/>
            <a:ext cx="10881360" cy="512064"/>
          </a:xfrm>
          <a:prstGeom prst="roundRect">
            <a:avLst>
              <a:gd name="adj" fmla="val 10714"/>
            </a:avLst>
          </a:prstGeom>
          <a:solidFill>
            <a:srgbClr val="F7F7F9"/>
          </a:solidFill>
          <a:ln w="12700">
            <a:solidFill>
              <a:srgbClr val="E1E6F0"/>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4, 1, 3, 5, 2</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(3)収集(出所記録つき)→(2)矛盾のフラグ立て→(5)レビュアー承認→(1)資料作成→(4)配布」という、情報収集→検証→人間承認→成果物作成→配布の順序が論理的。承認前に資料を作る、配布を先にする、といった他の並びはいずれも「検証前に次工程へ進んでしまう」誤りを含む。</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26</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分野2/6: 出力の評価と検証 / ガバナンス — 根拠の透明性と説明責任</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広報チームが、社内分析をもとにClaudeで一般公開向けの影響レポートを作成している。経営層は、読者が各結論の根拠を理解できること、そして誰がその内容に責任を持つかが分かることを望んでいる。最も適切な方法を2つ選べ。</a:t>
            </a:r>
            <a:endParaRPr lang="en-US" sz="1150" dirty="0"/>
          </a:p>
        </p:txBody>
      </p:sp>
      <p:sp>
        <p:nvSpPr>
          <p:cNvPr id="6" name="Shape 4"/>
          <p:cNvSpPr/>
          <p:nvPr/>
        </p:nvSpPr>
        <p:spPr>
          <a:xfrm>
            <a:off x="548640" y="2148840"/>
            <a:ext cx="10881360" cy="420624"/>
          </a:xfrm>
          <a:prstGeom prst="roundRect">
            <a:avLst>
              <a:gd name="adj" fmla="val 13043"/>
            </a:avLst>
          </a:prstGeom>
          <a:solidFill>
            <a:srgbClr val="1F2F52"/>
          </a:solidFill>
          <a:ln w="12700">
            <a:solidFill>
              <a:srgbClr val="2C3C66"/>
            </a:solidFill>
            <a:prstDash val="solid"/>
          </a:ln>
        </p:spPr>
      </p:sp>
      <p:sp>
        <p:nvSpPr>
          <p:cNvPr id="7" name="Text 5"/>
          <p:cNvSpPr txBox="1"/>
          <p:nvPr/>
        </p:nvSpPr>
        <p:spPr>
          <a:xfrm>
            <a:off x="731520" y="2176272"/>
            <a:ext cx="10332720" cy="365760"/>
          </a:xfrm>
          <a:prstGeom prst="rect">
            <a:avLst/>
          </a:prstGeom>
          <a:noFill/>
          <a:ln/>
        </p:spPr>
        <p:txBody>
          <a:bodyPr wrap="square" lIns="0" tIns="0" rIns="0" bIns="0" rtlCol="0" anchor="ctr"/>
          <a:lstStyle/>
          <a:p>
            <a:pPr indent="0" marL="0">
              <a:buNone/>
            </a:pPr>
            <a:r>
              <a:rPr lang="en-US" sz="950" dirty="0">
                <a:solidFill>
                  <a:srgbClr val="F2F4F8"/>
                </a:solidFill>
                <a:latin typeface="Calibri" pitchFamily="34" charset="0"/>
                <a:ea typeface="Calibri" pitchFamily="34" charset="-122"/>
                <a:cs typeface="Calibri" pitchFamily="34" charset="-120"/>
              </a:rPr>
              <a:t>A.  すべての結論を同じ確信度で提示し、レポートが一貫して権威あるものに見えるようにする</a:t>
            </a:r>
            <a:endParaRPr lang="en-US" sz="950" dirty="0"/>
          </a:p>
        </p:txBody>
      </p:sp>
      <p:sp>
        <p:nvSpPr>
          <p:cNvPr id="8" name="Shape 6"/>
          <p:cNvSpPr/>
          <p:nvPr/>
        </p:nvSpPr>
        <p:spPr>
          <a:xfrm>
            <a:off x="548640" y="2624328"/>
            <a:ext cx="10881360" cy="420624"/>
          </a:xfrm>
          <a:prstGeom prst="roundRect">
            <a:avLst>
              <a:gd name="adj" fmla="val 13043"/>
            </a:avLst>
          </a:prstGeom>
          <a:solidFill>
            <a:srgbClr val="16331F"/>
          </a:solidFill>
          <a:ln w="12700">
            <a:solidFill>
              <a:srgbClr val="6FCF97"/>
            </a:solidFill>
            <a:prstDash val="solid"/>
          </a:ln>
        </p:spPr>
      </p:sp>
      <p:sp>
        <p:nvSpPr>
          <p:cNvPr id="9" name="Text 7"/>
          <p:cNvSpPr txBox="1"/>
          <p:nvPr/>
        </p:nvSpPr>
        <p:spPr>
          <a:xfrm>
            <a:off x="731520" y="2651760"/>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B.  特定の人物をレビュー・承認の担当として指名し、公開後はその結論を支持する責任を負わせる</a:t>
            </a:r>
            <a:endParaRPr lang="en-US" sz="950" dirty="0"/>
          </a:p>
        </p:txBody>
      </p:sp>
      <p:sp>
        <p:nvSpPr>
          <p:cNvPr id="10" name="Shape 8"/>
          <p:cNvSpPr/>
          <p:nvPr/>
        </p:nvSpPr>
        <p:spPr>
          <a:xfrm>
            <a:off x="548640" y="3099816"/>
            <a:ext cx="10881360" cy="420624"/>
          </a:xfrm>
          <a:prstGeom prst="roundRect">
            <a:avLst>
              <a:gd name="adj" fmla="val 13043"/>
            </a:avLst>
          </a:prstGeom>
          <a:solidFill>
            <a:srgbClr val="1F2F52"/>
          </a:solidFill>
          <a:ln w="12700">
            <a:solidFill>
              <a:srgbClr val="2C3C66"/>
            </a:solidFill>
            <a:prstDash val="solid"/>
          </a:ln>
        </p:spPr>
      </p:sp>
      <p:sp>
        <p:nvSpPr>
          <p:cNvPr id="11" name="Text 9"/>
          <p:cNvSpPr txBox="1"/>
          <p:nvPr/>
        </p:nvSpPr>
        <p:spPr>
          <a:xfrm>
            <a:off x="731520" y="3127248"/>
            <a:ext cx="10332720" cy="365760"/>
          </a:xfrm>
          <a:prstGeom prst="rect">
            <a:avLst/>
          </a:prstGeom>
          <a:noFill/>
          <a:ln/>
        </p:spPr>
        <p:txBody>
          <a:bodyPr wrap="square" lIns="0" tIns="0" rIns="0" bIns="0" rtlCol="0" anchor="ctr"/>
          <a:lstStyle/>
          <a:p>
            <a:pPr indent="0" marL="0">
              <a:buNone/>
            </a:pPr>
            <a:r>
              <a:rPr lang="en-US" sz="950" dirty="0">
                <a:solidFill>
                  <a:srgbClr val="F2F4F8"/>
                </a:solidFill>
                <a:latin typeface="Calibri" pitchFamily="34" charset="0"/>
                <a:ea typeface="Calibri" pitchFamily="34" charset="-122"/>
                <a:cs typeface="Calibri" pitchFamily="34" charset="-120"/>
              </a:rPr>
              <a:t>C.  引用元を本文から切り離して読みやすくし、求めがあれば情報源を提供する</a:t>
            </a:r>
            <a:endParaRPr lang="en-US" sz="950" dirty="0"/>
          </a:p>
        </p:txBody>
      </p:sp>
      <p:sp>
        <p:nvSpPr>
          <p:cNvPr id="12" name="Shape 10"/>
          <p:cNvSpPr/>
          <p:nvPr/>
        </p:nvSpPr>
        <p:spPr>
          <a:xfrm>
            <a:off x="548640" y="3575304"/>
            <a:ext cx="10881360" cy="420624"/>
          </a:xfrm>
          <a:prstGeom prst="roundRect">
            <a:avLst>
              <a:gd name="adj" fmla="val 13043"/>
            </a:avLst>
          </a:prstGeom>
          <a:solidFill>
            <a:srgbClr val="1F2F52"/>
          </a:solidFill>
          <a:ln w="12700">
            <a:solidFill>
              <a:srgbClr val="2C3C66"/>
            </a:solidFill>
            <a:prstDash val="solid"/>
          </a:ln>
        </p:spPr>
      </p:sp>
      <p:sp>
        <p:nvSpPr>
          <p:cNvPr id="13" name="Text 11"/>
          <p:cNvSpPr txBox="1"/>
          <p:nvPr/>
        </p:nvSpPr>
        <p:spPr>
          <a:xfrm>
            <a:off x="731520" y="3602736"/>
            <a:ext cx="10332720" cy="365760"/>
          </a:xfrm>
          <a:prstGeom prst="rect">
            <a:avLst/>
          </a:prstGeom>
          <a:noFill/>
          <a:ln/>
        </p:spPr>
        <p:txBody>
          <a:bodyPr wrap="square" lIns="0" tIns="0" rIns="0" bIns="0" rtlCol="0" anchor="ctr"/>
          <a:lstStyle/>
          <a:p>
            <a:pPr indent="0" marL="0">
              <a:buNone/>
            </a:pPr>
            <a:r>
              <a:rPr lang="en-US" sz="950" dirty="0">
                <a:solidFill>
                  <a:srgbClr val="F2F4F8"/>
                </a:solidFill>
                <a:latin typeface="Calibri" pitchFamily="34" charset="0"/>
                <a:ea typeface="Calibri" pitchFamily="34" charset="-122"/>
                <a:cs typeface="Calibri" pitchFamily="34" charset="-120"/>
              </a:rPr>
              <a:t>D.  レポート内で、分析がClaudeによって生成されたものであると明記し、結論が組織の見解ではなくモデルの評価であることを読者に理解させる</a:t>
            </a:r>
            <a:endParaRPr lang="en-US" sz="950" dirty="0"/>
          </a:p>
        </p:txBody>
      </p:sp>
      <p:sp>
        <p:nvSpPr>
          <p:cNvPr id="14" name="Shape 12"/>
          <p:cNvSpPr/>
          <p:nvPr/>
        </p:nvSpPr>
        <p:spPr>
          <a:xfrm>
            <a:off x="548640" y="4050792"/>
            <a:ext cx="10881360" cy="420624"/>
          </a:xfrm>
          <a:prstGeom prst="roundRect">
            <a:avLst>
              <a:gd name="adj" fmla="val 13043"/>
            </a:avLst>
          </a:prstGeom>
          <a:solidFill>
            <a:srgbClr val="16331F"/>
          </a:solidFill>
          <a:ln w="12700">
            <a:solidFill>
              <a:srgbClr val="6FCF97"/>
            </a:solidFill>
            <a:prstDash val="solid"/>
          </a:ln>
        </p:spPr>
      </p:sp>
      <p:sp>
        <p:nvSpPr>
          <p:cNvPr id="15" name="Text 13"/>
          <p:cNvSpPr txBox="1"/>
          <p:nvPr/>
        </p:nvSpPr>
        <p:spPr>
          <a:xfrm>
            <a:off x="731520" y="4078224"/>
            <a:ext cx="10332720" cy="365760"/>
          </a:xfrm>
          <a:prstGeom prst="rect">
            <a:avLst/>
          </a:prstGeom>
          <a:noFill/>
          <a:ln/>
        </p:spPr>
        <p:txBody>
          <a:bodyPr wrap="square" lIns="0" tIns="0" rIns="0" bIns="0" rtlCol="0" anchor="ctr"/>
          <a:lstStyle/>
          <a:p>
            <a:pPr indent="0" marL="0">
              <a:buNone/>
            </a:pPr>
            <a:r>
              <a:rPr lang="en-US" sz="950" b="1" dirty="0">
                <a:solidFill>
                  <a:srgbClr val="3FA860"/>
                </a:solidFill>
                <a:latin typeface="Calibri" pitchFamily="34" charset="0"/>
                <a:ea typeface="Calibri" pitchFamily="34" charset="-122"/>
                <a:cs typeface="Calibri" pitchFamily="34" charset="-120"/>
              </a:rPr>
              <a:t>E.  重要な主張には出典を明記し、重要な不確実性・根拠の限界を開示する</a:t>
            </a:r>
            <a:endParaRPr lang="en-US" sz="950" dirty="0"/>
          </a:p>
        </p:txBody>
      </p:sp>
      <p:sp>
        <p:nvSpPr>
          <p:cNvPr id="16" name="Text 14"/>
          <p:cNvSpPr txBox="1"/>
          <p:nvPr/>
        </p:nvSpPr>
        <p:spPr>
          <a:xfrm>
            <a:off x="548640" y="4599432"/>
            <a:ext cx="10881360" cy="1435608"/>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B(名指しの承認責任者)とE(出典の明記+不確実性の開示)の組み合わせが、「根拠の理解」と「説明責任の所在」という2つの要件を直接満たす。Aは確信度を均一化してしまい根拠の透明性を損なう、Cは引用元を本文から外しており「根拠の理解」に反する、Dは結論をモデルのせいにして組織の説明責任を回避する典型的な誤答パターン。</a:t>
            </a:r>
            <a:endParaRPr lang="en-US" sz="950" dirty="0"/>
          </a:p>
        </p:txBody>
      </p:sp>
      <p:sp>
        <p:nvSpPr>
          <p:cNvPr id="17" name="Text 15"/>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27</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分野6: ガバナンス、リスク、責任ある利用 — PIIの機微度判定</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カスタマーリレーション担当者が、通常業務のClaude入力を準備している。追加の取り扱い(削除・編集・個別の認可)が最も明確に必要なデータ区分はどれか?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元のメッセージを引用しつつ、顧客名はチケット番号に置き換えた顧客苦情の要約</a:t>
            </a:r>
            <a:endParaRPr lang="en-US" sz="1050" dirty="0"/>
          </a:p>
        </p:txBody>
      </p:sp>
      <p:sp>
        <p:nvSpPr>
          <p:cNvPr id="8" name="Shape 6"/>
          <p:cNvSpPr/>
          <p:nvPr/>
        </p:nvSpPr>
        <p:spPr>
          <a:xfrm>
            <a:off x="548640" y="2724912"/>
            <a:ext cx="10881360" cy="512064"/>
          </a:xfrm>
          <a:prstGeom prst="roundRect">
            <a:avLst>
              <a:gd name="adj" fmla="val 10714"/>
            </a:avLst>
          </a:prstGeom>
          <a:solidFill>
            <a:srgbClr val="E8F5EC"/>
          </a:solidFill>
          <a:ln w="12700">
            <a:solidFill>
              <a:srgbClr val="6FCF97"/>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B.  政府発行の身分証番号と、氏名に紐づいたクレジットカード番号全桁</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エスカレーション対応のための、社内スタッフ名と内線番号の一覧</a:t>
            </a:r>
            <a:endParaRPr lang="en-US" sz="1050" dirty="0"/>
          </a:p>
        </p:txBody>
      </p:sp>
      <p:sp>
        <p:nvSpPr>
          <p:cNvPr id="12" name="Shape 10"/>
          <p:cNvSpPr/>
          <p:nvPr/>
        </p:nvSpPr>
        <p:spPr>
          <a:xfrm>
            <a:off x="548640" y="3877056"/>
            <a:ext cx="10881360" cy="512064"/>
          </a:xfrm>
          <a:prstGeom prst="roundRect">
            <a:avLst>
              <a:gd name="adj" fmla="val 10714"/>
            </a:avLst>
          </a:prstGeom>
          <a:solidFill>
            <a:srgbClr val="F7F7F9"/>
          </a:solidFill>
          <a:ln w="12700">
            <a:solidFill>
              <a:srgbClr val="E1E6F0"/>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地域別の満足度スコア集計(一部の小規模地域では回答数が5件未満)</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Bは「政府発行ID+カード番号全桁+氏名との紐付け」という、規制対象の機微情報が複数重なった最も明白なケース。Aはすでに顧客名を置き換え済み、Cは低リスクな社内情報、Dは小規模地域での再識別リスクというより繊細な統計的開示リスクであり「最も明確に」とまでは言えない。</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28</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分野4: ワークフロー統合とソリューション設計 — 実データに基づく要件分析</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ある公文書館が、受付(intake)プロセスを改善したいと考えている。担当者は現行手順と、直近のステップ別完了記録データを持っている。この証拠(エビデンス)を最もよく活用するClaude支援活動はどれか?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スタッフが各ステップをより速く進められるよう、より分かりやすい段階名・簡潔な指示でintake手順を書き直させる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6331F"/>
          </a:solidFill>
          <a:ln w="12700">
            <a:solidFill>
              <a:srgbClr val="6FCF97"/>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B.  現行プロセスをマッピングし、完了記録データから実際のボトルネックらしきものを特定し、人間によるレビュー向けに的を絞った改善案を提案する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1F2F52"/>
          </a:solidFill>
          <a:ln w="12700">
            <a:solidFill>
              <a:srgbClr val="2C3C66"/>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C.  最も入力データがきれいなintakeステップから自動化し、素早く着手・検証でき経営層への早期成果を示せるようにする</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一般的なアーカイブ業務のベストプラクティスに基づいた理想のintakeプロセスをClaudeに提案させ、現行手順と比較して主なギャップを埋める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Bだけが「与えられた実データ(完了記録)を使ってボトルネックを特定する」という、分野4の「要件とユースケースの分析にClaudeを適用する」に正面から合致する。Aは完了記録データを一切使わず表現の書き換えに留まる、Cは「やりやすさ」優先で分析を飛ばしている、Dは一般論のベストプラクティスに頼っており組織固有のデータを活用していない。</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29</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分野2: 出力の評価と検証 — 出力形式の選択</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ビジネスアナリストが、12地域分の指標(それぞれ目標差異・簡潔な説明・フォローアップ担当者を含む)を提示する必要がある。経営層は15分の枠でレビューし、地域間を素早く比較する必要がある。最も適切な出力形式はどれか?</a:t>
            </a:r>
            <a:endParaRPr lang="en-US" sz="1150" dirty="0"/>
          </a:p>
        </p:txBody>
      </p:sp>
      <p:sp>
        <p:nvSpPr>
          <p:cNvPr id="6" name="Shape 4"/>
          <p:cNvSpPr/>
          <p:nvPr/>
        </p:nvSpPr>
        <p:spPr>
          <a:xfrm>
            <a:off x="548640" y="2148840"/>
            <a:ext cx="10881360" cy="512064"/>
          </a:xfrm>
          <a:prstGeom prst="roundRect">
            <a:avLst>
              <a:gd name="adj" fmla="val 10714"/>
            </a:avLst>
          </a:prstGeom>
          <a:solidFill>
            <a:srgbClr val="F7F7F9"/>
          </a:solidFill>
          <a:ln w="12700">
            <a:solidFill>
              <a:srgbClr val="E1E6F0"/>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各地域を独立したセクションで論じる物語形式のレポートで、説明の長さは差異ごとに必要なだけ自由に書く</a:t>
            </a:r>
            <a:endParaRPr lang="en-US" sz="1050" dirty="0"/>
          </a:p>
        </p:txBody>
      </p:sp>
      <p:sp>
        <p:nvSpPr>
          <p:cNvPr id="8" name="Shape 6"/>
          <p:cNvSpPr/>
          <p:nvPr/>
        </p:nvSpPr>
        <p:spPr>
          <a:xfrm>
            <a:off x="548640" y="2724912"/>
            <a:ext cx="10881360" cy="512064"/>
          </a:xfrm>
          <a:prstGeom prst="roundRect">
            <a:avLst>
              <a:gd name="adj" fmla="val 10714"/>
            </a:avLst>
          </a:prstGeom>
          <a:solidFill>
            <a:srgbClr val="F7F7F9"/>
          </a:solidFill>
          <a:ln w="12700">
            <a:solidFill>
              <a:srgbClr val="E1E6F0"/>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B.  全地域の総合パフォーマンスを1枚のチャートにまとめ、地域別の詳細は求めに応じて提供する</a:t>
            </a:r>
            <a:endParaRPr lang="en-US" sz="1050" dirty="0"/>
          </a:p>
        </p:txBody>
      </p:sp>
      <p:sp>
        <p:nvSpPr>
          <p:cNvPr id="10" name="Shape 8"/>
          <p:cNvSpPr/>
          <p:nvPr/>
        </p:nvSpPr>
        <p:spPr>
          <a:xfrm>
            <a:off x="548640" y="3300984"/>
            <a:ext cx="10881360" cy="512064"/>
          </a:xfrm>
          <a:prstGeom prst="roundRect">
            <a:avLst>
              <a:gd name="adj" fmla="val 10714"/>
            </a:avLst>
          </a:prstGeom>
          <a:solidFill>
            <a:srgbClr val="F7F7F9"/>
          </a:solidFill>
          <a:ln w="12700">
            <a:solidFill>
              <a:srgbClr val="E1E6F0"/>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地域ごとの箇条書きリストで、指標・差異・説明・担当者を1項目1文で書く</a:t>
            </a:r>
            <a:endParaRPr lang="en-US" sz="1050" dirty="0"/>
          </a:p>
        </p:txBody>
      </p:sp>
      <p:sp>
        <p:nvSpPr>
          <p:cNvPr id="12" name="Shape 10"/>
          <p:cNvSpPr/>
          <p:nvPr/>
        </p:nvSpPr>
        <p:spPr>
          <a:xfrm>
            <a:off x="548640" y="3877056"/>
            <a:ext cx="10881360" cy="512064"/>
          </a:xfrm>
          <a:prstGeom prst="roundRect">
            <a:avLst>
              <a:gd name="adj" fmla="val 10714"/>
            </a:avLst>
          </a:prstGeom>
          <a:solidFill>
            <a:srgbClr val="E8F5EC"/>
          </a:solidFill>
          <a:ln w="12700">
            <a:solidFill>
              <a:srgbClr val="6FCF97"/>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D.  地域ごとに1行、指標・目標差異・簡潔な説明・担当者をそれぞれ別列にした構造化された表</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5B6B8C"/>
                </a:solidFill>
                <a:latin typeface="Calibri" pitchFamily="34" charset="0"/>
                <a:ea typeface="Calibri" pitchFamily="34" charset="-122"/>
                <a:cs typeface="Calibri" pitchFamily="34" charset="-120"/>
              </a:rPr>
              <a:t>解説: Dの「表形式」が、12地域×4項目という多次元のデータを15分で素早く横断比較するのに最も適している。Aは長さが可変の物語形式で比較しづらい、Bは詳細情報を後から請求する形になり「素早い比較」に反する、Cは文章化されたリストで表ほどスキャンしやすくない。分野2の「適切な出力形式を選択する」が、「多数の項目を同じ軸で比較する場面では表が最適」という実例で問われている。</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365760"/>
            <a:ext cx="822960" cy="548640"/>
          </a:xfrm>
          <a:prstGeom prst="rect">
            <a:avLst/>
          </a:prstGeom>
          <a:noFill/>
          <a:ln/>
        </p:spPr>
        <p:txBody>
          <a:bodyPr wrap="square" lIns="0" tIns="0" rIns="0" bIns="0" rtlCol="0" anchor="ctr"/>
          <a:lstStyle/>
          <a:p>
            <a:pPr indent="0" marL="0">
              <a:buNone/>
            </a:pPr>
            <a:r>
              <a:rPr lang="en-US" sz="2200" b="1" dirty="0">
                <a:solidFill>
                  <a:srgbClr val="3E64FF"/>
                </a:solidFill>
                <a:latin typeface="Cambria" pitchFamily="34" charset="0"/>
                <a:ea typeface="Cambria" pitchFamily="34" charset="-122"/>
                <a:cs typeface="Cambria" pitchFamily="34" charset="-120"/>
              </a:rPr>
              <a:t>30</a:t>
            </a:r>
            <a:endParaRPr lang="en-US" sz="2200" dirty="0"/>
          </a:p>
        </p:txBody>
      </p:sp>
      <p:sp>
        <p:nvSpPr>
          <p:cNvPr id="3" name="Text 1"/>
          <p:cNvSpPr txBox="1"/>
          <p:nvPr/>
        </p:nvSpPr>
        <p:spPr>
          <a:xfrm>
            <a:off x="1371600" y="384048"/>
            <a:ext cx="8686800" cy="457200"/>
          </a:xfrm>
          <a:prstGeom prst="rect">
            <a:avLst/>
          </a:prstGeom>
          <a:noFill/>
          <a:ln/>
        </p:spPr>
        <p:txBody>
          <a:bodyPr wrap="square" lIns="0" tIns="0" rIns="0" bIns="0" rtlCol="0" anchor="ctr"/>
          <a:lstStyle/>
          <a:p>
            <a:pPr indent="0" marL="0">
              <a:buNone/>
            </a:pPr>
            <a:r>
              <a:rPr lang="en-US" sz="1500" b="1" dirty="0">
                <a:solidFill>
                  <a:srgbClr val="F2F4F8"/>
                </a:solidFill>
                <a:latin typeface="Calibri" pitchFamily="34" charset="0"/>
                <a:ea typeface="Calibri" pitchFamily="34" charset="-122"/>
                <a:cs typeface="Calibri" pitchFamily="34" charset="-120"/>
              </a:rPr>
              <a:t>分野6: ガバナンス、リスク、責任ある利用 — 適切なユースケースの判断</a:t>
            </a:r>
            <a:endParaRPr lang="en-US" sz="1500" dirty="0"/>
          </a:p>
        </p:txBody>
      </p:sp>
      <p:sp>
        <p:nvSpPr>
          <p:cNvPr id="4" name="Text 2"/>
          <p:cNvSpPr txBox="1"/>
          <p:nvPr/>
        </p:nvSpPr>
        <p:spPr>
          <a:xfrm>
            <a:off x="9692640" y="411480"/>
            <a:ext cx="1920240" cy="365760"/>
          </a:xfrm>
          <a:prstGeom prst="rect">
            <a:avLst/>
          </a:prstGeom>
          <a:noFill/>
          <a:ln/>
        </p:spPr>
        <p:txBody>
          <a:bodyPr wrap="square" lIns="0" tIns="0" rIns="0" bIns="0" rtlCol="0" anchor="ctr"/>
          <a:lstStyle/>
          <a:p>
            <a:pPr algn="r" indent="0" marL="0">
              <a:buNone/>
            </a:pPr>
            <a:r>
              <a:rPr lang="en-US" sz="950" b="1" dirty="0">
                <a:solidFill>
                  <a:srgbClr val="2CB1BC"/>
                </a:solidFill>
                <a:latin typeface="Calibri" pitchFamily="34" charset="0"/>
                <a:ea typeface="Calibri" pitchFamily="34" charset="-122"/>
                <a:cs typeface="Calibri" pitchFamily="34" charset="-120"/>
              </a:rPr>
              <a:t>Udemy模擬試験</a:t>
            </a:r>
            <a:endParaRPr lang="en-US" sz="950" dirty="0"/>
          </a:p>
        </p:txBody>
      </p:sp>
      <p:sp>
        <p:nvSpPr>
          <p:cNvPr id="5" name="Text 3"/>
          <p:cNvSpPr txBox="1"/>
          <p:nvPr/>
        </p:nvSpPr>
        <p:spPr>
          <a:xfrm>
            <a:off x="548640" y="914400"/>
            <a:ext cx="10881360" cy="1188720"/>
          </a:xfrm>
          <a:prstGeom prst="rect">
            <a:avLst/>
          </a:prstGeom>
          <a:noFill/>
          <a:ln/>
        </p:spPr>
        <p:txBody>
          <a:bodyPr wrap="square" lIns="0" tIns="0" rIns="0" bIns="0" rtlCol="0" anchor="ctr"/>
          <a:lstStyle/>
          <a:p>
            <a:pPr indent="0" marL="0">
              <a:buNone/>
            </a:pPr>
            <a:r>
              <a:rPr lang="en-US" sz="1150" dirty="0">
                <a:solidFill>
                  <a:srgbClr val="F2F4F8"/>
                </a:solidFill>
                <a:latin typeface="Calibri" pitchFamily="34" charset="0"/>
                <a:ea typeface="Calibri" pitchFamily="34" charset="-122"/>
                <a:cs typeface="Calibri" pitchFamily="34" charset="-120"/>
              </a:rPr>
              <a:t>倉庫の監督者が、承認済みの手順メモを安全チェックリストの下書きにするためClaudeを使いたいと考えている。監督者は、誰かが使う前に現場でそのチェックリストをレビュー・テストする予定で、個人情報は関与しない。これはClaudeの適切な使用か?</a:t>
            </a:r>
            <a:endParaRPr lang="en-US" sz="1150" dirty="0"/>
          </a:p>
        </p:txBody>
      </p:sp>
      <p:sp>
        <p:nvSpPr>
          <p:cNvPr id="6" name="Shape 4"/>
          <p:cNvSpPr/>
          <p:nvPr/>
        </p:nvSpPr>
        <p:spPr>
          <a:xfrm>
            <a:off x="548640" y="2148840"/>
            <a:ext cx="10881360" cy="512064"/>
          </a:xfrm>
          <a:prstGeom prst="roundRect">
            <a:avLst>
              <a:gd name="adj" fmla="val 10714"/>
            </a:avLst>
          </a:prstGeom>
          <a:solidFill>
            <a:srgbClr val="1F2F52"/>
          </a:solidFill>
          <a:ln w="12700">
            <a:solidFill>
              <a:srgbClr val="2C3C66"/>
            </a:solidFill>
            <a:prstDash val="solid"/>
          </a:ln>
        </p:spPr>
      </p:sp>
      <p:sp>
        <p:nvSpPr>
          <p:cNvPr id="7" name="Text 5"/>
          <p:cNvSpPr txBox="1"/>
          <p:nvPr/>
        </p:nvSpPr>
        <p:spPr>
          <a:xfrm>
            <a:off x="731520" y="2176272"/>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A.  いいえ。職場安全に関わる文書は全て人間が書くべきで、監督者がレビューしてもAIによる下書きは除外される</a:t>
            </a:r>
            <a:endParaRPr lang="en-US" sz="1050" dirty="0"/>
          </a:p>
        </p:txBody>
      </p:sp>
      <p:sp>
        <p:nvSpPr>
          <p:cNvPr id="8" name="Shape 6"/>
          <p:cNvSpPr/>
          <p:nvPr/>
        </p:nvSpPr>
        <p:spPr>
          <a:xfrm>
            <a:off x="548640" y="2724912"/>
            <a:ext cx="10881360" cy="512064"/>
          </a:xfrm>
          <a:prstGeom prst="roundRect">
            <a:avLst>
              <a:gd name="adj" fmla="val 10714"/>
            </a:avLst>
          </a:prstGeom>
          <a:solidFill>
            <a:srgbClr val="1F2F52"/>
          </a:solidFill>
          <a:ln w="12700">
            <a:solidFill>
              <a:srgbClr val="2C3C66"/>
            </a:solidFill>
            <a:prstDash val="solid"/>
          </a:ln>
        </p:spPr>
      </p:sp>
      <p:sp>
        <p:nvSpPr>
          <p:cNvPr id="9" name="Text 7"/>
          <p:cNvSpPr txBox="1"/>
          <p:nvPr/>
        </p:nvSpPr>
        <p:spPr>
          <a:xfrm>
            <a:off x="731520" y="2752344"/>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B.  はい。元となるメモはすでに承認済みなので、Claudeが作成した時点ですぐ使用してよい</a:t>
            </a:r>
            <a:endParaRPr lang="en-US" sz="1050" dirty="0"/>
          </a:p>
        </p:txBody>
      </p:sp>
      <p:sp>
        <p:nvSpPr>
          <p:cNvPr id="10" name="Shape 8"/>
          <p:cNvSpPr/>
          <p:nvPr/>
        </p:nvSpPr>
        <p:spPr>
          <a:xfrm>
            <a:off x="548640" y="3300984"/>
            <a:ext cx="10881360" cy="512064"/>
          </a:xfrm>
          <a:prstGeom prst="roundRect">
            <a:avLst>
              <a:gd name="adj" fmla="val 10714"/>
            </a:avLst>
          </a:prstGeom>
          <a:solidFill>
            <a:srgbClr val="16331F"/>
          </a:solidFill>
          <a:ln w="12700">
            <a:solidFill>
              <a:srgbClr val="6FCF97"/>
            </a:solidFill>
            <a:prstDash val="solid"/>
          </a:ln>
        </p:spPr>
      </p:sp>
      <p:sp>
        <p:nvSpPr>
          <p:cNvPr id="11" name="Text 9"/>
          <p:cNvSpPr txBox="1"/>
          <p:nvPr/>
        </p:nvSpPr>
        <p:spPr>
          <a:xfrm>
            <a:off x="731520" y="3328416"/>
            <a:ext cx="10332720" cy="457200"/>
          </a:xfrm>
          <a:prstGeom prst="rect">
            <a:avLst/>
          </a:prstGeom>
          <a:noFill/>
          <a:ln/>
        </p:spPr>
        <p:txBody>
          <a:bodyPr wrap="square" lIns="0" tIns="0" rIns="0" bIns="0" rtlCol="0" anchor="ctr"/>
          <a:lstStyle/>
          <a:p>
            <a:pPr indent="0" marL="0">
              <a:buNone/>
            </a:pPr>
            <a:r>
              <a:rPr lang="en-US" sz="1050" b="1" dirty="0">
                <a:solidFill>
                  <a:srgbClr val="3FA860"/>
                </a:solidFill>
                <a:latin typeface="Calibri" pitchFamily="34" charset="0"/>
                <a:ea typeface="Calibri" pitchFamily="34" charset="-122"/>
                <a:cs typeface="Calibri" pitchFamily="34" charset="-120"/>
              </a:rPr>
              <a:t>C.  はい。Claudeは承認済みメモから下書きを作成し、監督者が使用前に確認・テストするため</a:t>
            </a:r>
            <a:endParaRPr lang="en-US" sz="1050" dirty="0"/>
          </a:p>
        </p:txBody>
      </p:sp>
      <p:sp>
        <p:nvSpPr>
          <p:cNvPr id="12" name="Shape 10"/>
          <p:cNvSpPr/>
          <p:nvPr/>
        </p:nvSpPr>
        <p:spPr>
          <a:xfrm>
            <a:off x="548640" y="3877056"/>
            <a:ext cx="10881360" cy="512064"/>
          </a:xfrm>
          <a:prstGeom prst="roundRect">
            <a:avLst>
              <a:gd name="adj" fmla="val 10714"/>
            </a:avLst>
          </a:prstGeom>
          <a:solidFill>
            <a:srgbClr val="1F2F52"/>
          </a:solidFill>
          <a:ln w="12700">
            <a:solidFill>
              <a:srgbClr val="2C3C66"/>
            </a:solidFill>
            <a:prstDash val="solid"/>
          </a:ln>
        </p:spPr>
      </p:sp>
      <p:sp>
        <p:nvSpPr>
          <p:cNvPr id="13" name="Text 11"/>
          <p:cNvSpPr txBox="1"/>
          <p:nvPr/>
        </p:nvSpPr>
        <p:spPr>
          <a:xfrm>
            <a:off x="731520" y="3904488"/>
            <a:ext cx="10332720" cy="457200"/>
          </a:xfrm>
          <a:prstGeom prst="rect">
            <a:avLst/>
          </a:prstGeom>
          <a:noFill/>
          <a:ln/>
        </p:spPr>
        <p:txBody>
          <a:bodyPr wrap="square" lIns="0" tIns="0" rIns="0" bIns="0" rtlCol="0" anchor="ctr"/>
          <a:lstStyle/>
          <a:p>
            <a:pPr indent="0" marL="0">
              <a:buNone/>
            </a:pPr>
            <a:r>
              <a:rPr lang="en-US" sz="1050" dirty="0">
                <a:solidFill>
                  <a:srgbClr val="F2F4F8"/>
                </a:solidFill>
                <a:latin typeface="Calibri" pitchFamily="34" charset="0"/>
                <a:ea typeface="Calibri" pitchFamily="34" charset="-122"/>
                <a:cs typeface="Calibri" pitchFamily="34" charset="-120"/>
              </a:rPr>
              <a:t>D.  いいえ。内部手順を新しいチェックリストに変換する行為はワークフロー設計にあたり、まずClaude ArchitectまたはDeveloperに回す必要がある</a:t>
            </a:r>
            <a:endParaRPr lang="en-US" sz="1050" dirty="0"/>
          </a:p>
        </p:txBody>
      </p:sp>
      <p:sp>
        <p:nvSpPr>
          <p:cNvPr id="14" name="Text 12"/>
          <p:cNvSpPr txBox="1"/>
          <p:nvPr/>
        </p:nvSpPr>
        <p:spPr>
          <a:xfrm>
            <a:off x="548640" y="4526280"/>
            <a:ext cx="10881360" cy="1508760"/>
          </a:xfrm>
          <a:prstGeom prst="rect">
            <a:avLst/>
          </a:prstGeom>
          <a:noFill/>
          <a:ln/>
        </p:spPr>
        <p:txBody>
          <a:bodyPr wrap="square" lIns="0" tIns="0" rIns="0" bIns="0" rtlCol="0" anchor="ctr"/>
          <a:lstStyle/>
          <a:p>
            <a:pPr indent="0" marL="0">
              <a:buNone/>
            </a:pPr>
            <a:r>
              <a:rPr lang="en-US" sz="950" i="1" dirty="0">
                <a:solidFill>
                  <a:srgbClr val="B9C4DB"/>
                </a:solidFill>
                <a:latin typeface="Calibri" pitchFamily="34" charset="0"/>
                <a:ea typeface="Calibri" pitchFamily="34" charset="-122"/>
                <a:cs typeface="Calibri" pitchFamily="34" charset="-120"/>
              </a:rPr>
              <a:t>解説: Cが「適切なユースケースの特定」の模範解答。Claudeはあくまで下書き作成を支援し、使用前に人間(監督者)が確認・現場テストするという、本資格全体を貫く「人間が最終責任を持つ」設計がそのまま保たれている。Aは「AIによる下書き」自体を一律に禁止する極端な立場で不適切、Bは「使用前のレビュー・テスト」という重要な前提を飛ばしている、Dはこの程度の社内文書作成タスクを過大にアーキテクト/デベロッパー領域として扱いすぎている。</a:t>
            </a:r>
            <a:endParaRPr lang="en-US" sz="950" dirty="0"/>
          </a:p>
        </p:txBody>
      </p:sp>
      <p:sp>
        <p:nvSpPr>
          <p:cNvPr id="15" name="Text 13"/>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ユーザー提供のUdemy模擬試験(Practice Exams Claude Certified Associate Foundations CCAO-F)より</a:t>
            </a:r>
            <a:endParaRPr lang="en-US" sz="90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2026-10-31T02:39:50Z</dcterms:created>
  <dcterms:modified xsi:type="dcterms:W3CDTF">2026-10-31T02:39:50Z</dcterms:modified>
</cp:coreProperties>
</file>