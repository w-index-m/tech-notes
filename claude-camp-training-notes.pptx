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624"/>
        </a:solidFill>
      </p:bgPr>
    </p:bg>
    <p:spTree>
      <p:nvGrpSpPr>
        <p:cNvPr id="1" name=""/>
        <p:cNvGrpSpPr/>
        <p:nvPr/>
      </p:nvGrpSpPr>
      <p:grpSpPr>
        <a:xfrm>
          <a:off x="0" y="0"/>
          <a:ext cx="0" cy="0"/>
          <a:chOff x="0" y="0"/>
          <a:chExt cx="0" cy="0"/>
        </a:xfrm>
      </p:grpSpPr>
      <p:sp>
        <p:nvSpPr>
          <p:cNvPr id="2" name="Shape 0"/>
          <p:cNvSpPr/>
          <p:nvPr/>
        </p:nvSpPr>
        <p:spPr>
          <a:xfrm>
            <a:off x="8686800" y="-1828800"/>
            <a:ext cx="5669280" cy="5669280"/>
          </a:xfrm>
          <a:prstGeom prst="ellipse">
            <a:avLst/>
          </a:prstGeom>
          <a:solidFill>
            <a:srgbClr val="CC785C">
              <a:alpha val="12000"/>
            </a:srgbClr>
          </a:solidFill>
          <a:ln/>
        </p:spPr>
      </p:sp>
      <p:sp>
        <p:nvSpPr>
          <p:cNvPr id="3" name="Shape 1"/>
          <p:cNvSpPr/>
          <p:nvPr/>
        </p:nvSpPr>
        <p:spPr>
          <a:xfrm>
            <a:off x="-1645920" y="4572000"/>
            <a:ext cx="4754880" cy="4754880"/>
          </a:xfrm>
          <a:prstGeom prst="ellipse">
            <a:avLst/>
          </a:prstGeom>
          <a:solidFill>
            <a:srgbClr val="6A8EAE">
              <a:alpha val="10000"/>
            </a:srgbClr>
          </a:solidFill>
          <a:ln/>
        </p:spPr>
      </p:sp>
      <p:sp>
        <p:nvSpPr>
          <p:cNvPr id="4" name="Text 2"/>
          <p:cNvSpPr txBox="1"/>
          <p:nvPr/>
        </p:nvSpPr>
        <p:spPr>
          <a:xfrm>
            <a:off x="731520" y="2103120"/>
            <a:ext cx="10607040" cy="1005840"/>
          </a:xfrm>
          <a:prstGeom prst="rect">
            <a:avLst/>
          </a:prstGeom>
          <a:noFill/>
          <a:ln/>
        </p:spPr>
        <p:txBody>
          <a:bodyPr wrap="square" lIns="0" tIns="0" rIns="0" bIns="0" rtlCol="0" anchor="ctr"/>
          <a:lstStyle/>
          <a:p>
            <a:pPr indent="0" marL="0">
              <a:buNone/>
            </a:pPr>
            <a:r>
              <a:rPr lang="en-US" sz="4200" b="1" dirty="0">
                <a:solidFill>
                  <a:srgbClr val="F4F3F0"/>
                </a:solidFill>
                <a:latin typeface="Cambria" pitchFamily="34" charset="0"/>
                <a:ea typeface="Cambria" pitchFamily="34" charset="-122"/>
                <a:cs typeface="Cambria" pitchFamily="34" charset="-120"/>
              </a:rPr>
              <a:t>Claude Code 学習ノート</a:t>
            </a:r>
            <a:endParaRPr lang="en-US" sz="4200" dirty="0"/>
          </a:p>
        </p:txBody>
      </p:sp>
      <p:sp>
        <p:nvSpPr>
          <p:cNvPr id="5" name="Text 3"/>
          <p:cNvSpPr txBox="1"/>
          <p:nvPr/>
        </p:nvSpPr>
        <p:spPr>
          <a:xfrm>
            <a:off x="731520" y="3154680"/>
            <a:ext cx="10607040" cy="548640"/>
          </a:xfrm>
          <a:prstGeom prst="rect">
            <a:avLst/>
          </a:prstGeom>
          <a:noFill/>
          <a:ln/>
        </p:spPr>
        <p:txBody>
          <a:bodyPr wrap="square" lIns="0" tIns="0" rIns="0" bIns="0" rtlCol="0" anchor="ctr"/>
          <a:lstStyle/>
          <a:p>
            <a:pPr indent="0" marL="0">
              <a:buNone/>
            </a:pPr>
            <a:r>
              <a:rPr lang="en-US" sz="1600" dirty="0">
                <a:solidFill>
                  <a:srgbClr val="C9C5BD"/>
                </a:solidFill>
                <a:latin typeface="Calibri" pitchFamily="34" charset="0"/>
                <a:ea typeface="Calibri" pitchFamily="34" charset="-122"/>
                <a:cs typeface="Calibri" pitchFamily="34" charset="-120"/>
              </a:rPr>
              <a:t>Claude Academy「Claude Code 101」・公式Quickstart・Claude Camp講演5本のまとめ</a:t>
            </a:r>
            <a:endParaRPr lang="en-US" sz="16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250" i="1" dirty="0">
                <a:solidFill>
                  <a:srgbClr val="CC785C"/>
                </a:solidFill>
                <a:latin typeface="Calibri" pitchFamily="34" charset="0"/>
                <a:ea typeface="Calibri" pitchFamily="34" charset="-122"/>
                <a:cs typeface="Calibri" pitchFamily="34" charset="-120"/>
              </a:rPr>
              <a:t>Anthropic公式トレーニング資料の学習ノート</a:t>
            </a:r>
            <a:endParaRPr lang="en-US" sz="125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188720"/>
            <a:ext cx="438912" cy="438912"/>
          </a:xfrm>
          <a:prstGeom prst="ellipse">
            <a:avLst/>
          </a:prstGeom>
          <a:solidFill>
            <a:srgbClr val="CC785C"/>
          </a:solidFill>
          <a:ln/>
        </p:spPr>
      </p:sp>
      <p:sp>
        <p:nvSpPr>
          <p:cNvPr id="4" name="Text 2"/>
          <p:cNvSpPr txBox="1"/>
          <p:nvPr/>
        </p:nvSpPr>
        <p:spPr>
          <a:xfrm>
            <a:off x="640080" y="11887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298448" y="116128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Academy: Claude Code 101 コース</a:t>
            </a:r>
            <a:endParaRPr lang="en-US" sz="1500" dirty="0"/>
          </a:p>
        </p:txBody>
      </p:sp>
      <p:sp>
        <p:nvSpPr>
          <p:cNvPr id="6" name="Text 4"/>
          <p:cNvSpPr txBox="1"/>
          <p:nvPr/>
        </p:nvSpPr>
        <p:spPr>
          <a:xfrm>
            <a:off x="1298448" y="146304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公式自習コースの全体構成</a:t>
            </a:r>
            <a:endParaRPr lang="en-US" sz="1100" dirty="0"/>
          </a:p>
        </p:txBody>
      </p:sp>
      <p:sp>
        <p:nvSpPr>
          <p:cNvPr id="7" name="Shape 5"/>
          <p:cNvSpPr/>
          <p:nvPr/>
        </p:nvSpPr>
        <p:spPr>
          <a:xfrm>
            <a:off x="640080" y="1947672"/>
            <a:ext cx="438912" cy="438912"/>
          </a:xfrm>
          <a:prstGeom prst="ellipse">
            <a:avLst/>
          </a:prstGeom>
          <a:solidFill>
            <a:srgbClr val="CC785C"/>
          </a:solidFill>
          <a:ln/>
        </p:spPr>
      </p:sp>
      <p:sp>
        <p:nvSpPr>
          <p:cNvPr id="8" name="Text 6"/>
          <p:cNvSpPr txBox="1"/>
          <p:nvPr/>
        </p:nvSpPr>
        <p:spPr>
          <a:xfrm>
            <a:off x="640080" y="194767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98448" y="192024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公式Quickstart &amp; CLAUDE.md/自動メモリ</a:t>
            </a:r>
            <a:endParaRPr lang="en-US" sz="1500" dirty="0"/>
          </a:p>
        </p:txBody>
      </p:sp>
      <p:sp>
        <p:nvSpPr>
          <p:cNvPr id="10" name="Text 8"/>
          <p:cNvSpPr txBox="1"/>
          <p:nvPr/>
        </p:nvSpPr>
        <p:spPr>
          <a:xfrm>
            <a:off x="1298448" y="222199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インストール〜基本コマンド〜プロジェクトの記憶の仕組み</a:t>
            </a:r>
            <a:endParaRPr lang="en-US" sz="1100" dirty="0"/>
          </a:p>
        </p:txBody>
      </p:sp>
      <p:sp>
        <p:nvSpPr>
          <p:cNvPr id="11" name="Shape 9"/>
          <p:cNvSpPr/>
          <p:nvPr/>
        </p:nvSpPr>
        <p:spPr>
          <a:xfrm>
            <a:off x="640080" y="2706624"/>
            <a:ext cx="438912" cy="438912"/>
          </a:xfrm>
          <a:prstGeom prst="ellipse">
            <a:avLst/>
          </a:prstGeom>
          <a:solidFill>
            <a:srgbClr val="CC785C"/>
          </a:solidFill>
          <a:ln/>
        </p:spPr>
      </p:sp>
      <p:sp>
        <p:nvSpPr>
          <p:cNvPr id="12" name="Text 10"/>
          <p:cNvSpPr txBox="1"/>
          <p:nvPr/>
        </p:nvSpPr>
        <p:spPr>
          <a:xfrm>
            <a:off x="640080" y="270662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298448" y="2679192"/>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Getting Started with Claude Code</a:t>
            </a:r>
            <a:endParaRPr lang="en-US" sz="1500" dirty="0"/>
          </a:p>
        </p:txBody>
      </p:sp>
      <p:sp>
        <p:nvSpPr>
          <p:cNvPr id="14" name="Text 12"/>
          <p:cNvSpPr txBox="1"/>
          <p:nvPr/>
        </p:nvSpPr>
        <p:spPr>
          <a:xfrm>
            <a:off x="1298448" y="2980944"/>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エージェントの仕組み・ワークフロー実践</a:t>
            </a:r>
            <a:endParaRPr lang="en-US" sz="1100" dirty="0"/>
          </a:p>
        </p:txBody>
      </p:sp>
      <p:sp>
        <p:nvSpPr>
          <p:cNvPr id="15" name="Shape 13"/>
          <p:cNvSpPr/>
          <p:nvPr/>
        </p:nvSpPr>
        <p:spPr>
          <a:xfrm>
            <a:off x="640080" y="3465576"/>
            <a:ext cx="438912" cy="438912"/>
          </a:xfrm>
          <a:prstGeom prst="ellipse">
            <a:avLst/>
          </a:prstGeom>
          <a:solidFill>
            <a:srgbClr val="CC785C"/>
          </a:solidFill>
          <a:ln/>
        </p:spPr>
      </p:sp>
      <p:sp>
        <p:nvSpPr>
          <p:cNvPr id="16" name="Text 14"/>
          <p:cNvSpPr txBox="1"/>
          <p:nvPr/>
        </p:nvSpPr>
        <p:spPr>
          <a:xfrm>
            <a:off x="640080" y="346557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298448" y="3438144"/>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Moving to the Frontier</a:t>
            </a:r>
            <a:endParaRPr lang="en-US" sz="1500" dirty="0"/>
          </a:p>
        </p:txBody>
      </p:sp>
      <p:sp>
        <p:nvSpPr>
          <p:cNvPr id="18" name="Text 16"/>
          <p:cNvSpPr txBox="1"/>
          <p:nvPr/>
        </p:nvSpPr>
        <p:spPr>
          <a:xfrm>
            <a:off x="1298448" y="3739896"/>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AI進歩トレンドとビジネス戦略</a:t>
            </a:r>
            <a:endParaRPr lang="en-US" sz="1100" dirty="0"/>
          </a:p>
        </p:txBody>
      </p:sp>
      <p:sp>
        <p:nvSpPr>
          <p:cNvPr id="19" name="Shape 17"/>
          <p:cNvSpPr/>
          <p:nvPr/>
        </p:nvSpPr>
        <p:spPr>
          <a:xfrm>
            <a:off x="640080" y="4224528"/>
            <a:ext cx="438912" cy="438912"/>
          </a:xfrm>
          <a:prstGeom prst="ellipse">
            <a:avLst/>
          </a:prstGeom>
          <a:solidFill>
            <a:srgbClr val="CC785C"/>
          </a:solidFill>
          <a:ln/>
        </p:spPr>
      </p:sp>
      <p:sp>
        <p:nvSpPr>
          <p:cNvPr id="20" name="Text 18"/>
          <p:cNvSpPr txBox="1"/>
          <p:nvPr/>
        </p:nvSpPr>
        <p:spPr>
          <a:xfrm>
            <a:off x="640080" y="422452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1298448" y="4197096"/>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Proving value and controlling cost</a:t>
            </a:r>
            <a:endParaRPr lang="en-US" sz="1500" dirty="0"/>
          </a:p>
        </p:txBody>
      </p:sp>
      <p:sp>
        <p:nvSpPr>
          <p:cNvPr id="22" name="Text 20"/>
          <p:cNvSpPr txBox="1"/>
          <p:nvPr/>
        </p:nvSpPr>
        <p:spPr>
          <a:xfrm>
            <a:off x="1298448" y="4498848"/>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コスト管理と価値実現の実例</a:t>
            </a:r>
            <a:endParaRPr lang="en-US" sz="1100" dirty="0"/>
          </a:p>
        </p:txBody>
      </p:sp>
      <p:sp>
        <p:nvSpPr>
          <p:cNvPr id="23" name="Shape 21"/>
          <p:cNvSpPr/>
          <p:nvPr/>
        </p:nvSpPr>
        <p:spPr>
          <a:xfrm>
            <a:off x="640080" y="4983480"/>
            <a:ext cx="438912" cy="438912"/>
          </a:xfrm>
          <a:prstGeom prst="ellipse">
            <a:avLst/>
          </a:prstGeom>
          <a:solidFill>
            <a:srgbClr val="CC785C"/>
          </a:solidFill>
          <a:ln/>
        </p:spPr>
      </p:sp>
      <p:sp>
        <p:nvSpPr>
          <p:cNvPr id="24" name="Text 22"/>
          <p:cNvSpPr txBox="1"/>
          <p:nvPr/>
        </p:nvSpPr>
        <p:spPr>
          <a:xfrm>
            <a:off x="640080" y="498348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1298448" y="495604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AI Fluency</a:t>
            </a:r>
            <a:endParaRPr lang="en-US" sz="1500" dirty="0"/>
          </a:p>
        </p:txBody>
      </p:sp>
      <p:sp>
        <p:nvSpPr>
          <p:cNvPr id="26" name="Text 24"/>
          <p:cNvSpPr txBox="1"/>
          <p:nvPr/>
        </p:nvSpPr>
        <p:spPr>
          <a:xfrm>
            <a:off x="1298448" y="525780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4Dフレームワークと組織への浸透</a:t>
            </a:r>
            <a:endParaRPr lang="en-US" sz="1100" dirty="0"/>
          </a:p>
        </p:txBody>
      </p:sp>
      <p:sp>
        <p:nvSpPr>
          <p:cNvPr id="27" name="Shape 25"/>
          <p:cNvSpPr/>
          <p:nvPr/>
        </p:nvSpPr>
        <p:spPr>
          <a:xfrm>
            <a:off x="640080" y="5742432"/>
            <a:ext cx="438912" cy="438912"/>
          </a:xfrm>
          <a:prstGeom prst="ellipse">
            <a:avLst/>
          </a:prstGeom>
          <a:solidFill>
            <a:srgbClr val="CC785C"/>
          </a:solidFill>
          <a:ln/>
        </p:spPr>
      </p:sp>
      <p:sp>
        <p:nvSpPr>
          <p:cNvPr id="28" name="Text 26"/>
          <p:cNvSpPr txBox="1"/>
          <p:nvPr/>
        </p:nvSpPr>
        <p:spPr>
          <a:xfrm>
            <a:off x="640080" y="574243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7"/>
          <p:cNvSpPr txBox="1"/>
          <p:nvPr/>
        </p:nvSpPr>
        <p:spPr>
          <a:xfrm>
            <a:off x="1298448" y="571500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Your first real workflow in Cowork</a:t>
            </a:r>
            <a:endParaRPr lang="en-US" sz="1500" dirty="0"/>
          </a:p>
        </p:txBody>
      </p:sp>
      <p:sp>
        <p:nvSpPr>
          <p:cNvPr id="30" name="Text 28"/>
          <p:cNvSpPr txBox="1"/>
          <p:nvPr/>
        </p:nvSpPr>
        <p:spPr>
          <a:xfrm>
            <a:off x="1298448" y="601675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Coworkでの実践ワークフロー構築</a:t>
            </a:r>
            <a:endParaRPr lang="en-US" sz="1100" dirty="0"/>
          </a:p>
        </p:txBody>
      </p:sp>
      <p:sp>
        <p:nvSpPr>
          <p:cNvPr id="31" name="Text 2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Claude Academy: Claude Code 101</a:t>
            </a:r>
            <a:endParaRPr lang="en-US" sz="2400" dirty="0"/>
          </a:p>
        </p:txBody>
      </p:sp>
      <p:sp>
        <p:nvSpPr>
          <p:cNvPr id="4" name="Text 2"/>
          <p:cNvSpPr txBox="1"/>
          <p:nvPr/>
        </p:nvSpPr>
        <p:spPr>
          <a:xfrm>
            <a:off x="548640" y="1371600"/>
            <a:ext cx="10607040" cy="365760"/>
          </a:xfrm>
          <a:prstGeom prst="rect">
            <a:avLst/>
          </a:prstGeom>
          <a:noFill/>
          <a:ln/>
        </p:spPr>
        <p:txBody>
          <a:bodyPr wrap="square" lIns="0" tIns="0" rIns="0" bIns="0" rtlCol="0" anchor="ctr"/>
          <a:lstStyle/>
          <a:p>
            <a:pPr indent="0" marL="0">
              <a:buNone/>
            </a:pPr>
            <a:r>
              <a:rPr lang="en-US" sz="1250" i="1" dirty="0">
                <a:solidFill>
                  <a:srgbClr val="6B6862"/>
                </a:solidFill>
                <a:latin typeface="Calibri" pitchFamily="34" charset="0"/>
                <a:ea typeface="Calibri" pitchFamily="34" charset="-122"/>
                <a:cs typeface="Calibri" pitchFamily="34" charset="-120"/>
              </a:rPr>
              <a:t>ターミナル常駐のエージェント型コーディングツールを基礎から学ぶ公式コース</a:t>
            </a:r>
            <a:endParaRPr lang="en-US" sz="1250" dirty="0"/>
          </a:p>
        </p:txBody>
      </p:sp>
      <p:sp>
        <p:nvSpPr>
          <p:cNvPr id="5" name="Shape 3"/>
          <p:cNvSpPr/>
          <p:nvPr/>
        </p:nvSpPr>
        <p:spPr>
          <a:xfrm>
            <a:off x="54864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54864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12</a:t>
            </a:r>
            <a:endParaRPr lang="en-US" sz="2200" dirty="0"/>
          </a:p>
        </p:txBody>
      </p:sp>
      <p:sp>
        <p:nvSpPr>
          <p:cNvPr id="7" name="Text 5"/>
          <p:cNvSpPr txBox="1"/>
          <p:nvPr/>
        </p:nvSpPr>
        <p:spPr>
          <a:xfrm>
            <a:off x="54864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レッスン</a:t>
            </a:r>
            <a:endParaRPr lang="en-US" sz="1100" dirty="0"/>
          </a:p>
        </p:txBody>
      </p:sp>
      <p:sp>
        <p:nvSpPr>
          <p:cNvPr id="8" name="Shape 6"/>
          <p:cNvSpPr/>
          <p:nvPr/>
        </p:nvSpPr>
        <p:spPr>
          <a:xfrm>
            <a:off x="324612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324612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1.5h</a:t>
            </a:r>
            <a:endParaRPr lang="en-US" sz="2200" dirty="0"/>
          </a:p>
        </p:txBody>
      </p:sp>
      <p:sp>
        <p:nvSpPr>
          <p:cNvPr id="10" name="Text 8"/>
          <p:cNvSpPr txBox="1"/>
          <p:nvPr/>
        </p:nvSpPr>
        <p:spPr>
          <a:xfrm>
            <a:off x="324612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所要時間</a:t>
            </a:r>
            <a:endParaRPr lang="en-US" sz="1100" dirty="0"/>
          </a:p>
        </p:txBody>
      </p:sp>
      <p:sp>
        <p:nvSpPr>
          <p:cNvPr id="11" name="Shape 9"/>
          <p:cNvSpPr/>
          <p:nvPr/>
        </p:nvSpPr>
        <p:spPr>
          <a:xfrm>
            <a:off x="594360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594360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a:t>
            </a:r>
            <a:endParaRPr lang="en-US" sz="2200" dirty="0"/>
          </a:p>
        </p:txBody>
      </p:sp>
      <p:sp>
        <p:nvSpPr>
          <p:cNvPr id="13" name="Text 11"/>
          <p:cNvSpPr txBox="1"/>
          <p:nvPr/>
        </p:nvSpPr>
        <p:spPr>
          <a:xfrm>
            <a:off x="594360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クイズ</a:t>
            </a:r>
            <a:endParaRPr lang="en-US" sz="1100" dirty="0"/>
          </a:p>
        </p:txBody>
      </p:sp>
      <p:sp>
        <p:nvSpPr>
          <p:cNvPr id="14" name="Shape 12"/>
          <p:cNvSpPr/>
          <p:nvPr/>
        </p:nvSpPr>
        <p:spPr>
          <a:xfrm>
            <a:off x="864108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64108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864108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修了バッジ</a:t>
            </a:r>
            <a:endParaRPr lang="en-US" sz="1100" dirty="0"/>
          </a:p>
        </p:txBody>
      </p:sp>
      <p:sp>
        <p:nvSpPr>
          <p:cNvPr id="17" name="Text 15"/>
          <p:cNvSpPr txBox="1"/>
          <p:nvPr/>
        </p:nvSpPr>
        <p:spPr>
          <a:xfrm>
            <a:off x="548640" y="3200400"/>
            <a:ext cx="10607040" cy="365760"/>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学習内容(このコースを終えると)</a:t>
            </a:r>
            <a:endParaRPr lang="en-US" sz="1400" dirty="0"/>
          </a:p>
        </p:txBody>
      </p:sp>
      <p:sp>
        <p:nvSpPr>
          <p:cNvPr id="18" name="Text 16"/>
          <p:cNvSpPr txBox="1"/>
          <p:nvPr/>
        </p:nvSpPr>
        <p:spPr>
          <a:xfrm>
            <a:off x="548640" y="3566160"/>
            <a:ext cx="10607040" cy="23774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AIコーディングエージェントとチャットベースツールの違いを説明できる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エージェントループ・コンテキストウィンドウ・ツール・権限の連携を理解する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手動モード・自動承認・Plan Modeを使い分けて効果的にプロンプトを書く</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Explore → Plan → Code → Commit ワークフローに従う</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CLAUDE.md・サブエージェント・MCP・フックでClaude Codeをカスタマイズする</a:t>
            </a:r>
            <a:endParaRPr lang="en-US" sz="12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101」コースページ(academy.claude.com/ja)</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コース構成(4セクション・12レッスン)</a:t>
            </a:r>
            <a:endParaRPr lang="en-US" sz="2400" dirty="0"/>
          </a:p>
        </p:txBody>
      </p:sp>
      <p:sp>
        <p:nvSpPr>
          <p:cNvPr id="4" name="Shape 2"/>
          <p:cNvSpPr/>
          <p:nvPr/>
        </p:nvSpPr>
        <p:spPr>
          <a:xfrm>
            <a:off x="548640" y="1554480"/>
            <a:ext cx="10607040" cy="1097280"/>
          </a:xfrm>
          <a:prstGeom prst="roundRect">
            <a:avLst>
              <a:gd name="adj" fmla="val 8333"/>
            </a:avLst>
          </a:prstGeom>
          <a:solidFill>
            <a:srgbClr val="33312E"/>
          </a:solidFill>
          <a:ln/>
        </p:spPr>
      </p:sp>
      <p:sp>
        <p:nvSpPr>
          <p:cNvPr id="5" name="Text 3"/>
          <p:cNvSpPr txBox="1"/>
          <p:nvPr/>
        </p:nvSpPr>
        <p:spPr>
          <a:xfrm>
            <a:off x="822960" y="169164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Codeとは？</a:t>
            </a:r>
            <a:endParaRPr lang="en-US" sz="1450" dirty="0"/>
          </a:p>
        </p:txBody>
      </p:sp>
      <p:sp>
        <p:nvSpPr>
          <p:cNvPr id="6" name="Text 4"/>
          <p:cNvSpPr txBox="1"/>
          <p:nvPr/>
        </p:nvSpPr>
        <p:spPr>
          <a:xfrm>
            <a:off x="822960" y="205740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7" name="Text 5"/>
          <p:cNvSpPr txBox="1"/>
          <p:nvPr/>
        </p:nvSpPr>
        <p:spPr>
          <a:xfrm>
            <a:off x="4846320" y="169164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エージェントループ、ツールと権限の統制を第一原理から理解する</a:t>
            </a:r>
            <a:endParaRPr lang="en-US" sz="1150" dirty="0"/>
          </a:p>
        </p:txBody>
      </p:sp>
      <p:sp>
        <p:nvSpPr>
          <p:cNvPr id="8" name="Shape 6"/>
          <p:cNvSpPr/>
          <p:nvPr/>
        </p:nvSpPr>
        <p:spPr>
          <a:xfrm>
            <a:off x="548640" y="2788920"/>
            <a:ext cx="10607040" cy="1097280"/>
          </a:xfrm>
          <a:prstGeom prst="roundRect">
            <a:avLst>
              <a:gd name="adj" fmla="val 8333"/>
            </a:avLst>
          </a:prstGeom>
          <a:solidFill>
            <a:srgbClr val="33312E"/>
          </a:solidFill>
          <a:ln/>
        </p:spPr>
      </p:sp>
      <p:sp>
        <p:nvSpPr>
          <p:cNvPr id="9" name="Text 7"/>
          <p:cNvSpPr txBox="1"/>
          <p:nvPr/>
        </p:nvSpPr>
        <p:spPr>
          <a:xfrm>
            <a:off x="822960" y="292608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最初のプロンプト</a:t>
            </a:r>
            <a:endParaRPr lang="en-US" sz="1450" dirty="0"/>
          </a:p>
        </p:txBody>
      </p:sp>
      <p:sp>
        <p:nvSpPr>
          <p:cNvPr id="10" name="Text 8"/>
          <p:cNvSpPr txBox="1"/>
          <p:nvPr/>
        </p:nvSpPr>
        <p:spPr>
          <a:xfrm>
            <a:off x="822960" y="329184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11" name="Text 9"/>
          <p:cNvSpPr txBox="1"/>
          <p:nvPr/>
        </p:nvSpPr>
        <p:spPr>
          <a:xfrm>
            <a:off x="4846320" y="292608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複数環境へのインストール、承認モード・自動承認・Plan Modeの使い分け</a:t>
            </a:r>
            <a:endParaRPr lang="en-US" sz="1150" dirty="0"/>
          </a:p>
        </p:txBody>
      </p:sp>
      <p:sp>
        <p:nvSpPr>
          <p:cNvPr id="12" name="Shape 10"/>
          <p:cNvSpPr/>
          <p:nvPr/>
        </p:nvSpPr>
        <p:spPr>
          <a:xfrm>
            <a:off x="548640" y="4023360"/>
            <a:ext cx="10607040" cy="1097280"/>
          </a:xfrm>
          <a:prstGeom prst="roundRect">
            <a:avLst>
              <a:gd name="adj" fmla="val 8333"/>
            </a:avLst>
          </a:prstGeom>
          <a:solidFill>
            <a:srgbClr val="33312E"/>
          </a:solidFill>
          <a:ln/>
        </p:spPr>
      </p:sp>
      <p:sp>
        <p:nvSpPr>
          <p:cNvPr id="13" name="Text 11"/>
          <p:cNvSpPr txBox="1"/>
          <p:nvPr/>
        </p:nvSpPr>
        <p:spPr>
          <a:xfrm>
            <a:off x="822960" y="416052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日々のワークフロー</a:t>
            </a:r>
            <a:endParaRPr lang="en-US" sz="1450" dirty="0"/>
          </a:p>
        </p:txBody>
      </p:sp>
      <p:sp>
        <p:nvSpPr>
          <p:cNvPr id="14" name="Text 12"/>
          <p:cNvSpPr txBox="1"/>
          <p:nvPr/>
        </p:nvSpPr>
        <p:spPr>
          <a:xfrm>
            <a:off x="822960" y="452628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3レッスン</a:t>
            </a:r>
            <a:endParaRPr lang="en-US" sz="1100" dirty="0"/>
          </a:p>
        </p:txBody>
      </p:sp>
      <p:sp>
        <p:nvSpPr>
          <p:cNvPr id="15" name="Text 13"/>
          <p:cNvSpPr txBox="1"/>
          <p:nvPr/>
        </p:nvSpPr>
        <p:spPr>
          <a:xfrm>
            <a:off x="4846320" y="416052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Explore→Plan→Code→Commit、コンテキスト管理、コードレビュー</a:t>
            </a:r>
            <a:endParaRPr lang="en-US" sz="1150" dirty="0"/>
          </a:p>
        </p:txBody>
      </p:sp>
      <p:sp>
        <p:nvSpPr>
          <p:cNvPr id="16" name="Shape 14"/>
          <p:cNvSpPr/>
          <p:nvPr/>
        </p:nvSpPr>
        <p:spPr>
          <a:xfrm>
            <a:off x="548640" y="5257800"/>
            <a:ext cx="10607040" cy="1097280"/>
          </a:xfrm>
          <a:prstGeom prst="roundRect">
            <a:avLst>
              <a:gd name="adj" fmla="val 8333"/>
            </a:avLst>
          </a:prstGeom>
          <a:solidFill>
            <a:srgbClr val="33312E"/>
          </a:solidFill>
          <a:ln/>
        </p:spPr>
      </p:sp>
      <p:sp>
        <p:nvSpPr>
          <p:cNvPr id="17" name="Text 15"/>
          <p:cNvSpPr txBox="1"/>
          <p:nvPr/>
        </p:nvSpPr>
        <p:spPr>
          <a:xfrm>
            <a:off x="822960" y="539496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Codeをカスタマイズする</a:t>
            </a:r>
            <a:endParaRPr lang="en-US" sz="1450" dirty="0"/>
          </a:p>
        </p:txBody>
      </p:sp>
      <p:sp>
        <p:nvSpPr>
          <p:cNvPr id="18" name="Text 16"/>
          <p:cNvSpPr txBox="1"/>
          <p:nvPr/>
        </p:nvSpPr>
        <p:spPr>
          <a:xfrm>
            <a:off x="822960" y="576072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5レッスン</a:t>
            </a:r>
            <a:endParaRPr lang="en-US" sz="1100" dirty="0"/>
          </a:p>
        </p:txBody>
      </p:sp>
      <p:sp>
        <p:nvSpPr>
          <p:cNvPr id="19" name="Text 17"/>
          <p:cNvSpPr txBox="1"/>
          <p:nvPr/>
        </p:nvSpPr>
        <p:spPr>
          <a:xfrm>
            <a:off x="4846320" y="539496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CLAUDE.md、サブエージェント、スキル、MCP、フック</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 Claude Codeとは？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Claude.aiとの違い</a:t>
            </a:r>
            <a:endParaRPr lang="en-US" sz="1300" dirty="0"/>
          </a:p>
        </p:txBody>
      </p:sp>
      <p:sp>
        <p:nvSpPr>
          <p:cNvPr id="6" name="Text 4"/>
          <p:cNvSpPr txBox="1"/>
          <p:nvPr/>
        </p:nvSpPr>
        <p:spPr>
          <a:xfrm>
            <a:off x="548640" y="205740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Claude.aiと異なり、Claude Codeはファイル・ターミナル・コードベース全体に直接アクセスできる。コピー&amp;ペーストで行き来する代わりに、Claude Code自身が作業を実行する。最大の違いは「AIエージェントとして動作する」こと</a:t>
            </a:r>
            <a:endParaRPr lang="en-US" sz="1050" dirty="0"/>
          </a:p>
        </p:txBody>
      </p:sp>
      <p:sp>
        <p:nvSpPr>
          <p:cNvPr id="7" name="Text 5"/>
          <p:cNvSpPr txBox="1"/>
          <p:nvPr/>
        </p:nvSpPr>
        <p:spPr>
          <a:xfrm>
            <a:off x="548640" y="338328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エージェントとは何か</a:t>
            </a:r>
            <a:endParaRPr lang="en-US" sz="1300" dirty="0"/>
          </a:p>
        </p:txBody>
      </p:sp>
      <p:sp>
        <p:nvSpPr>
          <p:cNvPr id="8" name="Text 6"/>
          <p:cNvSpPr txBox="1"/>
          <p:nvPr/>
        </p:nvSpPr>
        <p:spPr>
          <a:xfrm>
            <a:off x="548640" y="370332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環境と相互作用し、定義された目標を達成するために行動を実行できるソフトウェア。中核ではLLMがリアルタイムでループ処理を行い、ツール・外部サービス・他のAIエージェントにアクセスすることがある</a:t>
            </a:r>
            <a:endParaRPr lang="en-US" sz="1050" dirty="0"/>
          </a:p>
        </p:txBody>
      </p:sp>
      <p:sp>
        <p:nvSpPr>
          <p:cNvPr id="9" name="Text 7"/>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実際に何ができるのか</a:t>
            </a:r>
            <a:endParaRPr lang="en-US" sz="1300" dirty="0"/>
          </a:p>
        </p:txBody>
      </p:sp>
      <p:sp>
        <p:nvSpPr>
          <p:cNvPr id="10" name="Text 8"/>
          <p:cNvSpPr txBox="1"/>
          <p:nvPr/>
        </p:nvSpPr>
        <p:spPr>
          <a:xfrm>
            <a:off x="5852160" y="2057400"/>
            <a:ext cx="5303520" cy="201168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コードベースを読み取り、理解する(機能説明・バグ追跡)</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プロジェクト全体のファイルを編集する(関数リファクタリング+参照元の一括更新)</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ターミナルコマンドを実行する(ビルド・テスト・パッケージインストール、出力を見て次を判断)</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Webを検索する(最新のドキュメント・APIリファレンス)</a:t>
            </a:r>
            <a:endParaRPr lang="en-US" sz="1000" dirty="0"/>
          </a:p>
        </p:txBody>
      </p:sp>
      <p:sp>
        <p:nvSpPr>
          <p:cNvPr id="11" name="Text 9"/>
          <p:cNvSpPr txBox="1"/>
          <p:nvPr/>
        </p:nvSpPr>
        <p:spPr>
          <a:xfrm>
            <a:off x="5852160" y="4206240"/>
            <a:ext cx="5303520" cy="1737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効果的に使うための3概念: ①コンテキストウィンドウ(=作業メモリ。全部は保持できないため戦略的に探す) ②権限はあなたがコントロール(確認を求める⇄自動モード) ③ミスもする(意図の誤解・バグ混入・過剰な作り込み。プロセスに関与し続けることで早期発見)</a:t>
            </a:r>
            <a:endParaRPr lang="en-US" sz="100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 Claude Codeとは？</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レッスン2: Claude Codeの仕組み</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レッスン2/12</a:t>
            </a:r>
            <a:endParaRPr lang="en-US" sz="110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エージェント型ループ(5ステップ)</a:t>
            </a:r>
            <a:endParaRPr lang="en-US" sz="1300" dirty="0"/>
          </a:p>
        </p:txBody>
      </p:sp>
      <p:sp>
        <p:nvSpPr>
          <p:cNvPr id="6" name="Text 4"/>
          <p:cNvSpPr txBox="1"/>
          <p:nvPr/>
        </p:nvSpPr>
        <p:spPr>
          <a:xfrm>
            <a:off x="548640" y="205740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①プロンプト入力 → ②Claudeがモデルとやり取りしコンテキスト収集、モデルはテキストかツール呼び出しを返す → ③行動を起こす(ファイル編集・コマンド実行) → ④結果を検証し目的達成を判断 → ⑤達成していれば終了して次を待つ、していなければループへ戻り再試行。全体を通じてコンテキスト追加・中断・誘導が可能</a:t>
            </a:r>
            <a:endParaRPr lang="en-US" sz="1050" dirty="0"/>
          </a:p>
        </p:txBody>
      </p:sp>
      <p:sp>
        <p:nvSpPr>
          <p:cNvPr id="7" name="Text 5"/>
          <p:cNvSpPr txBox="1"/>
          <p:nvPr/>
        </p:nvSpPr>
        <p:spPr>
          <a:xfrm>
            <a:off x="548640" y="32004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 / ツール</a:t>
            </a:r>
            <a:endParaRPr lang="en-US" sz="1250" dirty="0"/>
          </a:p>
        </p:txBody>
      </p:sp>
      <p:sp>
        <p:nvSpPr>
          <p:cNvPr id="8" name="Text 6"/>
          <p:cNvSpPr txBox="1"/>
          <p:nvPr/>
        </p:nvSpPr>
        <p:spPr>
          <a:xfrm>
            <a:off x="548640" y="352044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コンテキストウィンドウの上限に達すると、Claude Codeが何を削除/要約するか自動判断して圧縮する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ツールはエージェント動作の根幹。通常のAIはテキストを返すだけだが、ツールにより「いつコードを実行すべきか」を意味的理解に基づき判断できる</a:t>
            </a:r>
            <a:endParaRPr lang="en-US" sz="1000" dirty="0"/>
          </a:p>
        </p:txBody>
      </p:sp>
      <p:sp>
        <p:nvSpPr>
          <p:cNvPr id="9" name="Text 7"/>
          <p:cNvSpPr txBox="1"/>
          <p:nvPr/>
        </p:nvSpPr>
        <p:spPr>
          <a:xfrm>
            <a:off x="5852160" y="32004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権限モード(4種類)</a:t>
            </a:r>
            <a:endParaRPr lang="en-US" sz="1250" dirty="0"/>
          </a:p>
        </p:txBody>
      </p:sp>
      <p:sp>
        <p:nvSpPr>
          <p:cNvPr id="10" name="Text 8"/>
          <p:cNvSpPr txBox="1"/>
          <p:nvPr/>
        </p:nvSpPr>
        <p:spPr>
          <a:xfrm>
            <a:off x="5852160" y="3520440"/>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手動</a:t>
            </a:r>
            <a:endParaRPr lang="en-US" sz="1050" dirty="0"/>
          </a:p>
        </p:txBody>
      </p:sp>
      <p:sp>
        <p:nvSpPr>
          <p:cNvPr id="11" name="Text 9"/>
          <p:cNvSpPr txBox="1"/>
          <p:nvPr/>
        </p:nvSpPr>
        <p:spPr>
          <a:xfrm>
            <a:off x="7406640" y="3520440"/>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編集・コマンド実行前に明示的な許可を求める</a:t>
            </a:r>
            <a:endParaRPr lang="en-US" sz="950" dirty="0"/>
          </a:p>
        </p:txBody>
      </p:sp>
      <p:sp>
        <p:nvSpPr>
          <p:cNvPr id="12" name="Text 10"/>
          <p:cNvSpPr txBox="1"/>
          <p:nvPr/>
        </p:nvSpPr>
        <p:spPr>
          <a:xfrm>
            <a:off x="5852160" y="4050792"/>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自動承認</a:t>
            </a:r>
            <a:endParaRPr lang="en-US" sz="1050" dirty="0"/>
          </a:p>
        </p:txBody>
      </p:sp>
      <p:sp>
        <p:nvSpPr>
          <p:cNvPr id="13" name="Text 11"/>
          <p:cNvSpPr txBox="1"/>
          <p:nvPr/>
        </p:nvSpPr>
        <p:spPr>
          <a:xfrm>
            <a:off x="7406640" y="4050792"/>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ファイルは無確認で編集、コマンドは承認が必要</a:t>
            </a:r>
            <a:endParaRPr lang="en-US" sz="950" dirty="0"/>
          </a:p>
        </p:txBody>
      </p:sp>
      <p:sp>
        <p:nvSpPr>
          <p:cNvPr id="14" name="Text 12"/>
          <p:cNvSpPr txBox="1"/>
          <p:nvPr/>
        </p:nvSpPr>
        <p:spPr>
          <a:xfrm>
            <a:off x="5852160" y="4581144"/>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プランモード</a:t>
            </a:r>
            <a:endParaRPr lang="en-US" sz="1050" dirty="0"/>
          </a:p>
        </p:txBody>
      </p:sp>
      <p:sp>
        <p:nvSpPr>
          <p:cNvPr id="15" name="Text 13"/>
          <p:cNvSpPr txBox="1"/>
          <p:nvPr/>
        </p:nvSpPr>
        <p:spPr>
          <a:xfrm>
            <a:off x="7406640" y="4581144"/>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読み取り専用ツールで計画をまとめてから開始</a:t>
            </a:r>
            <a:endParaRPr lang="en-US" sz="950" dirty="0"/>
          </a:p>
        </p:txBody>
      </p:sp>
      <p:sp>
        <p:nvSpPr>
          <p:cNvPr id="16" name="Text 14"/>
          <p:cNvSpPr txBox="1"/>
          <p:nvPr/>
        </p:nvSpPr>
        <p:spPr>
          <a:xfrm>
            <a:off x="5852160" y="5111496"/>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自動モード</a:t>
            </a:r>
            <a:endParaRPr lang="en-US" sz="1050" dirty="0"/>
          </a:p>
        </p:txBody>
      </p:sp>
      <p:sp>
        <p:nvSpPr>
          <p:cNvPr id="17" name="Text 15"/>
          <p:cNvSpPr txBox="1"/>
          <p:nvPr/>
        </p:nvSpPr>
        <p:spPr>
          <a:xfrm>
            <a:off x="7406640" y="5111496"/>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権限確認なしで進行。背後の分類器が不可逆/破壊的/環境外の操作をブロック</a:t>
            </a:r>
            <a:endParaRPr lang="en-US" sz="950" dirty="0"/>
          </a:p>
        </p:txBody>
      </p:sp>
      <p:sp>
        <p:nvSpPr>
          <p:cNvPr id="18" name="Text 16"/>
          <p:cNvSpPr txBox="1"/>
          <p:nvPr/>
        </p:nvSpPr>
        <p:spPr>
          <a:xfrm>
            <a:off x="548640" y="5623560"/>
            <a:ext cx="10607040" cy="54864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新しいセッションがどのモードで始まるかはプラン・設定による。全て設定ファイルで構成可能。権限確認をスキップする際は注意 — 実行の自由を与えるほど、ミスに気づきにくくなる</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101」レッスン2: Claude Codeの仕組み</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1F1E1D"/>
                </a:solidFill>
                <a:latin typeface="Cambria" pitchFamily="34" charset="0"/>
                <a:ea typeface="Cambria" pitchFamily="34" charset="-122"/>
                <a:cs typeface="Cambria" pitchFamily="34" charset="-120"/>
              </a:rPr>
              <a:t>Claude Codeの本質を一言でまとめると</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6B6862"/>
                </a:solidFill>
                <a:latin typeface="Calibri" pitchFamily="34" charset="0"/>
                <a:ea typeface="Calibri" pitchFamily="34" charset="-122"/>
                <a:cs typeface="Calibri" pitchFamily="34" charset="-120"/>
              </a:rPr>
              <a:t>エージェント型AI全般の理解にも応用できる、シンプルな3点セット</a:t>
            </a:r>
            <a:endParaRPr lang="en-US" sz="1300" dirty="0"/>
          </a:p>
        </p:txBody>
      </p:sp>
      <p:sp>
        <p:nvSpPr>
          <p:cNvPr id="4" name="Shape 2"/>
          <p:cNvSpPr/>
          <p:nvPr/>
        </p:nvSpPr>
        <p:spPr>
          <a:xfrm>
            <a:off x="548640"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5" name="Text 3"/>
          <p:cNvSpPr txBox="1"/>
          <p:nvPr/>
        </p:nvSpPr>
        <p:spPr>
          <a:xfrm>
            <a:off x="777240"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LLM</a:t>
            </a:r>
            <a:endParaRPr lang="en-US" sz="2200" dirty="0"/>
          </a:p>
        </p:txBody>
      </p:sp>
      <p:sp>
        <p:nvSpPr>
          <p:cNvPr id="6" name="Text 4"/>
          <p:cNvSpPr txBox="1"/>
          <p:nvPr/>
        </p:nvSpPr>
        <p:spPr>
          <a:xfrm>
            <a:off x="777240"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判断</a:t>
            </a:r>
            <a:endParaRPr lang="en-US" sz="1200" dirty="0"/>
          </a:p>
        </p:txBody>
      </p:sp>
      <p:sp>
        <p:nvSpPr>
          <p:cNvPr id="7" name="Text 5"/>
          <p:cNvSpPr txBox="1"/>
          <p:nvPr/>
        </p:nvSpPr>
        <p:spPr>
          <a:xfrm>
            <a:off x="777240"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何をすべきか、次に何のツールを呼ぶべきかを都度考える</a:t>
            </a:r>
            <a:endParaRPr lang="en-US" sz="1000" dirty="0"/>
          </a:p>
        </p:txBody>
      </p:sp>
      <p:sp>
        <p:nvSpPr>
          <p:cNvPr id="8" name="Text 6"/>
          <p:cNvSpPr txBox="1"/>
          <p:nvPr/>
        </p:nvSpPr>
        <p:spPr>
          <a:xfrm>
            <a:off x="4005072"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4325112"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0" name="Text 8"/>
          <p:cNvSpPr txBox="1"/>
          <p:nvPr/>
        </p:nvSpPr>
        <p:spPr>
          <a:xfrm>
            <a:off x="4553712"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ツール</a:t>
            </a:r>
            <a:endParaRPr lang="en-US" sz="2200" dirty="0"/>
          </a:p>
        </p:txBody>
      </p:sp>
      <p:sp>
        <p:nvSpPr>
          <p:cNvPr id="11" name="Text 9"/>
          <p:cNvSpPr txBox="1"/>
          <p:nvPr/>
        </p:nvSpPr>
        <p:spPr>
          <a:xfrm>
            <a:off x="4553712"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実行</a:t>
            </a:r>
            <a:endParaRPr lang="en-US" sz="1200" dirty="0"/>
          </a:p>
        </p:txBody>
      </p:sp>
      <p:sp>
        <p:nvSpPr>
          <p:cNvPr id="12" name="Text 10"/>
          <p:cNvSpPr txBox="1"/>
          <p:nvPr/>
        </p:nvSpPr>
        <p:spPr>
          <a:xfrm>
            <a:off x="4553712"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ファイル編集・コマンド実行・Web検索など、実際に環境へ働きかける</a:t>
            </a:r>
            <a:endParaRPr lang="en-US" sz="1000" dirty="0"/>
          </a:p>
        </p:txBody>
      </p:sp>
      <p:sp>
        <p:nvSpPr>
          <p:cNvPr id="13" name="Text 11"/>
          <p:cNvSpPr txBox="1"/>
          <p:nvPr/>
        </p:nvSpPr>
        <p:spPr>
          <a:xfrm>
            <a:off x="7781544"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8101584"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330184"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ループ</a:t>
            </a:r>
            <a:endParaRPr lang="en-US" sz="2200" dirty="0"/>
          </a:p>
        </p:txBody>
      </p:sp>
      <p:sp>
        <p:nvSpPr>
          <p:cNvPr id="16" name="Text 14"/>
          <p:cNvSpPr txBox="1"/>
          <p:nvPr/>
        </p:nvSpPr>
        <p:spPr>
          <a:xfrm>
            <a:off x="8330184"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検証と繰り返し</a:t>
            </a:r>
            <a:endParaRPr lang="en-US" sz="1200" dirty="0"/>
          </a:p>
        </p:txBody>
      </p:sp>
      <p:sp>
        <p:nvSpPr>
          <p:cNvPr id="17" name="Text 15"/>
          <p:cNvSpPr txBox="1"/>
          <p:nvPr/>
        </p:nvSpPr>
        <p:spPr>
          <a:xfrm>
            <a:off x="8330184"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結果を自分で確認し、目的を達成するまで①②を繰り返す</a:t>
            </a:r>
            <a:endParaRPr lang="en-US" sz="1000" dirty="0"/>
          </a:p>
        </p:txBody>
      </p:sp>
      <p:sp>
        <p:nvSpPr>
          <p:cNvPr id="18" name="Shape 16"/>
          <p:cNvSpPr/>
          <p:nvPr/>
        </p:nvSpPr>
        <p:spPr>
          <a:xfrm>
            <a:off x="548640" y="4434840"/>
            <a:ext cx="10607040" cy="1645920"/>
          </a:xfrm>
          <a:prstGeom prst="roundRect">
            <a:avLst>
              <a:gd name="adj" fmla="val 5556"/>
            </a:avLst>
          </a:prstGeom>
          <a:solidFill>
            <a:srgbClr val="F7F5F2"/>
          </a:solidFill>
          <a:ln w="12700">
            <a:solidFill>
              <a:srgbClr val="E5E2DC"/>
            </a:solidFill>
            <a:prstDash val="solid"/>
          </a:ln>
        </p:spPr>
      </p:sp>
      <p:sp>
        <p:nvSpPr>
          <p:cNvPr id="19" name="Text 17"/>
          <p:cNvSpPr txBox="1"/>
          <p:nvPr/>
        </p:nvSpPr>
        <p:spPr>
          <a:xfrm>
            <a:off x="822960" y="4617720"/>
            <a:ext cx="10058400" cy="13716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「回答」ではなく「検証済みの成果物」を出す — 普通のチャットは質問にテキストで答えるだけだが、Claude Codeはループの中で実際に行動し、その結果を自分で確認してから応答する</a:t>
            </a:r>
            <a:endParaRPr lang="en-US" sz="1150" dirty="0"/>
          </a:p>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「プログラミング」は適用対象の一つ — ループ+ツールという仕組み自体は汎用的。Claude Codeはそのツールを「ファイル読み書き・ターミナル実行・Web検索」という開発向けの構成にしている</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レッスン3: Claude Codeのインストール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レッスン3/12</a:t>
            </a:r>
            <a:endParaRPr lang="en-US" sz="1100" dirty="0"/>
          </a:p>
        </p:txBody>
      </p:sp>
      <p:sp>
        <p:nvSpPr>
          <p:cNvPr id="5" name="Text 3"/>
          <p:cNvSpPr txBox="1"/>
          <p:nvPr/>
        </p:nvSpPr>
        <p:spPr>
          <a:xfrm>
            <a:off x="548640" y="173736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ターミナル</a:t>
            </a:r>
            <a:endParaRPr lang="en-US" sz="1100" dirty="0"/>
          </a:p>
        </p:txBody>
      </p:sp>
      <p:sp>
        <p:nvSpPr>
          <p:cNvPr id="6" name="Text 4"/>
          <p:cNvSpPr txBox="1"/>
          <p:nvPr/>
        </p:nvSpPr>
        <p:spPr>
          <a:xfrm>
            <a:off x="2377440" y="173736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macOS/Linux/WSL: curlで一括インストール(Homebrewは自動更新非対応)。Windows: PowerShellはInvoke-RestMethod、CMDはcurl、wingetも可(自動更新非対応)。claudeを実行したディレクトリとサブフォルダにアクセス可能になる</a:t>
            </a:r>
            <a:endParaRPr lang="en-US" sz="950" dirty="0"/>
          </a:p>
        </p:txBody>
      </p:sp>
      <p:sp>
        <p:nvSpPr>
          <p:cNvPr id="7" name="Text 5"/>
          <p:cNvSpPr txBox="1"/>
          <p:nvPr/>
        </p:nvSpPr>
        <p:spPr>
          <a:xfrm>
            <a:off x="548640" y="251460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VS Code</a:t>
            </a:r>
            <a:endParaRPr lang="en-US" sz="1100" dirty="0"/>
          </a:p>
        </p:txBody>
      </p:sp>
      <p:sp>
        <p:nvSpPr>
          <p:cNvPr id="8" name="Text 6"/>
          <p:cNvSpPr txBox="1"/>
          <p:nvPr/>
        </p:nvSpPr>
        <p:spPr>
          <a:xfrm>
            <a:off x="2377440" y="251460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拡張機能パネルで「Claude Code」検索(Anthropic公式・青い認証チェック付き)。Ctrl/Cmd+Shift+P→「Claude Code Open in New Tab」。設定でターミナル体験に切替も可能</a:t>
            </a:r>
            <a:endParaRPr lang="en-US" sz="950" dirty="0"/>
          </a:p>
        </p:txBody>
      </p:sp>
      <p:sp>
        <p:nvSpPr>
          <p:cNvPr id="9" name="Text 7"/>
          <p:cNvSpPr txBox="1"/>
          <p:nvPr/>
        </p:nvSpPr>
        <p:spPr>
          <a:xfrm>
            <a:off x="548640" y="329184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JetBrains</a:t>
            </a:r>
            <a:endParaRPr lang="en-US" sz="1100" dirty="0"/>
          </a:p>
        </p:txBody>
      </p:sp>
      <p:sp>
        <p:nvSpPr>
          <p:cNvPr id="10" name="Text 8"/>
          <p:cNvSpPr txBox="1"/>
          <p:nvPr/>
        </p:nvSpPr>
        <p:spPr>
          <a:xfrm>
            <a:off x="2377440" y="329184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JetBrainsマーケットプレイスからプラグインをインストールしIDE再起動。エディタと並行動作するターミナルペインが開く</a:t>
            </a:r>
            <a:endParaRPr lang="en-US" sz="950" dirty="0"/>
          </a:p>
        </p:txBody>
      </p:sp>
      <p:sp>
        <p:nvSpPr>
          <p:cNvPr id="11" name="Text 9"/>
          <p:cNvSpPr txBox="1"/>
          <p:nvPr/>
        </p:nvSpPr>
        <p:spPr>
          <a:xfrm>
            <a:off x="548640" y="406908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デスクトップ</a:t>
            </a:r>
            <a:endParaRPr lang="en-US" sz="1100" dirty="0"/>
          </a:p>
        </p:txBody>
      </p:sp>
      <p:sp>
        <p:nvSpPr>
          <p:cNvPr id="12" name="Text 10"/>
          <p:cNvSpPr txBox="1"/>
          <p:nvPr/>
        </p:nvSpPr>
        <p:spPr>
          <a:xfrm>
            <a:off x="2377440" y="406908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 Desktopで上部の「Code」トグル。特定フォルダでの作業・権限変更・クラウド環境での作業が可能</a:t>
            </a:r>
            <a:endParaRPr lang="en-US" sz="950" dirty="0"/>
          </a:p>
        </p:txBody>
      </p:sp>
      <p:sp>
        <p:nvSpPr>
          <p:cNvPr id="13" name="Text 11"/>
          <p:cNvSpPr txBox="1"/>
          <p:nvPr/>
        </p:nvSpPr>
        <p:spPr>
          <a:xfrm>
            <a:off x="548640" y="484632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Web</a:t>
            </a:r>
            <a:endParaRPr lang="en-US" sz="1100" dirty="0"/>
          </a:p>
        </p:txBody>
      </p:sp>
      <p:sp>
        <p:nvSpPr>
          <p:cNvPr id="14" name="Text 12"/>
          <p:cNvSpPr txBox="1"/>
          <p:nvPr/>
        </p:nvSpPr>
        <p:spPr>
          <a:xfrm>
            <a:off x="2377440" y="484632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claude.ai/code またはチャットのサイドバー「Code」。デスクトップ版同様だがGitHubリポジトリに限定</a:t>
            </a:r>
            <a:endParaRPr lang="en-US" sz="950" dirty="0"/>
          </a:p>
        </p:txBody>
      </p:sp>
      <p:sp>
        <p:nvSpPr>
          <p:cNvPr id="15" name="Text 13"/>
          <p:cNvSpPr txBox="1"/>
          <p:nvPr/>
        </p:nvSpPr>
        <p:spPr>
          <a:xfrm>
            <a:off x="548640" y="5669280"/>
            <a:ext cx="10607040" cy="5486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どれを使うべきか: 最先端を追うならターミナル(新機能は最初にここへ)。IDE統合は一体感重視。デスクトップは他作業と並行してバックグラウンド実行したい時。Webはリモートで作業したい時</a:t>
            </a:r>
            <a:endParaRPr lang="en-US" sz="1000" dirty="0"/>
          </a:p>
        </p:txBody>
      </p:sp>
      <p:sp>
        <p:nvSpPr>
          <p:cNvPr id="16" name="Text 14"/>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101」レッスン3: Claude Codeのインストール</a:t>
            </a:r>
            <a:endParaRPr lang="en-US" sz="95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レッスン4: 最初のプロンプト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レッスン4/12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権限モードの選択(Shift+Tabで切替)</a:t>
            </a:r>
            <a:endParaRPr lang="en-US" sz="1250" dirty="0"/>
          </a:p>
        </p:txBody>
      </p:sp>
      <p:sp>
        <p:nvSpPr>
          <p:cNvPr id="6" name="Text 4"/>
          <p:cNvSpPr txBox="1"/>
          <p:nvPr/>
        </p:nvSpPr>
        <p:spPr>
          <a:xfrm>
            <a:off x="548640" y="205740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手動モード: 編集・コマンド実行のたびに許可を求める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自動承認モード: ファイル編集は自動承認、コマンドは要許可</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自動モード: 許可プロンプト無しで進行、背後の安全性チェックが審査。正解/不正解は無く、自分が快適な方法を選べばよい</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プランモード</a:t>
            </a:r>
            <a:endParaRPr lang="en-US" sz="1250" dirty="0"/>
          </a:p>
        </p:txBody>
      </p:sp>
      <p:sp>
        <p:nvSpPr>
          <p:cNvPr id="8" name="Text 6"/>
          <p:cNvSpPr txBox="1"/>
          <p:nvPr/>
        </p:nvSpPr>
        <p:spPr>
          <a:xfrm>
            <a:off x="5852160" y="2057400"/>
            <a:ext cx="5303520" cy="14630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プロンプトを受け取り、読み取り専用ツールでコードベースを分析・調査。途中で確認質問をし、実行可能な詳細プランを返す。複雑な変更の計画や安全なコードレビューに最適</a:t>
            </a:r>
            <a:endParaRPr lang="en-US" sz="1000" dirty="0"/>
          </a:p>
        </p:txBody>
      </p:sp>
      <p:sp>
        <p:nvSpPr>
          <p:cNvPr id="9" name="Shape 7"/>
          <p:cNvSpPr/>
          <p:nvPr/>
        </p:nvSpPr>
        <p:spPr>
          <a:xfrm>
            <a:off x="548640" y="4114800"/>
            <a:ext cx="10607040" cy="1554480"/>
          </a:xfrm>
          <a:prstGeom prst="roundRect">
            <a:avLst>
              <a:gd name="adj" fmla="val 5882"/>
            </a:avLst>
          </a:prstGeom>
          <a:solidFill>
            <a:srgbClr val="33312E"/>
          </a:solidFill>
          <a:ln/>
        </p:spPr>
      </p:sp>
      <p:sp>
        <p:nvSpPr>
          <p:cNvPr id="10" name="Text 8"/>
          <p:cNvSpPr txBox="1"/>
          <p:nvPr/>
        </p:nvSpPr>
        <p:spPr>
          <a:xfrm>
            <a:off x="822960" y="4251960"/>
            <a:ext cx="1005840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例: ダークモードトグルの追加</a:t>
            </a:r>
            <a:endParaRPr lang="en-US" sz="1200" dirty="0"/>
          </a:p>
        </p:txBody>
      </p:sp>
      <p:sp>
        <p:nvSpPr>
          <p:cNvPr id="11" name="Text 9"/>
          <p:cNvSpPr txBox="1"/>
          <p:nvPr/>
        </p:nvSpPr>
        <p:spPr>
          <a:xfrm>
            <a:off x="822960" y="4572000"/>
            <a:ext cx="10058400" cy="10058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プロジェクトルートで claude 実行 → Shift+Tab数回でプランモード → 「アプリ全体にダークモードを実装したい。ヘッダーにライト/ダーク切替トグルを作り、既存のライトテーマに基づき良いコントラストの色を選んでほしい」と依頼 → プラン確認・承認 → 実装。権限モードにより途中で確認が入ることもある</a:t>
            </a:r>
            <a:endParaRPr lang="en-US" sz="1000" dirty="0"/>
          </a:p>
        </p:txBody>
      </p:sp>
      <p:sp>
        <p:nvSpPr>
          <p:cNvPr id="12" name="Text 10"/>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プロンプトはできるだけ具体的に。プランモードを使えば、コードを実行する前に達成したいことの詳細をClaudeに掘り下げさせられる</a:t>
            </a:r>
            <a:endParaRPr lang="en-US" sz="1000" dirty="0"/>
          </a:p>
        </p:txBody>
      </p:sp>
      <p:sp>
        <p:nvSpPr>
          <p:cNvPr id="13" name="Text 1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101」レッスン4: 最初のプロンプト</a:t>
            </a:r>
            <a:endParaRPr lang="en-US" sz="95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レッスン5: 探索→計画→コーディング→コミット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レッスン5/12</a:t>
            </a:r>
            <a:endParaRPr lang="en-US" sz="1100" dirty="0"/>
          </a:p>
        </p:txBody>
      </p:sp>
      <p:sp>
        <p:nvSpPr>
          <p:cNvPr id="5" name="Shape 3"/>
          <p:cNvSpPr/>
          <p:nvPr/>
        </p:nvSpPr>
        <p:spPr>
          <a:xfrm>
            <a:off x="548640" y="1737360"/>
            <a:ext cx="10607040" cy="1234440"/>
          </a:xfrm>
          <a:prstGeom prst="roundRect">
            <a:avLst>
              <a:gd name="adj" fmla="val 5926"/>
            </a:avLst>
          </a:prstGeom>
          <a:solidFill>
            <a:srgbClr val="FFFFFF"/>
          </a:solidFill>
          <a:ln w="12700">
            <a:solidFill>
              <a:srgbClr val="E5E2DC"/>
            </a:solidFill>
            <a:prstDash val="solid"/>
          </a:ln>
        </p:spPr>
      </p:sp>
      <p:sp>
        <p:nvSpPr>
          <p:cNvPr id="6" name="Text 4"/>
          <p:cNvSpPr txBox="1"/>
          <p:nvPr/>
        </p:nvSpPr>
        <p:spPr>
          <a:xfrm>
            <a:off x="822960" y="18470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探索と計画</a:t>
            </a:r>
            <a:endParaRPr lang="en-US" sz="1250" dirty="0"/>
          </a:p>
        </p:txBody>
      </p:sp>
      <p:sp>
        <p:nvSpPr>
          <p:cNvPr id="7" name="Text 5"/>
          <p:cNvSpPr txBox="1"/>
          <p:nvPr/>
        </p:nvSpPr>
        <p:spPr>
          <a:xfrm>
            <a:off x="2926080" y="18470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ランモードではClaudeはファイルを編集できず読むだけ。「関連ファイルを読み、Web検索し、行動計画を提示」→確認して基準を満たさなければ修正依頼。コードが未着手のこの段階が最も軌道修正しやすい。変更予定が無く概要だけ欲しいならexploreサブエージェントも選択肢</a:t>
            </a:r>
            <a:endParaRPr lang="en-US" sz="950" dirty="0"/>
          </a:p>
        </p:txBody>
      </p:sp>
      <p:sp>
        <p:nvSpPr>
          <p:cNvPr id="8" name="Shape 6"/>
          <p:cNvSpPr/>
          <p:nvPr/>
        </p:nvSpPr>
        <p:spPr>
          <a:xfrm>
            <a:off x="548640" y="3108960"/>
            <a:ext cx="10607040" cy="1234440"/>
          </a:xfrm>
          <a:prstGeom prst="roundRect">
            <a:avLst>
              <a:gd name="adj" fmla="val 5926"/>
            </a:avLst>
          </a:prstGeom>
          <a:solidFill>
            <a:srgbClr val="FFFFFF"/>
          </a:solidFill>
          <a:ln w="12700">
            <a:solidFill>
              <a:srgbClr val="E5E2DC"/>
            </a:solidFill>
            <a:prstDash val="solid"/>
          </a:ln>
        </p:spPr>
      </p:sp>
      <p:sp>
        <p:nvSpPr>
          <p:cNvPr id="9" name="Text 7"/>
          <p:cNvSpPr txBox="1"/>
          <p:nvPr/>
        </p:nvSpPr>
        <p:spPr>
          <a:xfrm>
            <a:off x="822960" y="32186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コーディング</a:t>
            </a:r>
            <a:endParaRPr lang="en-US" sz="1250" dirty="0"/>
          </a:p>
        </p:txBody>
      </p:sp>
      <p:sp>
        <p:nvSpPr>
          <p:cNvPr id="10" name="Text 8"/>
          <p:cNvSpPr txBox="1"/>
          <p:nvPr/>
        </p:nvSpPr>
        <p:spPr>
          <a:xfrm>
            <a:off x="2926080" y="32186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計画を承認しClaudeが実行。権限モードにより都度確認/自動承認/自動モードを選べる。ヒント: 成功基準を明示する、Claude in Chrome等の補助ツールを追加する、信頼できるテストスイートを用意する。同じ問題に繰り返しぶつかる場合はCLAUDE.mdへの保存を依頼</a:t>
            </a:r>
            <a:endParaRPr lang="en-US" sz="950" dirty="0"/>
          </a:p>
        </p:txBody>
      </p:sp>
      <p:sp>
        <p:nvSpPr>
          <p:cNvPr id="11" name="Shape 9"/>
          <p:cNvSpPr/>
          <p:nvPr/>
        </p:nvSpPr>
        <p:spPr>
          <a:xfrm>
            <a:off x="548640" y="4480560"/>
            <a:ext cx="10607040" cy="1234440"/>
          </a:xfrm>
          <a:prstGeom prst="roundRect">
            <a:avLst>
              <a:gd name="adj" fmla="val 5926"/>
            </a:avLst>
          </a:prstGeom>
          <a:solidFill>
            <a:srgbClr val="FFFFFF"/>
          </a:solidFill>
          <a:ln w="12700">
            <a:solidFill>
              <a:srgbClr val="E5E2DC"/>
            </a:solidFill>
            <a:prstDash val="solid"/>
          </a:ln>
        </p:spPr>
      </p:sp>
      <p:sp>
        <p:nvSpPr>
          <p:cNvPr id="12" name="Text 10"/>
          <p:cNvSpPr txBox="1"/>
          <p:nvPr/>
        </p:nvSpPr>
        <p:spPr>
          <a:xfrm>
            <a:off x="822960" y="45902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コミット</a:t>
            </a:r>
            <a:endParaRPr lang="en-US" sz="1250" dirty="0"/>
          </a:p>
        </p:txBody>
      </p:sp>
      <p:sp>
        <p:nvSpPr>
          <p:cNvPr id="13" name="Text 11"/>
          <p:cNvSpPr txBox="1"/>
          <p:nvPr/>
        </p:nvSpPr>
        <p:spPr>
          <a:xfrm>
            <a:off x="2926080" y="45902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自分でテストし満足したらコミット前にサブエージェントのコードレビュアーに確認させる(メインエージェントの偏りを引きずらない新鮮な目)。その後Claudeに自分のスタイルでコミットメッセージを生成させ、繰り返す</a:t>
            </a:r>
            <a:endParaRPr lang="en-US" sz="950" dirty="0"/>
          </a:p>
        </p:txBody>
      </p:sp>
      <p:sp>
        <p:nvSpPr>
          <p:cNvPr id="14" name="Text 12"/>
          <p:cNvSpPr txBox="1"/>
          <p:nvPr/>
        </p:nvSpPr>
        <p:spPr>
          <a:xfrm>
            <a:off x="548640" y="589788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探索=必要な文脈を与える / 計画=成功を測る行動計画を作る / コーディング=結果に落ち着くまでのやり取り / コミット=レビューしてプッシュし次の機能へ</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101」レッスン5: 探索→計画→コーディング→コミットのワークフロー</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レッスン6: コンテキスト管理</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レッスン6/12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コンテキストウィンドウとは / 満杯になると</a:t>
            </a:r>
            <a:endParaRPr lang="en-US" sz="1250" dirty="0"/>
          </a:p>
        </p:txBody>
      </p:sp>
      <p:sp>
        <p:nvSpPr>
          <p:cNvPr id="6" name="Text 4"/>
          <p:cNvSpPr txBox="1"/>
          <p:nvPr/>
        </p:nvSpPr>
        <p:spPr>
          <a:xfrm>
            <a:off x="548640" y="2057400"/>
            <a:ext cx="5120640" cy="155448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がメモリに保持できる容量。プロンプト・ファイル読込・ツール呼び出しとその結果、すべてが加算される。上限に近づくと自動的に圧縮(compact)され、重要な詳細を要約し不要なツール結果を削除して空きを確保する — このプロセスで詳細が失われる可能性がある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コマンド</a:t>
            </a:r>
            <a:endParaRPr lang="en-US" sz="1250" dirty="0"/>
          </a:p>
        </p:txBody>
      </p:sp>
      <p:sp>
        <p:nvSpPr>
          <p:cNvPr id="8" name="Text 6"/>
          <p:cNvSpPr txBox="1"/>
          <p:nvPr/>
        </p:nvSpPr>
        <p:spPr>
          <a:xfrm>
            <a:off x="5852160" y="2057400"/>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/compact</a:t>
            </a:r>
            <a:endParaRPr lang="en-US" sz="1100" dirty="0"/>
          </a:p>
        </p:txBody>
      </p:sp>
      <p:sp>
        <p:nvSpPr>
          <p:cNvPr id="9" name="Text 7"/>
          <p:cNvSpPr txBox="1"/>
          <p:nvPr/>
        </p:nvSpPr>
        <p:spPr>
          <a:xfrm>
            <a:off x="7498080" y="2057400"/>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手動で圧縮。これまでの記憶を保ちつつ空き容量を確保</a:t>
            </a:r>
            <a:endParaRPr lang="en-US" sz="950" dirty="0"/>
          </a:p>
        </p:txBody>
      </p:sp>
      <p:sp>
        <p:nvSpPr>
          <p:cNvPr id="10" name="Text 8"/>
          <p:cNvSpPr txBox="1"/>
          <p:nvPr/>
        </p:nvSpPr>
        <p:spPr>
          <a:xfrm>
            <a:off x="5852160" y="2587752"/>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/clear</a:t>
            </a:r>
            <a:endParaRPr lang="en-US" sz="1100" dirty="0"/>
          </a:p>
        </p:txBody>
      </p:sp>
      <p:sp>
        <p:nvSpPr>
          <p:cNvPr id="11" name="Text 9"/>
          <p:cNvSpPr txBox="1"/>
          <p:nvPr/>
        </p:nvSpPr>
        <p:spPr>
          <a:xfrm>
            <a:off x="7498080" y="2587752"/>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完全にゼロから。前セッションの記憶を一切持たない</a:t>
            </a:r>
            <a:endParaRPr lang="en-US" sz="950" dirty="0"/>
          </a:p>
        </p:txBody>
      </p:sp>
      <p:sp>
        <p:nvSpPr>
          <p:cNvPr id="12" name="Text 10"/>
          <p:cNvSpPr txBox="1"/>
          <p:nvPr/>
        </p:nvSpPr>
        <p:spPr>
          <a:xfrm>
            <a:off x="5852160" y="3118104"/>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/context</a:t>
            </a:r>
            <a:endParaRPr lang="en-US" sz="1100" dirty="0"/>
          </a:p>
        </p:txBody>
      </p:sp>
      <p:sp>
        <p:nvSpPr>
          <p:cNvPr id="13" name="Text 11"/>
          <p:cNvSpPr txBox="1"/>
          <p:nvPr/>
        </p:nvSpPr>
        <p:spPr>
          <a:xfrm>
            <a:off x="7498080" y="3118104"/>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コンテキストサイズの概要・内訳をグラフで確認</a:t>
            </a:r>
            <a:endParaRPr lang="en-US" sz="950" dirty="0"/>
          </a:p>
        </p:txBody>
      </p:sp>
      <p:sp>
        <p:nvSpPr>
          <p:cNvPr id="14" name="Text 12"/>
          <p:cNvSpPr txBox="1"/>
          <p:nvPr/>
        </p:nvSpPr>
        <p:spPr>
          <a:xfrm>
            <a:off x="5852160" y="3749040"/>
            <a:ext cx="5303520" cy="11887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使い分け: /compact=同じ機能の作業を続けたい時(現在の文脈を保ちたい) / /clear=新機能に着手する時(前の会話のバイアスを持ち込みたくない)。セッションをまたいで覚えておいてほしいことはCLAUDE.mdに書く</a:t>
            </a:r>
            <a:endParaRPr lang="en-US" sz="950" dirty="0"/>
          </a:p>
        </p:txBody>
      </p:sp>
      <p:sp>
        <p:nvSpPr>
          <p:cNvPr id="15" name="Text 13"/>
          <p:cNvSpPr txBox="1"/>
          <p:nvPr/>
        </p:nvSpPr>
        <p:spPr>
          <a:xfrm>
            <a:off x="548640" y="50292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コンテキストを節約する3つのコツ</a:t>
            </a:r>
            <a:endParaRPr lang="en-US" sz="1250" dirty="0"/>
          </a:p>
        </p:txBody>
      </p:sp>
      <p:sp>
        <p:nvSpPr>
          <p:cNvPr id="16" name="Text 14"/>
          <p:cNvSpPr txBox="1"/>
          <p:nvPr/>
        </p:nvSpPr>
        <p:spPr>
          <a:xfrm>
            <a:off x="548640" y="5349240"/>
            <a:ext cx="10607040" cy="9144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① 具体的に指示する(曖昧な指示はClaudeが探索・推論する分だけ長期的に多くのコンテキストを消費する) ② MCPサーバーを管理する(未使用なら既定で全ツール定義がコンテキストに載る。使わないなら切る/Skillを検討) ③ サブエージェントを使う(独立したコンテキストで作業し、要約だけをメインに返すため本体を汚さない)</a:t>
            </a:r>
            <a:endParaRPr lang="en-US" sz="95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101」レッスン6: コンテキスト管理</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レッスン7: コードレビュー(1/2)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レッスン7/12</a:t>
            </a:r>
            <a:endParaRPr lang="en-US" sz="1100" dirty="0"/>
          </a:p>
        </p:txBody>
      </p:sp>
      <p:sp>
        <p:nvSpPr>
          <p:cNvPr id="5" name="Text 3"/>
          <p:cNvSpPr txBox="1"/>
          <p:nvPr/>
        </p:nvSpPr>
        <p:spPr>
          <a:xfrm>
            <a:off x="548640" y="173736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変更を書いた(説明もした)セッション自身は、その変更を判断する最良の審査者ではないことが多い。保持する前に自分で目を通し、その後このセッションの履歴を持たないクリーンなコンテキストからClaudeに再レビューさせるのが良い習慣</a:t>
            </a:r>
            <a:endParaRPr lang="en-US" sz="1100" dirty="0"/>
          </a:p>
        </p:txBody>
      </p:sp>
      <p:sp>
        <p:nvSpPr>
          <p:cNvPr id="6" name="Text 4"/>
          <p:cNvSpPr txBox="1"/>
          <p:nvPr/>
        </p:nvSpPr>
        <p:spPr>
          <a:xfrm>
            <a:off x="548640" y="26060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/diff で実際の変更を確認</a:t>
            </a:r>
            <a:endParaRPr lang="en-US" sz="125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コミットされていない変更をインタラクティブに表示(上下キーでファイル移動、Enterで開く)。毎回確認すべき3点:</a:t>
            </a:r>
            <a:endParaRPr lang="en-US" sz="1050" dirty="0"/>
          </a:p>
        </p:txBody>
      </p:sp>
      <p:sp>
        <p:nvSpPr>
          <p:cNvPr id="8" name="Text 6"/>
          <p:cNvSpPr txBox="1"/>
          <p:nvPr/>
        </p:nvSpPr>
        <p:spPr>
          <a:xfrm>
            <a:off x="548640" y="333756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依頼していない変更</a:t>
            </a:r>
            <a:endParaRPr lang="en-US" sz="1050" dirty="0"/>
          </a:p>
        </p:txBody>
      </p:sp>
      <p:sp>
        <p:nvSpPr>
          <p:cNvPr id="9" name="Text 7"/>
          <p:cNvSpPr txBox="1"/>
          <p:nvPr/>
        </p:nvSpPr>
        <p:spPr>
          <a:xfrm>
            <a:off x="3749040" y="333756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言及していないのに書き換わった設定値・ヘルパーメソッド等</a:t>
            </a:r>
            <a:endParaRPr lang="en-US" sz="950" dirty="0"/>
          </a:p>
        </p:txBody>
      </p:sp>
      <p:sp>
        <p:nvSpPr>
          <p:cNvPr id="10" name="Text 8"/>
          <p:cNvSpPr txBox="1"/>
          <p:nvPr/>
        </p:nvSpPr>
        <p:spPr>
          <a:xfrm>
            <a:off x="548640" y="384048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弱くなったテスト</a:t>
            </a:r>
            <a:endParaRPr lang="en-US" sz="1050" dirty="0"/>
          </a:p>
        </p:txBody>
      </p:sp>
      <p:sp>
        <p:nvSpPr>
          <p:cNvPr id="11" name="Text 9"/>
          <p:cNvSpPr txBox="1"/>
          <p:nvPr/>
        </p:nvSpPr>
        <p:spPr>
          <a:xfrm>
            <a:off x="3749040" y="384048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パスするためにスキップ・削除・緩められたテストがないか</a:t>
            </a:r>
            <a:endParaRPr lang="en-US" sz="950" dirty="0"/>
          </a:p>
        </p:txBody>
      </p:sp>
      <p:sp>
        <p:nvSpPr>
          <p:cNvPr id="12" name="Text 10"/>
          <p:cNvSpPr txBox="1"/>
          <p:nvPr/>
        </p:nvSpPr>
        <p:spPr>
          <a:xfrm>
            <a:off x="548640" y="434340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新パッケージ/ハードコード値</a:t>
            </a:r>
            <a:endParaRPr lang="en-US" sz="1050" dirty="0"/>
          </a:p>
        </p:txBody>
      </p:sp>
      <p:sp>
        <p:nvSpPr>
          <p:cNvPr id="13" name="Text 11"/>
          <p:cNvSpPr txBox="1"/>
          <p:nvPr/>
        </p:nvSpPr>
        <p:spPr>
          <a:xfrm>
            <a:off x="3749040" y="434340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1関数のためだけの依存追加、コードに直書きされたURL・キー等</a:t>
            </a:r>
            <a:endParaRPr lang="en-US" sz="950" dirty="0"/>
          </a:p>
        </p:txBody>
      </p:sp>
      <p:sp>
        <p:nvSpPr>
          <p:cNvPr id="14" name="Shape 12"/>
          <p:cNvSpPr/>
          <p:nvPr/>
        </p:nvSpPr>
        <p:spPr>
          <a:xfrm>
            <a:off x="548640" y="4937760"/>
            <a:ext cx="10607040" cy="1417320"/>
          </a:xfrm>
          <a:prstGeom prst="roundRect">
            <a:avLst>
              <a:gd name="adj" fmla="val 6452"/>
            </a:avLst>
          </a:prstGeom>
          <a:solidFill>
            <a:srgbClr val="F7F5F2"/>
          </a:solidFill>
          <a:ln w="12700">
            <a:solidFill>
              <a:srgbClr val="E5E2DC"/>
            </a:solidFill>
            <a:prstDash val="solid"/>
          </a:ln>
        </p:spPr>
      </p:sp>
      <p:sp>
        <p:nvSpPr>
          <p:cNvPr id="15" name="Text 13"/>
          <p:cNvSpPr txBox="1"/>
          <p:nvPr/>
        </p:nvSpPr>
        <p:spPr>
          <a:xfrm>
            <a:off x="822960" y="5074920"/>
            <a:ext cx="10058400" cy="3200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演習例: サインアップフォームの入力検証(8ファイル変更)</a:t>
            </a:r>
            <a:endParaRPr lang="en-US" sz="1100" dirty="0"/>
          </a:p>
        </p:txBody>
      </p:sp>
      <p:sp>
        <p:nvSpPr>
          <p:cNvPr id="16" name="Text 14"/>
          <p:cNvSpPr txBox="1"/>
          <p:nvPr/>
        </p:nvSpPr>
        <p:spPr>
          <a:xfrm>
            <a:off x="822960" y="5394960"/>
            <a:ext cx="10058400" cy="8229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の要約は「全テスト通過」と報告していたが、実際のdiffを見ると要約自体は嘘ではなくても、見過ごされた変更(テストの弱体化等)が混ざっていることがある、という教訓。要約だけを信用せず実際の差分を見る習慣が重要</a:t>
            </a:r>
            <a:endParaRPr lang="en-US" sz="95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101」レッスン7: コードレビュー</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レッスン7: コードレビュー(2/2)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/code-review でセカンドオピニオン</a:t>
            </a:r>
            <a:endParaRPr lang="en-US" sz="1250" dirty="0"/>
          </a:p>
        </p:txBody>
      </p:sp>
      <p:sp>
        <p:nvSpPr>
          <p:cNvPr id="5" name="Text 3"/>
          <p:cNvSpPr txBox="1"/>
          <p:nvPr/>
        </p:nvSpPr>
        <p:spPr>
          <a:xfrm>
            <a:off x="548640" y="1691640"/>
            <a:ext cx="10607040" cy="10058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セッションの履歴を一切持たないクリーンなコンテキストで変更をレビューし、結果だけを報告する(依頼しない限り編集はしない)。バックグラウンドで数秒〜数分かかり使用量にもカウントされるため、見直す価値のある変更のために取っておく。平易な言葉での依頼からもClaudeが同じレビューを開始できる</a:t>
            </a:r>
            <a:endParaRPr lang="en-US" sz="1000" dirty="0"/>
          </a:p>
        </p:txBody>
      </p:sp>
      <p:sp>
        <p:nvSpPr>
          <p:cNvPr id="6" name="Text 4"/>
          <p:cNvSpPr txBox="1"/>
          <p:nvPr/>
        </p:nvSpPr>
        <p:spPr>
          <a:xfrm>
            <a:off x="548640" y="283464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指摘への3つの仕分け</a:t>
            </a:r>
            <a:endParaRPr lang="en-US" sz="1250" dirty="0"/>
          </a:p>
        </p:txBody>
      </p:sp>
      <p:sp>
        <p:nvSpPr>
          <p:cNvPr id="7" name="Text 5"/>
          <p:cNvSpPr txBox="1"/>
          <p:nvPr/>
        </p:nvSpPr>
        <p:spPr>
          <a:xfrm>
            <a:off x="548640" y="3154680"/>
            <a:ext cx="5120640" cy="210312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今すぐ修正する: 実際の問題で重要 → 修正する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理由を尋ねる: 検証しきれない/おかしいと感じる指摘 → 指摘をそのまま引用しClaudeに再確認させる(レビュアー側の誤りもあり得る)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そのままにしておく: 実際の問題だが小さい/重要でない → 将来のセッションでまとめて対応</a:t>
            </a:r>
            <a:endParaRPr lang="en-US" sz="1000" dirty="0"/>
          </a:p>
        </p:txBody>
      </p:sp>
      <p:sp>
        <p:nvSpPr>
          <p:cNvPr id="8" name="Text 6"/>
          <p:cNvSpPr txBox="1"/>
          <p:nvPr/>
        </p:nvSpPr>
        <p:spPr>
          <a:xfrm>
            <a:off x="5852160" y="283464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演習例: 4つの指摘</a:t>
            </a:r>
            <a:endParaRPr lang="en-US" sz="1250" dirty="0"/>
          </a:p>
        </p:txBody>
      </p:sp>
      <p:sp>
        <p:nvSpPr>
          <p:cNvPr id="9" name="Text 7"/>
          <p:cNvSpPr txBox="1"/>
          <p:nvPr/>
        </p:nvSpPr>
        <p:spPr>
          <a:xfrm>
            <a:off x="5852160" y="3154680"/>
            <a:ext cx="5303520" cy="21031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①テストのスキップ/弱いアサーション[正確性]→今すぐ修正 ②isValidEmailのtrim漏れ[正確性]→実は4行目でtrim()済み、レビュアーの誤検知の例(理由を尋ねる対象) ③API_URLのハードコード[正確性]→今すぐ修正(本番で開発用アドレスに送信される重大な問題) ④エラー文言の16進カラー[スタイル]→そのままにしておく候補</a:t>
            </a:r>
            <a:endParaRPr lang="en-US" sz="950" dirty="0"/>
          </a:p>
        </p:txBody>
      </p:sp>
      <p:sp>
        <p:nvSpPr>
          <p:cNvPr id="10" name="Text 8"/>
          <p:cNvSpPr txBox="1"/>
          <p:nvPr/>
        </p:nvSpPr>
        <p:spPr>
          <a:xfrm>
            <a:off x="548640" y="5394960"/>
            <a:ext cx="10607040" cy="5486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入念なレビューが必要な時: 変更が頭の中で把握しきれない規模、機密性の高い/破壊的操作、チームメイトへの引き継ぎ前 — これらは人間レビュー+Claudeレビューの両方を使う</a:t>
            </a:r>
            <a:endParaRPr lang="en-US" sz="950" dirty="0"/>
          </a:p>
        </p:txBody>
      </p:sp>
      <p:sp>
        <p:nvSpPr>
          <p:cNvPr id="11" name="Text 9"/>
          <p:cNvSpPr txBox="1"/>
          <p:nvPr/>
        </p:nvSpPr>
        <p:spPr>
          <a:xfrm>
            <a:off x="548640" y="5806440"/>
            <a:ext cx="10607040" cy="36576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同じ指摘が繰り返されるなら、そのルールをCLAUDE.mdに書いておくとよい(次のレッスンのテーマ)</a:t>
            </a:r>
            <a:endParaRPr lang="en-US" sz="9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101」レッスン7: コードレビュー</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レッスン8: CLAUDE.mdファイル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レッスン8/12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解決する課題</a:t>
            </a:r>
            <a:endParaRPr lang="en-US" sz="1250" dirty="0"/>
          </a:p>
        </p:txBody>
      </p:sp>
      <p:sp>
        <p:nvSpPr>
          <p:cNvPr id="6" name="Text 4"/>
          <p:cNvSpPr txBox="1"/>
          <p:nvPr/>
        </p:nvSpPr>
        <p:spPr>
          <a:xfrm>
            <a:off x="548640" y="2057400"/>
            <a:ext cx="5120640" cy="16459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CLAUDE.mdが無いと毎回ゼロから始まる — コードベースの再探索、依存関係の把握、既存機能の理解を都度行うことになり、時に推測に頼らざるを得ない。CLAUDE.mdは「コードベースのためのオンボーディングスクリプト」で、セッション開始のたびに自動で読み込まれプロンプトに追加される</a:t>
            </a:r>
            <a:endParaRPr lang="en-US" sz="1000" dirty="0"/>
          </a:p>
        </p:txBody>
      </p:sp>
      <p:sp>
        <p:nvSpPr>
          <p:cNvPr id="7" name="Text 5"/>
          <p:cNvSpPr txBox="1"/>
          <p:nvPr/>
        </p:nvSpPr>
        <p:spPr>
          <a:xfrm>
            <a:off x="548640" y="384048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CLAUDE.mdはチームのためのもの</a:t>
            </a:r>
            <a:endParaRPr lang="en-US" sz="1250" dirty="0"/>
          </a:p>
        </p:txBody>
      </p:sp>
      <p:sp>
        <p:nvSpPr>
          <p:cNvPr id="8" name="Text 6"/>
          <p:cNvSpPr txBox="1"/>
          <p:nvPr/>
        </p:nvSpPr>
        <p:spPr>
          <a:xfrm>
            <a:off x="548640" y="4160520"/>
            <a:ext cx="5120640" cy="11887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バージョン管理にコミットすべき。階層がある: プロジェクトレベル(ルートに配置・チーム共有) / ユーザーレベル(設定フォルダに配置・個人専用で全プロジェクト適用)</a:t>
            </a:r>
            <a:endParaRPr lang="en-US" sz="1000" dirty="0"/>
          </a:p>
        </p:txBody>
      </p:sp>
      <p:sp>
        <p:nvSpPr>
          <p:cNvPr id="9" name="Shape 7"/>
          <p:cNvSpPr/>
          <p:nvPr/>
        </p:nvSpPr>
        <p:spPr>
          <a:xfrm>
            <a:off x="5852160" y="1737360"/>
            <a:ext cx="5303520" cy="2011680"/>
          </a:xfrm>
          <a:prstGeom prst="roundRect">
            <a:avLst>
              <a:gd name="adj" fmla="val 3636"/>
            </a:avLst>
          </a:prstGeom>
          <a:solidFill>
            <a:srgbClr val="F7F5F2"/>
          </a:solidFill>
          <a:ln w="12700">
            <a:solidFill>
              <a:srgbClr val="E5E2DC"/>
            </a:solidFill>
            <a:prstDash val="solid"/>
          </a:ln>
        </p:spPr>
      </p:sp>
      <p:sp>
        <p:nvSpPr>
          <p:cNvPr id="10" name="Text 8"/>
          <p:cNvSpPr txBox="1"/>
          <p:nvPr/>
        </p:nvSpPr>
        <p:spPr>
          <a:xfrm>
            <a:off x="6035040" y="1874520"/>
            <a:ext cx="4937760" cy="320040"/>
          </a:xfrm>
          <a:prstGeom prst="rect">
            <a:avLst/>
          </a:prstGeom>
          <a:noFill/>
          <a:ln/>
        </p:spPr>
        <p:txBody>
          <a:bodyPr wrap="square" lIns="0" tIns="0" rIns="0" bIns="0" rtlCol="0" anchor="ctr"/>
          <a:lstStyle/>
          <a:p>
            <a:pPr indent="0" marL="0">
              <a:buNone/>
            </a:pPr>
            <a:r>
              <a:rPr lang="en-US" sz="1150" b="1" dirty="0">
                <a:solidFill>
                  <a:srgbClr val="1F1E1D"/>
                </a:solidFill>
                <a:latin typeface="Calibri" pitchFamily="34" charset="0"/>
                <a:ea typeface="Calibri" pitchFamily="34" charset="-122"/>
                <a:cs typeface="Calibri" pitchFamily="34" charset="-120"/>
              </a:rPr>
              <a:t>具体例</a:t>
            </a:r>
            <a:endParaRPr lang="en-US" sz="1150" dirty="0"/>
          </a:p>
        </p:txBody>
      </p:sp>
      <p:sp>
        <p:nvSpPr>
          <p:cNvPr id="11" name="Text 9"/>
          <p:cNvSpPr txBox="1"/>
          <p:nvPr/>
        </p:nvSpPr>
        <p:spPr>
          <a:xfrm>
            <a:off x="6035040" y="2194560"/>
            <a:ext cx="4937760" cy="1463040"/>
          </a:xfrm>
          <a:prstGeom prst="rect">
            <a:avLst/>
          </a:prstGeom>
          <a:noFill/>
          <a:ln/>
        </p:spPr>
        <p:txBody>
          <a:bodyPr wrap="square" lIns="0" tIns="0" rIns="0" bIns="0" rtlCol="0" anchor="ctr"/>
          <a:lstStyle/>
          <a:p>
            <a:pPr indent="0" marL="0">
              <a:buNone/>
            </a:pPr>
            <a:r>
              <a:rPr lang="en-US" sz="800" dirty="0">
                <a:solidFill>
                  <a:srgbClr val="6B6862"/>
                </a:solidFill>
                <a:latin typeface="Courier New" pitchFamily="34" charset="0"/>
                <a:ea typeface="Courier New" pitchFamily="34" charset="-122"/>
                <a:cs typeface="Courier New" pitchFamily="34" charset="-120"/>
              </a:rPr>
              <a:t># Project</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This is a Next.js 15 app using the App</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Router, Tailwind, and Drizzle ORM.</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Commands</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Dev server: pnpm dev</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Run tests: pnpm test</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Code Style</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Use 2-space indentation</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Prefer named exports</a:t>
            </a:r>
            <a:endParaRPr lang="en-US" sz="800" dirty="0"/>
          </a:p>
        </p:txBody>
      </p:sp>
      <p:sp>
        <p:nvSpPr>
          <p:cNvPr id="12" name="Text 10"/>
          <p:cNvSpPr txBox="1"/>
          <p:nvPr/>
        </p:nvSpPr>
        <p:spPr>
          <a:xfrm>
            <a:off x="5852160" y="384048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ヒント3つ</a:t>
            </a:r>
            <a:endParaRPr lang="en-US" sz="1250" dirty="0"/>
          </a:p>
        </p:txBody>
      </p:sp>
      <p:sp>
        <p:nvSpPr>
          <p:cNvPr id="13" name="Text 11"/>
          <p:cNvSpPr txBox="1"/>
          <p:nvPr/>
        </p:nvSpPr>
        <p:spPr>
          <a:xfrm>
            <a:off x="5852160" y="4160520"/>
            <a:ext cx="5303520" cy="17373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同じ修正を繰り返し伝えているなら「メモリに保存して」と明示的に依頼する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参照してほしいドキュメントは @README.md のように@で指定する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最初はCLAUDE.mdなしで始め、軌道修正が必要な箇所が見えてから/initで生成する方が、内容をコンパクトに保てる</a:t>
            </a:r>
            <a:endParaRPr lang="en-US" sz="950" dirty="0"/>
          </a:p>
        </p:txBody>
      </p:sp>
      <p:sp>
        <p:nvSpPr>
          <p:cNvPr id="14" name="Text 12"/>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もどかしいセッションと生産的なセッションの違いは、多くの場合コンテキストにかかっている。その提供手段がCLAUDE.md</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101」レッスン8: CLAUDE.mdファイル</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レッスン9: サブエージェント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レッスン9/12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仕組み</a:t>
            </a:r>
            <a:endParaRPr lang="en-US" sz="1250" dirty="0"/>
          </a:p>
        </p:txBody>
      </p:sp>
      <p:sp>
        <p:nvSpPr>
          <p:cNvPr id="6" name="Text 4"/>
          <p:cNvSpPr txBox="1"/>
          <p:nvPr/>
        </p:nvSpPr>
        <p:spPr>
          <a:xfrm>
            <a:off x="548640" y="2057400"/>
            <a:ext cx="5120640" cy="19202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探索中に発見する内容が、開発中の主要機能に常に関連するとは限らない。Claudeは「このコードベースを探索して」のようなタスクをサブエージェントに生成して委任し、独自のコンテキストウィンドウで並行実行させ、完了後に要約だけをメインに返す。探索にたどり着くまでの道のりでメインのコンテキストを散らかさずに答えを得られ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作成方法とさらなるカスタマイズ</a:t>
            </a:r>
            <a:endParaRPr lang="en-US" sz="1250" dirty="0"/>
          </a:p>
        </p:txBody>
      </p:sp>
      <p:sp>
        <p:nvSpPr>
          <p:cNvPr id="8" name="Text 6"/>
          <p:cNvSpPr txBox="1"/>
          <p:nvPr/>
        </p:nvSpPr>
        <p:spPr>
          <a:xfrm>
            <a:off x="5852160" y="2057400"/>
            <a:ext cx="530352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YAML frontmatter付きMarkdownで定義。/agents → 「Create new agent」でClaudeに生成させるのが簡単(スコープ・目的・使用ツール・色を選択)</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永続的メモリ: 会話をまたいで記憶を保持できる(同一プロジェクトでの継続利用に有効)</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skillsキーで名前を列挙すればスキルを事前読み込み可能。ただしメイン会話と違い、ここではスキル全体がまるごとコンテキストに読み込まれる点に注意</a:t>
            </a:r>
            <a:endParaRPr lang="en-US" sz="950" dirty="0"/>
          </a:p>
        </p:txBody>
      </p:sp>
      <p:sp>
        <p:nvSpPr>
          <p:cNvPr id="9" name="Text 7"/>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さらに深く学びたい場合は専用コース「サブエージェント入門」も用意されている</a:t>
            </a:r>
            <a:endParaRPr lang="en-US" sz="100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コンテキストウィンドウをクリーンに保つことが生産性維持の鍵。サブエージェントで重い処理を背後に流し、メインには答えだけを返す</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101」レッスン9: サブエージェント</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レッスン10: スキル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レッスン10/12</a:t>
            </a:r>
            <a:endParaRPr lang="en-US" sz="1100" dirty="0"/>
          </a:p>
        </p:txBody>
      </p:sp>
      <p:sp>
        <p:nvSpPr>
          <p:cNvPr id="5" name="Text 3"/>
          <p:cNvSpPr txBox="1"/>
          <p:nvPr/>
        </p:nvSpPr>
        <p:spPr>
          <a:xfrm>
            <a:off x="548640" y="1737360"/>
            <a:ext cx="10607040" cy="11887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コーディング規約・PRレビューの構成・コミットメッセージの好み — 同じことを毎回説明していないか？スキルは「一度だけ教えれば、関連する場面で自動的に適用される」Markdownファイル(指示・スクリプト・リソースをまとめたフォルダ)。SKILL.mdのdescriptionが、Claudeが使うべきか判断する手がかりになる — リクエストを全スキルのdescriptionと照合し、一致するものを有効化する</a:t>
            </a:r>
            <a:endParaRPr lang="en-US" sz="1100" dirty="0"/>
          </a:p>
        </p:txBody>
      </p:sp>
      <p:sp>
        <p:nvSpPr>
          <p:cNvPr id="6" name="Text 4"/>
          <p:cNvSpPr txBox="1"/>
          <p:nvPr/>
        </p:nvSpPr>
        <p:spPr>
          <a:xfrm>
            <a:off x="548640" y="31089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保存場所</a:t>
            </a:r>
            <a:endParaRPr lang="en-US" sz="1250" dirty="0"/>
          </a:p>
        </p:txBody>
      </p:sp>
      <p:sp>
        <p:nvSpPr>
          <p:cNvPr id="7" name="Text 5"/>
          <p:cNvSpPr txBox="1"/>
          <p:nvPr/>
        </p:nvSpPr>
        <p:spPr>
          <a:xfrm>
            <a:off x="548640" y="3429000"/>
            <a:ext cx="5120640" cy="146304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個人用: ~/.claude/skills(全プロジェクトに付いてくる。好み・コミットスタイル等) / プロジェクト用: リポジトリルートの.claude/skills(クローンした人が自動取得。ブランドガイドライン等のチーム標準)</a:t>
            </a:r>
            <a:endParaRPr lang="en-US" sz="1000" dirty="0"/>
          </a:p>
        </p:txBody>
      </p:sp>
      <p:sp>
        <p:nvSpPr>
          <p:cNvPr id="8" name="Text 6"/>
          <p:cNvSpPr txBox="1"/>
          <p:nvPr/>
        </p:nvSpPr>
        <p:spPr>
          <a:xfrm>
            <a:off x="5852160" y="31089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CLAUDE.md・スラッシュコマンドとの違い</a:t>
            </a:r>
            <a:endParaRPr lang="en-US" sz="1250" dirty="0"/>
          </a:p>
        </p:txBody>
      </p:sp>
      <p:sp>
        <p:nvSpPr>
          <p:cNvPr id="9" name="Text 7"/>
          <p:cNvSpPr txBox="1"/>
          <p:nvPr/>
        </p:nvSpPr>
        <p:spPr>
          <a:xfrm>
            <a:off x="5852160" y="3429000"/>
            <a:ext cx="5303520" cy="2194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mdは全会話に読み込まれる(常にTypeScript厳格モード、等)。スキルはリクエストに一致した時だけオンデマンドで読み込まれ、読み込まれるのは名前とdescriptionのみなのでコンテキストを圧迫しない(デバッグ中にPRレビューのチェックリストは不要)。スラッシュコマンドは入力が必要だが、スキルは状況を認識して自動適用される</a:t>
            </a:r>
            <a:endParaRPr lang="en-US" sz="95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同じことを繰り返しClaudeに説明しているなら、それはまさに「書かれるのを待っているスキル」— 専用コース「エージェントスキル入門」もあり</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101」レッスン10: スキル</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レッスン11: MCP</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レッスン11/12</a:t>
            </a:r>
            <a:endParaRPr lang="en-US" sz="1100" dirty="0"/>
          </a:p>
        </p:txBody>
      </p:sp>
      <p:sp>
        <p:nvSpPr>
          <p:cNvPr id="5" name="Text 3"/>
          <p:cNvSpPr txBox="1"/>
          <p:nvPr/>
        </p:nvSpPr>
        <p:spPr>
          <a:xfrm>
            <a:off x="548640" y="173736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Model Context Protocol(MCP)は、Claude Codeが外部ツール・データソースに接続できるオープンスタンダード。コンテキストの多くはコードベース外(DB・生産性アプリ・公開リポジトリ等)にあり、MCPはそのギャップを埋める。例: Linear MCPでイシュー詳細を取込、Context7で最新の依存関係ドキュメントを取得</a:t>
            </a:r>
            <a:endParaRPr lang="en-US" sz="1050" dirty="0"/>
          </a:p>
        </p:txBody>
      </p:sp>
      <p:sp>
        <p:nvSpPr>
          <p:cNvPr id="6" name="Text 4"/>
          <p:cNvSpPr txBox="1"/>
          <p:nvPr/>
        </p:nvSpPr>
        <p:spPr>
          <a:xfrm>
            <a:off x="548640" y="288036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追加方法とスコープ</a:t>
            </a:r>
            <a:endParaRPr lang="en-US" sz="1200" dirty="0"/>
          </a:p>
        </p:txBody>
      </p:sp>
      <p:sp>
        <p:nvSpPr>
          <p:cNvPr id="7" name="Text 5"/>
          <p:cNvSpPr txBox="1"/>
          <p:nvPr/>
        </p:nvSpPr>
        <p:spPr>
          <a:xfrm>
            <a:off x="548640" y="3200400"/>
            <a:ext cx="5120640" cy="21945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claude mcp add で追加。HTTP(リモートサービス向け)とStdio(自マシン上のローカルプロセス向け)の2種</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/mcp で接続状況の確認・不要なサーバーの無効化ができる</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スコープ: Local(自分・現プロジェクトのみ) / User(全プロジェクト) / Project(.mcp.jsonをVCS管理、チーム全員が自動で同じ構成)</a:t>
            </a:r>
            <a:endParaRPr lang="en-US" sz="950" dirty="0"/>
          </a:p>
        </p:txBody>
      </p:sp>
      <p:sp>
        <p:nvSpPr>
          <p:cNvPr id="8" name="Text 6"/>
          <p:cNvSpPr txBox="1"/>
          <p:nvPr/>
        </p:nvSpPr>
        <p:spPr>
          <a:xfrm>
            <a:off x="5852160" y="288036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コンテキストのコスト</a:t>
            </a:r>
            <a:endParaRPr lang="en-US" sz="1200" dirty="0"/>
          </a:p>
        </p:txBody>
      </p:sp>
      <p:sp>
        <p:nvSpPr>
          <p:cNvPr id="9" name="Text 7"/>
          <p:cNvSpPr txBox="1"/>
          <p:nvPr/>
        </p:nvSpPr>
        <p:spPr>
          <a:xfrm>
            <a:off x="5852160" y="3200400"/>
            <a:ext cx="5303520" cy="25603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未使用時もツール定義がコンテキストウィンドウに常駐する。多く設定するほど圧迫が増す。/mcpで確認し積極的に使わないものは無効化を。ghやaws等CLI相当があるならCLIの方がコンテキスト効率が良い。スキルの方が有益な場合もある(名前とdescriptionのみ常駐)。MCPツールがコンテキストの10%を超えると自動でツール検索モードに切替わるが、確実に機能するとは限らない</a:t>
            </a:r>
            <a:endParaRPr lang="en-US" sz="9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101」レッスン11: MCP</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レッスン12: フック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レッスン12/12(最終レッスン)</a:t>
            </a:r>
            <a:endParaRPr lang="en-US" sz="1100" dirty="0"/>
          </a:p>
        </p:txBody>
      </p:sp>
      <p:sp>
        <p:nvSpPr>
          <p:cNvPr id="5" name="Text 3"/>
          <p:cNvSpPr txBox="1"/>
          <p:nvPr/>
        </p:nvSpPr>
        <p:spPr>
          <a:xfrm>
            <a:off x="548640" y="1737360"/>
            <a:ext cx="10607040" cy="6400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フックを使う理由: このコースの他の仕組みと違い「決定論的」— 常に実行される。CLAUDE.mdで「編集のたびにPrettierを実行して」と頼んでもほとんどは実行されるが、時に漏れる。フックなら例外なく毎回実行される</a:t>
            </a:r>
            <a:endParaRPr lang="en-US" sz="1050" dirty="0"/>
          </a:p>
        </p:txBody>
      </p:sp>
      <p:sp>
        <p:nvSpPr>
          <p:cNvPr id="6" name="Text 4"/>
          <p:cNvSpPr txBox="1"/>
          <p:nvPr/>
        </p:nvSpPr>
        <p:spPr>
          <a:xfrm>
            <a:off x="548640" y="246888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主なイベント(settings.jsonで設定)</a:t>
            </a:r>
            <a:endParaRPr lang="en-US" sz="1200" dirty="0"/>
          </a:p>
        </p:txBody>
      </p:sp>
      <p:sp>
        <p:nvSpPr>
          <p:cNvPr id="7" name="Text 5"/>
          <p:cNvSpPr txBox="1"/>
          <p:nvPr/>
        </p:nvSpPr>
        <p:spPr>
          <a:xfrm>
            <a:off x="548640" y="2788920"/>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PreToolUse</a:t>
            </a:r>
            <a:endParaRPr lang="en-US" sz="1000" dirty="0"/>
          </a:p>
        </p:txBody>
      </p:sp>
      <p:sp>
        <p:nvSpPr>
          <p:cNvPr id="8" name="Text 6"/>
          <p:cNvSpPr txBox="1"/>
          <p:nvPr/>
        </p:nvSpPr>
        <p:spPr>
          <a:xfrm>
            <a:off x="2651760" y="2788920"/>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ツール呼び出しの前</a:t>
            </a:r>
            <a:endParaRPr lang="en-US" sz="950" dirty="0"/>
          </a:p>
        </p:txBody>
      </p:sp>
      <p:sp>
        <p:nvSpPr>
          <p:cNvPr id="9" name="Text 7"/>
          <p:cNvSpPr txBox="1"/>
          <p:nvPr/>
        </p:nvSpPr>
        <p:spPr>
          <a:xfrm>
            <a:off x="548640" y="3136392"/>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PostToolUse</a:t>
            </a:r>
            <a:endParaRPr lang="en-US" sz="1000" dirty="0"/>
          </a:p>
        </p:txBody>
      </p:sp>
      <p:sp>
        <p:nvSpPr>
          <p:cNvPr id="10" name="Text 8"/>
          <p:cNvSpPr txBox="1"/>
          <p:nvPr/>
        </p:nvSpPr>
        <p:spPr>
          <a:xfrm>
            <a:off x="2651760" y="3136392"/>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ツール呼び出し完了後</a:t>
            </a:r>
            <a:endParaRPr lang="en-US" sz="950" dirty="0"/>
          </a:p>
        </p:txBody>
      </p:sp>
      <p:sp>
        <p:nvSpPr>
          <p:cNvPr id="11" name="Text 9"/>
          <p:cNvSpPr txBox="1"/>
          <p:nvPr/>
        </p:nvSpPr>
        <p:spPr>
          <a:xfrm>
            <a:off x="548640" y="3483864"/>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UserPromptSubmit</a:t>
            </a:r>
            <a:endParaRPr lang="en-US" sz="1000" dirty="0"/>
          </a:p>
        </p:txBody>
      </p:sp>
      <p:sp>
        <p:nvSpPr>
          <p:cNvPr id="12" name="Text 10"/>
          <p:cNvSpPr txBox="1"/>
          <p:nvPr/>
        </p:nvSpPr>
        <p:spPr>
          <a:xfrm>
            <a:off x="2651760" y="3483864"/>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プロンプト送信時(処理前)</a:t>
            </a:r>
            <a:endParaRPr lang="en-US" sz="950" dirty="0"/>
          </a:p>
        </p:txBody>
      </p:sp>
      <p:sp>
        <p:nvSpPr>
          <p:cNvPr id="13" name="Text 11"/>
          <p:cNvSpPr txBox="1"/>
          <p:nvPr/>
        </p:nvSpPr>
        <p:spPr>
          <a:xfrm>
            <a:off x="548640" y="3831336"/>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Stop</a:t>
            </a:r>
            <a:endParaRPr lang="en-US" sz="1000" dirty="0"/>
          </a:p>
        </p:txBody>
      </p:sp>
      <p:sp>
        <p:nvSpPr>
          <p:cNvPr id="14" name="Text 12"/>
          <p:cNvSpPr txBox="1"/>
          <p:nvPr/>
        </p:nvSpPr>
        <p:spPr>
          <a:xfrm>
            <a:off x="2651760" y="3831336"/>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Claudeが応答を終えた時</a:t>
            </a:r>
            <a:endParaRPr lang="en-US" sz="950" dirty="0"/>
          </a:p>
        </p:txBody>
      </p:sp>
      <p:sp>
        <p:nvSpPr>
          <p:cNvPr id="15" name="Text 13"/>
          <p:cNvSpPr txBox="1"/>
          <p:nvPr/>
        </p:nvSpPr>
        <p:spPr>
          <a:xfrm>
            <a:off x="548640" y="4178808"/>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Notification</a:t>
            </a:r>
            <a:endParaRPr lang="en-US" sz="1000" dirty="0"/>
          </a:p>
        </p:txBody>
      </p:sp>
      <p:sp>
        <p:nvSpPr>
          <p:cNvPr id="16" name="Text 14"/>
          <p:cNvSpPr txBox="1"/>
          <p:nvPr/>
        </p:nvSpPr>
        <p:spPr>
          <a:xfrm>
            <a:off x="2651760" y="4178808"/>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Claudeが通知を送る時</a:t>
            </a:r>
            <a:endParaRPr lang="en-US" sz="950" dirty="0"/>
          </a:p>
        </p:txBody>
      </p:sp>
      <p:sp>
        <p:nvSpPr>
          <p:cNvPr id="17" name="Text 15"/>
          <p:cNvSpPr txBox="1"/>
          <p:nvPr/>
        </p:nvSpPr>
        <p:spPr>
          <a:xfrm>
            <a:off x="5852160" y="246888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PreToolUseによるブロック(終了コード)</a:t>
            </a:r>
            <a:endParaRPr lang="en-US" sz="1200" dirty="0"/>
          </a:p>
        </p:txBody>
      </p:sp>
      <p:sp>
        <p:nvSpPr>
          <p:cNvPr id="18" name="Text 16"/>
          <p:cNvSpPr txBox="1"/>
          <p:nvPr/>
        </p:nvSpPr>
        <p:spPr>
          <a:xfrm>
            <a:off x="5852160" y="2788920"/>
            <a:ext cx="5303520" cy="18288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JSON(ツール名・入力)を標準入力で受け取る。終了コード0=通常続行 / 2=アクションをブロックしstderrのメッセージがClaudeへのフィードバックになる / その他=ブロックしないエラー表示のみ。本番設定への書込・rm -rf含むコマンド・mainへの直接コミットなど「保証」が必要な操作を止められる</a:t>
            </a:r>
            <a:endParaRPr lang="en-US" sz="950" dirty="0"/>
          </a:p>
        </p:txBody>
      </p:sp>
      <p:sp>
        <p:nvSpPr>
          <p:cNvPr id="19" name="Text 17"/>
          <p:cNvSpPr txBox="1"/>
          <p:nvPr/>
        </p:nvSpPr>
        <p:spPr>
          <a:xfrm>
            <a:off x="548640" y="4846320"/>
            <a:ext cx="10607040" cy="45720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代表例: PostToolUseで"Edit|MultiEdit|Write"マッチャーを設定し、編集の度に拡張子に応じたフォーマッタ(Prettier/gofmt等)を実行</a:t>
            </a:r>
            <a:endParaRPr lang="en-US" sz="1000" dirty="0"/>
          </a:p>
        </p:txBody>
      </p:sp>
      <p:sp>
        <p:nvSpPr>
          <p:cNvPr id="20" name="Text 18"/>
          <p:cNvSpPr txBox="1"/>
          <p:nvPr/>
        </p:nvSpPr>
        <p:spPr>
          <a:xfrm>
            <a:off x="548640" y="5349240"/>
            <a:ext cx="10607040" cy="64008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.claude/settings.jsonにチェックインすればチーム全体に配布可能(CLAUDE_PROJECT_DIR環境変数でスクリプトの絶対パスを参照)。毎回確実に実行させたいことはプロンプトでなくフックに組み込む</a:t>
            </a:r>
            <a:endParaRPr lang="en-US" sz="100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101」レッスン12: フック</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インストール〜ログイン</a:t>
            </a:r>
            <a:endParaRPr lang="en-US" sz="24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① インストール</a:t>
            </a:r>
            <a:endParaRPr lang="en-US" sz="1400" dirty="0"/>
          </a:p>
        </p:txBody>
      </p:sp>
      <p:sp>
        <p:nvSpPr>
          <p:cNvPr id="5" name="Text 3"/>
          <p:cNvSpPr txBox="1"/>
          <p:nvPr/>
        </p:nvSpPr>
        <p:spPr>
          <a:xfrm>
            <a:off x="548640" y="1783080"/>
            <a:ext cx="10607040" cy="11887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macOS/Linux/WSL: curl -fsSL https://claude.ai/install.sh | bash</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Windows PowerShell: irm https://claude.ai/install.ps1 | iex</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確認: claude --version でバージョン番号が表示されればOK。Native Installは自動でバックグラウンド更新される</a:t>
            </a:r>
            <a:endParaRPr lang="en-US" sz="1150" dirty="0"/>
          </a:p>
        </p:txBody>
      </p:sp>
      <p:sp>
        <p:nvSpPr>
          <p:cNvPr id="6" name="Text 4"/>
          <p:cNvSpPr txBox="1"/>
          <p:nvPr/>
        </p:nvSpPr>
        <p:spPr>
          <a:xfrm>
            <a:off x="548640" y="306324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② ログイン</a:t>
            </a:r>
            <a:endParaRPr lang="en-US" sz="1400" dirty="0"/>
          </a:p>
        </p:txBody>
      </p:sp>
      <p:sp>
        <p:nvSpPr>
          <p:cNvPr id="7" name="Text 5"/>
          <p:cNvSpPr txBox="1"/>
          <p:nvPr/>
        </p:nvSpPr>
        <p:spPr>
          <a:xfrm>
            <a:off x="548640" y="34290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claude と入力するとブラウザで認証を求められる(初回)。再ログイン・切替は /login</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対応アカウント: Claude Pro/Max/Team/Enterprise(推奨)、Claude Console(初回ログインで専用ワークスペース自動作成)、Bedrock/Vertex/Foundry等のクラウド経由、組織のセルフホストゲートウェイ経由(SSO)</a:t>
            </a:r>
            <a:endParaRPr lang="en-US" sz="1150" dirty="0"/>
          </a:p>
        </p:txBody>
      </p:sp>
      <p:sp>
        <p:nvSpPr>
          <p:cNvPr id="8" name="Text 6"/>
          <p:cNvSpPr txBox="1"/>
          <p:nvPr/>
        </p:nvSpPr>
        <p:spPr>
          <a:xfrm>
            <a:off x="548640" y="4846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③ 最初のセッション</a:t>
            </a:r>
            <a:endParaRPr lang="en-US" sz="1400" dirty="0"/>
          </a:p>
        </p:txBody>
      </p:sp>
      <p:sp>
        <p:nvSpPr>
          <p:cNvPr id="9" name="Text 7"/>
          <p:cNvSpPr txBox="1"/>
          <p:nvPr/>
        </p:nvSpPr>
        <p:spPr>
          <a:xfrm>
            <a:off x="548640" y="5212080"/>
            <a:ext cx="10607040" cy="82296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cd /path/to/your/project &amp;&amp; claude で起動。「このプロジェクトは何をするものか?」のような質問から始めると、Claude Codeが必要なファイルを自動で読み込んで答えてくれる(手動でコンテキストを渡す必要はない)</a:t>
            </a:r>
            <a:endParaRPr lang="en-US" sz="11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公式Quickstart: 基本コマンド一覧</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シェルコマンド(ターミナルから起動・再開)</a:t>
            </a:r>
            <a:endParaRPr lang="en-US" sz="1300" dirty="0"/>
          </a:p>
        </p:txBody>
      </p:sp>
      <p:sp>
        <p:nvSpPr>
          <p:cNvPr id="5" name="Text 3"/>
          <p:cNvSpPr txBox="1"/>
          <p:nvPr/>
        </p:nvSpPr>
        <p:spPr>
          <a:xfrm>
            <a:off x="548640" y="178308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a:t>
            </a:r>
            <a:endParaRPr lang="en-US" sz="1150" dirty="0"/>
          </a:p>
        </p:txBody>
      </p:sp>
      <p:sp>
        <p:nvSpPr>
          <p:cNvPr id="6" name="Text 4"/>
          <p:cNvSpPr txBox="1"/>
          <p:nvPr/>
        </p:nvSpPr>
        <p:spPr>
          <a:xfrm>
            <a:off x="3566160" y="178308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対話モードを開始</a:t>
            </a:r>
            <a:endParaRPr lang="en-US" sz="1150" dirty="0"/>
          </a:p>
        </p:txBody>
      </p:sp>
      <p:sp>
        <p:nvSpPr>
          <p:cNvPr id="7" name="Text 5"/>
          <p:cNvSpPr txBox="1"/>
          <p:nvPr/>
        </p:nvSpPr>
        <p:spPr>
          <a:xfrm>
            <a:off x="548640" y="216712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"task"</a:t>
            </a:r>
            <a:endParaRPr lang="en-US" sz="1150" dirty="0"/>
          </a:p>
        </p:txBody>
      </p:sp>
      <p:sp>
        <p:nvSpPr>
          <p:cNvPr id="8" name="Text 6"/>
          <p:cNvSpPr txBox="1"/>
          <p:nvPr/>
        </p:nvSpPr>
        <p:spPr>
          <a:xfrm>
            <a:off x="3566160" y="216712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初期プロンプト付きで対話モードを開始</a:t>
            </a:r>
            <a:endParaRPr lang="en-US" sz="1150" dirty="0"/>
          </a:p>
        </p:txBody>
      </p:sp>
      <p:sp>
        <p:nvSpPr>
          <p:cNvPr id="9" name="Text 7"/>
          <p:cNvSpPr txBox="1"/>
          <p:nvPr/>
        </p:nvSpPr>
        <p:spPr>
          <a:xfrm>
            <a:off x="548640" y="255117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-p "query"</a:t>
            </a:r>
            <a:endParaRPr lang="en-US" sz="1150" dirty="0"/>
          </a:p>
        </p:txBody>
      </p:sp>
      <p:sp>
        <p:nvSpPr>
          <p:cNvPr id="10" name="Text 8"/>
          <p:cNvSpPr txBox="1"/>
          <p:nvPr/>
        </p:nvSpPr>
        <p:spPr>
          <a:xfrm>
            <a:off x="3566160" y="255117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一回限りのクエリを実行して終了</a:t>
            </a:r>
            <a:endParaRPr lang="en-US" sz="1150" dirty="0"/>
          </a:p>
        </p:txBody>
      </p:sp>
      <p:sp>
        <p:nvSpPr>
          <p:cNvPr id="11" name="Text 9"/>
          <p:cNvSpPr txBox="1"/>
          <p:nvPr/>
        </p:nvSpPr>
        <p:spPr>
          <a:xfrm>
            <a:off x="548640" y="2935224"/>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-c</a:t>
            </a:r>
            <a:endParaRPr lang="en-US" sz="1150" dirty="0"/>
          </a:p>
        </p:txBody>
      </p:sp>
      <p:sp>
        <p:nvSpPr>
          <p:cNvPr id="12" name="Text 10"/>
          <p:cNvSpPr txBox="1"/>
          <p:nvPr/>
        </p:nvSpPr>
        <p:spPr>
          <a:xfrm>
            <a:off x="3566160" y="2935224"/>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現在のディレクトリの直近の会話を再開</a:t>
            </a:r>
            <a:endParaRPr lang="en-US" sz="1150" dirty="0"/>
          </a:p>
        </p:txBody>
      </p:sp>
      <p:sp>
        <p:nvSpPr>
          <p:cNvPr id="13" name="Text 11"/>
          <p:cNvSpPr txBox="1"/>
          <p:nvPr/>
        </p:nvSpPr>
        <p:spPr>
          <a:xfrm>
            <a:off x="548640" y="3319272"/>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-r</a:t>
            </a:r>
            <a:endParaRPr lang="en-US" sz="1150" dirty="0"/>
          </a:p>
        </p:txBody>
      </p:sp>
      <p:sp>
        <p:nvSpPr>
          <p:cNvPr id="14" name="Text 12"/>
          <p:cNvSpPr txBox="1"/>
          <p:nvPr/>
        </p:nvSpPr>
        <p:spPr>
          <a:xfrm>
            <a:off x="3566160" y="3319272"/>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過去の会話を選んで再開</a:t>
            </a:r>
            <a:endParaRPr lang="en-US" sz="1150" dirty="0"/>
          </a:p>
        </p:txBody>
      </p:sp>
      <p:sp>
        <p:nvSpPr>
          <p:cNvPr id="15" name="Text 13"/>
          <p:cNvSpPr txBox="1"/>
          <p:nvPr/>
        </p:nvSpPr>
        <p:spPr>
          <a:xfrm>
            <a:off x="548640" y="38404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セッションコマンド(Claude Code起動中に使う)</a:t>
            </a:r>
            <a:endParaRPr lang="en-US" sz="1300" dirty="0"/>
          </a:p>
        </p:txBody>
      </p:sp>
      <p:sp>
        <p:nvSpPr>
          <p:cNvPr id="16" name="Text 14"/>
          <p:cNvSpPr txBox="1"/>
          <p:nvPr/>
        </p:nvSpPr>
        <p:spPr>
          <a:xfrm>
            <a:off x="548640" y="420624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/clear</a:t>
            </a:r>
            <a:endParaRPr lang="en-US" sz="1150" dirty="0"/>
          </a:p>
        </p:txBody>
      </p:sp>
      <p:sp>
        <p:nvSpPr>
          <p:cNvPr id="17" name="Text 15"/>
          <p:cNvSpPr txBox="1"/>
          <p:nvPr/>
        </p:nvSpPr>
        <p:spPr>
          <a:xfrm>
            <a:off x="3566160" y="420624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会話履歴をクリア</a:t>
            </a:r>
            <a:endParaRPr lang="en-US" sz="1150" dirty="0"/>
          </a:p>
        </p:txBody>
      </p:sp>
      <p:sp>
        <p:nvSpPr>
          <p:cNvPr id="18" name="Text 16"/>
          <p:cNvSpPr txBox="1"/>
          <p:nvPr/>
        </p:nvSpPr>
        <p:spPr>
          <a:xfrm>
            <a:off x="548640" y="459028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/help</a:t>
            </a:r>
            <a:endParaRPr lang="en-US" sz="1150" dirty="0"/>
          </a:p>
        </p:txBody>
      </p:sp>
      <p:sp>
        <p:nvSpPr>
          <p:cNvPr id="19" name="Text 17"/>
          <p:cNvSpPr txBox="1"/>
          <p:nvPr/>
        </p:nvSpPr>
        <p:spPr>
          <a:xfrm>
            <a:off x="3566160" y="459028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利用可能なコマンドを表示</a:t>
            </a:r>
            <a:endParaRPr lang="en-US" sz="1150" dirty="0"/>
          </a:p>
        </p:txBody>
      </p:sp>
      <p:sp>
        <p:nvSpPr>
          <p:cNvPr id="20" name="Text 18"/>
          <p:cNvSpPr txBox="1"/>
          <p:nvPr/>
        </p:nvSpPr>
        <p:spPr>
          <a:xfrm>
            <a:off x="548640" y="497433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/exit (or Ctrl+D×2)</a:t>
            </a:r>
            <a:endParaRPr lang="en-US" sz="1150" dirty="0"/>
          </a:p>
        </p:txBody>
      </p:sp>
      <p:sp>
        <p:nvSpPr>
          <p:cNvPr id="21" name="Text 19"/>
          <p:cNvSpPr txBox="1"/>
          <p:nvPr/>
        </p:nvSpPr>
        <p:spPr>
          <a:xfrm>
            <a:off x="3566160" y="497433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 Codeを終了</a:t>
            </a:r>
            <a:endParaRPr lang="en-US" sz="11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Code公式ドキュメント「Quickstart」(完全な一覧はCLIリファレンス/コマンドリファレンス参照)</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典型的な8ステップ</a:t>
            </a:r>
            <a:endParaRPr lang="en-US" sz="2400" dirty="0"/>
          </a:p>
        </p:txBody>
      </p:sp>
      <p:sp>
        <p:nvSpPr>
          <p:cNvPr id="4" name="Shape 2"/>
          <p:cNvSpPr/>
          <p:nvPr/>
        </p:nvSpPr>
        <p:spPr>
          <a:xfrm>
            <a:off x="548640" y="1554480"/>
            <a:ext cx="10607040" cy="777240"/>
          </a:xfrm>
          <a:prstGeom prst="roundRect">
            <a:avLst>
              <a:gd name="adj" fmla="val 9412"/>
            </a:avLst>
          </a:prstGeom>
          <a:solidFill>
            <a:srgbClr val="FFFFFF"/>
          </a:solidFill>
          <a:ln w="12700">
            <a:solidFill>
              <a:srgbClr val="E5E2DC"/>
            </a:solidFill>
            <a:prstDash val="solid"/>
          </a:ln>
        </p:spPr>
      </p:sp>
      <p:sp>
        <p:nvSpPr>
          <p:cNvPr id="5" name="Text 3"/>
          <p:cNvSpPr txBox="1"/>
          <p:nvPr/>
        </p:nvSpPr>
        <p:spPr>
          <a:xfrm>
            <a:off x="822960" y="16459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1. コードベース理解</a:t>
            </a:r>
            <a:endParaRPr lang="en-US" sz="1300" dirty="0"/>
          </a:p>
        </p:txBody>
      </p:sp>
      <p:sp>
        <p:nvSpPr>
          <p:cNvPr id="6" name="Text 4"/>
          <p:cNvSpPr txBox="1"/>
          <p:nvPr/>
        </p:nvSpPr>
        <p:spPr>
          <a:xfrm>
            <a:off x="4023360" y="16459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"what does this project do?" 等、質問から開始</a:t>
            </a:r>
            <a:endParaRPr lang="en-US" sz="1100" dirty="0"/>
          </a:p>
        </p:txBody>
      </p:sp>
      <p:sp>
        <p:nvSpPr>
          <p:cNvPr id="7" name="Shape 5"/>
          <p:cNvSpPr/>
          <p:nvPr/>
        </p:nvSpPr>
        <p:spPr>
          <a:xfrm>
            <a:off x="548640" y="2468880"/>
            <a:ext cx="10607040" cy="777240"/>
          </a:xfrm>
          <a:prstGeom prst="roundRect">
            <a:avLst>
              <a:gd name="adj" fmla="val 9412"/>
            </a:avLst>
          </a:prstGeom>
          <a:solidFill>
            <a:srgbClr val="FFFFFF"/>
          </a:solidFill>
          <a:ln w="12700">
            <a:solidFill>
              <a:srgbClr val="E5E2DC"/>
            </a:solidFill>
            <a:prstDash val="solid"/>
          </a:ln>
        </p:spPr>
      </p:sp>
      <p:sp>
        <p:nvSpPr>
          <p:cNvPr id="8" name="Text 6"/>
          <p:cNvSpPr txBox="1"/>
          <p:nvPr/>
        </p:nvSpPr>
        <p:spPr>
          <a:xfrm>
            <a:off x="822960" y="25603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2. 初めてのコード変更</a:t>
            </a:r>
            <a:endParaRPr lang="en-US" sz="1300" dirty="0"/>
          </a:p>
        </p:txBody>
      </p:sp>
      <p:sp>
        <p:nvSpPr>
          <p:cNvPr id="9" name="Text 7"/>
          <p:cNvSpPr txBox="1"/>
          <p:nvPr/>
        </p:nvSpPr>
        <p:spPr>
          <a:xfrm>
            <a:off x="4023360" y="25603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"add a hello world function" — 承認を求められたらYesで許可</a:t>
            </a:r>
            <a:endParaRPr lang="en-US" sz="1100" dirty="0"/>
          </a:p>
        </p:txBody>
      </p:sp>
      <p:sp>
        <p:nvSpPr>
          <p:cNvPr id="10" name="Shape 8"/>
          <p:cNvSpPr/>
          <p:nvPr/>
        </p:nvSpPr>
        <p:spPr>
          <a:xfrm>
            <a:off x="548640" y="3383280"/>
            <a:ext cx="10607040" cy="777240"/>
          </a:xfrm>
          <a:prstGeom prst="roundRect">
            <a:avLst>
              <a:gd name="adj" fmla="val 9412"/>
            </a:avLst>
          </a:prstGeom>
          <a:solidFill>
            <a:srgbClr val="FFFFFF"/>
          </a:solidFill>
          <a:ln w="12700">
            <a:solidFill>
              <a:srgbClr val="E5E2DC"/>
            </a:solidFill>
            <a:prstDash val="solid"/>
          </a:ln>
        </p:spPr>
      </p:sp>
      <p:sp>
        <p:nvSpPr>
          <p:cNvPr id="11" name="Text 9"/>
          <p:cNvSpPr txBox="1"/>
          <p:nvPr/>
        </p:nvSpPr>
        <p:spPr>
          <a:xfrm>
            <a:off x="822960" y="34747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3. Gitとの対話</a:t>
            </a:r>
            <a:endParaRPr lang="en-US" sz="1300" dirty="0"/>
          </a:p>
        </p:txBody>
      </p:sp>
      <p:sp>
        <p:nvSpPr>
          <p:cNvPr id="12" name="Text 10"/>
          <p:cNvSpPr txBox="1"/>
          <p:nvPr/>
        </p:nvSpPr>
        <p:spPr>
          <a:xfrm>
            <a:off x="4023360" y="34747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"commit my changes with a descriptive message" のように会話的に操作</a:t>
            </a:r>
            <a:endParaRPr lang="en-US" sz="1100" dirty="0"/>
          </a:p>
        </p:txBody>
      </p:sp>
      <p:sp>
        <p:nvSpPr>
          <p:cNvPr id="13" name="Shape 11"/>
          <p:cNvSpPr/>
          <p:nvPr/>
        </p:nvSpPr>
        <p:spPr>
          <a:xfrm>
            <a:off x="548640" y="4297680"/>
            <a:ext cx="10607040" cy="777240"/>
          </a:xfrm>
          <a:prstGeom prst="roundRect">
            <a:avLst>
              <a:gd name="adj" fmla="val 9412"/>
            </a:avLst>
          </a:prstGeom>
          <a:solidFill>
            <a:srgbClr val="FFFFFF"/>
          </a:solidFill>
          <a:ln w="12700">
            <a:solidFill>
              <a:srgbClr val="E5E2DC"/>
            </a:solidFill>
            <a:prstDash val="solid"/>
          </a:ln>
        </p:spPr>
      </p:sp>
      <p:sp>
        <p:nvSpPr>
          <p:cNvPr id="14" name="Text 12"/>
          <p:cNvSpPr txBox="1"/>
          <p:nvPr/>
        </p:nvSpPr>
        <p:spPr>
          <a:xfrm>
            <a:off x="822960" y="43891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4. バグ修正・機能追加</a:t>
            </a:r>
            <a:endParaRPr lang="en-US" sz="1300" dirty="0"/>
          </a:p>
        </p:txBody>
      </p:sp>
      <p:sp>
        <p:nvSpPr>
          <p:cNvPr id="15" name="Text 13"/>
          <p:cNvSpPr txBox="1"/>
          <p:nvPr/>
        </p:nvSpPr>
        <p:spPr>
          <a:xfrm>
            <a:off x="4023360" y="43891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自然言語で記述するだけで、該当箇所の特定→実装→テスト実行まで自動で行う</a:t>
            </a:r>
            <a:endParaRPr lang="en-US" sz="1100" dirty="0"/>
          </a:p>
        </p:txBody>
      </p:sp>
      <p:sp>
        <p:nvSpPr>
          <p:cNvPr id="16" name="Shape 14"/>
          <p:cNvSpPr/>
          <p:nvPr/>
        </p:nvSpPr>
        <p:spPr>
          <a:xfrm>
            <a:off x="548640" y="5212080"/>
            <a:ext cx="10607040" cy="777240"/>
          </a:xfrm>
          <a:prstGeom prst="roundRect">
            <a:avLst>
              <a:gd name="adj" fmla="val 9412"/>
            </a:avLst>
          </a:prstGeom>
          <a:solidFill>
            <a:srgbClr val="FFFFFF"/>
          </a:solidFill>
          <a:ln w="12700">
            <a:solidFill>
              <a:srgbClr val="E5E2DC"/>
            </a:solidFill>
            <a:prstDash val="solid"/>
          </a:ln>
        </p:spPr>
      </p:sp>
      <p:sp>
        <p:nvSpPr>
          <p:cNvPr id="17" name="Text 15"/>
          <p:cNvSpPr txBox="1"/>
          <p:nvPr/>
        </p:nvSpPr>
        <p:spPr>
          <a:xfrm>
            <a:off x="822960" y="53035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5. その他ワークフロー</a:t>
            </a:r>
            <a:endParaRPr lang="en-US" sz="1300" dirty="0"/>
          </a:p>
        </p:txBody>
      </p:sp>
      <p:sp>
        <p:nvSpPr>
          <p:cNvPr id="18" name="Text 16"/>
          <p:cNvSpPr txBox="1"/>
          <p:nvPr/>
        </p:nvSpPr>
        <p:spPr>
          <a:xfrm>
            <a:off x="4023360" y="53035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リファクタリング・テスト作成・ドキュメント更新・コードレビューも同様に依頼可能</a:t>
            </a:r>
            <a:endParaRPr lang="en-US" sz="1100" dirty="0"/>
          </a:p>
        </p:txBody>
      </p:sp>
      <p:sp>
        <p:nvSpPr>
          <p:cNvPr id="19" name="Text 17"/>
          <p:cNvSpPr txBox="1"/>
          <p:nvPr/>
        </p:nvSpPr>
        <p:spPr>
          <a:xfrm>
            <a:off x="548640" y="6126480"/>
            <a:ext cx="10607040" cy="3657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初心者向けのコツ: 具体的にリクエストする / 手順を分けて指示する / まずClaudeに探索させる / ショートカットで時間短縮</a:t>
            </a:r>
            <a:endParaRPr lang="en-US" sz="110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深掘り①: CLAUDE.md vs 自動メモリ</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セッションは毎回まっさらなコンテキストから始まる。知識を引き継ぐ2つの仕組み</a:t>
            </a:r>
            <a:endParaRPr lang="en-US" sz="1150" dirty="0"/>
          </a:p>
        </p:txBody>
      </p:sp>
      <p:sp>
        <p:nvSpPr>
          <p:cNvPr id="5" name="Shape 3"/>
          <p:cNvSpPr/>
          <p:nvPr/>
        </p:nvSpPr>
        <p:spPr>
          <a:xfrm>
            <a:off x="548640" y="1828800"/>
            <a:ext cx="5212080" cy="3931920"/>
          </a:xfrm>
          <a:prstGeom prst="roundRect">
            <a:avLst>
              <a:gd name="adj" fmla="val 2326"/>
            </a:avLst>
          </a:prstGeom>
          <a:solidFill>
            <a:srgbClr val="33312E"/>
          </a:solidFill>
          <a:ln/>
        </p:spPr>
      </p:sp>
      <p:sp>
        <p:nvSpPr>
          <p:cNvPr id="6" name="Text 4"/>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CLAUDE.md ファイル</a:t>
            </a:r>
            <a:endParaRPr lang="en-US" sz="1400" dirty="0"/>
          </a:p>
        </p:txBody>
      </p:sp>
      <p:sp>
        <p:nvSpPr>
          <p:cNvPr id="7" name="Text 5"/>
          <p:cNvSpPr txBox="1"/>
          <p:nvPr/>
        </p:nvSpPr>
        <p:spPr>
          <a:xfrm>
            <a:off x="8229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あなた</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指示・ルール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プロジェクト/個人/組織</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毎セッション全体</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コーディング規約・ワークフロー・アーキテクチャ</a:t>
            </a:r>
            <a:endParaRPr lang="en-US" sz="1200" dirty="0"/>
          </a:p>
        </p:txBody>
      </p:sp>
      <p:sp>
        <p:nvSpPr>
          <p:cNvPr id="8" name="Shape 6"/>
          <p:cNvSpPr/>
          <p:nvPr/>
        </p:nvSpPr>
        <p:spPr>
          <a:xfrm>
            <a:off x="6035040" y="1828800"/>
            <a:ext cx="5212080" cy="3931920"/>
          </a:xfrm>
          <a:prstGeom prst="roundRect">
            <a:avLst>
              <a:gd name="adj" fmla="val 2326"/>
            </a:avLst>
          </a:prstGeom>
          <a:solidFill>
            <a:srgbClr val="33312E"/>
          </a:solidFill>
          <a:ln/>
        </p:spPr>
      </p:sp>
      <p:sp>
        <p:nvSpPr>
          <p:cNvPr id="9" name="Text 7"/>
          <p:cNvSpPr txBox="1"/>
          <p:nvPr/>
        </p:nvSpPr>
        <p:spPr>
          <a:xfrm>
            <a:off x="63093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Auto Memory(自動メモリ)</a:t>
            </a:r>
            <a:endParaRPr lang="en-US" sz="1400" dirty="0"/>
          </a:p>
        </p:txBody>
      </p:sp>
      <p:sp>
        <p:nvSpPr>
          <p:cNvPr id="10" name="Text 8"/>
          <p:cNvSpPr txBox="1"/>
          <p:nvPr/>
        </p:nvSpPr>
        <p:spPr>
          <a:xfrm>
            <a:off x="63093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Claude自身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学習内容・パターン</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リポジトリ単位(worktree間で共有)</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毎セッション(MEMORY.mdの先頭200行 or 25KBまで)</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あなたの好み・修正指示・コードから読み取れないプロジェクト文脈</a:t>
            </a:r>
            <a:endParaRPr lang="en-US" sz="1200" dirty="0"/>
          </a:p>
        </p:txBody>
      </p:sp>
      <p:sp>
        <p:nvSpPr>
          <p:cNvPr id="11" name="Text 9"/>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50" i="1" dirty="0">
                <a:solidFill>
                  <a:srgbClr val="CC785C"/>
                </a:solidFill>
                <a:latin typeface="Calibri" pitchFamily="34" charset="0"/>
                <a:ea typeface="Calibri" pitchFamily="34" charset="-122"/>
                <a:cs typeface="Calibri" pitchFamily="34" charset="-120"/>
              </a:rPr>
              <a:t>いずれもコンテキストとして扱われ、強制設定ではない(system promptではなくsystem prompt後のuserメッセージとして渡る)。特定の行動を必ずブロックしたい場合はPreToolUseフックを使う</a:t>
            </a:r>
            <a:endParaRPr lang="en-US" sz="10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深掘り②: CLAUDE.mdの配置場所(詳細)</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読込順: 広い範囲→狭い範囲(後に読まれる=作業ディレクトリに近い指示ほど後段で提示される)</a:t>
            </a:r>
            <a:endParaRPr lang="en-US" sz="1100" dirty="0"/>
          </a:p>
        </p:txBody>
      </p:sp>
      <p:sp>
        <p:nvSpPr>
          <p:cNvPr id="5" name="Text 3"/>
          <p:cNvSpPr txBox="1"/>
          <p:nvPr/>
        </p:nvSpPr>
        <p:spPr>
          <a:xfrm>
            <a:off x="548640" y="178308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Managed policy</a:t>
            </a:r>
            <a:endParaRPr lang="en-US" sz="1100" dirty="0"/>
          </a:p>
        </p:txBody>
      </p:sp>
      <p:sp>
        <p:nvSpPr>
          <p:cNvPr id="6" name="Text 4"/>
          <p:cNvSpPr txBox="1"/>
          <p:nvPr/>
        </p:nvSpPr>
        <p:spPr>
          <a:xfrm>
            <a:off x="2697480" y="178308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macOS: /Library/Application Support/ClaudeCode/CLAUDE.md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Linux/WSL: /etc/claude-code/CLAUDE.md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Windows: C:\Program Files\ClaudeCode\CLAUDE.md</a:t>
            </a:r>
            <a:endParaRPr lang="en-US" sz="850" dirty="0"/>
          </a:p>
        </p:txBody>
      </p:sp>
      <p:sp>
        <p:nvSpPr>
          <p:cNvPr id="7" name="Text 5"/>
          <p:cNvSpPr txBox="1"/>
          <p:nvPr/>
        </p:nvSpPr>
        <p:spPr>
          <a:xfrm>
            <a:off x="7269480" y="178308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組織全体(IT/DevOps管理)。個別設定で除外不可</a:t>
            </a:r>
            <a:endParaRPr lang="en-US" sz="950" dirty="0"/>
          </a:p>
        </p:txBody>
      </p:sp>
      <p:sp>
        <p:nvSpPr>
          <p:cNvPr id="8" name="Text 6"/>
          <p:cNvSpPr txBox="1"/>
          <p:nvPr/>
        </p:nvSpPr>
        <p:spPr>
          <a:xfrm>
            <a:off x="548640" y="265176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User instructions</a:t>
            </a:r>
            <a:endParaRPr lang="en-US" sz="1100" dirty="0"/>
          </a:p>
        </p:txBody>
      </p:sp>
      <p:sp>
        <p:nvSpPr>
          <p:cNvPr id="9" name="Text 7"/>
          <p:cNvSpPr txBox="1"/>
          <p:nvPr/>
        </p:nvSpPr>
        <p:spPr>
          <a:xfrm>
            <a:off x="2697480" y="265176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~/.claude/CLAUDE.md</a:t>
            </a:r>
            <a:endParaRPr lang="en-US" sz="850" dirty="0"/>
          </a:p>
        </p:txBody>
      </p:sp>
      <p:sp>
        <p:nvSpPr>
          <p:cNvPr id="10" name="Text 8"/>
          <p:cNvSpPr txBox="1"/>
          <p:nvPr/>
        </p:nvSpPr>
        <p:spPr>
          <a:xfrm>
            <a:off x="7269480" y="265176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個人の全プロジェクト共通設定</a:t>
            </a:r>
            <a:endParaRPr lang="en-US" sz="950" dirty="0"/>
          </a:p>
        </p:txBody>
      </p:sp>
      <p:sp>
        <p:nvSpPr>
          <p:cNvPr id="11" name="Text 9"/>
          <p:cNvSpPr txBox="1"/>
          <p:nvPr/>
        </p:nvSpPr>
        <p:spPr>
          <a:xfrm>
            <a:off x="548640" y="352044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Project instructions</a:t>
            </a:r>
            <a:endParaRPr lang="en-US" sz="1100" dirty="0"/>
          </a:p>
        </p:txBody>
      </p:sp>
      <p:sp>
        <p:nvSpPr>
          <p:cNvPr id="12" name="Text 10"/>
          <p:cNvSpPr txBox="1"/>
          <p:nvPr/>
        </p:nvSpPr>
        <p:spPr>
          <a:xfrm>
            <a:off x="2697480" y="352044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./CLAUDE.md または ./.claude/CLAUDE.md</a:t>
            </a:r>
            <a:endParaRPr lang="en-US" sz="850" dirty="0"/>
          </a:p>
        </p:txBody>
      </p:sp>
      <p:sp>
        <p:nvSpPr>
          <p:cNvPr id="13" name="Text 11"/>
          <p:cNvSpPr txBox="1"/>
          <p:nvPr/>
        </p:nvSpPr>
        <p:spPr>
          <a:xfrm>
            <a:off x="7269480" y="352044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チーム共有。source control経由で配布</a:t>
            </a:r>
            <a:endParaRPr lang="en-US" sz="950" dirty="0"/>
          </a:p>
        </p:txBody>
      </p:sp>
      <p:sp>
        <p:nvSpPr>
          <p:cNvPr id="14" name="Text 12"/>
          <p:cNvSpPr txBox="1"/>
          <p:nvPr/>
        </p:nvSpPr>
        <p:spPr>
          <a:xfrm>
            <a:off x="548640" y="438912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Local instructions</a:t>
            </a:r>
            <a:endParaRPr lang="en-US" sz="1100" dirty="0"/>
          </a:p>
        </p:txBody>
      </p:sp>
      <p:sp>
        <p:nvSpPr>
          <p:cNvPr id="15" name="Text 13"/>
          <p:cNvSpPr txBox="1"/>
          <p:nvPr/>
        </p:nvSpPr>
        <p:spPr>
          <a:xfrm>
            <a:off x="2697480" y="438912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./CLAUDE.local.md</a:t>
            </a:r>
            <a:endParaRPr lang="en-US" sz="850" dirty="0"/>
          </a:p>
        </p:txBody>
      </p:sp>
      <p:sp>
        <p:nvSpPr>
          <p:cNvPr id="16" name="Text 14"/>
          <p:cNvSpPr txBox="1"/>
          <p:nvPr/>
        </p:nvSpPr>
        <p:spPr>
          <a:xfrm>
            <a:off x="7269480" y="438912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個人用・.gitignore対象(サンドボックスURL等)</a:t>
            </a:r>
            <a:endParaRPr lang="en-US" sz="950" dirty="0"/>
          </a:p>
        </p:txBody>
      </p:sp>
      <p:sp>
        <p:nvSpPr>
          <p:cNvPr id="17" name="Text 15"/>
          <p:cNvSpPr txBox="1"/>
          <p:nvPr/>
        </p:nvSpPr>
        <p:spPr>
          <a:xfrm>
            <a:off x="548640" y="530352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読込ルールの詳細</a:t>
            </a:r>
            <a:endParaRPr lang="en-US" sz="1250" dirty="0"/>
          </a:p>
        </p:txBody>
      </p:sp>
      <p:sp>
        <p:nvSpPr>
          <p:cNvPr id="18" name="Text 16"/>
          <p:cNvSpPr txBox="1"/>
          <p:nvPr/>
        </p:nvSpPr>
        <p:spPr>
          <a:xfrm>
            <a:off x="548640" y="5623560"/>
            <a:ext cx="10607040" cy="8229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作業ディレクトリとその上位ディレクトリ全てのCLAUDE.md/CLAUDE.local.mdは起動時に連結ロード(上書きでなく全て読み込む)。サブディレクトリのファイルは、Claudeがそのディレクトリのファイルを読む時に遅延ロードされる。HTMLコメント(&lt;!-- --&gt;)は自動で除去されコンテキストを消費しない</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深掘り③: 効果的な指示の書き方</a:t>
            </a:r>
            <a:endParaRPr lang="en-US" sz="2400" dirty="0"/>
          </a:p>
        </p:txBody>
      </p:sp>
      <p:sp>
        <p:nvSpPr>
          <p:cNvPr id="4" name="Shape 2"/>
          <p:cNvSpPr/>
          <p:nvPr/>
        </p:nvSpPr>
        <p:spPr>
          <a:xfrm>
            <a:off x="548640" y="1463040"/>
            <a:ext cx="10607040" cy="960120"/>
          </a:xfrm>
          <a:prstGeom prst="roundRect">
            <a:avLst>
              <a:gd name="adj" fmla="val 7619"/>
            </a:avLst>
          </a:prstGeom>
          <a:solidFill>
            <a:srgbClr val="33312E"/>
          </a:solidFill>
          <a:ln/>
        </p:spPr>
      </p:sp>
      <p:sp>
        <p:nvSpPr>
          <p:cNvPr id="5" name="Text 3"/>
          <p:cNvSpPr txBox="1"/>
          <p:nvPr/>
        </p:nvSpPr>
        <p:spPr>
          <a:xfrm>
            <a:off x="822960" y="157276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Size(サイズ)</a:t>
            </a:r>
            <a:endParaRPr lang="en-US" sz="1250" dirty="0"/>
          </a:p>
        </p:txBody>
      </p:sp>
      <p:sp>
        <p:nvSpPr>
          <p:cNvPr id="6" name="Text 4"/>
          <p:cNvSpPr txBox="1"/>
          <p:nvPr/>
        </p:nvSpPr>
        <p:spPr>
          <a:xfrm>
            <a:off x="3657600" y="157276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1ファイル200行未満が目安。長いほどコンテキストを圧迫し遵守率が下がる。大きくなったらpath-scoped rulesへ分割</a:t>
            </a:r>
            <a:endParaRPr lang="en-US" sz="1050" dirty="0"/>
          </a:p>
        </p:txBody>
      </p:sp>
      <p:sp>
        <p:nvSpPr>
          <p:cNvPr id="7" name="Shape 5"/>
          <p:cNvSpPr/>
          <p:nvPr/>
        </p:nvSpPr>
        <p:spPr>
          <a:xfrm>
            <a:off x="548640" y="2560320"/>
            <a:ext cx="10607040" cy="960120"/>
          </a:xfrm>
          <a:prstGeom prst="roundRect">
            <a:avLst>
              <a:gd name="adj" fmla="val 7619"/>
            </a:avLst>
          </a:prstGeom>
          <a:solidFill>
            <a:srgbClr val="33312E"/>
          </a:solidFill>
          <a:ln/>
        </p:spPr>
      </p:sp>
      <p:sp>
        <p:nvSpPr>
          <p:cNvPr id="8" name="Text 6"/>
          <p:cNvSpPr txBox="1"/>
          <p:nvPr/>
        </p:nvSpPr>
        <p:spPr>
          <a:xfrm>
            <a:off x="822960" y="267004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Structure(構造)</a:t>
            </a:r>
            <a:endParaRPr lang="en-US" sz="1250" dirty="0"/>
          </a:p>
        </p:txBody>
      </p:sp>
      <p:sp>
        <p:nvSpPr>
          <p:cNvPr id="9" name="Text 7"/>
          <p:cNvSpPr txBox="1"/>
          <p:nvPr/>
        </p:nvSpPr>
        <p:spPr>
          <a:xfrm>
            <a:off x="3657600" y="267004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見出しと箇条書きでグルーピング。Claudeも人間の読者と同じように構造を読み取る</a:t>
            </a:r>
            <a:endParaRPr lang="en-US" sz="1050" dirty="0"/>
          </a:p>
        </p:txBody>
      </p:sp>
      <p:sp>
        <p:nvSpPr>
          <p:cNvPr id="10" name="Shape 8"/>
          <p:cNvSpPr/>
          <p:nvPr/>
        </p:nvSpPr>
        <p:spPr>
          <a:xfrm>
            <a:off x="548640" y="3657600"/>
            <a:ext cx="10607040" cy="960120"/>
          </a:xfrm>
          <a:prstGeom prst="roundRect">
            <a:avLst>
              <a:gd name="adj" fmla="val 7619"/>
            </a:avLst>
          </a:prstGeom>
          <a:solidFill>
            <a:srgbClr val="33312E"/>
          </a:solidFill>
          <a:ln/>
        </p:spPr>
      </p:sp>
      <p:sp>
        <p:nvSpPr>
          <p:cNvPr id="11" name="Text 9"/>
          <p:cNvSpPr txBox="1"/>
          <p:nvPr/>
        </p:nvSpPr>
        <p:spPr>
          <a:xfrm>
            <a:off x="822960" y="376732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Specificity(具体性)</a:t>
            </a:r>
            <a:endParaRPr lang="en-US" sz="1250" dirty="0"/>
          </a:p>
        </p:txBody>
      </p:sp>
      <p:sp>
        <p:nvSpPr>
          <p:cNvPr id="12" name="Text 10"/>
          <p:cNvSpPr txBox="1"/>
          <p:nvPr/>
        </p:nvSpPr>
        <p:spPr>
          <a:xfrm>
            <a:off x="3657600" y="376732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「コードを綺麗に整形」でなく「2スペースインデント」、「変更をテストして」でなく「コミット前にnpm testを実行」のように検証可能な指示にする</a:t>
            </a:r>
            <a:endParaRPr lang="en-US" sz="1050" dirty="0"/>
          </a:p>
        </p:txBody>
      </p:sp>
      <p:sp>
        <p:nvSpPr>
          <p:cNvPr id="13" name="Shape 11"/>
          <p:cNvSpPr/>
          <p:nvPr/>
        </p:nvSpPr>
        <p:spPr>
          <a:xfrm>
            <a:off x="548640" y="4754880"/>
            <a:ext cx="10607040" cy="960120"/>
          </a:xfrm>
          <a:prstGeom prst="roundRect">
            <a:avLst>
              <a:gd name="adj" fmla="val 7619"/>
            </a:avLst>
          </a:prstGeom>
          <a:solidFill>
            <a:srgbClr val="33312E"/>
          </a:solidFill>
          <a:ln/>
        </p:spPr>
      </p:sp>
      <p:sp>
        <p:nvSpPr>
          <p:cNvPr id="14" name="Text 12"/>
          <p:cNvSpPr txBox="1"/>
          <p:nvPr/>
        </p:nvSpPr>
        <p:spPr>
          <a:xfrm>
            <a:off x="822960" y="486460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Consistency(一貫性)</a:t>
            </a:r>
            <a:endParaRPr lang="en-US" sz="1250" dirty="0"/>
          </a:p>
        </p:txBody>
      </p:sp>
      <p:sp>
        <p:nvSpPr>
          <p:cNvPr id="15" name="Text 13"/>
          <p:cNvSpPr txBox="1"/>
          <p:nvPr/>
        </p:nvSpPr>
        <p:spPr>
          <a:xfrm>
            <a:off x="3657600" y="486460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矛盾する指示があるとClaudeは恣意的にどちらかを選ぶ。モノレポではclaudeMdExcludesで無関係な他チームのCLAUDE.mdを除外できる</a:t>
            </a:r>
            <a:endParaRPr lang="en-US" sz="1050" dirty="0"/>
          </a:p>
        </p:txBody>
      </p:sp>
      <p:sp>
        <p:nvSpPr>
          <p:cNvPr id="16" name="Text 14"/>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/doctor prompt-audit による自動監査(v2.1.283+)</a:t>
            </a:r>
            <a:endParaRPr lang="en-US" sz="1200" dirty="0"/>
          </a:p>
        </p:txBody>
      </p:sp>
      <p:sp>
        <p:nvSpPr>
          <p:cNvPr id="17" name="Text 15"/>
          <p:cNvSpPr txBox="1"/>
          <p:nvPr/>
        </p:nvSpPr>
        <p:spPr>
          <a:xfrm>
            <a:off x="548640" y="5852160"/>
            <a:ext cx="10607040" cy="5486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CLAUDE.md・CLAUDE.local.md・AGENTS.md・rules・skills・commands・subagents・output stylesをまとめて監査。古いモデル向け指示・存在しないファイル参照・矛盾を検出しレポート。実際の変更は依頼するまで適用されない</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深掘り④: @path インポート構文</a:t>
            </a:r>
            <a:endParaRPr lang="en-US" sz="2400" dirty="0"/>
          </a:p>
        </p:txBody>
      </p:sp>
      <p:sp>
        <p:nvSpPr>
          <p:cNvPr id="4" name="Text 2"/>
          <p:cNvSpPr txBox="1"/>
          <p:nvPr/>
        </p:nvSpPr>
        <p:spPr>
          <a:xfrm>
            <a:off x="548640" y="1463040"/>
            <a:ext cx="10607040" cy="4206240"/>
          </a:xfrm>
          <a:prstGeom prst="rect">
            <a:avLst/>
          </a:prstGeom>
          <a:noFill/>
          <a:ln/>
        </p:spPr>
        <p:txBody>
          <a:bodyPr wrap="square" lIns="0" tIns="0" rIns="0" bIns="0" rtlCol="0" anchor="ctr"/>
          <a:lstStyle/>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@path/to/file でファイルをCLAUDE.mdに取り込める。相対パスは「参照元ファイル」基準(作業ディレクトリ基準ではない点に注意)。再帰インポートは最大4階層まで</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バッククォートで囲むとリテラル扱い: `@README`はインポートされないが、@README(バッククォート無し)はインポートされる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worktreeをまたいで個人設定を共有したい場合は、CLAUDE.local.mdでなく ~/.claude/ 以下のファイルを@importする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外部インポート(作業ディレクトリ外を指すパス)は初回に承認ダイアログが出る。拒否すると以後そのダイアログは出ず読み込まれない — 他人がコミットしたファイルから不用意に読み込まないための保護</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claude/CLAUDE.mdや~/.claude/rules/など自分で書いたユーザースコープのファイルは、通常はダイアログ無しで信頼される。ただしデスクトップ版Coworkセッションでは、作業ディレクトリ外を指すインポート・シンボリックリンクはスキップされる</a:t>
            </a:r>
            <a:endParaRPr lang="en-US" sz="1200" dirty="0"/>
          </a:p>
        </p:txBody>
      </p:sp>
      <p:sp>
        <p:nvSpPr>
          <p:cNvPr id="5" name="Text 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6" name="Text 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深掘り⑤: .claude/rules/ の詳細</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基本とpath指定</a:t>
            </a:r>
            <a:endParaRPr lang="en-US" sz="1250" dirty="0"/>
          </a:p>
        </p:txBody>
      </p:sp>
      <p:sp>
        <p:nvSpPr>
          <p:cNvPr id="5" name="Text 3"/>
          <p:cNvSpPr txBox="1"/>
          <p:nvPr/>
        </p:nvSpPr>
        <p:spPr>
          <a:xfrm>
            <a:off x="548640" y="1737360"/>
            <a:ext cx="5120640" cy="228600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1ファイル=1トピック(testing.md等)。サブディレクトリも再帰的に検出</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YAML frontmatterのpathsで対象ファイルを限定。無指定なら常時ロード</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pathsはファイルを開いた時にマッチ(全ツール呼び出しではない)</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brace展開({ts,tsx}等)は1ルールにつき最大1,000パターン/4MiBの予算を共有</a:t>
            </a:r>
            <a:endParaRPr lang="en-US" sz="100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globパターン例</a:t>
            </a:r>
            <a:endParaRPr lang="en-US" sz="1250" dirty="0"/>
          </a:p>
        </p:txBody>
      </p:sp>
      <p:sp>
        <p:nvSpPr>
          <p:cNvPr id="7" name="Text 5"/>
          <p:cNvSpPr txBox="1"/>
          <p:nvPr/>
        </p:nvSpPr>
        <p:spPr>
          <a:xfrm>
            <a:off x="5852160" y="173736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**/*.ts</a:t>
            </a:r>
            <a:endParaRPr lang="en-US" sz="1000" dirty="0"/>
          </a:p>
        </p:txBody>
      </p:sp>
      <p:sp>
        <p:nvSpPr>
          <p:cNvPr id="8" name="Text 6"/>
          <p:cNvSpPr txBox="1"/>
          <p:nvPr/>
        </p:nvSpPr>
        <p:spPr>
          <a:xfrm>
            <a:off x="8321040" y="173736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任意の階層の全TypeScriptファイル</a:t>
            </a:r>
            <a:endParaRPr lang="en-US" sz="950" dirty="0"/>
          </a:p>
        </p:txBody>
      </p:sp>
      <p:sp>
        <p:nvSpPr>
          <p:cNvPr id="9" name="Text 7"/>
          <p:cNvSpPr txBox="1"/>
          <p:nvPr/>
        </p:nvSpPr>
        <p:spPr>
          <a:xfrm>
            <a:off x="5852160" y="214884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a:t>
            </a:r>
            <a:endParaRPr lang="en-US" sz="1000" dirty="0"/>
          </a:p>
        </p:txBody>
      </p:sp>
      <p:sp>
        <p:nvSpPr>
          <p:cNvPr id="10" name="Text 8"/>
          <p:cNvSpPr txBox="1"/>
          <p:nvPr/>
        </p:nvSpPr>
        <p:spPr>
          <a:xfrm>
            <a:off x="8321040" y="214884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src/配下の全ファイル</a:t>
            </a:r>
            <a:endParaRPr lang="en-US" sz="950" dirty="0"/>
          </a:p>
        </p:txBody>
      </p:sp>
      <p:sp>
        <p:nvSpPr>
          <p:cNvPr id="11" name="Text 9"/>
          <p:cNvSpPr txBox="1"/>
          <p:nvPr/>
        </p:nvSpPr>
        <p:spPr>
          <a:xfrm>
            <a:off x="5852160" y="256032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*.md</a:t>
            </a:r>
            <a:endParaRPr lang="en-US" sz="1000" dirty="0"/>
          </a:p>
        </p:txBody>
      </p:sp>
      <p:sp>
        <p:nvSpPr>
          <p:cNvPr id="12" name="Text 10"/>
          <p:cNvSpPr txBox="1"/>
          <p:nvPr/>
        </p:nvSpPr>
        <p:spPr>
          <a:xfrm>
            <a:off x="8321040" y="256032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プロジェクトルートのMarkdown</a:t>
            </a:r>
            <a:endParaRPr lang="en-US" sz="950" dirty="0"/>
          </a:p>
        </p:txBody>
      </p:sp>
      <p:sp>
        <p:nvSpPr>
          <p:cNvPr id="13" name="Text 11"/>
          <p:cNvSpPr txBox="1"/>
          <p:nvPr/>
        </p:nvSpPr>
        <p:spPr>
          <a:xfrm>
            <a:off x="5852160" y="297180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src/components/*.tsx</a:t>
            </a:r>
            <a:endParaRPr lang="en-US" sz="1000" dirty="0"/>
          </a:p>
        </p:txBody>
      </p:sp>
      <p:sp>
        <p:nvSpPr>
          <p:cNvPr id="14" name="Text 12"/>
          <p:cNvSpPr txBox="1"/>
          <p:nvPr/>
        </p:nvSpPr>
        <p:spPr>
          <a:xfrm>
            <a:off x="8321040" y="297180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特定ディレクトリのReactコンポーネント</a:t>
            </a:r>
            <a:endParaRPr lang="en-US" sz="950" dirty="0"/>
          </a:p>
        </p:txBody>
      </p:sp>
      <p:sp>
        <p:nvSpPr>
          <p:cNvPr id="15" name="Text 13"/>
          <p:cNvSpPr txBox="1"/>
          <p:nvPr/>
        </p:nvSpPr>
        <p:spPr>
          <a:xfrm>
            <a:off x="5852160" y="3657600"/>
            <a:ext cx="5303520" cy="73152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不正な[パターン(例: photos [2024/**)はそのパターンだけ無効(マッチなし)になり、他のパターンは正常動作する</a:t>
            </a:r>
            <a:endParaRPr lang="en-US" sz="950" dirty="0"/>
          </a:p>
        </p:txBody>
      </p:sp>
      <p:sp>
        <p:nvSpPr>
          <p:cNvPr id="16" name="Text 14"/>
          <p:cNvSpPr txBox="1"/>
          <p:nvPr/>
        </p:nvSpPr>
        <p:spPr>
          <a:xfrm>
            <a:off x="548640" y="42062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共有とユーザーレベルルール</a:t>
            </a:r>
            <a:endParaRPr lang="en-US" sz="1250" dirty="0"/>
          </a:p>
        </p:txBody>
      </p:sp>
      <p:sp>
        <p:nvSpPr>
          <p:cNvPr id="17" name="Text 15"/>
          <p:cNvSpPr txBox="1"/>
          <p:nvPr/>
        </p:nvSpPr>
        <p:spPr>
          <a:xfrm>
            <a:off x="548640" y="4526280"/>
            <a:ext cx="10607040" cy="91440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シンボリックリンクで複数プロジェクトに共有ルールをリンク可能(循環リンクも安全に検出)。作業ディレクトリ外を指すシンボリックリンクは外部importと同様の承認が必要 — 承認なしで使いたいなら ~/.claude/rules/ に置く(全プロジェクト共通)。ユーザーレベルルールはプロジェクトルールより先に読まれるが、優先度としては対等で矛盾時はどちらか任意に従う</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深掘り⑥: 大規模チームでの管理</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組織全体へのManaged CLAUDE.md配布</a:t>
            </a:r>
            <a:endParaRPr lang="en-US" sz="1300" dirty="0"/>
          </a:p>
        </p:txBody>
      </p:sp>
      <p:sp>
        <p:nvSpPr>
          <p:cNvPr id="5" name="Text 3"/>
          <p:cNvSpPr txBox="1"/>
          <p:nvPr/>
        </p:nvSpPr>
        <p:spPr>
          <a:xfrm>
            <a:off x="548640" y="1783080"/>
            <a:ext cx="106070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OS別の所定パスにファイルを配置し、MDM/Group Policy/Ansible等で配布(個別設定では除外不可)</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managed-settings.jsonの claudeMd キーで、別ファイルを配らずJSON内に直接本文を書くことも可能</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適用範囲: そのマシン上の全セッション・全リポジトリ。優先順位はユーザー/プロジェクトCLAUDE.mdより先に読み込まれる</a:t>
            </a:r>
            <a:endParaRPr lang="en-US" sz="1100" dirty="0"/>
          </a:p>
        </p:txBody>
      </p:sp>
      <p:sp>
        <p:nvSpPr>
          <p:cNvPr id="6" name="Text 4"/>
          <p:cNvSpPr txBox="1"/>
          <p:nvPr/>
        </p:nvSpPr>
        <p:spPr>
          <a:xfrm>
            <a:off x="548640" y="33832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設定 vs CLAUDE.mdの使い分け</a:t>
            </a:r>
            <a:endParaRPr lang="en-US" sz="1300" dirty="0"/>
          </a:p>
        </p:txBody>
      </p:sp>
      <p:sp>
        <p:nvSpPr>
          <p:cNvPr id="7" name="Text 5"/>
          <p:cNvSpPr txBox="1"/>
          <p:nvPr/>
        </p:nvSpPr>
        <p:spPr>
          <a:xfrm>
            <a:off x="548640" y="3749040"/>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特定ツール/コマンド/パスのブロック</a:t>
            </a:r>
            <a:endParaRPr lang="en-US" sz="1000" dirty="0"/>
          </a:p>
        </p:txBody>
      </p:sp>
      <p:sp>
        <p:nvSpPr>
          <p:cNvPr id="8" name="Text 6"/>
          <p:cNvSpPr txBox="1"/>
          <p:nvPr/>
        </p:nvSpPr>
        <p:spPr>
          <a:xfrm>
            <a:off x="6583680" y="3749040"/>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permissions.deny</a:t>
            </a:r>
            <a:endParaRPr lang="en-US" sz="1000" dirty="0"/>
          </a:p>
        </p:txBody>
      </p:sp>
      <p:sp>
        <p:nvSpPr>
          <p:cNvPr id="9" name="Text 7"/>
          <p:cNvSpPr txBox="1"/>
          <p:nvPr/>
        </p:nvSpPr>
        <p:spPr>
          <a:xfrm>
            <a:off x="548640" y="4133088"/>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サンドボックス分離の強制</a:t>
            </a:r>
            <a:endParaRPr lang="en-US" sz="1000" dirty="0"/>
          </a:p>
        </p:txBody>
      </p:sp>
      <p:sp>
        <p:nvSpPr>
          <p:cNvPr id="10" name="Text 8"/>
          <p:cNvSpPr txBox="1"/>
          <p:nvPr/>
        </p:nvSpPr>
        <p:spPr>
          <a:xfrm>
            <a:off x="6583680" y="4133088"/>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sandbox.enabled</a:t>
            </a:r>
            <a:endParaRPr lang="en-US" sz="1000" dirty="0"/>
          </a:p>
        </p:txBody>
      </p:sp>
      <p:sp>
        <p:nvSpPr>
          <p:cNvPr id="11" name="Text 9"/>
          <p:cNvSpPr txBox="1"/>
          <p:nvPr/>
        </p:nvSpPr>
        <p:spPr>
          <a:xfrm>
            <a:off x="548640" y="4517136"/>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コードスタイル・データ取扱いの注意</a:t>
            </a:r>
            <a:endParaRPr lang="en-US" sz="1000" dirty="0"/>
          </a:p>
        </p:txBody>
      </p:sp>
      <p:sp>
        <p:nvSpPr>
          <p:cNvPr id="12" name="Text 10"/>
          <p:cNvSpPr txBox="1"/>
          <p:nvPr/>
        </p:nvSpPr>
        <p:spPr>
          <a:xfrm>
            <a:off x="6583680" y="4517136"/>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3" name="Text 11"/>
          <p:cNvSpPr txBox="1"/>
          <p:nvPr/>
        </p:nvSpPr>
        <p:spPr>
          <a:xfrm>
            <a:off x="548640" y="4901184"/>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Claudeへの行動指示</a:t>
            </a:r>
            <a:endParaRPr lang="en-US" sz="1000" dirty="0"/>
          </a:p>
        </p:txBody>
      </p:sp>
      <p:sp>
        <p:nvSpPr>
          <p:cNvPr id="14" name="Text 12"/>
          <p:cNvSpPr txBox="1"/>
          <p:nvPr/>
        </p:nvSpPr>
        <p:spPr>
          <a:xfrm>
            <a:off x="6583680" y="4901184"/>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5" name="Text 13"/>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設定(settings)はClaudeの判断に関わらずクライアント側で強制されるが、CLAUDE.mdは行動を方向づけるのみで強制レイヤーではない</a:t>
            </a:r>
            <a:endParaRPr lang="en-US" sz="1000" dirty="0"/>
          </a:p>
        </p:txBody>
      </p:sp>
      <p:sp>
        <p:nvSpPr>
          <p:cNvPr id="16" name="Text 14"/>
          <p:cNvSpPr txBox="1"/>
          <p:nvPr/>
        </p:nvSpPr>
        <p:spPr>
          <a:xfrm>
            <a:off x="548640" y="5806440"/>
            <a:ext cx="10607040" cy="64008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claudeMdExcludes: モノレポで他チームのCLAUDE.md/rulesをglobパターンで除外可能(user/project/local/managedいずれの設定層でも指定可、配列はレイヤーをまたいでマージされる)。Managed policyのCLAUDE.mdだけは除外不可</a:t>
            </a:r>
            <a:endParaRPr lang="en-US" sz="10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深掘り⑦: AGENTS.md との関係</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デフォルトの読み込み優先順位</a:t>
            </a:r>
            <a:endParaRPr lang="en-US" sz="1250" dirty="0"/>
          </a:p>
        </p:txBody>
      </p:sp>
      <p:sp>
        <p:nvSpPr>
          <p:cNvPr id="5" name="Text 3"/>
          <p:cNvSpPr txBox="1"/>
          <p:nvPr/>
        </p:nvSpPr>
        <p:spPr>
          <a:xfrm>
            <a:off x="548640" y="1737360"/>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AGENTS.mdのみ、CLAUDE.md/.local.mdなし</a:t>
            </a:r>
            <a:endParaRPr lang="en-US" sz="1000" dirty="0"/>
          </a:p>
        </p:txBody>
      </p:sp>
      <p:sp>
        <p:nvSpPr>
          <p:cNvPr id="6" name="Text 4"/>
          <p:cNvSpPr txBox="1"/>
          <p:nvPr/>
        </p:nvSpPr>
        <p:spPr>
          <a:xfrm>
            <a:off x="6766560" y="1737360"/>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AGENTS.mdを読む</a:t>
            </a:r>
            <a:endParaRPr lang="en-US" sz="1000" dirty="0"/>
          </a:p>
        </p:txBody>
      </p:sp>
      <p:sp>
        <p:nvSpPr>
          <p:cNvPr id="7" name="Text 5"/>
          <p:cNvSpPr txBox="1"/>
          <p:nvPr/>
        </p:nvSpPr>
        <p:spPr>
          <a:xfrm>
            <a:off x="548640" y="2304288"/>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AGENTS.mdとCLAUDE.md/.local.mdが両方存在</a:t>
            </a:r>
            <a:endParaRPr lang="en-US" sz="1000" dirty="0"/>
          </a:p>
        </p:txBody>
      </p:sp>
      <p:sp>
        <p:nvSpPr>
          <p:cNvPr id="8" name="Text 6"/>
          <p:cNvSpPr txBox="1"/>
          <p:nvPr/>
        </p:nvSpPr>
        <p:spPr>
          <a:xfrm>
            <a:off x="6766560" y="2304288"/>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CLAUDE.mdのみ読む(AGENTS.mdは無視)</a:t>
            </a:r>
            <a:endParaRPr lang="en-US" sz="1000" dirty="0"/>
          </a:p>
        </p:txBody>
      </p:sp>
      <p:sp>
        <p:nvSpPr>
          <p:cNvPr id="9" name="Text 7"/>
          <p:cNvSpPr txBox="1"/>
          <p:nvPr/>
        </p:nvSpPr>
        <p:spPr>
          <a:xfrm>
            <a:off x="548640" y="2871216"/>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CLAUDE.mdが既に@AGENTS.mdをインポート済み</a:t>
            </a:r>
            <a:endParaRPr lang="en-US" sz="1000" dirty="0"/>
          </a:p>
        </p:txBody>
      </p:sp>
      <p:sp>
        <p:nvSpPr>
          <p:cNvPr id="10" name="Text 8"/>
          <p:cNvSpPr txBox="1"/>
          <p:nvPr/>
        </p:nvSpPr>
        <p:spPr>
          <a:xfrm>
            <a:off x="6766560" y="2871216"/>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CLAUDE.md経由でAGENTS.mdの内容も含めて読む</a:t>
            </a:r>
            <a:endParaRPr lang="en-US" sz="1000" dirty="0"/>
          </a:p>
        </p:txBody>
      </p:sp>
      <p:sp>
        <p:nvSpPr>
          <p:cNvPr id="11" name="Text 9"/>
          <p:cNvSpPr txBox="1"/>
          <p:nvPr/>
        </p:nvSpPr>
        <p:spPr>
          <a:xfrm>
            <a:off x="548640" y="356616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/config の Project instructions 設定値</a:t>
            </a:r>
            <a:endParaRPr lang="en-US" sz="1250" dirty="0"/>
          </a:p>
        </p:txBody>
      </p:sp>
      <p:sp>
        <p:nvSpPr>
          <p:cNvPr id="12" name="Text 10"/>
          <p:cNvSpPr txBox="1"/>
          <p:nvPr/>
        </p:nvSpPr>
        <p:spPr>
          <a:xfrm>
            <a:off x="548640" y="3931920"/>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claude-md-or-agents-md(既定)</a:t>
            </a:r>
            <a:endParaRPr lang="en-US" sz="900" dirty="0"/>
          </a:p>
        </p:txBody>
      </p:sp>
      <p:sp>
        <p:nvSpPr>
          <p:cNvPr id="13" name="Text 11"/>
          <p:cNvSpPr txBox="1"/>
          <p:nvPr/>
        </p:nvSpPr>
        <p:spPr>
          <a:xfrm>
            <a:off x="4297680" y="3931920"/>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CLAUDE.mdがあればそれを、無ければAGENTS.mdを読む</a:t>
            </a:r>
            <a:endParaRPr lang="en-US" sz="950" dirty="0"/>
          </a:p>
        </p:txBody>
      </p:sp>
      <p:sp>
        <p:nvSpPr>
          <p:cNvPr id="14" name="Text 12"/>
          <p:cNvSpPr txBox="1"/>
          <p:nvPr/>
        </p:nvSpPr>
        <p:spPr>
          <a:xfrm>
            <a:off x="548640" y="4370832"/>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claude-md-and-agents-md</a:t>
            </a:r>
            <a:endParaRPr lang="en-US" sz="900" dirty="0"/>
          </a:p>
        </p:txBody>
      </p:sp>
      <p:sp>
        <p:nvSpPr>
          <p:cNvPr id="15" name="Text 13"/>
          <p:cNvSpPr txBox="1"/>
          <p:nvPr/>
        </p:nvSpPr>
        <p:spPr>
          <a:xfrm>
            <a:off x="4297680" y="4370832"/>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両方読む(各ディレクトリでCLAUDE.md→AGENTS.mdの順)</a:t>
            </a:r>
            <a:endParaRPr lang="en-US" sz="950" dirty="0"/>
          </a:p>
        </p:txBody>
      </p:sp>
      <p:sp>
        <p:nvSpPr>
          <p:cNvPr id="16" name="Text 14"/>
          <p:cNvSpPr txBox="1"/>
          <p:nvPr/>
        </p:nvSpPr>
        <p:spPr>
          <a:xfrm>
            <a:off x="548640" y="4809744"/>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t>
            </a:r>
            <a:endParaRPr lang="en-US" sz="900" dirty="0"/>
          </a:p>
        </p:txBody>
      </p:sp>
      <p:sp>
        <p:nvSpPr>
          <p:cNvPr id="17" name="Text 15"/>
          <p:cNvSpPr txBox="1"/>
          <p:nvPr/>
        </p:nvSpPr>
        <p:spPr>
          <a:xfrm>
            <a:off x="4297680" y="4809744"/>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CLAUDE.mdのみ</a:t>
            </a:r>
            <a:endParaRPr lang="en-US" sz="950" dirty="0"/>
          </a:p>
        </p:txBody>
      </p:sp>
      <p:sp>
        <p:nvSpPr>
          <p:cNvPr id="18" name="Text 16"/>
          <p:cNvSpPr txBox="1"/>
          <p:nvPr/>
        </p:nvSpPr>
        <p:spPr>
          <a:xfrm>
            <a:off x="548640" y="5248656"/>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managed-only</a:t>
            </a:r>
            <a:endParaRPr lang="en-US" sz="900" dirty="0"/>
          </a:p>
        </p:txBody>
      </p:sp>
      <p:sp>
        <p:nvSpPr>
          <p:cNvPr id="19" name="Text 17"/>
          <p:cNvSpPr txBox="1"/>
          <p:nvPr/>
        </p:nvSpPr>
        <p:spPr>
          <a:xfrm>
            <a:off x="4297680" y="5248656"/>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組織のManaged CLAUDE.mdと自動メモリのみ(rules/AGENTS.md等は全て除外)</a:t>
            </a:r>
            <a:endParaRPr lang="en-US" sz="950" dirty="0"/>
          </a:p>
        </p:txBody>
      </p:sp>
      <p:sp>
        <p:nvSpPr>
          <p:cNvPr id="20" name="Text 18"/>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AGENTS.mdはCLAUDE.mdと違いInstructionsLoadedフックが発火しない、--add-dir経由での追加読込もされない、という差異がある。v2.1.277以降が必要</a:t>
            </a:r>
            <a:endParaRPr lang="en-US" sz="95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深掘り⑧: 自動メモリの内部動作とトラブル対処</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Auto Memoryの4種類 &amp; 保存の判断基準</a:t>
            </a:r>
            <a:endParaRPr lang="en-US" sz="1200" dirty="0"/>
          </a:p>
        </p:txBody>
      </p:sp>
      <p:sp>
        <p:nvSpPr>
          <p:cNvPr id="5" name="Text 3"/>
          <p:cNvSpPr txBox="1"/>
          <p:nvPr/>
        </p:nvSpPr>
        <p:spPr>
          <a:xfrm>
            <a:off x="548640" y="1737360"/>
            <a:ext cx="5120640" cy="29260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user/feedback/project/reference の4type。コードから読み取れる情報やCLAUDE.mdに既にある情報は保存しない</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MEMORY.md(索引)は先頭200行 or 25KBのみ起動時ロード。超過分は次回ロードされないため、Claudeは超過時に書き直しを促される</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トピック別ファイルは起動時にロードされず、必要時にClaudeが読みに行く</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サブエージェントには基本継承されない(例外: forkは親の会話ごと継承)</a:t>
            </a:r>
            <a:endParaRPr lang="en-US" sz="95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トラブルシューティング</a:t>
            </a:r>
            <a:endParaRPr lang="en-US" sz="1200" dirty="0"/>
          </a:p>
        </p:txBody>
      </p:sp>
      <p:sp>
        <p:nvSpPr>
          <p:cNvPr id="7" name="Text 5"/>
          <p:cNvSpPr txBox="1"/>
          <p:nvPr/>
        </p:nvSpPr>
        <p:spPr>
          <a:xfrm>
            <a:off x="5852160" y="1737360"/>
            <a:ext cx="5303520" cy="3840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指示が守られない→/contextでMemory files欄を確認、指示をより具体的に、矛盾を探す。コミット/PRルールはClaude Code組み込みの既定指示と競合しうる(includeGitInstructions等で調整)</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AGENTS.mdが読まれない→作業ディレクトリ上位にCLAUDE.md/.local.mdが無いか確認→claude --versionがv2.1.277以降か確認→/configでclaude-md/managed-onlyになっていないか確認</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CLAUDE.mdが大きすぎる→200行超で警告。4MiB超のファイルはロードされない。path-scoped rulesへ分割</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/compact後に指示が消えた→プロジェクトルートのCLAUDE.mdはディスクから再読込されるが、ネストしたCLAUDE.mdやpath-scoped rulesは該当ファイルを開くまで再ロードされない</a:t>
            </a:r>
            <a:endParaRPr lang="en-US" sz="900" dirty="0"/>
          </a:p>
        </p:txBody>
      </p:sp>
      <p:sp>
        <p:nvSpPr>
          <p:cNvPr id="8" name="Text 6"/>
          <p:cNvSpPr txBox="1"/>
          <p:nvPr/>
        </p:nvSpPr>
        <p:spPr>
          <a:xfrm>
            <a:off x="548640" y="5806440"/>
            <a:ext cx="10607040" cy="54864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特定の時点で必ず実行したい処理(コミット前など)はCLAUDE.mdでなくHookで実装する — Hookはシェルコマンドとして固定のライフサイクルイベントで実行され、Claudeの判断に関係なく適用される</a:t>
            </a:r>
            <a:endParaRPr lang="en-US" sz="950" dirty="0"/>
          </a:p>
        </p:txBody>
      </p:sp>
      <p:sp>
        <p:nvSpPr>
          <p:cNvPr id="9" name="Text 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(1/3)</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Claude Camp最終回・Anthony &amp; Maya・89分</a:t>
            </a:r>
            <a:endParaRPr lang="en-US" sz="1150" dirty="0"/>
          </a:p>
        </p:txBody>
      </p:sp>
      <p:sp>
        <p:nvSpPr>
          <p:cNvPr id="5" name="Text 3"/>
          <p:cNvSpPr txBox="1"/>
          <p:nvPr/>
        </p:nvSpPr>
        <p:spPr>
          <a:xfrm>
            <a:off x="548640" y="1783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エージェントとは何か</a:t>
            </a:r>
            <a:endParaRPr lang="en-US" sz="1350" dirty="0"/>
          </a:p>
        </p:txBody>
      </p:sp>
      <p:sp>
        <p:nvSpPr>
          <p:cNvPr id="6" name="Text 4"/>
          <p:cNvSpPr txBox="1"/>
          <p:nvPr/>
        </p:nvSpPr>
        <p:spPr>
          <a:xfrm>
            <a:off x="548640" y="2103120"/>
            <a:ext cx="10607040" cy="73152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2022〜23年 = テキスト入出力のチャットボットの時代。2024年〜 = 「エージェント」の時代、モデルがゴール達成のためツールをループで呼び出す。Claude Code自体は、2024年末のハッカソンでAnthropicの「Boris」氏が作ったプロジェクトが起源</a:t>
            </a:r>
            <a:endParaRPr lang="en-US" sz="1150" dirty="0"/>
          </a:p>
        </p:txBody>
      </p:sp>
      <p:sp>
        <p:nvSpPr>
          <p:cNvPr id="7" name="Text 5"/>
          <p:cNvSpPr txBox="1"/>
          <p:nvPr/>
        </p:nvSpPr>
        <p:spPr>
          <a:xfrm>
            <a:off x="548640" y="292608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使用時の4原則</a:t>
            </a:r>
            <a:endParaRPr lang="en-US" sz="1350" dirty="0"/>
          </a:p>
        </p:txBody>
      </p:sp>
      <p:sp>
        <p:nvSpPr>
          <p:cNvPr id="8" name="Text 6"/>
          <p:cNvSpPr txBox="1"/>
          <p:nvPr/>
        </p:nvSpPr>
        <p:spPr>
          <a:xfrm>
            <a:off x="548640" y="324612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人間の判断をループに残す(全面的に信頼しない)</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事前に「成功」を定義する(曖昧な指示を避ける)</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最初の出力は「下書き」として扱う</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十分な指示を与える(Claudeは心を読めない)</a:t>
            </a:r>
            <a:endParaRPr lang="en-US" sz="1100" dirty="0"/>
          </a:p>
        </p:txBody>
      </p:sp>
      <p:sp>
        <p:nvSpPr>
          <p:cNvPr id="9" name="Text 7"/>
          <p:cNvSpPr txBox="1"/>
          <p:nvPr/>
        </p:nvSpPr>
        <p:spPr>
          <a:xfrm>
            <a:off x="5852160" y="292608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モデルの使い分け</a:t>
            </a:r>
            <a:endParaRPr lang="en-US" sz="1350" dirty="0"/>
          </a:p>
        </p:txBody>
      </p:sp>
      <p:sp>
        <p:nvSpPr>
          <p:cNvPr id="10" name="Text 8"/>
          <p:cNvSpPr txBox="1"/>
          <p:nvPr/>
        </p:nvSpPr>
        <p:spPr>
          <a:xfrm>
            <a:off x="5852160" y="3246120"/>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Haiku</a:t>
            </a:r>
            <a:endParaRPr lang="en-US" sz="1100" dirty="0"/>
          </a:p>
        </p:txBody>
      </p:sp>
      <p:sp>
        <p:nvSpPr>
          <p:cNvPr id="11" name="Text 9"/>
          <p:cNvSpPr txBox="1"/>
          <p:nvPr/>
        </p:nvSpPr>
        <p:spPr>
          <a:xfrm>
            <a:off x="731520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最速・最安</a:t>
            </a:r>
            <a:endParaRPr lang="en-US" sz="1050" dirty="0"/>
          </a:p>
        </p:txBody>
      </p:sp>
      <p:sp>
        <p:nvSpPr>
          <p:cNvPr id="12" name="Text 10"/>
          <p:cNvSpPr txBox="1"/>
          <p:nvPr/>
        </p:nvSpPr>
        <p:spPr>
          <a:xfrm>
            <a:off x="923544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単純作業</a:t>
            </a:r>
            <a:endParaRPr lang="en-US" sz="1050" dirty="0"/>
          </a:p>
        </p:txBody>
      </p:sp>
      <p:sp>
        <p:nvSpPr>
          <p:cNvPr id="13" name="Text 11"/>
          <p:cNvSpPr txBox="1"/>
          <p:nvPr/>
        </p:nvSpPr>
        <p:spPr>
          <a:xfrm>
            <a:off x="5852160" y="3630168"/>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Sonnet</a:t>
            </a:r>
            <a:endParaRPr lang="en-US" sz="1100" dirty="0"/>
          </a:p>
        </p:txBody>
      </p:sp>
      <p:sp>
        <p:nvSpPr>
          <p:cNvPr id="14" name="Text 12"/>
          <p:cNvSpPr txBox="1"/>
          <p:nvPr/>
        </p:nvSpPr>
        <p:spPr>
          <a:xfrm>
            <a:off x="731520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バランス型</a:t>
            </a:r>
            <a:endParaRPr lang="en-US" sz="1050" dirty="0"/>
          </a:p>
        </p:txBody>
      </p:sp>
      <p:sp>
        <p:nvSpPr>
          <p:cNvPr id="15" name="Text 13"/>
          <p:cNvSpPr txBox="1"/>
          <p:nvPr/>
        </p:nvSpPr>
        <p:spPr>
          <a:xfrm>
            <a:off x="923544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標準的な作業</a:t>
            </a:r>
            <a:endParaRPr lang="en-US" sz="1050" dirty="0"/>
          </a:p>
        </p:txBody>
      </p:sp>
      <p:sp>
        <p:nvSpPr>
          <p:cNvPr id="16" name="Text 14"/>
          <p:cNvSpPr txBox="1"/>
          <p:nvPr/>
        </p:nvSpPr>
        <p:spPr>
          <a:xfrm>
            <a:off x="5852160" y="4014216"/>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Opus</a:t>
            </a:r>
            <a:endParaRPr lang="en-US" sz="1100" dirty="0"/>
          </a:p>
        </p:txBody>
      </p:sp>
      <p:sp>
        <p:nvSpPr>
          <p:cNvPr id="17" name="Text 15"/>
          <p:cNvSpPr txBox="1"/>
          <p:nvPr/>
        </p:nvSpPr>
        <p:spPr>
          <a:xfrm>
            <a:off x="731520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主力モデル</a:t>
            </a:r>
            <a:endParaRPr lang="en-US" sz="1050" dirty="0"/>
          </a:p>
        </p:txBody>
      </p:sp>
      <p:sp>
        <p:nvSpPr>
          <p:cNvPr id="18" name="Text 16"/>
          <p:cNvSpPr txBox="1"/>
          <p:nvPr/>
        </p:nvSpPr>
        <p:spPr>
          <a:xfrm>
            <a:off x="923544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複雑な開発</a:t>
            </a:r>
            <a:endParaRPr lang="en-US" sz="1050" dirty="0"/>
          </a:p>
        </p:txBody>
      </p:sp>
      <p:sp>
        <p:nvSpPr>
          <p:cNvPr id="19" name="Text 17"/>
          <p:cNvSpPr txBox="1"/>
          <p:nvPr/>
        </p:nvSpPr>
        <p:spPr>
          <a:xfrm>
            <a:off x="5852160" y="4398264"/>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Fable</a:t>
            </a:r>
            <a:endParaRPr lang="en-US" sz="1100" dirty="0"/>
          </a:p>
        </p:txBody>
      </p:sp>
      <p:sp>
        <p:nvSpPr>
          <p:cNvPr id="20" name="Text 18"/>
          <p:cNvSpPr txBox="1"/>
          <p:nvPr/>
        </p:nvSpPr>
        <p:spPr>
          <a:xfrm>
            <a:off x="731520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最高性能・高コスト</a:t>
            </a:r>
            <a:endParaRPr lang="en-US" sz="1050" dirty="0"/>
          </a:p>
        </p:txBody>
      </p:sp>
      <p:sp>
        <p:nvSpPr>
          <p:cNvPr id="21" name="Text 19"/>
          <p:cNvSpPr txBox="1"/>
          <p:nvPr/>
        </p:nvSpPr>
        <p:spPr>
          <a:xfrm>
            <a:off x="923544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新規構想・複雑な戦略</a:t>
            </a:r>
            <a:endParaRPr lang="en-US" sz="1050" dirty="0"/>
          </a:p>
        </p:txBody>
      </p:sp>
      <p:sp>
        <p:nvSpPr>
          <p:cNvPr id="22" name="Text 20"/>
          <p:cNvSpPr txBox="1"/>
          <p:nvPr/>
        </p:nvSpPr>
        <p:spPr>
          <a:xfrm>
            <a:off x="548640" y="5120640"/>
            <a:ext cx="10607040" cy="731520"/>
          </a:xfrm>
          <a:prstGeom prst="rect">
            <a:avLst/>
          </a:prstGeom>
          <a:noFill/>
          <a:ln/>
        </p:spPr>
        <p:txBody>
          <a:bodyPr wrap="square" lIns="0" tIns="0" rIns="0" bIns="0" rtlCol="0" anchor="ctr"/>
          <a:lstStyle/>
          <a:p>
            <a:pPr indent="0" marL="0">
              <a:buNone/>
            </a:pPr>
            <a:r>
              <a:rPr lang="en-US" sz="1100" dirty="0">
                <a:solidFill>
                  <a:srgbClr val="C9C5BD"/>
                </a:solidFill>
                <a:latin typeface="Calibri" pitchFamily="34" charset="0"/>
                <a:ea typeface="Calibri" pitchFamily="34" charset="-122"/>
                <a:cs typeface="Calibri" pitchFamily="34" charset="-120"/>
              </a:rPr>
              <a:t>従来の開発プロセス(数日かかるコード理解・手動テスト作成)から、対話による理解の高速化・自動コード生成とテストループ・相互レビューへ加速される、という位置づけ</a:t>
            </a:r>
            <a:endParaRPr lang="en-US" sz="1100" dirty="0"/>
          </a:p>
        </p:txBody>
      </p:sp>
      <p:sp>
        <p:nvSpPr>
          <p:cNvPr id="23" name="Text 2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4" name="Text 2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Getting Started with Claude Code (2/3)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CLAUDE.mdの階層構造</a:t>
            </a:r>
            <a:endParaRPr lang="en-US" sz="1350" dirty="0"/>
          </a:p>
        </p:txBody>
      </p:sp>
      <p:sp>
        <p:nvSpPr>
          <p:cNvPr id="5" name="Shape 3"/>
          <p:cNvSpPr/>
          <p:nvPr/>
        </p:nvSpPr>
        <p:spPr>
          <a:xfrm>
            <a:off x="548640" y="1783080"/>
            <a:ext cx="5120640" cy="1371600"/>
          </a:xfrm>
          <a:prstGeom prst="roundRect">
            <a:avLst>
              <a:gd name="adj" fmla="val 5333"/>
            </a:avLst>
          </a:prstGeom>
          <a:solidFill>
            <a:srgbClr val="F7F5F2"/>
          </a:solidFill>
          <a:ln w="12700">
            <a:solidFill>
              <a:srgbClr val="E5E2DC"/>
            </a:solidFill>
            <a:prstDash val="solid"/>
          </a:ln>
        </p:spPr>
      </p:sp>
      <p:sp>
        <p:nvSpPr>
          <p:cNvPr id="6" name="Text 4"/>
          <p:cNvSpPr txBox="1"/>
          <p:nvPr/>
        </p:nvSpPr>
        <p:spPr>
          <a:xfrm>
            <a:off x="731520" y="1920240"/>
            <a:ext cx="4754880" cy="1097280"/>
          </a:xfrm>
          <a:prstGeom prst="rect">
            <a:avLst/>
          </a:prstGeom>
          <a:noFill/>
          <a:ln/>
        </p:spPr>
        <p:txBody>
          <a:bodyPr wrap="square" lIns="0" tIns="0" rIns="0" bIns="0" rtlCol="0" anchor="ctr"/>
          <a:lstStyle/>
          <a:p>
            <a:pPr indent="0" marL="0">
              <a:buNone/>
            </a:pPr>
            <a:r>
              <a:rPr lang="en-US" sz="1050" dirty="0">
                <a:solidFill>
                  <a:srgbClr val="1F1E1D"/>
                </a:solidFill>
                <a:latin typeface="Courier New" pitchFamily="34" charset="0"/>
                <a:ea typeface="Courier New" pitchFamily="34" charset="-122"/>
                <a:cs typeface="Courier New" pitchFamily="34" charset="-120"/>
              </a:rPr>
              <a:t>~/.claude/claude.md (個人設定)</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/project/claude.md (プロジェクト全体)</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/project/subdir/claude.md (機能別設定)</a:t>
            </a:r>
            <a:endParaRPr lang="en-US" sz="1050" dirty="0"/>
          </a:p>
        </p:txBody>
      </p:sp>
      <p:sp>
        <p:nvSpPr>
          <p:cNvPr id="7" name="Text 5"/>
          <p:cNvSpPr txBox="1"/>
          <p:nvPr/>
        </p:nvSpPr>
        <p:spPr>
          <a:xfrm>
            <a:off x="548640" y="3291840"/>
            <a:ext cx="51206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/init で自動生成されるため手動作成は不要。プロジェクトの言語・モジュール関係・規約を自動記録</a:t>
            </a:r>
            <a:endParaRPr lang="en-US" sz="1050" dirty="0"/>
          </a:p>
        </p:txBody>
      </p:sp>
      <p:sp>
        <p:nvSpPr>
          <p:cNvPr id="8" name="Text 6"/>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権限モード(自由度の低い順)</a:t>
            </a:r>
            <a:endParaRPr lang="en-US" sz="1350" dirty="0"/>
          </a:p>
        </p:txBody>
      </p:sp>
      <p:sp>
        <p:nvSpPr>
          <p:cNvPr id="9" name="Text 7"/>
          <p:cNvSpPr txBox="1"/>
          <p:nvPr/>
        </p:nvSpPr>
        <p:spPr>
          <a:xfrm>
            <a:off x="5852160" y="1783080"/>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Plan Mode</a:t>
            </a:r>
            <a:endParaRPr lang="en-US" sz="1150" dirty="0"/>
          </a:p>
        </p:txBody>
      </p:sp>
      <p:sp>
        <p:nvSpPr>
          <p:cNvPr id="10" name="Text 8"/>
          <p:cNvSpPr txBox="1"/>
          <p:nvPr/>
        </p:nvSpPr>
        <p:spPr>
          <a:xfrm>
            <a:off x="7406640" y="1783080"/>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実行前に計画→承認。複雑・高リスクな機能向け</a:t>
            </a:r>
            <a:endParaRPr lang="en-US" sz="1000" dirty="0"/>
          </a:p>
        </p:txBody>
      </p:sp>
      <p:sp>
        <p:nvSpPr>
          <p:cNvPr id="11" name="Text 9"/>
          <p:cNvSpPr txBox="1"/>
          <p:nvPr/>
        </p:nvSpPr>
        <p:spPr>
          <a:xfrm>
            <a:off x="5852160" y="2313432"/>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Approve</a:t>
            </a:r>
            <a:endParaRPr lang="en-US" sz="1150" dirty="0"/>
          </a:p>
        </p:txBody>
      </p:sp>
      <p:sp>
        <p:nvSpPr>
          <p:cNvPr id="12" name="Text 10"/>
          <p:cNvSpPr txBox="1"/>
          <p:nvPr/>
        </p:nvSpPr>
        <p:spPr>
          <a:xfrm>
            <a:off x="7406640" y="2313432"/>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変更ごとに明示承認。学習段階・重要な変更向け</a:t>
            </a:r>
            <a:endParaRPr lang="en-US" sz="1000" dirty="0"/>
          </a:p>
        </p:txBody>
      </p:sp>
      <p:sp>
        <p:nvSpPr>
          <p:cNvPr id="13" name="Text 11"/>
          <p:cNvSpPr txBox="1"/>
          <p:nvPr/>
        </p:nvSpPr>
        <p:spPr>
          <a:xfrm>
            <a:off x="5852160" y="2843784"/>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Auto</a:t>
            </a:r>
            <a:endParaRPr lang="en-US" sz="1150" dirty="0"/>
          </a:p>
        </p:txBody>
      </p:sp>
      <p:sp>
        <p:nvSpPr>
          <p:cNvPr id="14" name="Text 12"/>
          <p:cNvSpPr txBox="1"/>
          <p:nvPr/>
        </p:nvSpPr>
        <p:spPr>
          <a:xfrm>
            <a:off x="7406640" y="2843784"/>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自動実行(デフォルト)。通常業務・スケール向け</a:t>
            </a:r>
            <a:endParaRPr lang="en-US" sz="1000" dirty="0"/>
          </a:p>
        </p:txBody>
      </p:sp>
      <p:sp>
        <p:nvSpPr>
          <p:cNvPr id="15" name="Text 13"/>
          <p:cNvSpPr txBox="1"/>
          <p:nvPr/>
        </p:nvSpPr>
        <p:spPr>
          <a:xfrm>
            <a:off x="5852160" y="3374136"/>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YOLO</a:t>
            </a:r>
            <a:endParaRPr lang="en-US" sz="1150" dirty="0"/>
          </a:p>
        </p:txBody>
      </p:sp>
      <p:sp>
        <p:nvSpPr>
          <p:cNvPr id="16" name="Text 14"/>
          <p:cNvSpPr txBox="1"/>
          <p:nvPr/>
        </p:nvSpPr>
        <p:spPr>
          <a:xfrm>
            <a:off x="7406640" y="3374136"/>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全自動・無承認。使い捨て環境限定</a:t>
            </a:r>
            <a:endParaRPr lang="en-US" sz="1000" dirty="0"/>
          </a:p>
        </p:txBody>
      </p:sp>
      <p:sp>
        <p:nvSpPr>
          <p:cNvPr id="17" name="Text 15"/>
          <p:cNvSpPr txBox="1"/>
          <p:nvPr/>
        </p:nvSpPr>
        <p:spPr>
          <a:xfrm>
            <a:off x="5852160" y="3931920"/>
            <a:ext cx="5303520" cy="118872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重要な指摘(引用): 「全て自動承認するモードの方が、ユーザーが逐一承認するモードより実は安全」— 逐一承認するユーザーは“機械的な承認(rubber-stamp)”に陥り、危険な操作を見逃しがちという調査結果</a:t>
            </a:r>
            <a:endParaRPr lang="en-US" sz="1000" dirty="0"/>
          </a:p>
        </p:txBody>
      </p:sp>
      <p:sp>
        <p:nvSpPr>
          <p:cNvPr id="18" name="Text 16"/>
          <p:cNvSpPr txBox="1"/>
          <p:nvPr/>
        </p:nvSpPr>
        <p:spPr>
          <a:xfrm>
            <a:off x="548640" y="521208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プロンプトの具体性が効率を左右する(例: テスト修正)</a:t>
            </a:r>
            <a:endParaRPr lang="en-US" sz="1250" dirty="0"/>
          </a:p>
        </p:txBody>
      </p:sp>
      <p:sp>
        <p:nvSpPr>
          <p:cNvPr id="19" name="Text 17"/>
          <p:cNvSpPr txBox="1"/>
          <p:nvPr/>
        </p:nvSpPr>
        <p:spPr>
          <a:xfrm>
            <a:off x="548640" y="5532120"/>
            <a:ext cx="10607040" cy="64008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❌曖昧: 「失敗しているテストを直して」→解釈の余地が大きく、テスト自体を書き換えられることも　✓具体的: 「/tests/session.test.jsのテストが失敗している。実行して実装コード(テストではない)を直し、全テストが通ったら報告して」</a:t>
            </a:r>
            <a:endParaRPr lang="en-US" sz="10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(3/3)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コンテキスト管理 / チェックポイント</a:t>
            </a:r>
            <a:endParaRPr lang="en-US" sz="1300" dirty="0"/>
          </a:p>
        </p:txBody>
      </p:sp>
      <p:sp>
        <p:nvSpPr>
          <p:cNvPr id="5" name="Text 3"/>
          <p:cNvSpPr txBox="1"/>
          <p:nvPr/>
        </p:nvSpPr>
        <p:spPr>
          <a:xfrm>
            <a:off x="548640" y="1783080"/>
            <a:ext cx="512064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積み上げ順: システムプロンプト→ツール定義→CLAUDE.md等→会話履歴</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対処法: 自動要約 / /compact(要約作成) / /clear(全リセット) / Escape(中断)</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キャッシュ: 短時間で同モデルを連続利用すると有効化。モデル/effort/モード変更や5分〜1時間の空白で失効</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チェックポイント: 各ターンの前後でファイル状態・会話を自動保存。Escape×2 か /rewind で復元(⚠️手動編集は記録されない)</a:t>
            </a:r>
            <a:endParaRPr lang="en-US" sz="1050" dirty="0"/>
          </a:p>
        </p:txBody>
      </p:sp>
      <p:sp>
        <p:nvSpPr>
          <p:cNvPr id="6" name="Text 4"/>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Skill / MCP</a:t>
            </a:r>
            <a:endParaRPr lang="en-US" sz="1300" dirty="0"/>
          </a:p>
        </p:txBody>
      </p:sp>
      <p:sp>
        <p:nvSpPr>
          <p:cNvPr id="7" name="Text 5"/>
          <p:cNvSpPr txBox="1"/>
          <p:nvPr/>
        </p:nvSpPr>
        <p:spPr>
          <a:xfrm>
            <a:off x="5852160" y="17830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Skill = skill.md + 参考ファイル + アセットのフォルダ。自然言語で「〇〇のskillを作って」と頼むだけで自動生成できる</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MCP = 外部システム(ファイル/SharePoint/Jira/GitHub/Slack/DB等)へ安全に接続する標準プロトコル</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組み込みレビューSkill: /code-review(コード品質)、/security-review(脆弱性)、/simplify(重複排除・簡素化)</a:t>
            </a:r>
            <a:endParaRPr lang="en-US" sz="1050" dirty="0"/>
          </a:p>
        </p:txBody>
      </p:sp>
      <p:sp>
        <p:nvSpPr>
          <p:cNvPr id="8" name="Text 6"/>
          <p:cNvSpPr txBox="1"/>
          <p:nvPr/>
        </p:nvSpPr>
        <p:spPr>
          <a:xfrm>
            <a:off x="548640" y="42976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ベストプラクティス・チェックリスト(要点)</a:t>
            </a:r>
            <a:endParaRPr lang="en-US" sz="1300" dirty="0"/>
          </a:p>
        </p:txBody>
      </p:sp>
      <p:sp>
        <p:nvSpPr>
          <p:cNvPr id="9" name="Text 7"/>
          <p:cNvSpPr txBox="1"/>
          <p:nvPr/>
        </p:nvSpPr>
        <p:spPr>
          <a:xfrm>
            <a:off x="548640" y="4617720"/>
            <a:ext cx="10607040" cy="155448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開始時: /initでCLAUDE.md生成・規約を明記・モデルを明示選択(デフォルトOpus推奨) / 実行時: 複雑ならPlan Modeへ切替・@fileで対象ファイル固定 / 効率化: 出力スタイルをConcise化・5分以内はキャッシュ活用・自然な区切りで/compact / リスク回避: 承認前に/rewindで履歴確認・本番はApprove Mode検討 / 再利用: よく使う作業はSkill化しチームに共有</a:t>
            </a:r>
            <a:endParaRPr lang="en-US" sz="10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4</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Moving to the Frontier</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Max Kirby(Anthropic戦略責任者)・45分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AI進歩トレンドの3指標</a:t>
            </a:r>
            <a:endParaRPr lang="en-US" sz="1350" dirty="0"/>
          </a:p>
        </p:txBody>
      </p:sp>
      <p:sp>
        <p:nvSpPr>
          <p:cNvPr id="6" name="Text 4"/>
          <p:cNvSpPr txBox="1"/>
          <p:nvPr/>
        </p:nvSpPr>
        <p:spPr>
          <a:xfrm>
            <a:off x="548640" y="2057400"/>
            <a:ext cx="5120640" cy="21031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①指数関数的成長: 知能の向上が継続(現在は垂直上昇フェーズと判断)</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②エージェント持続性: 「Claudeは今や数ヶ月動き続けられる」。能力倍増の周期が7ヶ月→4ヶ月に短縮</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③トークンコスト削減: 年率10倍以上の低下。技術はまだ初期段階でさらなる下落が見込まれる</a:t>
            </a:r>
            <a:endParaRPr lang="en-US" sz="11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2つのビジネス戦略マインドセット</a:t>
            </a:r>
            <a:endParaRPr lang="en-US" sz="1350" dirty="0"/>
          </a:p>
        </p:txBody>
      </p:sp>
      <p:sp>
        <p:nvSpPr>
          <p:cNvPr id="8" name="Shape 6"/>
          <p:cNvSpPr/>
          <p:nvPr/>
        </p:nvSpPr>
        <p:spPr>
          <a:xfrm>
            <a:off x="5852160" y="2057400"/>
            <a:ext cx="5303520" cy="960120"/>
          </a:xfrm>
          <a:prstGeom prst="roundRect">
            <a:avLst>
              <a:gd name="adj" fmla="val 7619"/>
            </a:avLst>
          </a:prstGeom>
          <a:solidFill>
            <a:srgbClr val="F7F5F2"/>
          </a:solidFill>
          <a:ln w="12700">
            <a:solidFill>
              <a:srgbClr val="E5E2DC"/>
            </a:solidFill>
            <a:prstDash val="solid"/>
          </a:ln>
        </p:spPr>
      </p:sp>
      <p:sp>
        <p:nvSpPr>
          <p:cNvPr id="9" name="Text 7"/>
          <p:cNvSpPr txBox="1"/>
          <p:nvPr/>
        </p:nvSpPr>
        <p:spPr>
          <a:xfrm>
            <a:off x="6035040" y="219456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Innovation Mindset — 最新・最高性能モデルで、今まで不可能だった問題を解く</a:t>
            </a:r>
            <a:endParaRPr lang="en-US" sz="1050" dirty="0"/>
          </a:p>
        </p:txBody>
      </p:sp>
      <p:sp>
        <p:nvSpPr>
          <p:cNvPr id="10" name="Shape 8"/>
          <p:cNvSpPr/>
          <p:nvPr/>
        </p:nvSpPr>
        <p:spPr>
          <a:xfrm>
            <a:off x="5852160" y="3108960"/>
            <a:ext cx="5303520" cy="960120"/>
          </a:xfrm>
          <a:prstGeom prst="roundRect">
            <a:avLst>
              <a:gd name="adj" fmla="val 7619"/>
            </a:avLst>
          </a:prstGeom>
          <a:solidFill>
            <a:srgbClr val="F7F5F2"/>
          </a:solidFill>
          <a:ln w="12700">
            <a:solidFill>
              <a:srgbClr val="E5E2DC"/>
            </a:solidFill>
            <a:prstDash val="solid"/>
          </a:ln>
        </p:spPr>
      </p:sp>
      <p:sp>
        <p:nvSpPr>
          <p:cNvPr id="11" name="Text 9"/>
          <p:cNvSpPr txBox="1"/>
          <p:nvPr/>
        </p:nvSpPr>
        <p:spPr>
          <a:xfrm>
            <a:off x="6035040" y="324612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Diffusion Mindset — 安価なモデルでコスト効率を優先し、広範な普及を目指す</a:t>
            </a:r>
            <a:endParaRPr lang="en-US" sz="1050" dirty="0"/>
          </a:p>
        </p:txBody>
      </p:sp>
      <p:sp>
        <p:nvSpPr>
          <p:cNvPr id="12" name="Text 10"/>
          <p:cNvSpPr txBox="1"/>
          <p:nvPr/>
        </p:nvSpPr>
        <p:spPr>
          <a:xfrm>
            <a:off x="5852160" y="4160520"/>
            <a:ext cx="5303520" cy="3200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2つを混在させないことを強く推奨</a:t>
            </a:r>
            <a:endParaRPr lang="en-US" sz="1000" dirty="0"/>
          </a:p>
        </p:txBody>
      </p:sp>
      <p:sp>
        <p:nvSpPr>
          <p:cNvPr id="13" name="Text 11"/>
          <p:cNvSpPr txBox="1"/>
          <p:nvPr/>
        </p:nvSpPr>
        <p:spPr>
          <a:xfrm>
            <a:off x="548640" y="4389120"/>
            <a:ext cx="10607040" cy="64008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3段階実装フレームワーク: ①Adoption first(自組織への導入) → ②ビジネス戦略の選択 → ③レーン選択(Frontier Building / Frontier-Ready / Adoption-First)</a:t>
            </a:r>
            <a:endParaRPr lang="en-US" sz="1150" dirty="0"/>
          </a:p>
        </p:txBody>
      </p:sp>
      <p:sp>
        <p:nvSpPr>
          <p:cNvPr id="14" name="Text 12"/>
          <p:cNvSpPr txBox="1"/>
          <p:nvPr/>
        </p:nvSpPr>
        <p:spPr>
          <a:xfrm>
            <a:off x="548640" y="5120640"/>
            <a:ext cx="10607040" cy="8229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締めの言葉(引用): 「誰もがほぼ何でもできるようになった時、最も重要になるのは“何をすべきか”を知っていること」— Howは不安定、What/Whyに焦点を当てることが競争優位になる</a:t>
            </a:r>
            <a:endParaRPr lang="en-US" sz="11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Camp」Moving to the Frontierセッションまとめ</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Proving value and controlling cost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Shannon(顧客成功) &amp; Noel(財務)・90分・APAC初開催</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コスト管理の4レバー</a:t>
            </a:r>
            <a:endParaRPr lang="en-US" sz="1350" dirty="0"/>
          </a:p>
        </p:txBody>
      </p:sp>
      <p:sp>
        <p:nvSpPr>
          <p:cNvPr id="6" name="Shape 4"/>
          <p:cNvSpPr/>
          <p:nvPr/>
        </p:nvSpPr>
        <p:spPr>
          <a:xfrm>
            <a:off x="548640" y="2057400"/>
            <a:ext cx="10607040" cy="868680"/>
          </a:xfrm>
          <a:prstGeom prst="roundRect">
            <a:avLst>
              <a:gd name="adj" fmla="val 8421"/>
            </a:avLst>
          </a:prstGeom>
          <a:solidFill>
            <a:srgbClr val="33312E"/>
          </a:solidFill>
          <a:ln/>
        </p:spPr>
      </p:sp>
      <p:sp>
        <p:nvSpPr>
          <p:cNvPr id="7" name="Text 5"/>
          <p:cNvSpPr txBox="1"/>
          <p:nvPr/>
        </p:nvSpPr>
        <p:spPr>
          <a:xfrm>
            <a:off x="822960" y="214884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① モデル選択</a:t>
            </a:r>
            <a:endParaRPr lang="en-US" sz="1200" dirty="0"/>
          </a:p>
        </p:txBody>
      </p:sp>
      <p:sp>
        <p:nvSpPr>
          <p:cNvPr id="8" name="Text 6"/>
          <p:cNvSpPr txBox="1"/>
          <p:nvPr/>
        </p:nvSpPr>
        <p:spPr>
          <a:xfrm>
            <a:off x="4023360" y="214884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Haiku/Sonnet/Opus/Fable。発表直後のOpus 5.5は「より安価で高品質」。デフォルトモデルの設定を推奨</a:t>
            </a:r>
            <a:endParaRPr lang="en-US" sz="1050" dirty="0"/>
          </a:p>
        </p:txBody>
      </p:sp>
      <p:sp>
        <p:nvSpPr>
          <p:cNvPr id="9" name="Shape 7"/>
          <p:cNvSpPr/>
          <p:nvPr/>
        </p:nvSpPr>
        <p:spPr>
          <a:xfrm>
            <a:off x="548640" y="3063240"/>
            <a:ext cx="10607040" cy="868680"/>
          </a:xfrm>
          <a:prstGeom prst="roundRect">
            <a:avLst>
              <a:gd name="adj" fmla="val 8421"/>
            </a:avLst>
          </a:prstGeom>
          <a:solidFill>
            <a:srgbClr val="33312E"/>
          </a:solidFill>
          <a:ln/>
        </p:spPr>
      </p:sp>
      <p:sp>
        <p:nvSpPr>
          <p:cNvPr id="10" name="Text 8"/>
          <p:cNvSpPr txBox="1"/>
          <p:nvPr/>
        </p:nvSpPr>
        <p:spPr>
          <a:xfrm>
            <a:off x="822960" y="315468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② Effort level</a:t>
            </a:r>
            <a:endParaRPr lang="en-US" sz="1200" dirty="0"/>
          </a:p>
        </p:txBody>
      </p:sp>
      <p:sp>
        <p:nvSpPr>
          <p:cNvPr id="11" name="Text 9"/>
          <p:cNvSpPr txBox="1"/>
          <p:nvPr/>
        </p:nvSpPr>
        <p:spPr>
          <a:xfrm>
            <a:off x="4023360" y="315468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低/中/高。高いほどトークン消費増。一般的には中(medium)で十分なことが多い</a:t>
            </a:r>
            <a:endParaRPr lang="en-US" sz="1050" dirty="0"/>
          </a:p>
        </p:txBody>
      </p:sp>
      <p:sp>
        <p:nvSpPr>
          <p:cNvPr id="12" name="Shape 10"/>
          <p:cNvSpPr/>
          <p:nvPr/>
        </p:nvSpPr>
        <p:spPr>
          <a:xfrm>
            <a:off x="548640" y="4069080"/>
            <a:ext cx="10607040" cy="868680"/>
          </a:xfrm>
          <a:prstGeom prst="roundRect">
            <a:avLst>
              <a:gd name="adj" fmla="val 8421"/>
            </a:avLst>
          </a:prstGeom>
          <a:solidFill>
            <a:srgbClr val="33312E"/>
          </a:solidFill>
          <a:ln/>
        </p:spPr>
      </p:sp>
      <p:sp>
        <p:nvSpPr>
          <p:cNvPr id="13" name="Text 11"/>
          <p:cNvSpPr txBox="1"/>
          <p:nvPr/>
        </p:nvSpPr>
        <p:spPr>
          <a:xfrm>
            <a:off x="822960" y="416052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③ グループ別アクセス制御(RBAC)</a:t>
            </a:r>
            <a:endParaRPr lang="en-US" sz="1200" dirty="0"/>
          </a:p>
        </p:txBody>
      </p:sp>
      <p:sp>
        <p:nvSpPr>
          <p:cNvPr id="14" name="Text 12"/>
          <p:cNvSpPr txBox="1"/>
          <p:nvPr/>
        </p:nvSpPr>
        <p:spPr>
          <a:xfrm>
            <a:off x="4023360" y="416052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開発者グループ(Code+Cowork、上位モデル可)/ベースユーザー(Coworkのみ、Sonnet限定)のような構成</a:t>
            </a:r>
            <a:endParaRPr lang="en-US" sz="1050" dirty="0"/>
          </a:p>
        </p:txBody>
      </p:sp>
      <p:sp>
        <p:nvSpPr>
          <p:cNvPr id="15" name="Shape 13"/>
          <p:cNvSpPr/>
          <p:nvPr/>
        </p:nvSpPr>
        <p:spPr>
          <a:xfrm>
            <a:off x="548640" y="5074920"/>
            <a:ext cx="10607040" cy="868680"/>
          </a:xfrm>
          <a:prstGeom prst="roundRect">
            <a:avLst>
              <a:gd name="adj" fmla="val 8421"/>
            </a:avLst>
          </a:prstGeom>
          <a:solidFill>
            <a:srgbClr val="33312E"/>
          </a:solidFill>
          <a:ln/>
        </p:spPr>
      </p:sp>
      <p:sp>
        <p:nvSpPr>
          <p:cNvPr id="16" name="Text 14"/>
          <p:cNvSpPr txBox="1"/>
          <p:nvPr/>
        </p:nvSpPr>
        <p:spPr>
          <a:xfrm>
            <a:off x="822960" y="516636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④ 支出上限</a:t>
            </a:r>
            <a:endParaRPr lang="en-US" sz="1200" dirty="0"/>
          </a:p>
        </p:txBody>
      </p:sp>
      <p:sp>
        <p:nvSpPr>
          <p:cNvPr id="17" name="Text 15"/>
          <p:cNvSpPr txBox="1"/>
          <p:nvPr/>
        </p:nvSpPr>
        <p:spPr>
          <a:xfrm>
            <a:off x="4023360" y="516636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組織/グループ/ユーザーの3階層。現状は月単位のみ(週次・隔週のニーズが強い)</a:t>
            </a:r>
            <a:endParaRPr lang="en-US" sz="1050" dirty="0"/>
          </a:p>
        </p:txBody>
      </p:sp>
      <p:sp>
        <p:nvSpPr>
          <p:cNvPr id="18" name="Text 16"/>
          <p:cNvSpPr txBox="1"/>
          <p:nvPr/>
        </p:nvSpPr>
        <p:spPr>
          <a:xfrm>
            <a:off x="548640" y="6035040"/>
            <a:ext cx="10607040" cy="36576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ユーザー通知: 利用75%・90%到達時にアラート、上限到達時に通知、Slack経由の承認オプションあり</a:t>
            </a:r>
            <a:endParaRPr lang="en-US" sz="10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Proving value and controlling cost (2/2)</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価値実現の6ステップメソドロジー</a:t>
            </a:r>
            <a:endParaRPr lang="en-US" sz="1300" dirty="0"/>
          </a:p>
        </p:txBody>
      </p:sp>
      <p:sp>
        <p:nvSpPr>
          <p:cNvPr id="5" name="Text 3"/>
          <p:cNvSpPr txBox="1"/>
          <p:nvPr/>
        </p:nvSpPr>
        <p:spPr>
          <a:xfrm>
            <a:off x="548640" y="178308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① ワークフロー選定(トリガー・再現性・アウトプットの3条件を満たすもの)</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② ベースライン合意(現状コスト/時間をFinance担当と確認)</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③ Skill実装 → ④ 価値分類(コスト回避 vs 価値創造) → ⑤ 定量化 → ⑥ CFOシートへ統合</a:t>
            </a:r>
            <a:endParaRPr lang="en-US" sz="1050" dirty="0"/>
          </a:p>
        </p:txBody>
      </p:sp>
      <p:sp>
        <p:nvSpPr>
          <p:cNvPr id="6" name="Shape 4"/>
          <p:cNvSpPr/>
          <p:nvPr/>
        </p:nvSpPr>
        <p:spPr>
          <a:xfrm>
            <a:off x="5852160" y="1417320"/>
            <a:ext cx="5303520" cy="2011680"/>
          </a:xfrm>
          <a:prstGeom prst="roundRect">
            <a:avLst>
              <a:gd name="adj" fmla="val 3636"/>
            </a:avLst>
          </a:prstGeom>
          <a:solidFill>
            <a:srgbClr val="F7F5F2"/>
          </a:solidFill>
          <a:ln w="12700">
            <a:solidFill>
              <a:srgbClr val="E5E2DC"/>
            </a:solidFill>
            <a:prstDash val="solid"/>
          </a:ln>
        </p:spPr>
      </p:sp>
      <p:sp>
        <p:nvSpPr>
          <p:cNvPr id="7" name="Text 5"/>
          <p:cNvSpPr txBox="1"/>
          <p:nvPr/>
        </p:nvSpPr>
        <p:spPr>
          <a:xfrm>
            <a:off x="6035040" y="155448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コスト回避(法務)</a:t>
            </a:r>
            <a:endParaRPr lang="en-US" sz="1150" dirty="0"/>
          </a:p>
        </p:txBody>
      </p:sp>
      <p:sp>
        <p:nvSpPr>
          <p:cNvPr id="8" name="Text 6"/>
          <p:cNvSpPr txBox="1"/>
          <p:nvPr/>
        </p:nvSpPr>
        <p:spPr>
          <a:xfrm>
            <a:off x="6035040" y="1874520"/>
            <a:ext cx="4937760" cy="594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契約レビュー: 11時間/件→6時間/件(45%削減)。四半期610件×6時間削減=3,660時間節約。「$300〜500K相当のコスト回避」</a:t>
            </a:r>
            <a:endParaRPr lang="en-US" sz="1000" dirty="0"/>
          </a:p>
        </p:txBody>
      </p:sp>
      <p:sp>
        <p:nvSpPr>
          <p:cNvPr id="9" name="Text 7"/>
          <p:cNvSpPr txBox="1"/>
          <p:nvPr/>
        </p:nvSpPr>
        <p:spPr>
          <a:xfrm>
            <a:off x="6035040" y="251460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価値創造(営業)</a:t>
            </a:r>
            <a:endParaRPr lang="en-US" sz="1150" dirty="0"/>
          </a:p>
        </p:txBody>
      </p:sp>
      <p:sp>
        <p:nvSpPr>
          <p:cNvPr id="10" name="Text 8"/>
          <p:cNvSpPr txBox="1"/>
          <p:nvPr/>
        </p:nvSpPr>
        <p:spPr>
          <a:xfrm>
            <a:off x="6035040" y="2834640"/>
            <a:ext cx="4937760" cy="5486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商談準備時間: 45分→10分(3倍速)。190件の追加商談機会。成約率25%×平均$20-34K → 追加収益$900K〜1.6M</a:t>
            </a:r>
            <a:endParaRPr lang="en-US" sz="1000" dirty="0"/>
          </a:p>
        </p:txBody>
      </p:sp>
      <p:sp>
        <p:nvSpPr>
          <p:cNvPr id="11" name="Text 9"/>
          <p:cNvSpPr txBox="1"/>
          <p:nvPr/>
        </p:nvSpPr>
        <p:spPr>
          <a:xfrm>
            <a:off x="548640" y="365760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 Code向け価値フレームワーク(計測単位の階層)</a:t>
            </a:r>
            <a:endParaRPr lang="en-US" sz="1300" dirty="0"/>
          </a:p>
        </p:txBody>
      </p:sp>
      <p:sp>
        <p:nvSpPr>
          <p:cNvPr id="12" name="Text 10"/>
          <p:cNvSpPr txBox="1"/>
          <p:nvPr/>
        </p:nvSpPr>
        <p:spPr>
          <a:xfrm>
            <a:off x="548640" y="3977640"/>
            <a:ext cx="10607040" cy="10972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Volume(出荷数)→Code Assist率(Claude活用割合、例18/22=82%)→Business impact(定量化された時間削減、例4日→1.5日=62.5%削減)。Phoenix Corp事例: 80マイクロサービス移行で約$1.8M削減。あるASX上場企業では移行コストが7桁台から「トークン費用$20〜30K」まで圧縮</a:t>
            </a:r>
            <a:endParaRPr lang="en-US" sz="1050" dirty="0"/>
          </a:p>
        </p:txBody>
      </p:sp>
      <p:sp>
        <p:nvSpPr>
          <p:cNvPr id="13" name="Text 11"/>
          <p:cNvSpPr txBox="1"/>
          <p:nvPr/>
        </p:nvSpPr>
        <p:spPr>
          <a:xfrm>
            <a:off x="548640" y="5166360"/>
            <a:ext cx="10607040" cy="731520"/>
          </a:xfrm>
          <a:prstGeom prst="rect">
            <a:avLst/>
          </a:prstGeom>
          <a:noFill/>
          <a:ln/>
        </p:spPr>
        <p:txBody>
          <a:bodyPr wrap="square" lIns="0" tIns="0" rIns="0" bIns="0" rtlCol="0" anchor="ctr"/>
          <a:lstStyle/>
          <a:p>
            <a:pPr indent="0" marL="0">
              <a:buNone/>
            </a:pPr>
            <a:r>
              <a:rPr lang="en-US" sz="1050" i="1" dirty="0">
                <a:solidFill>
                  <a:srgbClr val="6B6862"/>
                </a:solidFill>
                <a:latin typeface="Calibri" pitchFamily="34" charset="0"/>
                <a:ea typeface="Calibri" pitchFamily="34" charset="-122"/>
                <a:cs typeface="Calibri" pitchFamily="34" charset="-120"/>
              </a:rPr>
              <a:t>Step Change Process(契約レビュー例): 段階1(11h→6h)から、段階2で例外ベース処理へ転換(全610件→例外180件のみレビュー、70%削減)、Financeと新ベースラインを再合意</a:t>
            </a:r>
            <a:endParaRPr lang="en-US" sz="1050" dirty="0"/>
          </a:p>
        </p:txBody>
      </p:sp>
      <p:sp>
        <p:nvSpPr>
          <p:cNvPr id="14" name="Text 12"/>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6</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AI Fluency</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Kristen Swanson(Anthropic教育部門責任者)・43分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4Dフレームワーク(内側/外側のループ)</a:t>
            </a:r>
            <a:endParaRPr lang="en-US" sz="1300" dirty="0"/>
          </a:p>
        </p:txBody>
      </p:sp>
      <p:sp>
        <p:nvSpPr>
          <p:cNvPr id="6" name="Text 4"/>
          <p:cNvSpPr txBox="1"/>
          <p:nvPr/>
        </p:nvSpPr>
        <p:spPr>
          <a:xfrm>
            <a:off x="548640" y="2057400"/>
            <a:ext cx="5120640" cy="25603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内側のループ: Description(明確に説明する) ⇄ Discernment(出力を批判的に評価する)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外側のループ: Delegation(何を任せるか選ぶ) ⇄ Diligence(AI利用の透明性を保つ)</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「Discernment Tax」問題: モデルが饒舌なため、ユーザーが重い検証作業を強いられる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社内ノルム例: ❤️(完全に人間作成)・💪(人間+Claude協働)・🤖(完全にClaude作成)のタイトル表示</a:t>
            </a:r>
            <a:endParaRPr lang="en-US" sz="105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AI流暢性エコシステムの3要素</a:t>
            </a:r>
            <a:endParaRPr lang="en-US" sz="1300" dirty="0"/>
          </a:p>
        </p:txBody>
      </p:sp>
      <p:sp>
        <p:nvSpPr>
          <p:cNvPr id="8" name="Text 6"/>
          <p:cNvSpPr txBox="1"/>
          <p:nvPr/>
        </p:nvSpPr>
        <p:spPr>
          <a:xfrm>
            <a:off x="5852160" y="2057400"/>
            <a:ext cx="5303520" cy="18288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Mindset: 「AIの進化ペースに適応する」姿勢が最重要。新モデル登場時に難タスクを試す“evalingパーティ”を推奨</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Skill: 特定の対話テクニックでなく「タスク成功」を重視。反復とチーム間の知見共有で積み上げる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Access: 利用可能なモデル・インターフェース(デスクトップ/モバイル/ターミナル)・機能</a:t>
            </a:r>
            <a:endParaRPr lang="en-US" sz="1050" dirty="0"/>
          </a:p>
        </p:txBody>
      </p:sp>
      <p:sp>
        <p:nvSpPr>
          <p:cNvPr id="9" name="Text 7"/>
          <p:cNvSpPr txBox="1"/>
          <p:nvPr/>
        </p:nvSpPr>
        <p:spPr>
          <a:xfrm>
            <a:off x="5852160" y="4023360"/>
            <a:ext cx="5303520" cy="8229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81,000人調査: 「専門性を高めたい」という希望と「スキルが陳腐化する」という不安が同時に存在。両方を認識することがリーダーシップの鍵</a:t>
            </a:r>
            <a:endParaRPr lang="en-US" sz="1000" dirty="0"/>
          </a:p>
        </p:txBody>
      </p:sp>
      <p:sp>
        <p:nvSpPr>
          <p:cNvPr id="10" name="Text 8"/>
          <p:cNvSpPr txBox="1"/>
          <p:nvPr/>
        </p:nvSpPr>
        <p:spPr>
          <a:xfrm>
            <a:off x="548640" y="5029200"/>
            <a:ext cx="10607040" cy="8229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重要な引用: 「Task success is the key」「Mindsetは機能より速く価値を生む」「継続的な学習と実験の文化」</a:t>
            </a:r>
            <a:endParaRPr lang="en-US" sz="11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Camp」AI Fluencyセッションまとめ</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Your first real workflow in Cowork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Maddie(進行)・Anthony &amp; Shannon(Q&amp;A)・APAC Day3・90分</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Chat vs Coworkの使い分け</a:t>
            </a:r>
            <a:endParaRPr lang="en-US" sz="1350" dirty="0"/>
          </a:p>
        </p:txBody>
      </p:sp>
      <p:sp>
        <p:nvSpPr>
          <p:cNvPr id="6" name="Text 4"/>
          <p:cNvSpPr txBox="1"/>
          <p:nvPr/>
        </p:nvSpPr>
        <p:spPr>
          <a:xfrm>
            <a:off x="548640" y="205740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判断ルール(引用): 「質問ならChatで聞く。作業ならCoworkで始める」— Chatは質問して答えをもらう場、Coworkは求める成果を指定するとClaudeが文脈収集→実行→完成ファイルまで届ける場</a:t>
            </a:r>
            <a:endParaRPr lang="en-US" sz="110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Coworkの4段階実行ループ</a:t>
            </a:r>
            <a:endParaRPr lang="en-US" sz="1350" dirty="0"/>
          </a:p>
        </p:txBody>
      </p:sp>
      <p:sp>
        <p:nvSpPr>
          <p:cNvPr id="8" name="Shape 6"/>
          <p:cNvSpPr/>
          <p:nvPr/>
        </p:nvSpPr>
        <p:spPr>
          <a:xfrm>
            <a:off x="54864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9" name="Text 7"/>
          <p:cNvSpPr txBox="1"/>
          <p:nvPr/>
        </p:nvSpPr>
        <p:spPr>
          <a:xfrm>
            <a:off x="68580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① Understand</a:t>
            </a:r>
            <a:endParaRPr lang="en-US" sz="1200" dirty="0"/>
          </a:p>
        </p:txBody>
      </p:sp>
      <p:sp>
        <p:nvSpPr>
          <p:cNvPr id="10" name="Text 8"/>
          <p:cNvSpPr txBox="1"/>
          <p:nvPr/>
        </p:nvSpPr>
        <p:spPr>
          <a:xfrm>
            <a:off x="68580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質問して専門知識を引き出す(例:「これは誰向け?」)</a:t>
            </a:r>
            <a:endParaRPr lang="en-US" sz="950" dirty="0"/>
          </a:p>
        </p:txBody>
      </p:sp>
      <p:sp>
        <p:nvSpPr>
          <p:cNvPr id="11" name="Shape 9"/>
          <p:cNvSpPr/>
          <p:nvPr/>
        </p:nvSpPr>
        <p:spPr>
          <a:xfrm>
            <a:off x="324612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2" name="Text 10"/>
          <p:cNvSpPr txBox="1"/>
          <p:nvPr/>
        </p:nvSpPr>
        <p:spPr>
          <a:xfrm>
            <a:off x="338328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② Plan</a:t>
            </a:r>
            <a:endParaRPr lang="en-US" sz="1200" dirty="0"/>
          </a:p>
        </p:txBody>
      </p:sp>
      <p:sp>
        <p:nvSpPr>
          <p:cNvPr id="13" name="Text 11"/>
          <p:cNvSpPr txBox="1"/>
          <p:nvPr/>
        </p:nvSpPr>
        <p:spPr>
          <a:xfrm>
            <a:off x="338328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手順を明示化。修正が最も安価にできる段階</a:t>
            </a:r>
            <a:endParaRPr lang="en-US" sz="950" dirty="0"/>
          </a:p>
        </p:txBody>
      </p:sp>
      <p:sp>
        <p:nvSpPr>
          <p:cNvPr id="14" name="Shape 12"/>
          <p:cNvSpPr/>
          <p:nvPr/>
        </p:nvSpPr>
        <p:spPr>
          <a:xfrm>
            <a:off x="594360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5" name="Text 13"/>
          <p:cNvSpPr txBox="1"/>
          <p:nvPr/>
        </p:nvSpPr>
        <p:spPr>
          <a:xfrm>
            <a:off x="608076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③ Execute</a:t>
            </a:r>
            <a:endParaRPr lang="en-US" sz="1200" dirty="0"/>
          </a:p>
        </p:txBody>
      </p:sp>
      <p:sp>
        <p:nvSpPr>
          <p:cNvPr id="16" name="Text 14"/>
          <p:cNvSpPr txBox="1"/>
          <p:nvPr/>
        </p:nvSpPr>
        <p:spPr>
          <a:xfrm>
            <a:off x="608076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ツール・ファイル・Webを操作(数分かかることも)</a:t>
            </a:r>
            <a:endParaRPr lang="en-US" sz="950" dirty="0"/>
          </a:p>
        </p:txBody>
      </p:sp>
      <p:sp>
        <p:nvSpPr>
          <p:cNvPr id="17" name="Shape 15"/>
          <p:cNvSpPr/>
          <p:nvPr/>
        </p:nvSpPr>
        <p:spPr>
          <a:xfrm>
            <a:off x="864108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8" name="Text 16"/>
          <p:cNvSpPr txBox="1"/>
          <p:nvPr/>
        </p:nvSpPr>
        <p:spPr>
          <a:xfrm>
            <a:off x="877824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④ Verify &amp; Deliver</a:t>
            </a:r>
            <a:endParaRPr lang="en-US" sz="1200" dirty="0"/>
          </a:p>
        </p:txBody>
      </p:sp>
      <p:sp>
        <p:nvSpPr>
          <p:cNvPr id="19" name="Text 17"/>
          <p:cNvSpPr txBox="1"/>
          <p:nvPr/>
        </p:nvSpPr>
        <p:spPr>
          <a:xfrm>
            <a:off x="877824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既存ファイルとの整合性を確認し完成物を納品</a:t>
            </a:r>
            <a:endParaRPr lang="en-US" sz="950" dirty="0"/>
          </a:p>
        </p:txBody>
      </p:sp>
      <p:sp>
        <p:nvSpPr>
          <p:cNvPr id="20" name="Text 18"/>
          <p:cNvSpPr txBox="1"/>
          <p:nvPr/>
        </p:nvSpPr>
        <p:spPr>
          <a:xfrm>
            <a:off x="548640" y="5120640"/>
            <a:ext cx="10607040" cy="45720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必須環境: Claude デスクトップアプリ(ブラウザ版は機能制限あり)・ローカルファイルアクセス可能なノートPC・スリープ防止(定期実行タスクに必要)</a:t>
            </a:r>
            <a:endParaRPr lang="en-US" sz="1050" dirty="0"/>
          </a:p>
        </p:txBody>
      </p:sp>
      <p:sp>
        <p:nvSpPr>
          <p:cNvPr id="21" name="Text 19"/>
          <p:cNvSpPr txBox="1"/>
          <p:nvPr/>
        </p:nvSpPr>
        <p:spPr>
          <a:xfrm>
            <a:off x="548640" y="5623560"/>
            <a:ext cx="106070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コネクタ設定(例: Google Calendar): 設定→Customize→Connectors→該当サービスの「Connect」→ブラウザでログイン許可。Team/Enterprise利用者はAdminが組織全体で有効化後、各自サインイン(「ホテルのカードキー」の例え: Adminがフロアを有効化、ユーザーがカードをタップ)</a:t>
            </a:r>
            <a:endParaRPr lang="en-US" sz="10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Your first real workflow in Cowork (2/2)</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5つのハンズオンデモ(週次ステータスブリーフを構築)</a:t>
            </a:r>
            <a:endParaRPr lang="en-US" sz="1300" dirty="0"/>
          </a:p>
        </p:txBody>
      </p:sp>
      <p:sp>
        <p:nvSpPr>
          <p:cNvPr id="5" name="Text 3"/>
          <p:cNvSpPr txBox="1"/>
          <p:nvPr/>
        </p:nvSpPr>
        <p:spPr>
          <a:xfrm>
            <a:off x="548640" y="1783080"/>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Demo1: 練習ファイル作成(10分)</a:t>
            </a:r>
            <a:endParaRPr lang="en-US" sz="1050" dirty="0"/>
          </a:p>
        </p:txBody>
      </p:sp>
      <p:sp>
        <p:nvSpPr>
          <p:cNvPr id="6" name="Text 4"/>
          <p:cNvSpPr txBox="1"/>
          <p:nvPr/>
        </p:nvSpPr>
        <p:spPr>
          <a:xfrm>
            <a:off x="3931920" y="1783080"/>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議事録・タスクリスト等のダミーデータを生成</a:t>
            </a:r>
            <a:endParaRPr lang="en-US" sz="1000" dirty="0"/>
          </a:p>
        </p:txBody>
      </p:sp>
      <p:sp>
        <p:nvSpPr>
          <p:cNvPr id="7" name="Text 5"/>
          <p:cNvSpPr txBox="1"/>
          <p:nvPr/>
        </p:nvSpPr>
        <p:spPr>
          <a:xfrm>
            <a:off x="548640" y="2350008"/>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Demo2: 情報収集(15分)</a:t>
            </a:r>
            <a:endParaRPr lang="en-US" sz="1050" dirty="0"/>
          </a:p>
        </p:txBody>
      </p:sp>
      <p:sp>
        <p:nvSpPr>
          <p:cNvPr id="8" name="Text 6"/>
          <p:cNvSpPr txBox="1"/>
          <p:nvPr/>
        </p:nvSpPr>
        <p:spPr>
          <a:xfrm>
            <a:off x="3931920" y="2350008"/>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フォルダ内全ファイル+カレンダーを読み込み、各行に出典タグを付与。矛盾を検知しユーザーに確認を促す例も</a:t>
            </a:r>
            <a:endParaRPr lang="en-US" sz="1000" dirty="0"/>
          </a:p>
        </p:txBody>
      </p:sp>
      <p:sp>
        <p:nvSpPr>
          <p:cNvPr id="9" name="Text 7"/>
          <p:cNvSpPr txBox="1"/>
          <p:nvPr/>
        </p:nvSpPr>
        <p:spPr>
          <a:xfrm>
            <a:off x="548640" y="2916936"/>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Demo3: Skill作成(15分)</a:t>
            </a:r>
            <a:endParaRPr lang="en-US" sz="1050" dirty="0"/>
          </a:p>
        </p:txBody>
      </p:sp>
      <p:sp>
        <p:nvSpPr>
          <p:cNvPr id="10" name="Text 8"/>
          <p:cNvSpPr txBox="1"/>
          <p:nvPr/>
        </p:nvSpPr>
        <p:spPr>
          <a:xfrm>
            <a:off x="3931920" y="2916936"/>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「まず書かず、後から振り返る」哲学 — 良い結果を出してから「今やったことをSkillにパッケージ化して」と依頼</a:t>
            </a:r>
            <a:endParaRPr lang="en-US" sz="1000" dirty="0"/>
          </a:p>
        </p:txBody>
      </p:sp>
      <p:sp>
        <p:nvSpPr>
          <p:cNvPr id="11" name="Text 9"/>
          <p:cNvSpPr txBox="1"/>
          <p:nvPr/>
        </p:nvSpPr>
        <p:spPr>
          <a:xfrm>
            <a:off x="548640" y="3483864"/>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Demo4: Project構築(20分)</a:t>
            </a:r>
            <a:endParaRPr lang="en-US" sz="1050" dirty="0"/>
          </a:p>
        </p:txBody>
      </p:sp>
      <p:sp>
        <p:nvSpPr>
          <p:cNvPr id="12" name="Text 10"/>
          <p:cNvSpPr txBox="1"/>
          <p:nvPr/>
        </p:nvSpPr>
        <p:spPr>
          <a:xfrm>
            <a:off x="3931920" y="3483864"/>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ファイル+指示+メモリを統合したワークスペース。閲覧/コメント/編集の3段階アクセス設定</a:t>
            </a:r>
            <a:endParaRPr lang="en-US" sz="1000" dirty="0"/>
          </a:p>
        </p:txBody>
      </p:sp>
      <p:sp>
        <p:nvSpPr>
          <p:cNvPr id="13" name="Text 11"/>
          <p:cNvSpPr txBox="1"/>
          <p:nvPr/>
        </p:nvSpPr>
        <p:spPr>
          <a:xfrm>
            <a:off x="548640" y="4050792"/>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Demo5: 定期実行タスク(10分)</a:t>
            </a:r>
            <a:endParaRPr lang="en-US" sz="1050" dirty="0"/>
          </a:p>
        </p:txBody>
      </p:sp>
      <p:sp>
        <p:nvSpPr>
          <p:cNvPr id="14" name="Text 12"/>
          <p:cNvSpPr txBox="1"/>
          <p:nvPr/>
        </p:nvSpPr>
        <p:spPr>
          <a:xfrm>
            <a:off x="3931920" y="4050792"/>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毎週月曜8時に自動実行。ローカルPC上で動作するためPCがスリープ/アプリ未起動だと失敗する</a:t>
            </a:r>
            <a:endParaRPr lang="en-US" sz="1000" dirty="0"/>
          </a:p>
        </p:txBody>
      </p:sp>
      <p:sp>
        <p:nvSpPr>
          <p:cNvPr id="15" name="Text 13"/>
          <p:cNvSpPr txBox="1"/>
          <p:nvPr/>
        </p:nvSpPr>
        <p:spPr>
          <a:xfrm>
            <a:off x="548640" y="47091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習慣化の「Uカーブ」と承認設定</a:t>
            </a:r>
            <a:endParaRPr lang="en-US" sz="1300" dirty="0"/>
          </a:p>
        </p:txBody>
      </p:sp>
      <p:sp>
        <p:nvSpPr>
          <p:cNvPr id="16" name="Text 14"/>
          <p:cNvSpPr txBox="1"/>
          <p:nvPr/>
        </p:nvSpPr>
        <p:spPr>
          <a:xfrm>
            <a:off x="548640" y="5029200"/>
            <a:ext cx="10607040" cy="73152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最初の2〜3週間は逐一確認するため手動より遅くなるが、損益分岐点を超えると急加速する。Manually Approve(学習期)で監視→信頼できるパターン確立後にAutomatically Approveへ切替→組織へ共有、という順序を推奨</a:t>
            </a:r>
            <a:endParaRPr lang="en-US" sz="1050" dirty="0"/>
          </a:p>
        </p:txBody>
      </p:sp>
      <p:sp>
        <p:nvSpPr>
          <p:cNvPr id="17" name="Text 15"/>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安全設計(引用): 「付与されたフォルダにしか触れない」— アクセス範囲は指定フォルダに限定され、組織レベルでも機能ON/OFFを制御可能</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用語集・まとめ</a:t>
            </a:r>
            <a:endParaRPr lang="en-US" sz="3000" dirty="0"/>
          </a:p>
        </p:txBody>
      </p:sp>
      <p:sp>
        <p:nvSpPr>
          <p:cNvPr id="3" name="Text 1"/>
          <p:cNvSpPr txBox="1"/>
          <p:nvPr/>
        </p:nvSpPr>
        <p:spPr>
          <a:xfrm>
            <a:off x="548640" y="128016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エージェントループ</a:t>
            </a:r>
            <a:endParaRPr lang="en-US" sz="1200" dirty="0"/>
          </a:p>
        </p:txBody>
      </p:sp>
      <p:sp>
        <p:nvSpPr>
          <p:cNvPr id="4" name="Text 2"/>
          <p:cNvSpPr txBox="1"/>
          <p:nvPr/>
        </p:nvSpPr>
        <p:spPr>
          <a:xfrm>
            <a:off x="3749040" y="128016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モデルがゴール達成のためツール呼び出しを繰り返す仕組み</a:t>
            </a:r>
            <a:endParaRPr lang="en-US" sz="1100" dirty="0"/>
          </a:p>
        </p:txBody>
      </p:sp>
      <p:sp>
        <p:nvSpPr>
          <p:cNvPr id="5" name="Text 3"/>
          <p:cNvSpPr txBox="1"/>
          <p:nvPr/>
        </p:nvSpPr>
        <p:spPr>
          <a:xfrm>
            <a:off x="548640" y="1993392"/>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CLAUDE.md</a:t>
            </a:r>
            <a:endParaRPr lang="en-US" sz="1200" dirty="0"/>
          </a:p>
        </p:txBody>
      </p:sp>
      <p:sp>
        <p:nvSpPr>
          <p:cNvPr id="6" name="Text 4"/>
          <p:cNvSpPr txBox="1"/>
          <p:nvPr/>
        </p:nvSpPr>
        <p:spPr>
          <a:xfrm>
            <a:off x="3749040" y="1993392"/>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プロジェクトの規約・文脈を記録する永続メモリファイル(/initで自動生成)</a:t>
            </a:r>
            <a:endParaRPr lang="en-US" sz="1100" dirty="0"/>
          </a:p>
        </p:txBody>
      </p:sp>
      <p:sp>
        <p:nvSpPr>
          <p:cNvPr id="7" name="Text 5"/>
          <p:cNvSpPr txBox="1"/>
          <p:nvPr/>
        </p:nvSpPr>
        <p:spPr>
          <a:xfrm>
            <a:off x="548640" y="2706624"/>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Skill / MCP / Plugin</a:t>
            </a:r>
            <a:endParaRPr lang="en-US" sz="1200" dirty="0"/>
          </a:p>
        </p:txBody>
      </p:sp>
      <p:sp>
        <p:nvSpPr>
          <p:cNvPr id="8" name="Text 6"/>
          <p:cNvSpPr txBox="1"/>
          <p:nvPr/>
        </p:nvSpPr>
        <p:spPr>
          <a:xfrm>
            <a:off x="3749040" y="2706624"/>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Skill=再利用可能な作業手順、MCP=外部システム接続の標準規格、Plugin=これらの配布バンドル</a:t>
            </a:r>
            <a:endParaRPr lang="en-US" sz="1100" dirty="0"/>
          </a:p>
        </p:txBody>
      </p:sp>
      <p:sp>
        <p:nvSpPr>
          <p:cNvPr id="9" name="Text 7"/>
          <p:cNvSpPr txBox="1"/>
          <p:nvPr/>
        </p:nvSpPr>
        <p:spPr>
          <a:xfrm>
            <a:off x="548640" y="3419856"/>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4Dフレームワーク</a:t>
            </a:r>
            <a:endParaRPr lang="en-US" sz="1200" dirty="0"/>
          </a:p>
        </p:txBody>
      </p:sp>
      <p:sp>
        <p:nvSpPr>
          <p:cNvPr id="10" name="Text 8"/>
          <p:cNvSpPr txBox="1"/>
          <p:nvPr/>
        </p:nvSpPr>
        <p:spPr>
          <a:xfrm>
            <a:off x="3749040" y="3419856"/>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Description・Discernment・Delegation・Diligenceの2重ループ</a:t>
            </a:r>
            <a:endParaRPr lang="en-US" sz="1100" dirty="0"/>
          </a:p>
        </p:txBody>
      </p:sp>
      <p:sp>
        <p:nvSpPr>
          <p:cNvPr id="11" name="Text 9"/>
          <p:cNvSpPr txBox="1"/>
          <p:nvPr/>
        </p:nvSpPr>
        <p:spPr>
          <a:xfrm>
            <a:off x="548640" y="4133088"/>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Cost avoidance / Value creation</a:t>
            </a:r>
            <a:endParaRPr lang="en-US" sz="1200" dirty="0"/>
          </a:p>
        </p:txBody>
      </p:sp>
      <p:sp>
        <p:nvSpPr>
          <p:cNvPr id="12" name="Text 10"/>
          <p:cNvSpPr txBox="1"/>
          <p:nvPr/>
        </p:nvSpPr>
        <p:spPr>
          <a:xfrm>
            <a:off x="3749040" y="4133088"/>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既存作業を低コスト化 / 新たな収益・成果を生み出す、という価値分類の2軸</a:t>
            </a:r>
            <a:endParaRPr lang="en-US" sz="1100" dirty="0"/>
          </a:p>
        </p:txBody>
      </p:sp>
      <p:sp>
        <p:nvSpPr>
          <p:cNvPr id="13" name="Text 11"/>
          <p:cNvSpPr txBox="1"/>
          <p:nvPr/>
        </p:nvSpPr>
        <p:spPr>
          <a:xfrm>
            <a:off x="548640" y="484632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Cowork 4段階ループ</a:t>
            </a:r>
            <a:endParaRPr lang="en-US" sz="1200" dirty="0"/>
          </a:p>
        </p:txBody>
      </p:sp>
      <p:sp>
        <p:nvSpPr>
          <p:cNvPr id="14" name="Text 12"/>
          <p:cNvSpPr txBox="1"/>
          <p:nvPr/>
        </p:nvSpPr>
        <p:spPr>
          <a:xfrm>
            <a:off x="3749040" y="484632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Understand→Plan→Execute→Verify &amp; Deliver</a:t>
            </a:r>
            <a:endParaRPr lang="en-US" sz="1100" dirty="0"/>
          </a:p>
        </p:txBody>
      </p:sp>
      <p:sp>
        <p:nvSpPr>
          <p:cNvPr id="15" name="Text 13"/>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このノートの位置づけ</a:t>
            </a:r>
            <a:endParaRPr lang="en-US" sz="1250" dirty="0"/>
          </a:p>
        </p:txBody>
      </p:sp>
      <p:sp>
        <p:nvSpPr>
          <p:cNvPr id="16" name="Text 14"/>
          <p:cNvSpPr txBox="1"/>
          <p:nvPr/>
        </p:nvSpPr>
        <p:spPr>
          <a:xfrm>
            <a:off x="548640" y="5852160"/>
            <a:ext cx="10607040" cy="64008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CCA-F試験対策やGitHub攻略法とは別の「Anthropic公式トレーニング資料(Academy・Camp)」の学習ノートとして、今後もセッションや資料が増えるたびに改版していく想定</a:t>
            </a:r>
            <a:endParaRPr lang="en-US" sz="11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2026-09-28T15:32:41Z</dcterms:created>
  <dcterms:modified xsi:type="dcterms:W3CDTF">2026-09-28T15:32:41Z</dcterms:modified>
</cp:coreProperties>
</file>