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624"/>
        </a:solidFill>
      </p:bgPr>
    </p:bg>
    <p:spTree>
      <p:nvGrpSpPr>
        <p:cNvPr id="1" name=""/>
        <p:cNvGrpSpPr/>
        <p:nvPr/>
      </p:nvGrpSpPr>
      <p:grpSpPr>
        <a:xfrm>
          <a:off x="0" y="0"/>
          <a:ext cx="0" cy="0"/>
          <a:chOff x="0" y="0"/>
          <a:chExt cx="0" cy="0"/>
        </a:xfrm>
      </p:grpSpPr>
      <p:sp>
        <p:nvSpPr>
          <p:cNvPr id="2" name="Shape 0"/>
          <p:cNvSpPr/>
          <p:nvPr/>
        </p:nvSpPr>
        <p:spPr>
          <a:xfrm>
            <a:off x="8686800" y="-1828800"/>
            <a:ext cx="5669280" cy="5669280"/>
          </a:xfrm>
          <a:prstGeom prst="ellipse">
            <a:avLst/>
          </a:prstGeom>
          <a:solidFill>
            <a:srgbClr val="CC785C">
              <a:alpha val="12000"/>
            </a:srgbClr>
          </a:solidFill>
          <a:ln/>
        </p:spPr>
      </p:sp>
      <p:sp>
        <p:nvSpPr>
          <p:cNvPr id="3" name="Shape 1"/>
          <p:cNvSpPr/>
          <p:nvPr/>
        </p:nvSpPr>
        <p:spPr>
          <a:xfrm>
            <a:off x="-1645920" y="4572000"/>
            <a:ext cx="4754880" cy="4754880"/>
          </a:xfrm>
          <a:prstGeom prst="ellipse">
            <a:avLst/>
          </a:prstGeom>
          <a:solidFill>
            <a:srgbClr val="6A8EAE">
              <a:alpha val="10000"/>
            </a:srgbClr>
          </a:solidFill>
          <a:ln/>
        </p:spPr>
      </p:sp>
      <p:sp>
        <p:nvSpPr>
          <p:cNvPr id="4" name="Text 2"/>
          <p:cNvSpPr txBox="1"/>
          <p:nvPr/>
        </p:nvSpPr>
        <p:spPr>
          <a:xfrm>
            <a:off x="731520" y="2103120"/>
            <a:ext cx="10607040" cy="1005840"/>
          </a:xfrm>
          <a:prstGeom prst="rect">
            <a:avLst/>
          </a:prstGeom>
          <a:noFill/>
          <a:ln/>
        </p:spPr>
        <p:txBody>
          <a:bodyPr wrap="square" lIns="0" tIns="0" rIns="0" bIns="0" rtlCol="0" anchor="ctr"/>
          <a:lstStyle/>
          <a:p>
            <a:pPr indent="0" marL="0">
              <a:buNone/>
            </a:pPr>
            <a:r>
              <a:rPr lang="en-US" sz="4200" b="1" dirty="0">
                <a:solidFill>
                  <a:srgbClr val="F4F3F0"/>
                </a:solidFill>
                <a:latin typeface="Cambria" pitchFamily="34" charset="0"/>
                <a:ea typeface="Cambria" pitchFamily="34" charset="-122"/>
                <a:cs typeface="Cambria" pitchFamily="34" charset="-120"/>
              </a:rPr>
              <a:t>Claude Code 学習ノート</a:t>
            </a:r>
            <a:endParaRPr lang="en-US" sz="4200" dirty="0"/>
          </a:p>
        </p:txBody>
      </p:sp>
      <p:sp>
        <p:nvSpPr>
          <p:cNvPr id="5" name="Text 3"/>
          <p:cNvSpPr txBox="1"/>
          <p:nvPr/>
        </p:nvSpPr>
        <p:spPr>
          <a:xfrm>
            <a:off x="731520" y="3154680"/>
            <a:ext cx="10607040" cy="548640"/>
          </a:xfrm>
          <a:prstGeom prst="rect">
            <a:avLst/>
          </a:prstGeom>
          <a:noFill/>
          <a:ln/>
        </p:spPr>
        <p:txBody>
          <a:bodyPr wrap="square" lIns="0" tIns="0" rIns="0" bIns="0" rtlCol="0" anchor="ctr"/>
          <a:lstStyle/>
          <a:p>
            <a:pPr indent="0" marL="0">
              <a:buNone/>
            </a:pPr>
            <a:r>
              <a:rPr lang="en-US" sz="1600" dirty="0">
                <a:solidFill>
                  <a:srgbClr val="C9C5BD"/>
                </a:solidFill>
                <a:latin typeface="Calibri" pitchFamily="34" charset="0"/>
                <a:ea typeface="Calibri" pitchFamily="34" charset="-122"/>
                <a:cs typeface="Calibri" pitchFamily="34" charset="-120"/>
              </a:rPr>
              <a:t>Claude Academy「Claude Code 101」・公式Quickstart・Claude Camp講演5本のまとめ</a:t>
            </a:r>
            <a:endParaRPr lang="en-US" sz="1600" dirty="0"/>
          </a:p>
        </p:txBody>
      </p:sp>
      <p:sp>
        <p:nvSpPr>
          <p:cNvPr id="6" name="Text 4"/>
          <p:cNvSpPr txBox="1"/>
          <p:nvPr/>
        </p:nvSpPr>
        <p:spPr>
          <a:xfrm>
            <a:off x="731520" y="5943600"/>
            <a:ext cx="10607040" cy="365760"/>
          </a:xfrm>
          <a:prstGeom prst="rect">
            <a:avLst/>
          </a:prstGeom>
          <a:noFill/>
          <a:ln/>
        </p:spPr>
        <p:txBody>
          <a:bodyPr wrap="square" lIns="0" tIns="0" rIns="0" bIns="0" rtlCol="0" anchor="ctr"/>
          <a:lstStyle/>
          <a:p>
            <a:pPr indent="0" marL="0">
              <a:buNone/>
            </a:pPr>
            <a:r>
              <a:rPr lang="en-US" sz="1250" i="1" dirty="0">
                <a:solidFill>
                  <a:srgbClr val="CC785C"/>
                </a:solidFill>
                <a:latin typeface="Calibri" pitchFamily="34" charset="0"/>
                <a:ea typeface="Calibri" pitchFamily="34" charset="-122"/>
                <a:cs typeface="Calibri" pitchFamily="34" charset="-120"/>
              </a:rPr>
              <a:t>Anthropic公式トレーニング資料の学習ノート</a:t>
            </a:r>
            <a:endParaRPr lang="en-US" sz="1250" dirty="0"/>
          </a:p>
        </p:txBody>
      </p:sp>
      <p:sp>
        <p:nvSpPr>
          <p:cNvPr id="7" name="Text 5"/>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5486400" cy="640080"/>
          </a:xfrm>
          <a:prstGeom prst="rect">
            <a:avLst/>
          </a:prstGeom>
          <a:noFill/>
          <a:ln/>
        </p:spPr>
        <p:txBody>
          <a:bodyPr wrap="square" lIns="0" tIns="0" rIns="0" bIns="0" rtlCol="0" anchor="ctr"/>
          <a:lstStyle/>
          <a:p>
            <a:pPr indent="0" marL="0">
              <a:buNone/>
            </a:pPr>
            <a:r>
              <a:rPr lang="en-US" sz="3000" b="1" dirty="0">
                <a:solidFill>
                  <a:srgbClr val="1F1E1D"/>
                </a:solidFill>
                <a:latin typeface="Cambria" pitchFamily="34" charset="0"/>
                <a:ea typeface="Cambria" pitchFamily="34" charset="-122"/>
                <a:cs typeface="Cambria" pitchFamily="34" charset="-120"/>
              </a:rPr>
              <a:t>目次</a:t>
            </a:r>
            <a:endParaRPr lang="en-US" sz="3000" dirty="0"/>
          </a:p>
        </p:txBody>
      </p:sp>
      <p:sp>
        <p:nvSpPr>
          <p:cNvPr id="3" name="Shape 1"/>
          <p:cNvSpPr/>
          <p:nvPr/>
        </p:nvSpPr>
        <p:spPr>
          <a:xfrm>
            <a:off x="640080" y="1188720"/>
            <a:ext cx="438912" cy="438912"/>
          </a:xfrm>
          <a:prstGeom prst="ellipse">
            <a:avLst/>
          </a:prstGeom>
          <a:solidFill>
            <a:srgbClr val="CC785C"/>
          </a:solidFill>
          <a:ln/>
        </p:spPr>
      </p:sp>
      <p:sp>
        <p:nvSpPr>
          <p:cNvPr id="4" name="Text 2"/>
          <p:cNvSpPr txBox="1"/>
          <p:nvPr/>
        </p:nvSpPr>
        <p:spPr>
          <a:xfrm>
            <a:off x="640080" y="11887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298448" y="1161288"/>
            <a:ext cx="9875520" cy="320040"/>
          </a:xfrm>
          <a:prstGeom prst="rect">
            <a:avLst/>
          </a:prstGeom>
          <a:noFill/>
          <a:ln/>
        </p:spPr>
        <p:txBody>
          <a:bodyPr wrap="square" lIns="0" tIns="0" rIns="0" bIns="0" rtlCol="0" anchor="ctr"/>
          <a:lstStyle/>
          <a:p>
            <a:pPr indent="0" marL="0">
              <a:buNone/>
            </a:pPr>
            <a:r>
              <a:rPr lang="en-US" sz="1500" b="1" dirty="0">
                <a:solidFill>
                  <a:srgbClr val="1F1E1D"/>
                </a:solidFill>
                <a:latin typeface="Calibri" pitchFamily="34" charset="0"/>
                <a:ea typeface="Calibri" pitchFamily="34" charset="-122"/>
                <a:cs typeface="Calibri" pitchFamily="34" charset="-120"/>
              </a:rPr>
              <a:t>Claude Academy: Claude Code 101 コース</a:t>
            </a:r>
            <a:endParaRPr lang="en-US" sz="1500" dirty="0"/>
          </a:p>
        </p:txBody>
      </p:sp>
      <p:sp>
        <p:nvSpPr>
          <p:cNvPr id="6" name="Text 4"/>
          <p:cNvSpPr txBox="1"/>
          <p:nvPr/>
        </p:nvSpPr>
        <p:spPr>
          <a:xfrm>
            <a:off x="1298448" y="1463040"/>
            <a:ext cx="9875520" cy="32004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公式自習コースの全体構成</a:t>
            </a:r>
            <a:endParaRPr lang="en-US" sz="1100" dirty="0"/>
          </a:p>
        </p:txBody>
      </p:sp>
      <p:sp>
        <p:nvSpPr>
          <p:cNvPr id="7" name="Shape 5"/>
          <p:cNvSpPr/>
          <p:nvPr/>
        </p:nvSpPr>
        <p:spPr>
          <a:xfrm>
            <a:off x="640080" y="1947672"/>
            <a:ext cx="438912" cy="438912"/>
          </a:xfrm>
          <a:prstGeom prst="ellipse">
            <a:avLst/>
          </a:prstGeom>
          <a:solidFill>
            <a:srgbClr val="CC785C"/>
          </a:solidFill>
          <a:ln/>
        </p:spPr>
      </p:sp>
      <p:sp>
        <p:nvSpPr>
          <p:cNvPr id="8" name="Text 6"/>
          <p:cNvSpPr txBox="1"/>
          <p:nvPr/>
        </p:nvSpPr>
        <p:spPr>
          <a:xfrm>
            <a:off x="640080" y="19476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298448" y="1920240"/>
            <a:ext cx="9875520" cy="320040"/>
          </a:xfrm>
          <a:prstGeom prst="rect">
            <a:avLst/>
          </a:prstGeom>
          <a:noFill/>
          <a:ln/>
        </p:spPr>
        <p:txBody>
          <a:bodyPr wrap="square" lIns="0" tIns="0" rIns="0" bIns="0" rtlCol="0" anchor="ctr"/>
          <a:lstStyle/>
          <a:p>
            <a:pPr indent="0" marL="0">
              <a:buNone/>
            </a:pPr>
            <a:r>
              <a:rPr lang="en-US" sz="1500" b="1" dirty="0">
                <a:solidFill>
                  <a:srgbClr val="1F1E1D"/>
                </a:solidFill>
                <a:latin typeface="Calibri" pitchFamily="34" charset="0"/>
                <a:ea typeface="Calibri" pitchFamily="34" charset="-122"/>
                <a:cs typeface="Calibri" pitchFamily="34" charset="-120"/>
              </a:rPr>
              <a:t>公式Quickstart &amp; CLAUDE.md/自動メモリ</a:t>
            </a:r>
            <a:endParaRPr lang="en-US" sz="1500" dirty="0"/>
          </a:p>
        </p:txBody>
      </p:sp>
      <p:sp>
        <p:nvSpPr>
          <p:cNvPr id="10" name="Text 8"/>
          <p:cNvSpPr txBox="1"/>
          <p:nvPr/>
        </p:nvSpPr>
        <p:spPr>
          <a:xfrm>
            <a:off x="1298448" y="2221992"/>
            <a:ext cx="9875520" cy="32004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インストール〜基本コマンド〜プロジェクトの記憶の仕組み</a:t>
            </a:r>
            <a:endParaRPr lang="en-US" sz="1100" dirty="0"/>
          </a:p>
        </p:txBody>
      </p:sp>
      <p:sp>
        <p:nvSpPr>
          <p:cNvPr id="11" name="Shape 9"/>
          <p:cNvSpPr/>
          <p:nvPr/>
        </p:nvSpPr>
        <p:spPr>
          <a:xfrm>
            <a:off x="640080" y="2706624"/>
            <a:ext cx="438912" cy="438912"/>
          </a:xfrm>
          <a:prstGeom prst="ellipse">
            <a:avLst/>
          </a:prstGeom>
          <a:solidFill>
            <a:srgbClr val="CC785C"/>
          </a:solidFill>
          <a:ln/>
        </p:spPr>
      </p:sp>
      <p:sp>
        <p:nvSpPr>
          <p:cNvPr id="12" name="Text 10"/>
          <p:cNvSpPr txBox="1"/>
          <p:nvPr/>
        </p:nvSpPr>
        <p:spPr>
          <a:xfrm>
            <a:off x="640080" y="27066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298448" y="2679192"/>
            <a:ext cx="9875520" cy="320040"/>
          </a:xfrm>
          <a:prstGeom prst="rect">
            <a:avLst/>
          </a:prstGeom>
          <a:noFill/>
          <a:ln/>
        </p:spPr>
        <p:txBody>
          <a:bodyPr wrap="square" lIns="0" tIns="0" rIns="0" bIns="0" rtlCol="0" anchor="ctr"/>
          <a:lstStyle/>
          <a:p>
            <a:pPr indent="0" marL="0">
              <a:buNone/>
            </a:pPr>
            <a:r>
              <a:rPr lang="en-US" sz="1500" b="1" dirty="0">
                <a:solidFill>
                  <a:srgbClr val="1F1E1D"/>
                </a:solidFill>
                <a:latin typeface="Calibri" pitchFamily="34" charset="0"/>
                <a:ea typeface="Calibri" pitchFamily="34" charset="-122"/>
                <a:cs typeface="Calibri" pitchFamily="34" charset="-120"/>
              </a:rPr>
              <a:t>Claude Camp: Getting Started with Claude Code</a:t>
            </a:r>
            <a:endParaRPr lang="en-US" sz="1500" dirty="0"/>
          </a:p>
        </p:txBody>
      </p:sp>
      <p:sp>
        <p:nvSpPr>
          <p:cNvPr id="14" name="Text 12"/>
          <p:cNvSpPr txBox="1"/>
          <p:nvPr/>
        </p:nvSpPr>
        <p:spPr>
          <a:xfrm>
            <a:off x="1298448" y="2980944"/>
            <a:ext cx="9875520" cy="32004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エージェントの仕組み・ワークフロー実践</a:t>
            </a:r>
            <a:endParaRPr lang="en-US" sz="1100" dirty="0"/>
          </a:p>
        </p:txBody>
      </p:sp>
      <p:sp>
        <p:nvSpPr>
          <p:cNvPr id="15" name="Shape 13"/>
          <p:cNvSpPr/>
          <p:nvPr/>
        </p:nvSpPr>
        <p:spPr>
          <a:xfrm>
            <a:off x="640080" y="3465576"/>
            <a:ext cx="438912" cy="438912"/>
          </a:xfrm>
          <a:prstGeom prst="ellipse">
            <a:avLst/>
          </a:prstGeom>
          <a:solidFill>
            <a:srgbClr val="CC785C"/>
          </a:solidFill>
          <a:ln/>
        </p:spPr>
      </p:sp>
      <p:sp>
        <p:nvSpPr>
          <p:cNvPr id="16" name="Text 14"/>
          <p:cNvSpPr txBox="1"/>
          <p:nvPr/>
        </p:nvSpPr>
        <p:spPr>
          <a:xfrm>
            <a:off x="640080" y="34655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298448" y="3438144"/>
            <a:ext cx="9875520" cy="320040"/>
          </a:xfrm>
          <a:prstGeom prst="rect">
            <a:avLst/>
          </a:prstGeom>
          <a:noFill/>
          <a:ln/>
        </p:spPr>
        <p:txBody>
          <a:bodyPr wrap="square" lIns="0" tIns="0" rIns="0" bIns="0" rtlCol="0" anchor="ctr"/>
          <a:lstStyle/>
          <a:p>
            <a:pPr indent="0" marL="0">
              <a:buNone/>
            </a:pPr>
            <a:r>
              <a:rPr lang="en-US" sz="1500" b="1" dirty="0">
                <a:solidFill>
                  <a:srgbClr val="1F1E1D"/>
                </a:solidFill>
                <a:latin typeface="Calibri" pitchFamily="34" charset="0"/>
                <a:ea typeface="Calibri" pitchFamily="34" charset="-122"/>
                <a:cs typeface="Calibri" pitchFamily="34" charset="-120"/>
              </a:rPr>
              <a:t>Claude Camp: Moving to the Frontier</a:t>
            </a:r>
            <a:endParaRPr lang="en-US" sz="1500" dirty="0"/>
          </a:p>
        </p:txBody>
      </p:sp>
      <p:sp>
        <p:nvSpPr>
          <p:cNvPr id="18" name="Text 16"/>
          <p:cNvSpPr txBox="1"/>
          <p:nvPr/>
        </p:nvSpPr>
        <p:spPr>
          <a:xfrm>
            <a:off x="1298448" y="3739896"/>
            <a:ext cx="9875520" cy="32004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AI進歩トレンドとビジネス戦略</a:t>
            </a:r>
            <a:endParaRPr lang="en-US" sz="1100" dirty="0"/>
          </a:p>
        </p:txBody>
      </p:sp>
      <p:sp>
        <p:nvSpPr>
          <p:cNvPr id="19" name="Shape 17"/>
          <p:cNvSpPr/>
          <p:nvPr/>
        </p:nvSpPr>
        <p:spPr>
          <a:xfrm>
            <a:off x="640080" y="4224528"/>
            <a:ext cx="438912" cy="438912"/>
          </a:xfrm>
          <a:prstGeom prst="ellipse">
            <a:avLst/>
          </a:prstGeom>
          <a:solidFill>
            <a:srgbClr val="CC785C"/>
          </a:solidFill>
          <a:ln/>
        </p:spPr>
      </p:sp>
      <p:sp>
        <p:nvSpPr>
          <p:cNvPr id="20" name="Text 18"/>
          <p:cNvSpPr txBox="1"/>
          <p:nvPr/>
        </p:nvSpPr>
        <p:spPr>
          <a:xfrm>
            <a:off x="640080" y="422452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1298448" y="4197096"/>
            <a:ext cx="9875520" cy="320040"/>
          </a:xfrm>
          <a:prstGeom prst="rect">
            <a:avLst/>
          </a:prstGeom>
          <a:noFill/>
          <a:ln/>
        </p:spPr>
        <p:txBody>
          <a:bodyPr wrap="square" lIns="0" tIns="0" rIns="0" bIns="0" rtlCol="0" anchor="ctr"/>
          <a:lstStyle/>
          <a:p>
            <a:pPr indent="0" marL="0">
              <a:buNone/>
            </a:pPr>
            <a:r>
              <a:rPr lang="en-US" sz="1500" b="1" dirty="0">
                <a:solidFill>
                  <a:srgbClr val="1F1E1D"/>
                </a:solidFill>
                <a:latin typeface="Calibri" pitchFamily="34" charset="0"/>
                <a:ea typeface="Calibri" pitchFamily="34" charset="-122"/>
                <a:cs typeface="Calibri" pitchFamily="34" charset="-120"/>
              </a:rPr>
              <a:t>Claude Camp: Proving value and controlling cost</a:t>
            </a:r>
            <a:endParaRPr lang="en-US" sz="1500" dirty="0"/>
          </a:p>
        </p:txBody>
      </p:sp>
      <p:sp>
        <p:nvSpPr>
          <p:cNvPr id="22" name="Text 20"/>
          <p:cNvSpPr txBox="1"/>
          <p:nvPr/>
        </p:nvSpPr>
        <p:spPr>
          <a:xfrm>
            <a:off x="1298448" y="4498848"/>
            <a:ext cx="9875520" cy="32004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コスト管理と価値実現の実例</a:t>
            </a:r>
            <a:endParaRPr lang="en-US" sz="1100" dirty="0"/>
          </a:p>
        </p:txBody>
      </p:sp>
      <p:sp>
        <p:nvSpPr>
          <p:cNvPr id="23" name="Shape 21"/>
          <p:cNvSpPr/>
          <p:nvPr/>
        </p:nvSpPr>
        <p:spPr>
          <a:xfrm>
            <a:off x="640080" y="4983480"/>
            <a:ext cx="438912" cy="438912"/>
          </a:xfrm>
          <a:prstGeom prst="ellipse">
            <a:avLst/>
          </a:prstGeom>
          <a:solidFill>
            <a:srgbClr val="CC785C"/>
          </a:solidFill>
          <a:ln/>
        </p:spPr>
      </p:sp>
      <p:sp>
        <p:nvSpPr>
          <p:cNvPr id="24" name="Text 22"/>
          <p:cNvSpPr txBox="1"/>
          <p:nvPr/>
        </p:nvSpPr>
        <p:spPr>
          <a:xfrm>
            <a:off x="640080" y="49834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1298448" y="4956048"/>
            <a:ext cx="9875520" cy="320040"/>
          </a:xfrm>
          <a:prstGeom prst="rect">
            <a:avLst/>
          </a:prstGeom>
          <a:noFill/>
          <a:ln/>
        </p:spPr>
        <p:txBody>
          <a:bodyPr wrap="square" lIns="0" tIns="0" rIns="0" bIns="0" rtlCol="0" anchor="ctr"/>
          <a:lstStyle/>
          <a:p>
            <a:pPr indent="0" marL="0">
              <a:buNone/>
            </a:pPr>
            <a:r>
              <a:rPr lang="en-US" sz="1500" b="1" dirty="0">
                <a:solidFill>
                  <a:srgbClr val="1F1E1D"/>
                </a:solidFill>
                <a:latin typeface="Calibri" pitchFamily="34" charset="0"/>
                <a:ea typeface="Calibri" pitchFamily="34" charset="-122"/>
                <a:cs typeface="Calibri" pitchFamily="34" charset="-120"/>
              </a:rPr>
              <a:t>Claude Camp: AI Fluency</a:t>
            </a:r>
            <a:endParaRPr lang="en-US" sz="1500" dirty="0"/>
          </a:p>
        </p:txBody>
      </p:sp>
      <p:sp>
        <p:nvSpPr>
          <p:cNvPr id="26" name="Text 24"/>
          <p:cNvSpPr txBox="1"/>
          <p:nvPr/>
        </p:nvSpPr>
        <p:spPr>
          <a:xfrm>
            <a:off x="1298448" y="5257800"/>
            <a:ext cx="9875520" cy="32004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4Dフレームワークと組織への浸透</a:t>
            </a:r>
            <a:endParaRPr lang="en-US" sz="1100" dirty="0"/>
          </a:p>
        </p:txBody>
      </p:sp>
      <p:sp>
        <p:nvSpPr>
          <p:cNvPr id="27" name="Shape 25"/>
          <p:cNvSpPr/>
          <p:nvPr/>
        </p:nvSpPr>
        <p:spPr>
          <a:xfrm>
            <a:off x="640080" y="5742432"/>
            <a:ext cx="438912" cy="438912"/>
          </a:xfrm>
          <a:prstGeom prst="ellipse">
            <a:avLst/>
          </a:prstGeom>
          <a:solidFill>
            <a:srgbClr val="CC785C"/>
          </a:solidFill>
          <a:ln/>
        </p:spPr>
      </p:sp>
      <p:sp>
        <p:nvSpPr>
          <p:cNvPr id="28" name="Text 26"/>
          <p:cNvSpPr txBox="1"/>
          <p:nvPr/>
        </p:nvSpPr>
        <p:spPr>
          <a:xfrm>
            <a:off x="640080" y="574243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9" name="Text 27"/>
          <p:cNvSpPr txBox="1"/>
          <p:nvPr/>
        </p:nvSpPr>
        <p:spPr>
          <a:xfrm>
            <a:off x="1298448" y="5715000"/>
            <a:ext cx="9875520" cy="320040"/>
          </a:xfrm>
          <a:prstGeom prst="rect">
            <a:avLst/>
          </a:prstGeom>
          <a:noFill/>
          <a:ln/>
        </p:spPr>
        <p:txBody>
          <a:bodyPr wrap="square" lIns="0" tIns="0" rIns="0" bIns="0" rtlCol="0" anchor="ctr"/>
          <a:lstStyle/>
          <a:p>
            <a:pPr indent="0" marL="0">
              <a:buNone/>
            </a:pPr>
            <a:r>
              <a:rPr lang="en-US" sz="1500" b="1" dirty="0">
                <a:solidFill>
                  <a:srgbClr val="1F1E1D"/>
                </a:solidFill>
                <a:latin typeface="Calibri" pitchFamily="34" charset="0"/>
                <a:ea typeface="Calibri" pitchFamily="34" charset="-122"/>
                <a:cs typeface="Calibri" pitchFamily="34" charset="-120"/>
              </a:rPr>
              <a:t>Claude Camp: Your first real workflow in Cowork</a:t>
            </a:r>
            <a:endParaRPr lang="en-US" sz="1500" dirty="0"/>
          </a:p>
        </p:txBody>
      </p:sp>
      <p:sp>
        <p:nvSpPr>
          <p:cNvPr id="30" name="Text 28"/>
          <p:cNvSpPr txBox="1"/>
          <p:nvPr/>
        </p:nvSpPr>
        <p:spPr>
          <a:xfrm>
            <a:off x="1298448" y="6016752"/>
            <a:ext cx="9875520" cy="32004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Coworkでの実践ワークフロー構築</a:t>
            </a:r>
            <a:endParaRPr lang="en-US" sz="1100" dirty="0"/>
          </a:p>
        </p:txBody>
      </p:sp>
      <p:sp>
        <p:nvSpPr>
          <p:cNvPr id="31" name="Text 2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1</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Claude Academy: Claude Code 101</a:t>
            </a:r>
            <a:endParaRPr lang="en-US" sz="2400" dirty="0"/>
          </a:p>
        </p:txBody>
      </p:sp>
      <p:sp>
        <p:nvSpPr>
          <p:cNvPr id="4" name="Text 2"/>
          <p:cNvSpPr txBox="1"/>
          <p:nvPr/>
        </p:nvSpPr>
        <p:spPr>
          <a:xfrm>
            <a:off x="548640" y="1371600"/>
            <a:ext cx="10607040" cy="365760"/>
          </a:xfrm>
          <a:prstGeom prst="rect">
            <a:avLst/>
          </a:prstGeom>
          <a:noFill/>
          <a:ln/>
        </p:spPr>
        <p:txBody>
          <a:bodyPr wrap="square" lIns="0" tIns="0" rIns="0" bIns="0" rtlCol="0" anchor="ctr"/>
          <a:lstStyle/>
          <a:p>
            <a:pPr indent="0" marL="0">
              <a:buNone/>
            </a:pPr>
            <a:r>
              <a:rPr lang="en-US" sz="1250" i="1" dirty="0">
                <a:solidFill>
                  <a:srgbClr val="6B6862"/>
                </a:solidFill>
                <a:latin typeface="Calibri" pitchFamily="34" charset="0"/>
                <a:ea typeface="Calibri" pitchFamily="34" charset="-122"/>
                <a:cs typeface="Calibri" pitchFamily="34" charset="-120"/>
              </a:rPr>
              <a:t>ターミナル常駐のエージェント型コーディングツールを基礎から学ぶ公式コース</a:t>
            </a:r>
            <a:endParaRPr lang="en-US" sz="1250" dirty="0"/>
          </a:p>
        </p:txBody>
      </p:sp>
      <p:sp>
        <p:nvSpPr>
          <p:cNvPr id="5" name="Shape 3"/>
          <p:cNvSpPr/>
          <p:nvPr/>
        </p:nvSpPr>
        <p:spPr>
          <a:xfrm>
            <a:off x="548640" y="1828800"/>
            <a:ext cx="2514600" cy="1097280"/>
          </a:xfrm>
          <a:prstGeom prst="roundRect">
            <a:avLst>
              <a:gd name="adj" fmla="val 8333"/>
            </a:avLst>
          </a:prstGeom>
          <a:solidFill>
            <a:srgbClr val="FFFFFF"/>
          </a:solidFill>
          <a:ln w="12700">
            <a:solidFill>
              <a:srgbClr val="E5E2DC"/>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548640" y="1938528"/>
            <a:ext cx="2514600" cy="548640"/>
          </a:xfrm>
          <a:prstGeom prst="rect">
            <a:avLst/>
          </a:prstGeom>
          <a:noFill/>
          <a:ln/>
        </p:spPr>
        <p:txBody>
          <a:bodyPr wrap="square" lIns="0" tIns="0" rIns="0" bIns="0" rtlCol="0" anchor="ctr"/>
          <a:lstStyle/>
          <a:p>
            <a:pPr algn="ctr" indent="0" marL="0">
              <a:buNone/>
            </a:pPr>
            <a:r>
              <a:rPr lang="en-US" sz="2200" b="1" dirty="0">
                <a:solidFill>
                  <a:srgbClr val="CC785C"/>
                </a:solidFill>
                <a:latin typeface="Calibri" pitchFamily="34" charset="0"/>
                <a:ea typeface="Calibri" pitchFamily="34" charset="-122"/>
                <a:cs typeface="Calibri" pitchFamily="34" charset="-120"/>
              </a:rPr>
              <a:t>12</a:t>
            </a:r>
            <a:endParaRPr lang="en-US" sz="2200" dirty="0"/>
          </a:p>
        </p:txBody>
      </p:sp>
      <p:sp>
        <p:nvSpPr>
          <p:cNvPr id="7" name="Text 5"/>
          <p:cNvSpPr txBox="1"/>
          <p:nvPr/>
        </p:nvSpPr>
        <p:spPr>
          <a:xfrm>
            <a:off x="548640" y="2468880"/>
            <a:ext cx="2514600" cy="365760"/>
          </a:xfrm>
          <a:prstGeom prst="rect">
            <a:avLst/>
          </a:prstGeom>
          <a:noFill/>
          <a:ln/>
        </p:spPr>
        <p:txBody>
          <a:bodyPr wrap="square" lIns="0" tIns="0" rIns="0" bIns="0" rtlCol="0" anchor="ctr"/>
          <a:lstStyle/>
          <a:p>
            <a:pPr algn="ctr" indent="0" marL="0">
              <a:buNone/>
            </a:pPr>
            <a:r>
              <a:rPr lang="en-US" sz="1100" dirty="0">
                <a:solidFill>
                  <a:srgbClr val="6B6862"/>
                </a:solidFill>
                <a:latin typeface="Calibri" pitchFamily="34" charset="0"/>
                <a:ea typeface="Calibri" pitchFamily="34" charset="-122"/>
                <a:cs typeface="Calibri" pitchFamily="34" charset="-120"/>
              </a:rPr>
              <a:t>レッスン</a:t>
            </a:r>
            <a:endParaRPr lang="en-US" sz="1100" dirty="0"/>
          </a:p>
        </p:txBody>
      </p:sp>
      <p:sp>
        <p:nvSpPr>
          <p:cNvPr id="8" name="Shape 6"/>
          <p:cNvSpPr/>
          <p:nvPr/>
        </p:nvSpPr>
        <p:spPr>
          <a:xfrm>
            <a:off x="3246120" y="1828800"/>
            <a:ext cx="2514600" cy="1097280"/>
          </a:xfrm>
          <a:prstGeom prst="roundRect">
            <a:avLst>
              <a:gd name="adj" fmla="val 8333"/>
            </a:avLst>
          </a:prstGeom>
          <a:solidFill>
            <a:srgbClr val="FFFFFF"/>
          </a:solidFill>
          <a:ln w="12700">
            <a:solidFill>
              <a:srgbClr val="E5E2DC"/>
            </a:solidFill>
            <a:prstDash val="solid"/>
          </a:ln>
          <a:effectLst>
            <a:outerShdw sx="100000" sy="100000" kx="0" ky="0" algn="bl" rotWithShape="0" blurRad="76200" dist="25400" dir="5400000">
              <a:srgbClr val="000000">
                <a:alpha val="10000"/>
              </a:srgbClr>
            </a:outerShdw>
          </a:effectLst>
        </p:spPr>
      </p:sp>
      <p:sp>
        <p:nvSpPr>
          <p:cNvPr id="9" name="Text 7"/>
          <p:cNvSpPr txBox="1"/>
          <p:nvPr/>
        </p:nvSpPr>
        <p:spPr>
          <a:xfrm>
            <a:off x="3246120" y="1938528"/>
            <a:ext cx="2514600" cy="548640"/>
          </a:xfrm>
          <a:prstGeom prst="rect">
            <a:avLst/>
          </a:prstGeom>
          <a:noFill/>
          <a:ln/>
        </p:spPr>
        <p:txBody>
          <a:bodyPr wrap="square" lIns="0" tIns="0" rIns="0" bIns="0" rtlCol="0" anchor="ctr"/>
          <a:lstStyle/>
          <a:p>
            <a:pPr algn="ctr" indent="0" marL="0">
              <a:buNone/>
            </a:pPr>
            <a:r>
              <a:rPr lang="en-US" sz="2200" b="1" dirty="0">
                <a:solidFill>
                  <a:srgbClr val="CC785C"/>
                </a:solidFill>
                <a:latin typeface="Calibri" pitchFamily="34" charset="0"/>
                <a:ea typeface="Calibri" pitchFamily="34" charset="-122"/>
                <a:cs typeface="Calibri" pitchFamily="34" charset="-120"/>
              </a:rPr>
              <a:t>1.5h</a:t>
            </a:r>
            <a:endParaRPr lang="en-US" sz="2200" dirty="0"/>
          </a:p>
        </p:txBody>
      </p:sp>
      <p:sp>
        <p:nvSpPr>
          <p:cNvPr id="10" name="Text 8"/>
          <p:cNvSpPr txBox="1"/>
          <p:nvPr/>
        </p:nvSpPr>
        <p:spPr>
          <a:xfrm>
            <a:off x="3246120" y="2468880"/>
            <a:ext cx="2514600" cy="365760"/>
          </a:xfrm>
          <a:prstGeom prst="rect">
            <a:avLst/>
          </a:prstGeom>
          <a:noFill/>
          <a:ln/>
        </p:spPr>
        <p:txBody>
          <a:bodyPr wrap="square" lIns="0" tIns="0" rIns="0" bIns="0" rtlCol="0" anchor="ctr"/>
          <a:lstStyle/>
          <a:p>
            <a:pPr algn="ctr" indent="0" marL="0">
              <a:buNone/>
            </a:pPr>
            <a:r>
              <a:rPr lang="en-US" sz="1100" dirty="0">
                <a:solidFill>
                  <a:srgbClr val="6B6862"/>
                </a:solidFill>
                <a:latin typeface="Calibri" pitchFamily="34" charset="0"/>
                <a:ea typeface="Calibri" pitchFamily="34" charset="-122"/>
                <a:cs typeface="Calibri" pitchFamily="34" charset="-120"/>
              </a:rPr>
              <a:t>所要時間</a:t>
            </a:r>
            <a:endParaRPr lang="en-US" sz="1100" dirty="0"/>
          </a:p>
        </p:txBody>
      </p:sp>
      <p:sp>
        <p:nvSpPr>
          <p:cNvPr id="11" name="Shape 9"/>
          <p:cNvSpPr/>
          <p:nvPr/>
        </p:nvSpPr>
        <p:spPr>
          <a:xfrm>
            <a:off x="5943600" y="1828800"/>
            <a:ext cx="2514600" cy="1097280"/>
          </a:xfrm>
          <a:prstGeom prst="roundRect">
            <a:avLst>
              <a:gd name="adj" fmla="val 8333"/>
            </a:avLst>
          </a:prstGeom>
          <a:solidFill>
            <a:srgbClr val="FFFFFF"/>
          </a:solidFill>
          <a:ln w="12700">
            <a:solidFill>
              <a:srgbClr val="E5E2DC"/>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5943600" y="1938528"/>
            <a:ext cx="2514600" cy="548640"/>
          </a:xfrm>
          <a:prstGeom prst="rect">
            <a:avLst/>
          </a:prstGeom>
          <a:noFill/>
          <a:ln/>
        </p:spPr>
        <p:txBody>
          <a:bodyPr wrap="square" lIns="0" tIns="0" rIns="0" bIns="0" rtlCol="0" anchor="ctr"/>
          <a:lstStyle/>
          <a:p>
            <a:pPr algn="ctr" indent="0" marL="0">
              <a:buNone/>
            </a:pPr>
            <a:r>
              <a:rPr lang="en-US" sz="2200" b="1" dirty="0">
                <a:solidFill>
                  <a:srgbClr val="CC785C"/>
                </a:solidFill>
                <a:latin typeface="Calibri" pitchFamily="34" charset="0"/>
                <a:ea typeface="Calibri" pitchFamily="34" charset="-122"/>
                <a:cs typeface="Calibri" pitchFamily="34" charset="-120"/>
              </a:rPr>
              <a:t>1</a:t>
            </a:r>
            <a:endParaRPr lang="en-US" sz="2200" dirty="0"/>
          </a:p>
        </p:txBody>
      </p:sp>
      <p:sp>
        <p:nvSpPr>
          <p:cNvPr id="13" name="Text 11"/>
          <p:cNvSpPr txBox="1"/>
          <p:nvPr/>
        </p:nvSpPr>
        <p:spPr>
          <a:xfrm>
            <a:off x="5943600" y="2468880"/>
            <a:ext cx="2514600" cy="365760"/>
          </a:xfrm>
          <a:prstGeom prst="rect">
            <a:avLst/>
          </a:prstGeom>
          <a:noFill/>
          <a:ln/>
        </p:spPr>
        <p:txBody>
          <a:bodyPr wrap="square" lIns="0" tIns="0" rIns="0" bIns="0" rtlCol="0" anchor="ctr"/>
          <a:lstStyle/>
          <a:p>
            <a:pPr algn="ctr" indent="0" marL="0">
              <a:buNone/>
            </a:pPr>
            <a:r>
              <a:rPr lang="en-US" sz="1100" dirty="0">
                <a:solidFill>
                  <a:srgbClr val="6B6862"/>
                </a:solidFill>
                <a:latin typeface="Calibri" pitchFamily="34" charset="0"/>
                <a:ea typeface="Calibri" pitchFamily="34" charset="-122"/>
                <a:cs typeface="Calibri" pitchFamily="34" charset="-120"/>
              </a:rPr>
              <a:t>クイズ</a:t>
            </a:r>
            <a:endParaRPr lang="en-US" sz="1100" dirty="0"/>
          </a:p>
        </p:txBody>
      </p:sp>
      <p:sp>
        <p:nvSpPr>
          <p:cNvPr id="14" name="Shape 12"/>
          <p:cNvSpPr/>
          <p:nvPr/>
        </p:nvSpPr>
        <p:spPr>
          <a:xfrm>
            <a:off x="8641080" y="1828800"/>
            <a:ext cx="2514600" cy="1097280"/>
          </a:xfrm>
          <a:prstGeom prst="roundRect">
            <a:avLst>
              <a:gd name="adj" fmla="val 8333"/>
            </a:avLst>
          </a:prstGeom>
          <a:solidFill>
            <a:srgbClr val="FFFFFF"/>
          </a:solidFill>
          <a:ln w="12700">
            <a:solidFill>
              <a:srgbClr val="E5E2DC"/>
            </a:solidFill>
            <a:prstDash val="solid"/>
          </a:ln>
          <a:effectLst>
            <a:outerShdw sx="100000" sy="100000" kx="0" ky="0" algn="bl" rotWithShape="0" blurRad="76200" dist="25400" dir="5400000">
              <a:srgbClr val="000000">
                <a:alpha val="10000"/>
              </a:srgbClr>
            </a:outerShdw>
          </a:effectLst>
        </p:spPr>
      </p:sp>
      <p:sp>
        <p:nvSpPr>
          <p:cNvPr id="15" name="Text 13"/>
          <p:cNvSpPr txBox="1"/>
          <p:nvPr/>
        </p:nvSpPr>
        <p:spPr>
          <a:xfrm>
            <a:off x="8641080" y="1938528"/>
            <a:ext cx="2514600" cy="548640"/>
          </a:xfrm>
          <a:prstGeom prst="rect">
            <a:avLst/>
          </a:prstGeom>
          <a:noFill/>
          <a:ln/>
        </p:spPr>
        <p:txBody>
          <a:bodyPr wrap="square" lIns="0" tIns="0" rIns="0" bIns="0" rtlCol="0" anchor="ctr"/>
          <a:lstStyle/>
          <a:p>
            <a:pPr algn="ctr" indent="0" marL="0">
              <a:buNone/>
            </a:pPr>
            <a:r>
              <a:rPr lang="en-US" sz="2200" b="1" dirty="0">
                <a:solidFill>
                  <a:srgbClr val="CC785C"/>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8641080" y="2468880"/>
            <a:ext cx="2514600" cy="365760"/>
          </a:xfrm>
          <a:prstGeom prst="rect">
            <a:avLst/>
          </a:prstGeom>
          <a:noFill/>
          <a:ln/>
        </p:spPr>
        <p:txBody>
          <a:bodyPr wrap="square" lIns="0" tIns="0" rIns="0" bIns="0" rtlCol="0" anchor="ctr"/>
          <a:lstStyle/>
          <a:p>
            <a:pPr algn="ctr" indent="0" marL="0">
              <a:buNone/>
            </a:pPr>
            <a:r>
              <a:rPr lang="en-US" sz="1100" dirty="0">
                <a:solidFill>
                  <a:srgbClr val="6B6862"/>
                </a:solidFill>
                <a:latin typeface="Calibri" pitchFamily="34" charset="0"/>
                <a:ea typeface="Calibri" pitchFamily="34" charset="-122"/>
                <a:cs typeface="Calibri" pitchFamily="34" charset="-120"/>
              </a:rPr>
              <a:t>修了バッジ</a:t>
            </a:r>
            <a:endParaRPr lang="en-US" sz="1100" dirty="0"/>
          </a:p>
        </p:txBody>
      </p:sp>
      <p:sp>
        <p:nvSpPr>
          <p:cNvPr id="17" name="Text 15"/>
          <p:cNvSpPr txBox="1"/>
          <p:nvPr/>
        </p:nvSpPr>
        <p:spPr>
          <a:xfrm>
            <a:off x="548640" y="3200400"/>
            <a:ext cx="10607040" cy="365760"/>
          </a:xfrm>
          <a:prstGeom prst="rect">
            <a:avLst/>
          </a:prstGeom>
          <a:noFill/>
          <a:ln/>
        </p:spPr>
        <p:txBody>
          <a:bodyPr wrap="square" lIns="0" tIns="0" rIns="0" bIns="0" rtlCol="0" anchor="ctr"/>
          <a:lstStyle/>
          <a:p>
            <a:pPr indent="0" marL="0">
              <a:buNone/>
            </a:pPr>
            <a:r>
              <a:rPr lang="en-US" sz="1400" b="1" dirty="0">
                <a:solidFill>
                  <a:srgbClr val="1F1E1D"/>
                </a:solidFill>
                <a:latin typeface="Calibri" pitchFamily="34" charset="0"/>
                <a:ea typeface="Calibri" pitchFamily="34" charset="-122"/>
                <a:cs typeface="Calibri" pitchFamily="34" charset="-120"/>
              </a:rPr>
              <a:t>学習内容(このコースを終えると)</a:t>
            </a:r>
            <a:endParaRPr lang="en-US" sz="1400" dirty="0"/>
          </a:p>
        </p:txBody>
      </p:sp>
      <p:sp>
        <p:nvSpPr>
          <p:cNvPr id="18" name="Text 16"/>
          <p:cNvSpPr txBox="1"/>
          <p:nvPr/>
        </p:nvSpPr>
        <p:spPr>
          <a:xfrm>
            <a:off x="548640" y="3566160"/>
            <a:ext cx="10607040" cy="23774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F1E1D"/>
                </a:solidFill>
                <a:latin typeface="Calibri" pitchFamily="34" charset="0"/>
                <a:ea typeface="Calibri" pitchFamily="34" charset="-122"/>
                <a:cs typeface="Calibri" pitchFamily="34" charset="-120"/>
              </a:rPr>
              <a:t>AIコーディングエージェントとチャットベースツールの違いを説明できる</a:t>
            </a:r>
            <a:endParaRPr lang="en-US" sz="1250" dirty="0"/>
          </a:p>
          <a:p>
            <a:pPr marL="342900" indent="-342900">
              <a:spcAft>
                <a:spcPts val="800"/>
              </a:spcAft>
              <a:buSzPct val="100000"/>
              <a:buChar char="•"/>
            </a:pPr>
            <a:r>
              <a:rPr lang="en-US" sz="1250" dirty="0">
                <a:solidFill>
                  <a:srgbClr val="1F1E1D"/>
                </a:solidFill>
                <a:latin typeface="Calibri" pitchFamily="34" charset="0"/>
                <a:ea typeface="Calibri" pitchFamily="34" charset="-122"/>
                <a:cs typeface="Calibri" pitchFamily="34" charset="-120"/>
              </a:rPr>
              <a:t>エージェントループ・コンテキストウィンドウ・ツール・権限の連携を理解する</a:t>
            </a:r>
            <a:endParaRPr lang="en-US" sz="1250" dirty="0"/>
          </a:p>
          <a:p>
            <a:pPr marL="342900" indent="-342900">
              <a:spcAft>
                <a:spcPts val="800"/>
              </a:spcAft>
              <a:buSzPct val="100000"/>
              <a:buChar char="•"/>
            </a:pPr>
            <a:r>
              <a:rPr lang="en-US" sz="1250" dirty="0">
                <a:solidFill>
                  <a:srgbClr val="1F1E1D"/>
                </a:solidFill>
                <a:latin typeface="Calibri" pitchFamily="34" charset="0"/>
                <a:ea typeface="Calibri" pitchFamily="34" charset="-122"/>
                <a:cs typeface="Calibri" pitchFamily="34" charset="-120"/>
              </a:rPr>
              <a:t>手動モード・自動承認・Plan Modeを使い分けて効果的にプロンプトを書く</a:t>
            </a:r>
            <a:endParaRPr lang="en-US" sz="1250" dirty="0"/>
          </a:p>
          <a:p>
            <a:pPr marL="342900" indent="-342900">
              <a:spcAft>
                <a:spcPts val="800"/>
              </a:spcAft>
              <a:buSzPct val="100000"/>
              <a:buChar char="•"/>
            </a:pPr>
            <a:r>
              <a:rPr lang="en-US" sz="1250" dirty="0">
                <a:solidFill>
                  <a:srgbClr val="1F1E1D"/>
                </a:solidFill>
                <a:latin typeface="Calibri" pitchFamily="34" charset="0"/>
                <a:ea typeface="Calibri" pitchFamily="34" charset="-122"/>
                <a:cs typeface="Calibri" pitchFamily="34" charset="-120"/>
              </a:rPr>
              <a:t>Explore → Plan → Code → Commit ワークフローに従う</a:t>
            </a:r>
            <a:endParaRPr lang="en-US" sz="1250" dirty="0"/>
          </a:p>
          <a:p>
            <a:pPr marL="342900" indent="-342900">
              <a:spcAft>
                <a:spcPts val="800"/>
              </a:spcAft>
              <a:buSzPct val="100000"/>
              <a:buChar char="•"/>
            </a:pPr>
            <a:r>
              <a:rPr lang="en-US" sz="1250" dirty="0">
                <a:solidFill>
                  <a:srgbClr val="1F1E1D"/>
                </a:solidFill>
                <a:latin typeface="Calibri" pitchFamily="34" charset="0"/>
                <a:ea typeface="Calibri" pitchFamily="34" charset="-122"/>
                <a:cs typeface="Calibri" pitchFamily="34" charset="-120"/>
              </a:rPr>
              <a:t>CLAUDE.md・サブエージェント・MCP・フックでClaude Codeをカスタマイズする</a:t>
            </a:r>
            <a:endParaRPr lang="en-US" sz="1250" dirty="0"/>
          </a:p>
        </p:txBody>
      </p:sp>
      <p:sp>
        <p:nvSpPr>
          <p:cNvPr id="19" name="Text 17"/>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Academy「Claude Code 101」コースページ(academy.claude.com/ja)</a:t>
            </a:r>
            <a:endParaRPr lang="en-US" sz="950" dirty="0"/>
          </a:p>
        </p:txBody>
      </p:sp>
      <p:sp>
        <p:nvSpPr>
          <p:cNvPr id="20" name="Text 1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1</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コース構成(4セクション・12レッスン)</a:t>
            </a:r>
            <a:endParaRPr lang="en-US" sz="2400" dirty="0"/>
          </a:p>
        </p:txBody>
      </p:sp>
      <p:sp>
        <p:nvSpPr>
          <p:cNvPr id="4" name="Shape 2"/>
          <p:cNvSpPr/>
          <p:nvPr/>
        </p:nvSpPr>
        <p:spPr>
          <a:xfrm>
            <a:off x="548640" y="1554480"/>
            <a:ext cx="10607040" cy="1097280"/>
          </a:xfrm>
          <a:prstGeom prst="roundRect">
            <a:avLst>
              <a:gd name="adj" fmla="val 8333"/>
            </a:avLst>
          </a:prstGeom>
          <a:solidFill>
            <a:srgbClr val="33312E"/>
          </a:solidFill>
          <a:ln/>
        </p:spPr>
      </p:sp>
      <p:sp>
        <p:nvSpPr>
          <p:cNvPr id="5" name="Text 3"/>
          <p:cNvSpPr txBox="1"/>
          <p:nvPr/>
        </p:nvSpPr>
        <p:spPr>
          <a:xfrm>
            <a:off x="822960" y="1691640"/>
            <a:ext cx="3840480" cy="365760"/>
          </a:xfrm>
          <a:prstGeom prst="rect">
            <a:avLst/>
          </a:prstGeom>
          <a:noFill/>
          <a:ln/>
        </p:spPr>
        <p:txBody>
          <a:bodyPr wrap="square" lIns="0" tIns="0" rIns="0" bIns="0" rtlCol="0" anchor="ctr"/>
          <a:lstStyle/>
          <a:p>
            <a:pPr indent="0" marL="0">
              <a:buNone/>
            </a:pPr>
            <a:r>
              <a:rPr lang="en-US" sz="1450" b="1" dirty="0">
                <a:solidFill>
                  <a:srgbClr val="F4F3F0"/>
                </a:solidFill>
                <a:latin typeface="Calibri" pitchFamily="34" charset="0"/>
                <a:ea typeface="Calibri" pitchFamily="34" charset="-122"/>
                <a:cs typeface="Calibri" pitchFamily="34" charset="-120"/>
              </a:rPr>
              <a:t>Claude Codeとは？</a:t>
            </a:r>
            <a:endParaRPr lang="en-US" sz="1450" dirty="0"/>
          </a:p>
        </p:txBody>
      </p:sp>
      <p:sp>
        <p:nvSpPr>
          <p:cNvPr id="6" name="Text 4"/>
          <p:cNvSpPr txBox="1"/>
          <p:nvPr/>
        </p:nvSpPr>
        <p:spPr>
          <a:xfrm>
            <a:off x="822960" y="2057400"/>
            <a:ext cx="3840480" cy="365760"/>
          </a:xfrm>
          <a:prstGeom prst="rect">
            <a:avLst/>
          </a:prstGeom>
          <a:noFill/>
          <a:ln/>
        </p:spPr>
        <p:txBody>
          <a:bodyPr wrap="square" lIns="0" tIns="0" rIns="0" bIns="0" rtlCol="0" anchor="ctr"/>
          <a:lstStyle/>
          <a:p>
            <a:pPr indent="0" marL="0">
              <a:buNone/>
            </a:pPr>
            <a:r>
              <a:rPr lang="en-US" sz="1100" dirty="0">
                <a:solidFill>
                  <a:srgbClr val="CC785C"/>
                </a:solidFill>
                <a:latin typeface="Calibri" pitchFamily="34" charset="0"/>
                <a:ea typeface="Calibri" pitchFamily="34" charset="-122"/>
                <a:cs typeface="Calibri" pitchFamily="34" charset="-120"/>
              </a:rPr>
              <a:t>2レッスン</a:t>
            </a:r>
            <a:endParaRPr lang="en-US" sz="1100" dirty="0"/>
          </a:p>
        </p:txBody>
      </p:sp>
      <p:sp>
        <p:nvSpPr>
          <p:cNvPr id="7" name="Text 5"/>
          <p:cNvSpPr txBox="1"/>
          <p:nvPr/>
        </p:nvSpPr>
        <p:spPr>
          <a:xfrm>
            <a:off x="4846320" y="1691640"/>
            <a:ext cx="6126480" cy="868680"/>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エージェントループ、ツールと権限の統制を第一原理から理解する</a:t>
            </a:r>
            <a:endParaRPr lang="en-US" sz="1150" dirty="0"/>
          </a:p>
        </p:txBody>
      </p:sp>
      <p:sp>
        <p:nvSpPr>
          <p:cNvPr id="8" name="Shape 6"/>
          <p:cNvSpPr/>
          <p:nvPr/>
        </p:nvSpPr>
        <p:spPr>
          <a:xfrm>
            <a:off x="548640" y="2788920"/>
            <a:ext cx="10607040" cy="1097280"/>
          </a:xfrm>
          <a:prstGeom prst="roundRect">
            <a:avLst>
              <a:gd name="adj" fmla="val 8333"/>
            </a:avLst>
          </a:prstGeom>
          <a:solidFill>
            <a:srgbClr val="33312E"/>
          </a:solidFill>
          <a:ln/>
        </p:spPr>
      </p:sp>
      <p:sp>
        <p:nvSpPr>
          <p:cNvPr id="9" name="Text 7"/>
          <p:cNvSpPr txBox="1"/>
          <p:nvPr/>
        </p:nvSpPr>
        <p:spPr>
          <a:xfrm>
            <a:off x="822960" y="2926080"/>
            <a:ext cx="3840480" cy="365760"/>
          </a:xfrm>
          <a:prstGeom prst="rect">
            <a:avLst/>
          </a:prstGeom>
          <a:noFill/>
          <a:ln/>
        </p:spPr>
        <p:txBody>
          <a:bodyPr wrap="square" lIns="0" tIns="0" rIns="0" bIns="0" rtlCol="0" anchor="ctr"/>
          <a:lstStyle/>
          <a:p>
            <a:pPr indent="0" marL="0">
              <a:buNone/>
            </a:pPr>
            <a:r>
              <a:rPr lang="en-US" sz="1450" b="1" dirty="0">
                <a:solidFill>
                  <a:srgbClr val="F4F3F0"/>
                </a:solidFill>
                <a:latin typeface="Calibri" pitchFamily="34" charset="0"/>
                <a:ea typeface="Calibri" pitchFamily="34" charset="-122"/>
                <a:cs typeface="Calibri" pitchFamily="34" charset="-120"/>
              </a:rPr>
              <a:t>最初のプロンプト</a:t>
            </a:r>
            <a:endParaRPr lang="en-US" sz="1450" dirty="0"/>
          </a:p>
        </p:txBody>
      </p:sp>
      <p:sp>
        <p:nvSpPr>
          <p:cNvPr id="10" name="Text 8"/>
          <p:cNvSpPr txBox="1"/>
          <p:nvPr/>
        </p:nvSpPr>
        <p:spPr>
          <a:xfrm>
            <a:off x="822960" y="3291840"/>
            <a:ext cx="3840480" cy="365760"/>
          </a:xfrm>
          <a:prstGeom prst="rect">
            <a:avLst/>
          </a:prstGeom>
          <a:noFill/>
          <a:ln/>
        </p:spPr>
        <p:txBody>
          <a:bodyPr wrap="square" lIns="0" tIns="0" rIns="0" bIns="0" rtlCol="0" anchor="ctr"/>
          <a:lstStyle/>
          <a:p>
            <a:pPr indent="0" marL="0">
              <a:buNone/>
            </a:pPr>
            <a:r>
              <a:rPr lang="en-US" sz="1100" dirty="0">
                <a:solidFill>
                  <a:srgbClr val="CC785C"/>
                </a:solidFill>
                <a:latin typeface="Calibri" pitchFamily="34" charset="0"/>
                <a:ea typeface="Calibri" pitchFamily="34" charset="-122"/>
                <a:cs typeface="Calibri" pitchFamily="34" charset="-120"/>
              </a:rPr>
              <a:t>2レッスン</a:t>
            </a:r>
            <a:endParaRPr lang="en-US" sz="1100" dirty="0"/>
          </a:p>
        </p:txBody>
      </p:sp>
      <p:sp>
        <p:nvSpPr>
          <p:cNvPr id="11" name="Text 9"/>
          <p:cNvSpPr txBox="1"/>
          <p:nvPr/>
        </p:nvSpPr>
        <p:spPr>
          <a:xfrm>
            <a:off x="4846320" y="2926080"/>
            <a:ext cx="6126480" cy="868680"/>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複数環境へのインストール、承認モード・自動承認・Plan Modeの使い分け</a:t>
            </a:r>
            <a:endParaRPr lang="en-US" sz="1150" dirty="0"/>
          </a:p>
        </p:txBody>
      </p:sp>
      <p:sp>
        <p:nvSpPr>
          <p:cNvPr id="12" name="Shape 10"/>
          <p:cNvSpPr/>
          <p:nvPr/>
        </p:nvSpPr>
        <p:spPr>
          <a:xfrm>
            <a:off x="548640" y="4023360"/>
            <a:ext cx="10607040" cy="1097280"/>
          </a:xfrm>
          <a:prstGeom prst="roundRect">
            <a:avLst>
              <a:gd name="adj" fmla="val 8333"/>
            </a:avLst>
          </a:prstGeom>
          <a:solidFill>
            <a:srgbClr val="33312E"/>
          </a:solidFill>
          <a:ln/>
        </p:spPr>
      </p:sp>
      <p:sp>
        <p:nvSpPr>
          <p:cNvPr id="13" name="Text 11"/>
          <p:cNvSpPr txBox="1"/>
          <p:nvPr/>
        </p:nvSpPr>
        <p:spPr>
          <a:xfrm>
            <a:off x="822960" y="4160520"/>
            <a:ext cx="3840480" cy="365760"/>
          </a:xfrm>
          <a:prstGeom prst="rect">
            <a:avLst/>
          </a:prstGeom>
          <a:noFill/>
          <a:ln/>
        </p:spPr>
        <p:txBody>
          <a:bodyPr wrap="square" lIns="0" tIns="0" rIns="0" bIns="0" rtlCol="0" anchor="ctr"/>
          <a:lstStyle/>
          <a:p>
            <a:pPr indent="0" marL="0">
              <a:buNone/>
            </a:pPr>
            <a:r>
              <a:rPr lang="en-US" sz="1450" b="1" dirty="0">
                <a:solidFill>
                  <a:srgbClr val="F4F3F0"/>
                </a:solidFill>
                <a:latin typeface="Calibri" pitchFamily="34" charset="0"/>
                <a:ea typeface="Calibri" pitchFamily="34" charset="-122"/>
                <a:cs typeface="Calibri" pitchFamily="34" charset="-120"/>
              </a:rPr>
              <a:t>日々のワークフロー</a:t>
            </a:r>
            <a:endParaRPr lang="en-US" sz="1450" dirty="0"/>
          </a:p>
        </p:txBody>
      </p:sp>
      <p:sp>
        <p:nvSpPr>
          <p:cNvPr id="14" name="Text 12"/>
          <p:cNvSpPr txBox="1"/>
          <p:nvPr/>
        </p:nvSpPr>
        <p:spPr>
          <a:xfrm>
            <a:off x="822960" y="4526280"/>
            <a:ext cx="3840480" cy="365760"/>
          </a:xfrm>
          <a:prstGeom prst="rect">
            <a:avLst/>
          </a:prstGeom>
          <a:noFill/>
          <a:ln/>
        </p:spPr>
        <p:txBody>
          <a:bodyPr wrap="square" lIns="0" tIns="0" rIns="0" bIns="0" rtlCol="0" anchor="ctr"/>
          <a:lstStyle/>
          <a:p>
            <a:pPr indent="0" marL="0">
              <a:buNone/>
            </a:pPr>
            <a:r>
              <a:rPr lang="en-US" sz="1100" dirty="0">
                <a:solidFill>
                  <a:srgbClr val="CC785C"/>
                </a:solidFill>
                <a:latin typeface="Calibri" pitchFamily="34" charset="0"/>
                <a:ea typeface="Calibri" pitchFamily="34" charset="-122"/>
                <a:cs typeface="Calibri" pitchFamily="34" charset="-120"/>
              </a:rPr>
              <a:t>3レッスン</a:t>
            </a:r>
            <a:endParaRPr lang="en-US" sz="1100" dirty="0"/>
          </a:p>
        </p:txBody>
      </p:sp>
      <p:sp>
        <p:nvSpPr>
          <p:cNvPr id="15" name="Text 13"/>
          <p:cNvSpPr txBox="1"/>
          <p:nvPr/>
        </p:nvSpPr>
        <p:spPr>
          <a:xfrm>
            <a:off x="4846320" y="4160520"/>
            <a:ext cx="6126480" cy="868680"/>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Explore→Plan→Code→Commit、コンテキスト管理、コードレビュー</a:t>
            </a:r>
            <a:endParaRPr lang="en-US" sz="1150" dirty="0"/>
          </a:p>
        </p:txBody>
      </p:sp>
      <p:sp>
        <p:nvSpPr>
          <p:cNvPr id="16" name="Shape 14"/>
          <p:cNvSpPr/>
          <p:nvPr/>
        </p:nvSpPr>
        <p:spPr>
          <a:xfrm>
            <a:off x="548640" y="5257800"/>
            <a:ext cx="10607040" cy="1097280"/>
          </a:xfrm>
          <a:prstGeom prst="roundRect">
            <a:avLst>
              <a:gd name="adj" fmla="val 8333"/>
            </a:avLst>
          </a:prstGeom>
          <a:solidFill>
            <a:srgbClr val="33312E"/>
          </a:solidFill>
          <a:ln/>
        </p:spPr>
      </p:sp>
      <p:sp>
        <p:nvSpPr>
          <p:cNvPr id="17" name="Text 15"/>
          <p:cNvSpPr txBox="1"/>
          <p:nvPr/>
        </p:nvSpPr>
        <p:spPr>
          <a:xfrm>
            <a:off x="822960" y="5394960"/>
            <a:ext cx="3840480" cy="365760"/>
          </a:xfrm>
          <a:prstGeom prst="rect">
            <a:avLst/>
          </a:prstGeom>
          <a:noFill/>
          <a:ln/>
        </p:spPr>
        <p:txBody>
          <a:bodyPr wrap="square" lIns="0" tIns="0" rIns="0" bIns="0" rtlCol="0" anchor="ctr"/>
          <a:lstStyle/>
          <a:p>
            <a:pPr indent="0" marL="0">
              <a:buNone/>
            </a:pPr>
            <a:r>
              <a:rPr lang="en-US" sz="1450" b="1" dirty="0">
                <a:solidFill>
                  <a:srgbClr val="F4F3F0"/>
                </a:solidFill>
                <a:latin typeface="Calibri" pitchFamily="34" charset="0"/>
                <a:ea typeface="Calibri" pitchFamily="34" charset="-122"/>
                <a:cs typeface="Calibri" pitchFamily="34" charset="-120"/>
              </a:rPr>
              <a:t>Claude Codeをカスタマイズする</a:t>
            </a:r>
            <a:endParaRPr lang="en-US" sz="1450" dirty="0"/>
          </a:p>
        </p:txBody>
      </p:sp>
      <p:sp>
        <p:nvSpPr>
          <p:cNvPr id="18" name="Text 16"/>
          <p:cNvSpPr txBox="1"/>
          <p:nvPr/>
        </p:nvSpPr>
        <p:spPr>
          <a:xfrm>
            <a:off x="822960" y="5760720"/>
            <a:ext cx="3840480" cy="365760"/>
          </a:xfrm>
          <a:prstGeom prst="rect">
            <a:avLst/>
          </a:prstGeom>
          <a:noFill/>
          <a:ln/>
        </p:spPr>
        <p:txBody>
          <a:bodyPr wrap="square" lIns="0" tIns="0" rIns="0" bIns="0" rtlCol="0" anchor="ctr"/>
          <a:lstStyle/>
          <a:p>
            <a:pPr indent="0" marL="0">
              <a:buNone/>
            </a:pPr>
            <a:r>
              <a:rPr lang="en-US" sz="1100" dirty="0">
                <a:solidFill>
                  <a:srgbClr val="CC785C"/>
                </a:solidFill>
                <a:latin typeface="Calibri" pitchFamily="34" charset="0"/>
                <a:ea typeface="Calibri" pitchFamily="34" charset="-122"/>
                <a:cs typeface="Calibri" pitchFamily="34" charset="-120"/>
              </a:rPr>
              <a:t>5レッスン</a:t>
            </a:r>
            <a:endParaRPr lang="en-US" sz="1100" dirty="0"/>
          </a:p>
        </p:txBody>
      </p:sp>
      <p:sp>
        <p:nvSpPr>
          <p:cNvPr id="19" name="Text 17"/>
          <p:cNvSpPr txBox="1"/>
          <p:nvPr/>
        </p:nvSpPr>
        <p:spPr>
          <a:xfrm>
            <a:off x="4846320" y="5394960"/>
            <a:ext cx="6126480" cy="868680"/>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CLAUDE.md、サブエージェント、スキル、MCP、フック</a:t>
            </a:r>
            <a:endParaRPr lang="en-US" sz="1150" dirty="0"/>
          </a:p>
        </p:txBody>
      </p:sp>
      <p:sp>
        <p:nvSpPr>
          <p:cNvPr id="20" name="Text 1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1</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レッスン1: Claude Codeとは？</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00" i="1" dirty="0">
                <a:solidFill>
                  <a:srgbClr val="6B6862"/>
                </a:solidFill>
                <a:latin typeface="Calibri" pitchFamily="34" charset="0"/>
                <a:ea typeface="Calibri" pitchFamily="34" charset="-122"/>
                <a:cs typeface="Calibri" pitchFamily="34" charset="-120"/>
              </a:rPr>
              <a:t>Claude Code 101 · レッスン1/12</a:t>
            </a:r>
            <a:endParaRPr lang="en-US" sz="1100" dirty="0"/>
          </a:p>
        </p:txBody>
      </p:sp>
      <p:sp>
        <p:nvSpPr>
          <p:cNvPr id="5" name="Text 3"/>
          <p:cNvSpPr txBox="1"/>
          <p:nvPr/>
        </p:nvSpPr>
        <p:spPr>
          <a:xfrm>
            <a:off x="548640" y="1737360"/>
            <a:ext cx="51206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Claude.aiとの違い</a:t>
            </a:r>
            <a:endParaRPr lang="en-US" sz="1300" dirty="0"/>
          </a:p>
        </p:txBody>
      </p:sp>
      <p:sp>
        <p:nvSpPr>
          <p:cNvPr id="6" name="Text 4"/>
          <p:cNvSpPr txBox="1"/>
          <p:nvPr/>
        </p:nvSpPr>
        <p:spPr>
          <a:xfrm>
            <a:off x="548640" y="2057400"/>
            <a:ext cx="5120640" cy="1188720"/>
          </a:xfrm>
          <a:prstGeom prst="rect">
            <a:avLst/>
          </a:prstGeom>
          <a:noFill/>
          <a:ln/>
        </p:spPr>
        <p:txBody>
          <a:bodyPr wrap="square" lIns="0" tIns="0" rIns="0" bIns="0" rtlCol="0" anchor="ctr"/>
          <a:lstStyle/>
          <a:p>
            <a:pPr indent="0" marL="0">
              <a:buNone/>
            </a:pPr>
            <a:r>
              <a:rPr lang="en-US" sz="1050" dirty="0">
                <a:solidFill>
                  <a:srgbClr val="1F1E1D"/>
                </a:solidFill>
                <a:latin typeface="Calibri" pitchFamily="34" charset="0"/>
                <a:ea typeface="Calibri" pitchFamily="34" charset="-122"/>
                <a:cs typeface="Calibri" pitchFamily="34" charset="-120"/>
              </a:rPr>
              <a:t>Claude.aiと異なり、Claude Codeはファイル・ターミナル・コードベース全体に直接アクセスできる。コピー&amp;ペーストで行き来する代わりに、Claude Code自身が作業を実行する。最大の違いは「AIエージェントとして動作する」こと</a:t>
            </a:r>
            <a:endParaRPr lang="en-US" sz="1050" dirty="0"/>
          </a:p>
        </p:txBody>
      </p:sp>
      <p:sp>
        <p:nvSpPr>
          <p:cNvPr id="7" name="Text 5"/>
          <p:cNvSpPr txBox="1"/>
          <p:nvPr/>
        </p:nvSpPr>
        <p:spPr>
          <a:xfrm>
            <a:off x="548640" y="3383280"/>
            <a:ext cx="51206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エージェントとは何か</a:t>
            </a:r>
            <a:endParaRPr lang="en-US" sz="1300" dirty="0"/>
          </a:p>
        </p:txBody>
      </p:sp>
      <p:sp>
        <p:nvSpPr>
          <p:cNvPr id="8" name="Text 6"/>
          <p:cNvSpPr txBox="1"/>
          <p:nvPr/>
        </p:nvSpPr>
        <p:spPr>
          <a:xfrm>
            <a:off x="548640" y="3703320"/>
            <a:ext cx="5120640" cy="1188720"/>
          </a:xfrm>
          <a:prstGeom prst="rect">
            <a:avLst/>
          </a:prstGeom>
          <a:noFill/>
          <a:ln/>
        </p:spPr>
        <p:txBody>
          <a:bodyPr wrap="square" lIns="0" tIns="0" rIns="0" bIns="0" rtlCol="0" anchor="ctr"/>
          <a:lstStyle/>
          <a:p>
            <a:pPr indent="0" marL="0">
              <a:buNone/>
            </a:pPr>
            <a:r>
              <a:rPr lang="en-US" sz="1050" dirty="0">
                <a:solidFill>
                  <a:srgbClr val="1F1E1D"/>
                </a:solidFill>
                <a:latin typeface="Calibri" pitchFamily="34" charset="0"/>
                <a:ea typeface="Calibri" pitchFamily="34" charset="-122"/>
                <a:cs typeface="Calibri" pitchFamily="34" charset="-120"/>
              </a:rPr>
              <a:t>環境と相互作用し、定義された目標を達成するために行動を実行できるソフトウェア。中核ではLLMがリアルタイムでループ処理を行い、ツール・外部サービス・他のAIエージェントにアクセスすることがある</a:t>
            </a:r>
            <a:endParaRPr lang="en-US" sz="1050" dirty="0"/>
          </a:p>
        </p:txBody>
      </p:sp>
      <p:sp>
        <p:nvSpPr>
          <p:cNvPr id="9" name="Text 7"/>
          <p:cNvSpPr txBox="1"/>
          <p:nvPr/>
        </p:nvSpPr>
        <p:spPr>
          <a:xfrm>
            <a:off x="5852160" y="1737360"/>
            <a:ext cx="530352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実際に何ができるのか</a:t>
            </a:r>
            <a:endParaRPr lang="en-US" sz="1300" dirty="0"/>
          </a:p>
        </p:txBody>
      </p:sp>
      <p:sp>
        <p:nvSpPr>
          <p:cNvPr id="10" name="Text 8"/>
          <p:cNvSpPr txBox="1"/>
          <p:nvPr/>
        </p:nvSpPr>
        <p:spPr>
          <a:xfrm>
            <a:off x="5852160" y="2057400"/>
            <a:ext cx="5303520" cy="201168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1F1E1D"/>
                </a:solidFill>
                <a:latin typeface="Calibri" pitchFamily="34" charset="0"/>
                <a:ea typeface="Calibri" pitchFamily="34" charset="-122"/>
                <a:cs typeface="Calibri" pitchFamily="34" charset="-120"/>
              </a:rPr>
              <a:t>コードベースを読み取り、理解する(機能説明・バグ追跡)</a:t>
            </a:r>
            <a:endParaRPr lang="en-US" sz="1000" dirty="0"/>
          </a:p>
          <a:p>
            <a:pPr marL="342900" indent="-342900">
              <a:spcAft>
                <a:spcPts val="500"/>
              </a:spcAft>
              <a:buSzPct val="100000"/>
              <a:buChar char="•"/>
            </a:pPr>
            <a:r>
              <a:rPr lang="en-US" sz="1000" dirty="0">
                <a:solidFill>
                  <a:srgbClr val="1F1E1D"/>
                </a:solidFill>
                <a:latin typeface="Calibri" pitchFamily="34" charset="0"/>
                <a:ea typeface="Calibri" pitchFamily="34" charset="-122"/>
                <a:cs typeface="Calibri" pitchFamily="34" charset="-120"/>
              </a:rPr>
              <a:t>プロジェクト全体のファイルを編集する(関数リファクタリング+参照元の一括更新)</a:t>
            </a:r>
            <a:endParaRPr lang="en-US" sz="1000" dirty="0"/>
          </a:p>
          <a:p>
            <a:pPr marL="342900" indent="-342900">
              <a:spcAft>
                <a:spcPts val="500"/>
              </a:spcAft>
              <a:buSzPct val="100000"/>
              <a:buChar char="•"/>
            </a:pPr>
            <a:r>
              <a:rPr lang="en-US" sz="1000" dirty="0">
                <a:solidFill>
                  <a:srgbClr val="1F1E1D"/>
                </a:solidFill>
                <a:latin typeface="Calibri" pitchFamily="34" charset="0"/>
                <a:ea typeface="Calibri" pitchFamily="34" charset="-122"/>
                <a:cs typeface="Calibri" pitchFamily="34" charset="-120"/>
              </a:rPr>
              <a:t>ターミナルコマンドを実行する(ビルド・テスト・パッケージインストール、出力を見て次を判断)</a:t>
            </a:r>
            <a:endParaRPr lang="en-US" sz="1000" dirty="0"/>
          </a:p>
          <a:p>
            <a:pPr marL="342900" indent="-342900">
              <a:spcAft>
                <a:spcPts val="500"/>
              </a:spcAft>
              <a:buSzPct val="100000"/>
              <a:buChar char="•"/>
            </a:pPr>
            <a:r>
              <a:rPr lang="en-US" sz="1000" dirty="0">
                <a:solidFill>
                  <a:srgbClr val="1F1E1D"/>
                </a:solidFill>
                <a:latin typeface="Calibri" pitchFamily="34" charset="0"/>
                <a:ea typeface="Calibri" pitchFamily="34" charset="-122"/>
                <a:cs typeface="Calibri" pitchFamily="34" charset="-120"/>
              </a:rPr>
              <a:t>Webを検索する(最新のドキュメント・APIリファレンス)</a:t>
            </a:r>
            <a:endParaRPr lang="en-US" sz="1000" dirty="0"/>
          </a:p>
        </p:txBody>
      </p:sp>
      <p:sp>
        <p:nvSpPr>
          <p:cNvPr id="11" name="Text 9"/>
          <p:cNvSpPr txBox="1"/>
          <p:nvPr/>
        </p:nvSpPr>
        <p:spPr>
          <a:xfrm>
            <a:off x="5852160" y="4206240"/>
            <a:ext cx="5303520" cy="173736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効果的に使うための3概念: ①コンテキストウィンドウ(=作業メモリ。全部は保持できないため戦略的に探す) ②権限はあなたがコントロール(確認を求める⇄自動モード) ③ミスもする(意図の誤解・バグ混入・過剰な作り込み。プロセスに関与し続けることで早期発見)</a:t>
            </a:r>
            <a:endParaRPr lang="en-US" sz="1000" dirty="0"/>
          </a:p>
        </p:txBody>
      </p:sp>
      <p:sp>
        <p:nvSpPr>
          <p:cNvPr id="12" name="Text 10"/>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Academy「Claude Code 101」レッスン1: Claude Codeとは？</a:t>
            </a:r>
            <a:endParaRPr lang="en-US" sz="950" dirty="0"/>
          </a:p>
        </p:txBody>
      </p:sp>
      <p:sp>
        <p:nvSpPr>
          <p:cNvPr id="13" name="Text 11"/>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1</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レッスン2: Claude Codeの仕組み</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00" i="1" dirty="0">
                <a:solidFill>
                  <a:srgbClr val="C9C5BD"/>
                </a:solidFill>
                <a:latin typeface="Calibri" pitchFamily="34" charset="0"/>
                <a:ea typeface="Calibri" pitchFamily="34" charset="-122"/>
                <a:cs typeface="Calibri" pitchFamily="34" charset="-120"/>
              </a:rPr>
              <a:t>Claude Code 101 · レッスン2/12</a:t>
            </a:r>
            <a:endParaRPr lang="en-US" sz="1100" dirty="0"/>
          </a:p>
        </p:txBody>
      </p:sp>
      <p:sp>
        <p:nvSpPr>
          <p:cNvPr id="5" name="Text 3"/>
          <p:cNvSpPr txBox="1"/>
          <p:nvPr/>
        </p:nvSpPr>
        <p:spPr>
          <a:xfrm>
            <a:off x="548640" y="173736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エージェント型ループ(5ステップ)</a:t>
            </a:r>
            <a:endParaRPr lang="en-US" sz="1300" dirty="0"/>
          </a:p>
        </p:txBody>
      </p:sp>
      <p:sp>
        <p:nvSpPr>
          <p:cNvPr id="6" name="Text 4"/>
          <p:cNvSpPr txBox="1"/>
          <p:nvPr/>
        </p:nvSpPr>
        <p:spPr>
          <a:xfrm>
            <a:off x="548640" y="2057400"/>
            <a:ext cx="10607040" cy="10058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①プロンプト入力 → ②Claudeがモデルとやり取りしコンテキスト収集、モデルはテキストかツール呼び出しを返す → ③行動を起こす(ファイル編集・コマンド実行) → ④結果を検証し目的達成を判断 → ⑤達成していれば終了して次を待つ、していなければループへ戻り再試行。全体を通じてコンテキスト追加・中断・誘導が可能</a:t>
            </a:r>
            <a:endParaRPr lang="en-US" sz="1050" dirty="0"/>
          </a:p>
        </p:txBody>
      </p:sp>
      <p:sp>
        <p:nvSpPr>
          <p:cNvPr id="7" name="Text 5"/>
          <p:cNvSpPr txBox="1"/>
          <p:nvPr/>
        </p:nvSpPr>
        <p:spPr>
          <a:xfrm>
            <a:off x="548640" y="3200400"/>
            <a:ext cx="512064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コンテキスト / ツール</a:t>
            </a:r>
            <a:endParaRPr lang="en-US" sz="1250" dirty="0"/>
          </a:p>
        </p:txBody>
      </p:sp>
      <p:sp>
        <p:nvSpPr>
          <p:cNvPr id="8" name="Text 6"/>
          <p:cNvSpPr txBox="1"/>
          <p:nvPr/>
        </p:nvSpPr>
        <p:spPr>
          <a:xfrm>
            <a:off x="548640" y="3520440"/>
            <a:ext cx="5120640" cy="182880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C9C5BD"/>
                </a:solidFill>
                <a:latin typeface="Calibri" pitchFamily="34" charset="0"/>
                <a:ea typeface="Calibri" pitchFamily="34" charset="-122"/>
                <a:cs typeface="Calibri" pitchFamily="34" charset="-120"/>
              </a:rPr>
              <a:t>コンテキストウィンドウの上限に達すると、Claude Codeが何を削除/要約するか自動判断して圧縮する</a:t>
            </a:r>
            <a:endParaRPr lang="en-US" sz="1000" dirty="0"/>
          </a:p>
          <a:p>
            <a:pPr marL="342900" indent="-342900">
              <a:spcAft>
                <a:spcPts val="500"/>
              </a:spcAft>
              <a:buSzPct val="100000"/>
              <a:buChar char="•"/>
            </a:pPr>
            <a:r>
              <a:rPr lang="en-US" sz="1000" dirty="0">
                <a:solidFill>
                  <a:srgbClr val="C9C5BD"/>
                </a:solidFill>
                <a:latin typeface="Calibri" pitchFamily="34" charset="0"/>
                <a:ea typeface="Calibri" pitchFamily="34" charset="-122"/>
                <a:cs typeface="Calibri" pitchFamily="34" charset="-120"/>
              </a:rPr>
              <a:t>ツールはエージェント動作の根幹。通常のAIはテキストを返すだけだが、ツールにより「いつコードを実行すべきか」を意味的理解に基づき判断できる</a:t>
            </a:r>
            <a:endParaRPr lang="en-US" sz="1000" dirty="0"/>
          </a:p>
        </p:txBody>
      </p:sp>
      <p:sp>
        <p:nvSpPr>
          <p:cNvPr id="9" name="Text 7"/>
          <p:cNvSpPr txBox="1"/>
          <p:nvPr/>
        </p:nvSpPr>
        <p:spPr>
          <a:xfrm>
            <a:off x="5852160" y="3200400"/>
            <a:ext cx="530352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権限モード(4種類)</a:t>
            </a:r>
            <a:endParaRPr lang="en-US" sz="1250" dirty="0"/>
          </a:p>
        </p:txBody>
      </p:sp>
      <p:sp>
        <p:nvSpPr>
          <p:cNvPr id="10" name="Text 8"/>
          <p:cNvSpPr txBox="1"/>
          <p:nvPr/>
        </p:nvSpPr>
        <p:spPr>
          <a:xfrm>
            <a:off x="5852160" y="3520440"/>
            <a:ext cx="155448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手動</a:t>
            </a:r>
            <a:endParaRPr lang="en-US" sz="1050" dirty="0"/>
          </a:p>
        </p:txBody>
      </p:sp>
      <p:sp>
        <p:nvSpPr>
          <p:cNvPr id="11" name="Text 9"/>
          <p:cNvSpPr txBox="1"/>
          <p:nvPr/>
        </p:nvSpPr>
        <p:spPr>
          <a:xfrm>
            <a:off x="7406640" y="3520440"/>
            <a:ext cx="3749040" cy="50292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編集・コマンド実行前に明示的な許可を求める</a:t>
            </a:r>
            <a:endParaRPr lang="en-US" sz="950" dirty="0"/>
          </a:p>
        </p:txBody>
      </p:sp>
      <p:sp>
        <p:nvSpPr>
          <p:cNvPr id="12" name="Text 10"/>
          <p:cNvSpPr txBox="1"/>
          <p:nvPr/>
        </p:nvSpPr>
        <p:spPr>
          <a:xfrm>
            <a:off x="5852160" y="4050792"/>
            <a:ext cx="155448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自動承認</a:t>
            </a:r>
            <a:endParaRPr lang="en-US" sz="1050" dirty="0"/>
          </a:p>
        </p:txBody>
      </p:sp>
      <p:sp>
        <p:nvSpPr>
          <p:cNvPr id="13" name="Text 11"/>
          <p:cNvSpPr txBox="1"/>
          <p:nvPr/>
        </p:nvSpPr>
        <p:spPr>
          <a:xfrm>
            <a:off x="7406640" y="4050792"/>
            <a:ext cx="3749040" cy="50292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ファイルは無確認で編集、コマンドは承認が必要</a:t>
            </a:r>
            <a:endParaRPr lang="en-US" sz="950" dirty="0"/>
          </a:p>
        </p:txBody>
      </p:sp>
      <p:sp>
        <p:nvSpPr>
          <p:cNvPr id="14" name="Text 12"/>
          <p:cNvSpPr txBox="1"/>
          <p:nvPr/>
        </p:nvSpPr>
        <p:spPr>
          <a:xfrm>
            <a:off x="5852160" y="4581144"/>
            <a:ext cx="155448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プランモード</a:t>
            </a:r>
            <a:endParaRPr lang="en-US" sz="1050" dirty="0"/>
          </a:p>
        </p:txBody>
      </p:sp>
      <p:sp>
        <p:nvSpPr>
          <p:cNvPr id="15" name="Text 13"/>
          <p:cNvSpPr txBox="1"/>
          <p:nvPr/>
        </p:nvSpPr>
        <p:spPr>
          <a:xfrm>
            <a:off x="7406640" y="4581144"/>
            <a:ext cx="3749040" cy="50292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読み取り専用ツールで計画をまとめてから開始</a:t>
            </a:r>
            <a:endParaRPr lang="en-US" sz="950" dirty="0"/>
          </a:p>
        </p:txBody>
      </p:sp>
      <p:sp>
        <p:nvSpPr>
          <p:cNvPr id="16" name="Text 14"/>
          <p:cNvSpPr txBox="1"/>
          <p:nvPr/>
        </p:nvSpPr>
        <p:spPr>
          <a:xfrm>
            <a:off x="5852160" y="5111496"/>
            <a:ext cx="155448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自動モード</a:t>
            </a:r>
            <a:endParaRPr lang="en-US" sz="1050" dirty="0"/>
          </a:p>
        </p:txBody>
      </p:sp>
      <p:sp>
        <p:nvSpPr>
          <p:cNvPr id="17" name="Text 15"/>
          <p:cNvSpPr txBox="1"/>
          <p:nvPr/>
        </p:nvSpPr>
        <p:spPr>
          <a:xfrm>
            <a:off x="7406640" y="5111496"/>
            <a:ext cx="3749040" cy="50292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権限確認なしで進行。背後の分類器が不可逆/破壊的/環境外の操作をブロック</a:t>
            </a:r>
            <a:endParaRPr lang="en-US" sz="950" dirty="0"/>
          </a:p>
        </p:txBody>
      </p:sp>
      <p:sp>
        <p:nvSpPr>
          <p:cNvPr id="18" name="Text 16"/>
          <p:cNvSpPr txBox="1"/>
          <p:nvPr/>
        </p:nvSpPr>
        <p:spPr>
          <a:xfrm>
            <a:off x="548640" y="5623560"/>
            <a:ext cx="10607040" cy="548640"/>
          </a:xfrm>
          <a:prstGeom prst="rect">
            <a:avLst/>
          </a:prstGeom>
          <a:noFill/>
          <a:ln/>
        </p:spPr>
        <p:txBody>
          <a:bodyPr wrap="square" lIns="0" tIns="0" rIns="0" bIns="0" rtlCol="0" anchor="ctr"/>
          <a:lstStyle/>
          <a:p>
            <a:pPr indent="0" marL="0">
              <a:buNone/>
            </a:pPr>
            <a:r>
              <a:rPr lang="en-US" sz="1000" i="1" dirty="0">
                <a:solidFill>
                  <a:srgbClr val="CC785C"/>
                </a:solidFill>
                <a:latin typeface="Calibri" pitchFamily="34" charset="0"/>
                <a:ea typeface="Calibri" pitchFamily="34" charset="-122"/>
                <a:cs typeface="Calibri" pitchFamily="34" charset="-120"/>
              </a:rPr>
              <a:t>新しいセッションがどのモードで始まるかはプラン・設定による。全て設定ファイルで構成可能。権限確認をスキップする際は注意 — 実行の自由を与えるほど、ミスに気づきにくくなる</a:t>
            </a:r>
            <a:endParaRPr lang="en-US" sz="1000" dirty="0"/>
          </a:p>
        </p:txBody>
      </p:sp>
      <p:sp>
        <p:nvSpPr>
          <p:cNvPr id="19" name="Text 17"/>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Claude Academy「Claude Code 101」レッスン2: Claude Codeの仕組み</a:t>
            </a:r>
            <a:endParaRPr lang="en-US" sz="950" dirty="0"/>
          </a:p>
        </p:txBody>
      </p:sp>
      <p:sp>
        <p:nvSpPr>
          <p:cNvPr id="20" name="Text 1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607040" cy="640080"/>
          </a:xfrm>
          <a:prstGeom prst="rect">
            <a:avLst/>
          </a:prstGeom>
          <a:noFill/>
          <a:ln/>
        </p:spPr>
        <p:txBody>
          <a:bodyPr wrap="square" lIns="0" tIns="0" rIns="0" bIns="0" rtlCol="0" anchor="ctr"/>
          <a:lstStyle/>
          <a:p>
            <a:pPr indent="0" marL="0">
              <a:buNone/>
            </a:pPr>
            <a:r>
              <a:rPr lang="en-US" sz="2700" b="1" dirty="0">
                <a:solidFill>
                  <a:srgbClr val="1F1E1D"/>
                </a:solidFill>
                <a:latin typeface="Cambria" pitchFamily="34" charset="0"/>
                <a:ea typeface="Cambria" pitchFamily="34" charset="-122"/>
                <a:cs typeface="Cambria" pitchFamily="34" charset="-120"/>
              </a:rPr>
              <a:t>Claude Codeの本質を一言でまとめると</a:t>
            </a:r>
            <a:endParaRPr lang="en-US" sz="2700" dirty="0"/>
          </a:p>
        </p:txBody>
      </p:sp>
      <p:sp>
        <p:nvSpPr>
          <p:cNvPr id="3" name="Text 1"/>
          <p:cNvSpPr txBox="1"/>
          <p:nvPr/>
        </p:nvSpPr>
        <p:spPr>
          <a:xfrm>
            <a:off x="548640" y="1097280"/>
            <a:ext cx="10607040" cy="365760"/>
          </a:xfrm>
          <a:prstGeom prst="rect">
            <a:avLst/>
          </a:prstGeom>
          <a:noFill/>
          <a:ln/>
        </p:spPr>
        <p:txBody>
          <a:bodyPr wrap="square" lIns="0" tIns="0" rIns="0" bIns="0" rtlCol="0" anchor="ctr"/>
          <a:lstStyle/>
          <a:p>
            <a:pPr indent="0" marL="0">
              <a:buNone/>
            </a:pPr>
            <a:r>
              <a:rPr lang="en-US" sz="1300" i="1" dirty="0">
                <a:solidFill>
                  <a:srgbClr val="6B6862"/>
                </a:solidFill>
                <a:latin typeface="Calibri" pitchFamily="34" charset="0"/>
                <a:ea typeface="Calibri" pitchFamily="34" charset="-122"/>
                <a:cs typeface="Calibri" pitchFamily="34" charset="-120"/>
              </a:rPr>
              <a:t>エージェント型AI全般の理解にも応用できる、シンプルな3点セット</a:t>
            </a:r>
            <a:endParaRPr lang="en-US" sz="1300" dirty="0"/>
          </a:p>
        </p:txBody>
      </p:sp>
      <p:sp>
        <p:nvSpPr>
          <p:cNvPr id="4" name="Shape 2"/>
          <p:cNvSpPr/>
          <p:nvPr/>
        </p:nvSpPr>
        <p:spPr>
          <a:xfrm>
            <a:off x="548640" y="1737360"/>
            <a:ext cx="3429000" cy="2377440"/>
          </a:xfrm>
          <a:prstGeom prst="roundRect">
            <a:avLst>
              <a:gd name="adj" fmla="val 4615"/>
            </a:avLst>
          </a:prstGeom>
          <a:solidFill>
            <a:srgbClr val="FFFFFF"/>
          </a:solidFill>
          <a:ln w="12700">
            <a:solidFill>
              <a:srgbClr val="E5E2DC"/>
            </a:solidFill>
            <a:prstDash val="solid"/>
          </a:ln>
          <a:effectLst>
            <a:outerShdw sx="100000" sy="100000" kx="0" ky="0" algn="bl" rotWithShape="0" blurRad="76200" dist="25400" dir="5400000">
              <a:srgbClr val="000000">
                <a:alpha val="10000"/>
              </a:srgbClr>
            </a:outerShdw>
          </a:effectLst>
        </p:spPr>
      </p:sp>
      <p:sp>
        <p:nvSpPr>
          <p:cNvPr id="5" name="Text 3"/>
          <p:cNvSpPr txBox="1"/>
          <p:nvPr/>
        </p:nvSpPr>
        <p:spPr>
          <a:xfrm>
            <a:off x="777240" y="1920240"/>
            <a:ext cx="2971800" cy="548640"/>
          </a:xfrm>
          <a:prstGeom prst="rect">
            <a:avLst/>
          </a:prstGeom>
          <a:noFill/>
          <a:ln/>
        </p:spPr>
        <p:txBody>
          <a:bodyPr wrap="square" lIns="0" tIns="0" rIns="0" bIns="0" rtlCol="0" anchor="ctr"/>
          <a:lstStyle/>
          <a:p>
            <a:pPr indent="0" marL="0">
              <a:buNone/>
            </a:pPr>
            <a:r>
              <a:rPr lang="en-US" sz="2200" b="1" dirty="0">
                <a:solidFill>
                  <a:srgbClr val="CC785C"/>
                </a:solidFill>
                <a:latin typeface="Cambria" pitchFamily="34" charset="0"/>
                <a:ea typeface="Cambria" pitchFamily="34" charset="-122"/>
                <a:cs typeface="Cambria" pitchFamily="34" charset="-120"/>
              </a:rPr>
              <a:t>LLM</a:t>
            </a:r>
            <a:endParaRPr lang="en-US" sz="2200" dirty="0"/>
          </a:p>
        </p:txBody>
      </p:sp>
      <p:sp>
        <p:nvSpPr>
          <p:cNvPr id="6" name="Text 4"/>
          <p:cNvSpPr txBox="1"/>
          <p:nvPr/>
        </p:nvSpPr>
        <p:spPr>
          <a:xfrm>
            <a:off x="777240" y="2514600"/>
            <a:ext cx="2971800" cy="365760"/>
          </a:xfrm>
          <a:prstGeom prst="rect">
            <a:avLst/>
          </a:prstGeom>
          <a:noFill/>
          <a:ln/>
        </p:spPr>
        <p:txBody>
          <a:bodyPr wrap="square" lIns="0" tIns="0" rIns="0" bIns="0" rtlCol="0" anchor="ctr"/>
          <a:lstStyle/>
          <a:p>
            <a:pPr indent="0" marL="0">
              <a:buNone/>
            </a:pPr>
            <a:r>
              <a:rPr lang="en-US" sz="1200" b="1" dirty="0">
                <a:solidFill>
                  <a:srgbClr val="1F1E1D"/>
                </a:solidFill>
                <a:latin typeface="Calibri" pitchFamily="34" charset="0"/>
                <a:ea typeface="Calibri" pitchFamily="34" charset="-122"/>
                <a:cs typeface="Calibri" pitchFamily="34" charset="-120"/>
              </a:rPr>
              <a:t>判断</a:t>
            </a:r>
            <a:endParaRPr lang="en-US" sz="1200" dirty="0"/>
          </a:p>
        </p:txBody>
      </p:sp>
      <p:sp>
        <p:nvSpPr>
          <p:cNvPr id="7" name="Text 5"/>
          <p:cNvSpPr txBox="1"/>
          <p:nvPr/>
        </p:nvSpPr>
        <p:spPr>
          <a:xfrm>
            <a:off x="777240" y="2926080"/>
            <a:ext cx="2971800" cy="100584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何をすべきか、次に何のツールを呼ぶべきかを都度考える</a:t>
            </a:r>
            <a:endParaRPr lang="en-US" sz="1000" dirty="0"/>
          </a:p>
        </p:txBody>
      </p:sp>
      <p:sp>
        <p:nvSpPr>
          <p:cNvPr id="8" name="Text 6"/>
          <p:cNvSpPr txBox="1"/>
          <p:nvPr/>
        </p:nvSpPr>
        <p:spPr>
          <a:xfrm>
            <a:off x="4005072" y="2651760"/>
            <a:ext cx="320040" cy="548640"/>
          </a:xfrm>
          <a:prstGeom prst="rect">
            <a:avLst/>
          </a:prstGeom>
          <a:noFill/>
          <a:ln/>
        </p:spPr>
        <p:txBody>
          <a:bodyPr wrap="square" lIns="0" tIns="0" rIns="0" bIns="0" rtlCol="0" anchor="ctr"/>
          <a:lstStyle/>
          <a:p>
            <a:pPr algn="ctr" indent="0" marL="0">
              <a:buNone/>
            </a:pPr>
            <a:r>
              <a:rPr lang="en-US" sz="2000" b="1" dirty="0">
                <a:solidFill>
                  <a:srgbClr val="CC785C"/>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4325112" y="1737360"/>
            <a:ext cx="3429000" cy="2377440"/>
          </a:xfrm>
          <a:prstGeom prst="roundRect">
            <a:avLst>
              <a:gd name="adj" fmla="val 4615"/>
            </a:avLst>
          </a:prstGeom>
          <a:solidFill>
            <a:srgbClr val="FFFFFF"/>
          </a:solidFill>
          <a:ln w="12700">
            <a:solidFill>
              <a:srgbClr val="E5E2DC"/>
            </a:solidFill>
            <a:prstDash val="solid"/>
          </a:ln>
          <a:effectLst>
            <a:outerShdw sx="100000" sy="100000" kx="0" ky="0" algn="bl" rotWithShape="0" blurRad="76200" dist="25400" dir="5400000">
              <a:srgbClr val="000000">
                <a:alpha val="10000"/>
              </a:srgbClr>
            </a:outerShdw>
          </a:effectLst>
        </p:spPr>
      </p:sp>
      <p:sp>
        <p:nvSpPr>
          <p:cNvPr id="10" name="Text 8"/>
          <p:cNvSpPr txBox="1"/>
          <p:nvPr/>
        </p:nvSpPr>
        <p:spPr>
          <a:xfrm>
            <a:off x="4553712" y="1920240"/>
            <a:ext cx="2971800" cy="548640"/>
          </a:xfrm>
          <a:prstGeom prst="rect">
            <a:avLst/>
          </a:prstGeom>
          <a:noFill/>
          <a:ln/>
        </p:spPr>
        <p:txBody>
          <a:bodyPr wrap="square" lIns="0" tIns="0" rIns="0" bIns="0" rtlCol="0" anchor="ctr"/>
          <a:lstStyle/>
          <a:p>
            <a:pPr indent="0" marL="0">
              <a:buNone/>
            </a:pPr>
            <a:r>
              <a:rPr lang="en-US" sz="2200" b="1" dirty="0">
                <a:solidFill>
                  <a:srgbClr val="CC785C"/>
                </a:solidFill>
                <a:latin typeface="Cambria" pitchFamily="34" charset="0"/>
                <a:ea typeface="Cambria" pitchFamily="34" charset="-122"/>
                <a:cs typeface="Cambria" pitchFamily="34" charset="-120"/>
              </a:rPr>
              <a:t>ツール</a:t>
            </a:r>
            <a:endParaRPr lang="en-US" sz="2200" dirty="0"/>
          </a:p>
        </p:txBody>
      </p:sp>
      <p:sp>
        <p:nvSpPr>
          <p:cNvPr id="11" name="Text 9"/>
          <p:cNvSpPr txBox="1"/>
          <p:nvPr/>
        </p:nvSpPr>
        <p:spPr>
          <a:xfrm>
            <a:off x="4553712" y="2514600"/>
            <a:ext cx="2971800" cy="365760"/>
          </a:xfrm>
          <a:prstGeom prst="rect">
            <a:avLst/>
          </a:prstGeom>
          <a:noFill/>
          <a:ln/>
        </p:spPr>
        <p:txBody>
          <a:bodyPr wrap="square" lIns="0" tIns="0" rIns="0" bIns="0" rtlCol="0" anchor="ctr"/>
          <a:lstStyle/>
          <a:p>
            <a:pPr indent="0" marL="0">
              <a:buNone/>
            </a:pPr>
            <a:r>
              <a:rPr lang="en-US" sz="1200" b="1" dirty="0">
                <a:solidFill>
                  <a:srgbClr val="1F1E1D"/>
                </a:solidFill>
                <a:latin typeface="Calibri" pitchFamily="34" charset="0"/>
                <a:ea typeface="Calibri" pitchFamily="34" charset="-122"/>
                <a:cs typeface="Calibri" pitchFamily="34" charset="-120"/>
              </a:rPr>
              <a:t>実行</a:t>
            </a:r>
            <a:endParaRPr lang="en-US" sz="1200" dirty="0"/>
          </a:p>
        </p:txBody>
      </p:sp>
      <p:sp>
        <p:nvSpPr>
          <p:cNvPr id="12" name="Text 10"/>
          <p:cNvSpPr txBox="1"/>
          <p:nvPr/>
        </p:nvSpPr>
        <p:spPr>
          <a:xfrm>
            <a:off x="4553712" y="2926080"/>
            <a:ext cx="2971800" cy="100584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ファイル編集・コマンド実行・Web検索など、実際に環境へ働きかける</a:t>
            </a:r>
            <a:endParaRPr lang="en-US" sz="1000" dirty="0"/>
          </a:p>
        </p:txBody>
      </p:sp>
      <p:sp>
        <p:nvSpPr>
          <p:cNvPr id="13" name="Text 11"/>
          <p:cNvSpPr txBox="1"/>
          <p:nvPr/>
        </p:nvSpPr>
        <p:spPr>
          <a:xfrm>
            <a:off x="7781544" y="2651760"/>
            <a:ext cx="320040" cy="548640"/>
          </a:xfrm>
          <a:prstGeom prst="rect">
            <a:avLst/>
          </a:prstGeom>
          <a:noFill/>
          <a:ln/>
        </p:spPr>
        <p:txBody>
          <a:bodyPr wrap="square" lIns="0" tIns="0" rIns="0" bIns="0" rtlCol="0" anchor="ctr"/>
          <a:lstStyle/>
          <a:p>
            <a:pPr algn="ctr" indent="0" marL="0">
              <a:buNone/>
            </a:pPr>
            <a:r>
              <a:rPr lang="en-US" sz="2000" b="1" dirty="0">
                <a:solidFill>
                  <a:srgbClr val="CC785C"/>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8101584" y="1737360"/>
            <a:ext cx="3429000" cy="2377440"/>
          </a:xfrm>
          <a:prstGeom prst="roundRect">
            <a:avLst>
              <a:gd name="adj" fmla="val 4615"/>
            </a:avLst>
          </a:prstGeom>
          <a:solidFill>
            <a:srgbClr val="FFFFFF"/>
          </a:solidFill>
          <a:ln w="12700">
            <a:solidFill>
              <a:srgbClr val="E5E2DC"/>
            </a:solidFill>
            <a:prstDash val="solid"/>
          </a:ln>
          <a:effectLst>
            <a:outerShdw sx="100000" sy="100000" kx="0" ky="0" algn="bl" rotWithShape="0" blurRad="76200" dist="25400" dir="5400000">
              <a:srgbClr val="000000">
                <a:alpha val="10000"/>
              </a:srgbClr>
            </a:outerShdw>
          </a:effectLst>
        </p:spPr>
      </p:sp>
      <p:sp>
        <p:nvSpPr>
          <p:cNvPr id="15" name="Text 13"/>
          <p:cNvSpPr txBox="1"/>
          <p:nvPr/>
        </p:nvSpPr>
        <p:spPr>
          <a:xfrm>
            <a:off x="8330184" y="1920240"/>
            <a:ext cx="2971800" cy="548640"/>
          </a:xfrm>
          <a:prstGeom prst="rect">
            <a:avLst/>
          </a:prstGeom>
          <a:noFill/>
          <a:ln/>
        </p:spPr>
        <p:txBody>
          <a:bodyPr wrap="square" lIns="0" tIns="0" rIns="0" bIns="0" rtlCol="0" anchor="ctr"/>
          <a:lstStyle/>
          <a:p>
            <a:pPr indent="0" marL="0">
              <a:buNone/>
            </a:pPr>
            <a:r>
              <a:rPr lang="en-US" sz="2200" b="1" dirty="0">
                <a:solidFill>
                  <a:srgbClr val="CC785C"/>
                </a:solidFill>
                <a:latin typeface="Cambria" pitchFamily="34" charset="0"/>
                <a:ea typeface="Cambria" pitchFamily="34" charset="-122"/>
                <a:cs typeface="Cambria" pitchFamily="34" charset="-120"/>
              </a:rPr>
              <a:t>ループ</a:t>
            </a:r>
            <a:endParaRPr lang="en-US" sz="2200" dirty="0"/>
          </a:p>
        </p:txBody>
      </p:sp>
      <p:sp>
        <p:nvSpPr>
          <p:cNvPr id="16" name="Text 14"/>
          <p:cNvSpPr txBox="1"/>
          <p:nvPr/>
        </p:nvSpPr>
        <p:spPr>
          <a:xfrm>
            <a:off x="8330184" y="2514600"/>
            <a:ext cx="2971800" cy="365760"/>
          </a:xfrm>
          <a:prstGeom prst="rect">
            <a:avLst/>
          </a:prstGeom>
          <a:noFill/>
          <a:ln/>
        </p:spPr>
        <p:txBody>
          <a:bodyPr wrap="square" lIns="0" tIns="0" rIns="0" bIns="0" rtlCol="0" anchor="ctr"/>
          <a:lstStyle/>
          <a:p>
            <a:pPr indent="0" marL="0">
              <a:buNone/>
            </a:pPr>
            <a:r>
              <a:rPr lang="en-US" sz="1200" b="1" dirty="0">
                <a:solidFill>
                  <a:srgbClr val="1F1E1D"/>
                </a:solidFill>
                <a:latin typeface="Calibri" pitchFamily="34" charset="0"/>
                <a:ea typeface="Calibri" pitchFamily="34" charset="-122"/>
                <a:cs typeface="Calibri" pitchFamily="34" charset="-120"/>
              </a:rPr>
              <a:t>検証と繰り返し</a:t>
            </a:r>
            <a:endParaRPr lang="en-US" sz="1200" dirty="0"/>
          </a:p>
        </p:txBody>
      </p:sp>
      <p:sp>
        <p:nvSpPr>
          <p:cNvPr id="17" name="Text 15"/>
          <p:cNvSpPr txBox="1"/>
          <p:nvPr/>
        </p:nvSpPr>
        <p:spPr>
          <a:xfrm>
            <a:off x="8330184" y="2926080"/>
            <a:ext cx="2971800" cy="100584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結果を自分で確認し、目的を達成するまで①②を繰り返す</a:t>
            </a:r>
            <a:endParaRPr lang="en-US" sz="1000" dirty="0"/>
          </a:p>
        </p:txBody>
      </p:sp>
      <p:sp>
        <p:nvSpPr>
          <p:cNvPr id="18" name="Shape 16"/>
          <p:cNvSpPr/>
          <p:nvPr/>
        </p:nvSpPr>
        <p:spPr>
          <a:xfrm>
            <a:off x="548640" y="4434840"/>
            <a:ext cx="10607040" cy="1645920"/>
          </a:xfrm>
          <a:prstGeom prst="roundRect">
            <a:avLst>
              <a:gd name="adj" fmla="val 5556"/>
            </a:avLst>
          </a:prstGeom>
          <a:solidFill>
            <a:srgbClr val="F7F5F2"/>
          </a:solidFill>
          <a:ln w="12700">
            <a:solidFill>
              <a:srgbClr val="E5E2DC"/>
            </a:solidFill>
            <a:prstDash val="solid"/>
          </a:ln>
        </p:spPr>
      </p:sp>
      <p:sp>
        <p:nvSpPr>
          <p:cNvPr id="19" name="Text 17"/>
          <p:cNvSpPr txBox="1"/>
          <p:nvPr/>
        </p:nvSpPr>
        <p:spPr>
          <a:xfrm>
            <a:off x="822960" y="4617720"/>
            <a:ext cx="10058400" cy="13716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F1E1D"/>
                </a:solidFill>
                <a:latin typeface="Calibri" pitchFamily="34" charset="0"/>
                <a:ea typeface="Calibri" pitchFamily="34" charset="-122"/>
                <a:cs typeface="Calibri" pitchFamily="34" charset="-120"/>
              </a:rPr>
              <a:t>「回答」ではなく「検証済みの成果物」を出す — 普通のチャットは質問にテキストで答えるだけだが、Claude Codeはループの中で実際に行動し、その結果を自分で確認してから応答する</a:t>
            </a:r>
            <a:endParaRPr lang="en-US" sz="1150" dirty="0"/>
          </a:p>
          <a:p>
            <a:pPr marL="342900" indent="-342900">
              <a:spcAft>
                <a:spcPts val="800"/>
              </a:spcAft>
              <a:buSzPct val="100000"/>
              <a:buChar char="•"/>
            </a:pPr>
            <a:r>
              <a:rPr lang="en-US" sz="1150" dirty="0">
                <a:solidFill>
                  <a:srgbClr val="1F1E1D"/>
                </a:solidFill>
                <a:latin typeface="Calibri" pitchFamily="34" charset="0"/>
                <a:ea typeface="Calibri" pitchFamily="34" charset="-122"/>
                <a:cs typeface="Calibri" pitchFamily="34" charset="-120"/>
              </a:rPr>
              <a:t>「プログラミング」は適用対象の一つ — ループ+ツールという仕組み自体は汎用的。Claude Codeはそのツールを「ファイル読み書き・ターミナル実行・Web検索」という開発向けの構成にしている</a:t>
            </a:r>
            <a:endParaRPr lang="en-US" sz="1150" dirty="0"/>
          </a:p>
        </p:txBody>
      </p:sp>
      <p:sp>
        <p:nvSpPr>
          <p:cNvPr id="20" name="Text 1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1</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レッスン3: Claude Codeのインストール</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00" i="1" dirty="0">
                <a:solidFill>
                  <a:srgbClr val="6B6862"/>
                </a:solidFill>
                <a:latin typeface="Calibri" pitchFamily="34" charset="0"/>
                <a:ea typeface="Calibri" pitchFamily="34" charset="-122"/>
                <a:cs typeface="Calibri" pitchFamily="34" charset="-120"/>
              </a:rPr>
              <a:t>Claude Code 101 · レッスン3/12</a:t>
            </a:r>
            <a:endParaRPr lang="en-US" sz="1100" dirty="0"/>
          </a:p>
        </p:txBody>
      </p:sp>
      <p:sp>
        <p:nvSpPr>
          <p:cNvPr id="5" name="Text 3"/>
          <p:cNvSpPr txBox="1"/>
          <p:nvPr/>
        </p:nvSpPr>
        <p:spPr>
          <a:xfrm>
            <a:off x="548640" y="1737360"/>
            <a:ext cx="1737360" cy="685800"/>
          </a:xfrm>
          <a:prstGeom prst="rect">
            <a:avLst/>
          </a:prstGeom>
          <a:noFill/>
          <a:ln/>
        </p:spPr>
        <p:txBody>
          <a:bodyPr wrap="square" lIns="0" tIns="0" rIns="0" bIns="0" rtlCol="0" anchor="ctr"/>
          <a:lstStyle/>
          <a:p>
            <a:pPr indent="0" marL="0">
              <a:buNone/>
            </a:pPr>
            <a:r>
              <a:rPr lang="en-US" sz="1100" b="1" dirty="0">
                <a:solidFill>
                  <a:srgbClr val="CC785C"/>
                </a:solidFill>
                <a:latin typeface="Calibri" pitchFamily="34" charset="0"/>
                <a:ea typeface="Calibri" pitchFamily="34" charset="-122"/>
                <a:cs typeface="Calibri" pitchFamily="34" charset="-120"/>
              </a:rPr>
              <a:t>ターミナル</a:t>
            </a:r>
            <a:endParaRPr lang="en-US" sz="1100" dirty="0"/>
          </a:p>
        </p:txBody>
      </p:sp>
      <p:sp>
        <p:nvSpPr>
          <p:cNvPr id="6" name="Text 4"/>
          <p:cNvSpPr txBox="1"/>
          <p:nvPr/>
        </p:nvSpPr>
        <p:spPr>
          <a:xfrm>
            <a:off x="2377440" y="1737360"/>
            <a:ext cx="8778240" cy="685800"/>
          </a:xfrm>
          <a:prstGeom prst="rect">
            <a:avLst/>
          </a:prstGeom>
          <a:noFill/>
          <a:ln/>
        </p:spPr>
        <p:txBody>
          <a:bodyPr wrap="square" lIns="0" tIns="0" rIns="0" bIns="0" rtlCol="0" anchor="ctr"/>
          <a:lstStyle/>
          <a:p>
            <a:pPr indent="0" marL="0">
              <a:buNone/>
            </a:pPr>
            <a:r>
              <a:rPr lang="en-US" sz="950" dirty="0">
                <a:solidFill>
                  <a:srgbClr val="1F1E1D"/>
                </a:solidFill>
                <a:latin typeface="Calibri" pitchFamily="34" charset="0"/>
                <a:ea typeface="Calibri" pitchFamily="34" charset="-122"/>
                <a:cs typeface="Calibri" pitchFamily="34" charset="-120"/>
              </a:rPr>
              <a:t>macOS/Linux/WSL: curlで一括インストール(Homebrewは自動更新非対応)。Windows: PowerShellはInvoke-RestMethod、CMDはcurl、wingetも可(自動更新非対応)。claudeを実行したディレクトリとサブフォルダにアクセス可能になる</a:t>
            </a:r>
            <a:endParaRPr lang="en-US" sz="950" dirty="0"/>
          </a:p>
        </p:txBody>
      </p:sp>
      <p:sp>
        <p:nvSpPr>
          <p:cNvPr id="7" name="Text 5"/>
          <p:cNvSpPr txBox="1"/>
          <p:nvPr/>
        </p:nvSpPr>
        <p:spPr>
          <a:xfrm>
            <a:off x="548640" y="2514600"/>
            <a:ext cx="1737360" cy="685800"/>
          </a:xfrm>
          <a:prstGeom prst="rect">
            <a:avLst/>
          </a:prstGeom>
          <a:noFill/>
          <a:ln/>
        </p:spPr>
        <p:txBody>
          <a:bodyPr wrap="square" lIns="0" tIns="0" rIns="0" bIns="0" rtlCol="0" anchor="ctr"/>
          <a:lstStyle/>
          <a:p>
            <a:pPr indent="0" marL="0">
              <a:buNone/>
            </a:pPr>
            <a:r>
              <a:rPr lang="en-US" sz="1100" b="1" dirty="0">
                <a:solidFill>
                  <a:srgbClr val="CC785C"/>
                </a:solidFill>
                <a:latin typeface="Calibri" pitchFamily="34" charset="0"/>
                <a:ea typeface="Calibri" pitchFamily="34" charset="-122"/>
                <a:cs typeface="Calibri" pitchFamily="34" charset="-120"/>
              </a:rPr>
              <a:t>VS Code</a:t>
            </a:r>
            <a:endParaRPr lang="en-US" sz="1100" dirty="0"/>
          </a:p>
        </p:txBody>
      </p:sp>
      <p:sp>
        <p:nvSpPr>
          <p:cNvPr id="8" name="Text 6"/>
          <p:cNvSpPr txBox="1"/>
          <p:nvPr/>
        </p:nvSpPr>
        <p:spPr>
          <a:xfrm>
            <a:off x="2377440" y="2514600"/>
            <a:ext cx="8778240" cy="685800"/>
          </a:xfrm>
          <a:prstGeom prst="rect">
            <a:avLst/>
          </a:prstGeom>
          <a:noFill/>
          <a:ln/>
        </p:spPr>
        <p:txBody>
          <a:bodyPr wrap="square" lIns="0" tIns="0" rIns="0" bIns="0" rtlCol="0" anchor="ctr"/>
          <a:lstStyle/>
          <a:p>
            <a:pPr indent="0" marL="0">
              <a:buNone/>
            </a:pPr>
            <a:r>
              <a:rPr lang="en-US" sz="950" dirty="0">
                <a:solidFill>
                  <a:srgbClr val="1F1E1D"/>
                </a:solidFill>
                <a:latin typeface="Calibri" pitchFamily="34" charset="0"/>
                <a:ea typeface="Calibri" pitchFamily="34" charset="-122"/>
                <a:cs typeface="Calibri" pitchFamily="34" charset="-120"/>
              </a:rPr>
              <a:t>拡張機能パネルで「Claude Code」検索(Anthropic公式・青い認証チェック付き)。Ctrl/Cmd+Shift+P→「Claude Code Open in New Tab」。設定でターミナル体験に切替も可能</a:t>
            </a:r>
            <a:endParaRPr lang="en-US" sz="950" dirty="0"/>
          </a:p>
        </p:txBody>
      </p:sp>
      <p:sp>
        <p:nvSpPr>
          <p:cNvPr id="9" name="Text 7"/>
          <p:cNvSpPr txBox="1"/>
          <p:nvPr/>
        </p:nvSpPr>
        <p:spPr>
          <a:xfrm>
            <a:off x="548640" y="3291840"/>
            <a:ext cx="1737360" cy="685800"/>
          </a:xfrm>
          <a:prstGeom prst="rect">
            <a:avLst/>
          </a:prstGeom>
          <a:noFill/>
          <a:ln/>
        </p:spPr>
        <p:txBody>
          <a:bodyPr wrap="square" lIns="0" tIns="0" rIns="0" bIns="0" rtlCol="0" anchor="ctr"/>
          <a:lstStyle/>
          <a:p>
            <a:pPr indent="0" marL="0">
              <a:buNone/>
            </a:pPr>
            <a:r>
              <a:rPr lang="en-US" sz="1100" b="1" dirty="0">
                <a:solidFill>
                  <a:srgbClr val="CC785C"/>
                </a:solidFill>
                <a:latin typeface="Calibri" pitchFamily="34" charset="0"/>
                <a:ea typeface="Calibri" pitchFamily="34" charset="-122"/>
                <a:cs typeface="Calibri" pitchFamily="34" charset="-120"/>
              </a:rPr>
              <a:t>JetBrains</a:t>
            </a:r>
            <a:endParaRPr lang="en-US" sz="1100" dirty="0"/>
          </a:p>
        </p:txBody>
      </p:sp>
      <p:sp>
        <p:nvSpPr>
          <p:cNvPr id="10" name="Text 8"/>
          <p:cNvSpPr txBox="1"/>
          <p:nvPr/>
        </p:nvSpPr>
        <p:spPr>
          <a:xfrm>
            <a:off x="2377440" y="3291840"/>
            <a:ext cx="8778240" cy="685800"/>
          </a:xfrm>
          <a:prstGeom prst="rect">
            <a:avLst/>
          </a:prstGeom>
          <a:noFill/>
          <a:ln/>
        </p:spPr>
        <p:txBody>
          <a:bodyPr wrap="square" lIns="0" tIns="0" rIns="0" bIns="0" rtlCol="0" anchor="ctr"/>
          <a:lstStyle/>
          <a:p>
            <a:pPr indent="0" marL="0">
              <a:buNone/>
            </a:pPr>
            <a:r>
              <a:rPr lang="en-US" sz="950" dirty="0">
                <a:solidFill>
                  <a:srgbClr val="1F1E1D"/>
                </a:solidFill>
                <a:latin typeface="Calibri" pitchFamily="34" charset="0"/>
                <a:ea typeface="Calibri" pitchFamily="34" charset="-122"/>
                <a:cs typeface="Calibri" pitchFamily="34" charset="-120"/>
              </a:rPr>
              <a:t>JetBrainsマーケットプレイスからプラグインをインストールしIDE再起動。エディタと並行動作するターミナルペインが開く</a:t>
            </a:r>
            <a:endParaRPr lang="en-US" sz="950" dirty="0"/>
          </a:p>
        </p:txBody>
      </p:sp>
      <p:sp>
        <p:nvSpPr>
          <p:cNvPr id="11" name="Text 9"/>
          <p:cNvSpPr txBox="1"/>
          <p:nvPr/>
        </p:nvSpPr>
        <p:spPr>
          <a:xfrm>
            <a:off x="548640" y="4069080"/>
            <a:ext cx="1737360" cy="685800"/>
          </a:xfrm>
          <a:prstGeom prst="rect">
            <a:avLst/>
          </a:prstGeom>
          <a:noFill/>
          <a:ln/>
        </p:spPr>
        <p:txBody>
          <a:bodyPr wrap="square" lIns="0" tIns="0" rIns="0" bIns="0" rtlCol="0" anchor="ctr"/>
          <a:lstStyle/>
          <a:p>
            <a:pPr indent="0" marL="0">
              <a:buNone/>
            </a:pPr>
            <a:r>
              <a:rPr lang="en-US" sz="1100" b="1" dirty="0">
                <a:solidFill>
                  <a:srgbClr val="CC785C"/>
                </a:solidFill>
                <a:latin typeface="Calibri" pitchFamily="34" charset="0"/>
                <a:ea typeface="Calibri" pitchFamily="34" charset="-122"/>
                <a:cs typeface="Calibri" pitchFamily="34" charset="-120"/>
              </a:rPr>
              <a:t>デスクトップ</a:t>
            </a:r>
            <a:endParaRPr lang="en-US" sz="1100" dirty="0"/>
          </a:p>
        </p:txBody>
      </p:sp>
      <p:sp>
        <p:nvSpPr>
          <p:cNvPr id="12" name="Text 10"/>
          <p:cNvSpPr txBox="1"/>
          <p:nvPr/>
        </p:nvSpPr>
        <p:spPr>
          <a:xfrm>
            <a:off x="2377440" y="4069080"/>
            <a:ext cx="8778240" cy="685800"/>
          </a:xfrm>
          <a:prstGeom prst="rect">
            <a:avLst/>
          </a:prstGeom>
          <a:noFill/>
          <a:ln/>
        </p:spPr>
        <p:txBody>
          <a:bodyPr wrap="square" lIns="0" tIns="0" rIns="0" bIns="0" rtlCol="0" anchor="ctr"/>
          <a:lstStyle/>
          <a:p>
            <a:pPr indent="0" marL="0">
              <a:buNone/>
            </a:pPr>
            <a:r>
              <a:rPr lang="en-US" sz="950" dirty="0">
                <a:solidFill>
                  <a:srgbClr val="1F1E1D"/>
                </a:solidFill>
                <a:latin typeface="Calibri" pitchFamily="34" charset="0"/>
                <a:ea typeface="Calibri" pitchFamily="34" charset="-122"/>
                <a:cs typeface="Calibri" pitchFamily="34" charset="-120"/>
              </a:rPr>
              <a:t>Claude Desktopで上部の「Code」トグル。特定フォルダでの作業・権限変更・クラウド環境での作業が可能</a:t>
            </a:r>
            <a:endParaRPr lang="en-US" sz="950" dirty="0"/>
          </a:p>
        </p:txBody>
      </p:sp>
      <p:sp>
        <p:nvSpPr>
          <p:cNvPr id="13" name="Text 11"/>
          <p:cNvSpPr txBox="1"/>
          <p:nvPr/>
        </p:nvSpPr>
        <p:spPr>
          <a:xfrm>
            <a:off x="548640" y="4846320"/>
            <a:ext cx="1737360" cy="685800"/>
          </a:xfrm>
          <a:prstGeom prst="rect">
            <a:avLst/>
          </a:prstGeom>
          <a:noFill/>
          <a:ln/>
        </p:spPr>
        <p:txBody>
          <a:bodyPr wrap="square" lIns="0" tIns="0" rIns="0" bIns="0" rtlCol="0" anchor="ctr"/>
          <a:lstStyle/>
          <a:p>
            <a:pPr indent="0" marL="0">
              <a:buNone/>
            </a:pPr>
            <a:r>
              <a:rPr lang="en-US" sz="1100" b="1" dirty="0">
                <a:solidFill>
                  <a:srgbClr val="CC785C"/>
                </a:solidFill>
                <a:latin typeface="Calibri" pitchFamily="34" charset="0"/>
                <a:ea typeface="Calibri" pitchFamily="34" charset="-122"/>
                <a:cs typeface="Calibri" pitchFamily="34" charset="-120"/>
              </a:rPr>
              <a:t>Web</a:t>
            </a:r>
            <a:endParaRPr lang="en-US" sz="1100" dirty="0"/>
          </a:p>
        </p:txBody>
      </p:sp>
      <p:sp>
        <p:nvSpPr>
          <p:cNvPr id="14" name="Text 12"/>
          <p:cNvSpPr txBox="1"/>
          <p:nvPr/>
        </p:nvSpPr>
        <p:spPr>
          <a:xfrm>
            <a:off x="2377440" y="4846320"/>
            <a:ext cx="8778240" cy="685800"/>
          </a:xfrm>
          <a:prstGeom prst="rect">
            <a:avLst/>
          </a:prstGeom>
          <a:noFill/>
          <a:ln/>
        </p:spPr>
        <p:txBody>
          <a:bodyPr wrap="square" lIns="0" tIns="0" rIns="0" bIns="0" rtlCol="0" anchor="ctr"/>
          <a:lstStyle/>
          <a:p>
            <a:pPr indent="0" marL="0">
              <a:buNone/>
            </a:pPr>
            <a:r>
              <a:rPr lang="en-US" sz="950" dirty="0">
                <a:solidFill>
                  <a:srgbClr val="1F1E1D"/>
                </a:solidFill>
                <a:latin typeface="Calibri" pitchFamily="34" charset="0"/>
                <a:ea typeface="Calibri" pitchFamily="34" charset="-122"/>
                <a:cs typeface="Calibri" pitchFamily="34" charset="-120"/>
              </a:rPr>
              <a:t>claude.ai/code またはチャットのサイドバー「Code」。デスクトップ版同様だがGitHubリポジトリに限定</a:t>
            </a:r>
            <a:endParaRPr lang="en-US" sz="950" dirty="0"/>
          </a:p>
        </p:txBody>
      </p:sp>
      <p:sp>
        <p:nvSpPr>
          <p:cNvPr id="15" name="Text 13"/>
          <p:cNvSpPr txBox="1"/>
          <p:nvPr/>
        </p:nvSpPr>
        <p:spPr>
          <a:xfrm>
            <a:off x="548640" y="5669280"/>
            <a:ext cx="10607040" cy="548640"/>
          </a:xfrm>
          <a:prstGeom prst="rect">
            <a:avLst/>
          </a:prstGeom>
          <a:noFill/>
          <a:ln/>
        </p:spPr>
        <p:txBody>
          <a:bodyPr wrap="square" lIns="0" tIns="0" rIns="0" bIns="0" rtlCol="0" anchor="ctr"/>
          <a:lstStyle/>
          <a:p>
            <a:pPr indent="0" marL="0">
              <a:buNone/>
            </a:pPr>
            <a:r>
              <a:rPr lang="en-US" sz="1000" i="1" dirty="0">
                <a:solidFill>
                  <a:srgbClr val="6B6862"/>
                </a:solidFill>
                <a:latin typeface="Calibri" pitchFamily="34" charset="0"/>
                <a:ea typeface="Calibri" pitchFamily="34" charset="-122"/>
                <a:cs typeface="Calibri" pitchFamily="34" charset="-120"/>
              </a:rPr>
              <a:t>どれを使うべきか: 最先端を追うならターミナル(新機能は最初にここへ)。IDE統合は一体感重視。デスクトップは他作業と並行してバックグラウンド実行したい時。Webはリモートで作業したい時</a:t>
            </a:r>
            <a:endParaRPr lang="en-US" sz="1000" dirty="0"/>
          </a:p>
        </p:txBody>
      </p:sp>
      <p:sp>
        <p:nvSpPr>
          <p:cNvPr id="16" name="Text 14"/>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Academy「Claude Code 101」レッスン3: Claude Codeのインストール</a:t>
            </a:r>
            <a:endParaRPr lang="en-US" sz="950" dirty="0"/>
          </a:p>
        </p:txBody>
      </p:sp>
      <p:sp>
        <p:nvSpPr>
          <p:cNvPr id="17" name="Text 15"/>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1</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レッスン4: 最初のプロンプト</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00" i="1" dirty="0">
                <a:solidFill>
                  <a:srgbClr val="C9C5BD"/>
                </a:solidFill>
                <a:latin typeface="Calibri" pitchFamily="34" charset="0"/>
                <a:ea typeface="Calibri" pitchFamily="34" charset="-122"/>
                <a:cs typeface="Calibri" pitchFamily="34" charset="-120"/>
              </a:rPr>
              <a:t>Claude Code 101 · レッスン4/12</a:t>
            </a:r>
            <a:endParaRPr lang="en-US" sz="1100" dirty="0"/>
          </a:p>
        </p:txBody>
      </p:sp>
      <p:sp>
        <p:nvSpPr>
          <p:cNvPr id="5" name="Text 3"/>
          <p:cNvSpPr txBox="1"/>
          <p:nvPr/>
        </p:nvSpPr>
        <p:spPr>
          <a:xfrm>
            <a:off x="548640" y="1737360"/>
            <a:ext cx="512064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権限モードの選択(Shift+Tabで切替)</a:t>
            </a:r>
            <a:endParaRPr lang="en-US" sz="1250" dirty="0"/>
          </a:p>
        </p:txBody>
      </p:sp>
      <p:sp>
        <p:nvSpPr>
          <p:cNvPr id="6" name="Text 4"/>
          <p:cNvSpPr txBox="1"/>
          <p:nvPr/>
        </p:nvSpPr>
        <p:spPr>
          <a:xfrm>
            <a:off x="548640" y="2057400"/>
            <a:ext cx="5120640" cy="182880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C9C5BD"/>
                </a:solidFill>
                <a:latin typeface="Calibri" pitchFamily="34" charset="0"/>
                <a:ea typeface="Calibri" pitchFamily="34" charset="-122"/>
                <a:cs typeface="Calibri" pitchFamily="34" charset="-120"/>
              </a:rPr>
              <a:t>手動モード: 編集・コマンド実行のたびに許可を求める</a:t>
            </a:r>
            <a:endParaRPr lang="en-US" sz="1000" dirty="0"/>
          </a:p>
          <a:p>
            <a:pPr marL="342900" indent="-342900">
              <a:spcAft>
                <a:spcPts val="500"/>
              </a:spcAft>
              <a:buSzPct val="100000"/>
              <a:buChar char="•"/>
            </a:pPr>
            <a:r>
              <a:rPr lang="en-US" sz="1000" dirty="0">
                <a:solidFill>
                  <a:srgbClr val="C9C5BD"/>
                </a:solidFill>
                <a:latin typeface="Calibri" pitchFamily="34" charset="0"/>
                <a:ea typeface="Calibri" pitchFamily="34" charset="-122"/>
                <a:cs typeface="Calibri" pitchFamily="34" charset="-120"/>
              </a:rPr>
              <a:t>自動承認モード: ファイル編集は自動承認、コマンドは要許可</a:t>
            </a:r>
            <a:endParaRPr lang="en-US" sz="1000" dirty="0"/>
          </a:p>
          <a:p>
            <a:pPr marL="342900" indent="-342900">
              <a:spcAft>
                <a:spcPts val="500"/>
              </a:spcAft>
              <a:buSzPct val="100000"/>
              <a:buChar char="•"/>
            </a:pPr>
            <a:r>
              <a:rPr lang="en-US" sz="1000" dirty="0">
                <a:solidFill>
                  <a:srgbClr val="C9C5BD"/>
                </a:solidFill>
                <a:latin typeface="Calibri" pitchFamily="34" charset="0"/>
                <a:ea typeface="Calibri" pitchFamily="34" charset="-122"/>
                <a:cs typeface="Calibri" pitchFamily="34" charset="-120"/>
              </a:rPr>
              <a:t>自動モード: 許可プロンプト無しで進行、背後の安全性チェックが審査。正解/不正解は無く、自分が快適な方法を選べばよい</a:t>
            </a:r>
            <a:endParaRPr lang="en-US" sz="1000" dirty="0"/>
          </a:p>
        </p:txBody>
      </p:sp>
      <p:sp>
        <p:nvSpPr>
          <p:cNvPr id="7" name="Text 5"/>
          <p:cNvSpPr txBox="1"/>
          <p:nvPr/>
        </p:nvSpPr>
        <p:spPr>
          <a:xfrm>
            <a:off x="5852160" y="1737360"/>
            <a:ext cx="530352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プランモード</a:t>
            </a:r>
            <a:endParaRPr lang="en-US" sz="1250" dirty="0"/>
          </a:p>
        </p:txBody>
      </p:sp>
      <p:sp>
        <p:nvSpPr>
          <p:cNvPr id="8" name="Text 6"/>
          <p:cNvSpPr txBox="1"/>
          <p:nvPr/>
        </p:nvSpPr>
        <p:spPr>
          <a:xfrm>
            <a:off x="5852160" y="2057400"/>
            <a:ext cx="5303520" cy="146304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プロンプトを受け取り、読み取り専用ツールでコードベースを分析・調査。途中で確認質問をし、実行可能な詳細プランを返す。複雑な変更の計画や安全なコードレビューに最適</a:t>
            </a:r>
            <a:endParaRPr lang="en-US" sz="1000" dirty="0"/>
          </a:p>
        </p:txBody>
      </p:sp>
      <p:sp>
        <p:nvSpPr>
          <p:cNvPr id="9" name="Shape 7"/>
          <p:cNvSpPr/>
          <p:nvPr/>
        </p:nvSpPr>
        <p:spPr>
          <a:xfrm>
            <a:off x="548640" y="4114800"/>
            <a:ext cx="10607040" cy="1554480"/>
          </a:xfrm>
          <a:prstGeom prst="roundRect">
            <a:avLst>
              <a:gd name="adj" fmla="val 5882"/>
            </a:avLst>
          </a:prstGeom>
          <a:solidFill>
            <a:srgbClr val="33312E"/>
          </a:solidFill>
          <a:ln/>
        </p:spPr>
      </p:sp>
      <p:sp>
        <p:nvSpPr>
          <p:cNvPr id="10" name="Text 8"/>
          <p:cNvSpPr txBox="1"/>
          <p:nvPr/>
        </p:nvSpPr>
        <p:spPr>
          <a:xfrm>
            <a:off x="822960" y="4251960"/>
            <a:ext cx="10058400" cy="320040"/>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例: ダークモードトグルの追加</a:t>
            </a:r>
            <a:endParaRPr lang="en-US" sz="1200" dirty="0"/>
          </a:p>
        </p:txBody>
      </p:sp>
      <p:sp>
        <p:nvSpPr>
          <p:cNvPr id="11" name="Text 9"/>
          <p:cNvSpPr txBox="1"/>
          <p:nvPr/>
        </p:nvSpPr>
        <p:spPr>
          <a:xfrm>
            <a:off x="822960" y="4572000"/>
            <a:ext cx="10058400" cy="100584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プロジェクトルートで claude 実行 → Shift+Tab数回でプランモード → 「アプリ全体にダークモードを実装したい。ヘッダーにライト/ダーク切替トグルを作り、既存のライトテーマに基づき良いコントラストの色を選んでほしい」と依頼 → プラン確認・承認 → 実装。権限モードにより途中で確認が入ることもある</a:t>
            </a:r>
            <a:endParaRPr lang="en-US" sz="1000" dirty="0"/>
          </a:p>
        </p:txBody>
      </p:sp>
      <p:sp>
        <p:nvSpPr>
          <p:cNvPr id="12" name="Text 10"/>
          <p:cNvSpPr txBox="1"/>
          <p:nvPr/>
        </p:nvSpPr>
        <p:spPr>
          <a:xfrm>
            <a:off x="548640" y="5852160"/>
            <a:ext cx="10607040" cy="457200"/>
          </a:xfrm>
          <a:prstGeom prst="rect">
            <a:avLst/>
          </a:prstGeom>
          <a:noFill/>
          <a:ln/>
        </p:spPr>
        <p:txBody>
          <a:bodyPr wrap="square" lIns="0" tIns="0" rIns="0" bIns="0" rtlCol="0" anchor="ctr"/>
          <a:lstStyle/>
          <a:p>
            <a:pPr indent="0" marL="0">
              <a:buNone/>
            </a:pPr>
            <a:r>
              <a:rPr lang="en-US" sz="1000" i="1" dirty="0">
                <a:solidFill>
                  <a:srgbClr val="CC785C"/>
                </a:solidFill>
                <a:latin typeface="Calibri" pitchFamily="34" charset="0"/>
                <a:ea typeface="Calibri" pitchFamily="34" charset="-122"/>
                <a:cs typeface="Calibri" pitchFamily="34" charset="-120"/>
              </a:rPr>
              <a:t>まとめ: プロンプトはできるだけ具体的に。プランモードを使えば、コードを実行する前に達成したいことの詳細をClaudeに掘り下げさせられる</a:t>
            </a:r>
            <a:endParaRPr lang="en-US" sz="1000" dirty="0"/>
          </a:p>
        </p:txBody>
      </p:sp>
      <p:sp>
        <p:nvSpPr>
          <p:cNvPr id="13" name="Text 11"/>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Claude Academy「Claude Code 101」レッスン4: 最初のプロンプト</a:t>
            </a:r>
            <a:endParaRPr lang="en-US" sz="950" dirty="0"/>
          </a:p>
        </p:txBody>
      </p:sp>
      <p:sp>
        <p:nvSpPr>
          <p:cNvPr id="14" name="Text 12"/>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1</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レッスン5: 探索→計画→コーディング→コミット</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00" i="1" dirty="0">
                <a:solidFill>
                  <a:srgbClr val="6B6862"/>
                </a:solidFill>
                <a:latin typeface="Calibri" pitchFamily="34" charset="0"/>
                <a:ea typeface="Calibri" pitchFamily="34" charset="-122"/>
                <a:cs typeface="Calibri" pitchFamily="34" charset="-120"/>
              </a:rPr>
              <a:t>Claude Code 101 · レッスン5/12</a:t>
            </a:r>
            <a:endParaRPr lang="en-US" sz="1100" dirty="0"/>
          </a:p>
        </p:txBody>
      </p:sp>
      <p:sp>
        <p:nvSpPr>
          <p:cNvPr id="5" name="Shape 3"/>
          <p:cNvSpPr/>
          <p:nvPr/>
        </p:nvSpPr>
        <p:spPr>
          <a:xfrm>
            <a:off x="548640" y="1737360"/>
            <a:ext cx="10607040" cy="1234440"/>
          </a:xfrm>
          <a:prstGeom prst="roundRect">
            <a:avLst>
              <a:gd name="adj" fmla="val 5926"/>
            </a:avLst>
          </a:prstGeom>
          <a:solidFill>
            <a:srgbClr val="FFFFFF"/>
          </a:solidFill>
          <a:ln w="12700">
            <a:solidFill>
              <a:srgbClr val="E5E2DC"/>
            </a:solidFill>
            <a:prstDash val="solid"/>
          </a:ln>
        </p:spPr>
      </p:sp>
      <p:sp>
        <p:nvSpPr>
          <p:cNvPr id="6" name="Text 4"/>
          <p:cNvSpPr txBox="1"/>
          <p:nvPr/>
        </p:nvSpPr>
        <p:spPr>
          <a:xfrm>
            <a:off x="822960" y="1847088"/>
            <a:ext cx="2011680" cy="1005840"/>
          </a:xfrm>
          <a:prstGeom prst="rect">
            <a:avLst/>
          </a:prstGeom>
          <a:noFill/>
          <a:ln/>
        </p:spPr>
        <p:txBody>
          <a:bodyPr wrap="square" lIns="0" tIns="0" rIns="0" bIns="0" rtlCol="0" anchor="t"/>
          <a:lstStyle/>
          <a:p>
            <a:pPr indent="0" marL="0">
              <a:buNone/>
            </a:pPr>
            <a:r>
              <a:rPr lang="en-US" sz="1250" b="1" dirty="0">
                <a:solidFill>
                  <a:srgbClr val="CC785C"/>
                </a:solidFill>
                <a:latin typeface="Calibri" pitchFamily="34" charset="0"/>
                <a:ea typeface="Calibri" pitchFamily="34" charset="-122"/>
                <a:cs typeface="Calibri" pitchFamily="34" charset="-120"/>
              </a:rPr>
              <a:t>探索と計画</a:t>
            </a:r>
            <a:endParaRPr lang="en-US" sz="1250" dirty="0"/>
          </a:p>
        </p:txBody>
      </p:sp>
      <p:sp>
        <p:nvSpPr>
          <p:cNvPr id="7" name="Text 5"/>
          <p:cNvSpPr txBox="1"/>
          <p:nvPr/>
        </p:nvSpPr>
        <p:spPr>
          <a:xfrm>
            <a:off x="2926080" y="1847088"/>
            <a:ext cx="8046720" cy="105156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プランモードではClaudeはファイルを編集できず読むだけ。「関連ファイルを読み、Web検索し、行動計画を提示」→確認して基準を満たさなければ修正依頼。コードが未着手のこの段階が最も軌道修正しやすい。変更予定が無く概要だけ欲しいならexploreサブエージェントも選択肢</a:t>
            </a:r>
            <a:endParaRPr lang="en-US" sz="950" dirty="0"/>
          </a:p>
        </p:txBody>
      </p:sp>
      <p:sp>
        <p:nvSpPr>
          <p:cNvPr id="8" name="Shape 6"/>
          <p:cNvSpPr/>
          <p:nvPr/>
        </p:nvSpPr>
        <p:spPr>
          <a:xfrm>
            <a:off x="548640" y="3108960"/>
            <a:ext cx="10607040" cy="1234440"/>
          </a:xfrm>
          <a:prstGeom prst="roundRect">
            <a:avLst>
              <a:gd name="adj" fmla="val 5926"/>
            </a:avLst>
          </a:prstGeom>
          <a:solidFill>
            <a:srgbClr val="FFFFFF"/>
          </a:solidFill>
          <a:ln w="12700">
            <a:solidFill>
              <a:srgbClr val="E5E2DC"/>
            </a:solidFill>
            <a:prstDash val="solid"/>
          </a:ln>
        </p:spPr>
      </p:sp>
      <p:sp>
        <p:nvSpPr>
          <p:cNvPr id="9" name="Text 7"/>
          <p:cNvSpPr txBox="1"/>
          <p:nvPr/>
        </p:nvSpPr>
        <p:spPr>
          <a:xfrm>
            <a:off x="822960" y="3218688"/>
            <a:ext cx="2011680" cy="1005840"/>
          </a:xfrm>
          <a:prstGeom prst="rect">
            <a:avLst/>
          </a:prstGeom>
          <a:noFill/>
          <a:ln/>
        </p:spPr>
        <p:txBody>
          <a:bodyPr wrap="square" lIns="0" tIns="0" rIns="0" bIns="0" rtlCol="0" anchor="t"/>
          <a:lstStyle/>
          <a:p>
            <a:pPr indent="0" marL="0">
              <a:buNone/>
            </a:pPr>
            <a:r>
              <a:rPr lang="en-US" sz="1250" b="1" dirty="0">
                <a:solidFill>
                  <a:srgbClr val="CC785C"/>
                </a:solidFill>
                <a:latin typeface="Calibri" pitchFamily="34" charset="0"/>
                <a:ea typeface="Calibri" pitchFamily="34" charset="-122"/>
                <a:cs typeface="Calibri" pitchFamily="34" charset="-120"/>
              </a:rPr>
              <a:t>コーディング</a:t>
            </a:r>
            <a:endParaRPr lang="en-US" sz="1250" dirty="0"/>
          </a:p>
        </p:txBody>
      </p:sp>
      <p:sp>
        <p:nvSpPr>
          <p:cNvPr id="10" name="Text 8"/>
          <p:cNvSpPr txBox="1"/>
          <p:nvPr/>
        </p:nvSpPr>
        <p:spPr>
          <a:xfrm>
            <a:off x="2926080" y="3218688"/>
            <a:ext cx="8046720" cy="105156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計画を承認しClaudeが実行。権限モードにより都度確認/自動承認/自動モードを選べる。ヒント: 成功基準を明示する、Claude in Chrome等の補助ツールを追加する、信頼できるテストスイートを用意する。同じ問題に繰り返しぶつかる場合はCLAUDE.mdへの保存を依頼</a:t>
            </a:r>
            <a:endParaRPr lang="en-US" sz="950" dirty="0"/>
          </a:p>
        </p:txBody>
      </p:sp>
      <p:sp>
        <p:nvSpPr>
          <p:cNvPr id="11" name="Shape 9"/>
          <p:cNvSpPr/>
          <p:nvPr/>
        </p:nvSpPr>
        <p:spPr>
          <a:xfrm>
            <a:off x="548640" y="4480560"/>
            <a:ext cx="10607040" cy="1234440"/>
          </a:xfrm>
          <a:prstGeom prst="roundRect">
            <a:avLst>
              <a:gd name="adj" fmla="val 5926"/>
            </a:avLst>
          </a:prstGeom>
          <a:solidFill>
            <a:srgbClr val="FFFFFF"/>
          </a:solidFill>
          <a:ln w="12700">
            <a:solidFill>
              <a:srgbClr val="E5E2DC"/>
            </a:solidFill>
            <a:prstDash val="solid"/>
          </a:ln>
        </p:spPr>
      </p:sp>
      <p:sp>
        <p:nvSpPr>
          <p:cNvPr id="12" name="Text 10"/>
          <p:cNvSpPr txBox="1"/>
          <p:nvPr/>
        </p:nvSpPr>
        <p:spPr>
          <a:xfrm>
            <a:off x="822960" y="4590288"/>
            <a:ext cx="2011680" cy="1005840"/>
          </a:xfrm>
          <a:prstGeom prst="rect">
            <a:avLst/>
          </a:prstGeom>
          <a:noFill/>
          <a:ln/>
        </p:spPr>
        <p:txBody>
          <a:bodyPr wrap="square" lIns="0" tIns="0" rIns="0" bIns="0" rtlCol="0" anchor="t"/>
          <a:lstStyle/>
          <a:p>
            <a:pPr indent="0" marL="0">
              <a:buNone/>
            </a:pPr>
            <a:r>
              <a:rPr lang="en-US" sz="1250" b="1" dirty="0">
                <a:solidFill>
                  <a:srgbClr val="CC785C"/>
                </a:solidFill>
                <a:latin typeface="Calibri" pitchFamily="34" charset="0"/>
                <a:ea typeface="Calibri" pitchFamily="34" charset="-122"/>
                <a:cs typeface="Calibri" pitchFamily="34" charset="-120"/>
              </a:rPr>
              <a:t>コミット</a:t>
            </a:r>
            <a:endParaRPr lang="en-US" sz="1250" dirty="0"/>
          </a:p>
        </p:txBody>
      </p:sp>
      <p:sp>
        <p:nvSpPr>
          <p:cNvPr id="13" name="Text 11"/>
          <p:cNvSpPr txBox="1"/>
          <p:nvPr/>
        </p:nvSpPr>
        <p:spPr>
          <a:xfrm>
            <a:off x="2926080" y="4590288"/>
            <a:ext cx="8046720" cy="105156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自分でテストし満足したらコミット前にサブエージェントのコードレビュアーに確認させる(メインエージェントの偏りを引きずらない新鮮な目)。その後Claudeに自分のスタイルでコミットメッセージを生成させ、繰り返す</a:t>
            </a:r>
            <a:endParaRPr lang="en-US" sz="950" dirty="0"/>
          </a:p>
        </p:txBody>
      </p:sp>
      <p:sp>
        <p:nvSpPr>
          <p:cNvPr id="14" name="Text 12"/>
          <p:cNvSpPr txBox="1"/>
          <p:nvPr/>
        </p:nvSpPr>
        <p:spPr>
          <a:xfrm>
            <a:off x="548640" y="5897880"/>
            <a:ext cx="10607040" cy="457200"/>
          </a:xfrm>
          <a:prstGeom prst="rect">
            <a:avLst/>
          </a:prstGeom>
          <a:noFill/>
          <a:ln/>
        </p:spPr>
        <p:txBody>
          <a:bodyPr wrap="square" lIns="0" tIns="0" rIns="0" bIns="0" rtlCol="0" anchor="ctr"/>
          <a:lstStyle/>
          <a:p>
            <a:pPr indent="0" marL="0">
              <a:buNone/>
            </a:pPr>
            <a:r>
              <a:rPr lang="en-US" sz="1000" i="1" dirty="0">
                <a:solidFill>
                  <a:srgbClr val="CC785C"/>
                </a:solidFill>
                <a:latin typeface="Calibri" pitchFamily="34" charset="0"/>
                <a:ea typeface="Calibri" pitchFamily="34" charset="-122"/>
                <a:cs typeface="Calibri" pitchFamily="34" charset="-120"/>
              </a:rPr>
              <a:t>まとめ: 探索=必要な文脈を与える / 計画=成功を測る行動計画を作る / コーディング=結果に落ち着くまでのやり取り / コミット=レビューしてプッシュし次の機能へ</a:t>
            </a:r>
            <a:endParaRPr lang="en-US" sz="1000" dirty="0"/>
          </a:p>
        </p:txBody>
      </p:sp>
      <p:sp>
        <p:nvSpPr>
          <p:cNvPr id="15" name="Text 13"/>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Academy「Claude Code 101」レッスン5: 探索→計画→コーディング→コミットのワークフロー</a:t>
            </a:r>
            <a:endParaRPr lang="en-US" sz="950" dirty="0"/>
          </a:p>
        </p:txBody>
      </p:sp>
      <p:sp>
        <p:nvSpPr>
          <p:cNvPr id="16" name="Text 14"/>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公式Quickstart: インストール〜ログイン</a:t>
            </a:r>
            <a:endParaRPr lang="en-US" sz="2400" dirty="0"/>
          </a:p>
        </p:txBody>
      </p:sp>
      <p:sp>
        <p:nvSpPr>
          <p:cNvPr id="4" name="Text 2"/>
          <p:cNvSpPr txBox="1"/>
          <p:nvPr/>
        </p:nvSpPr>
        <p:spPr>
          <a:xfrm>
            <a:off x="548640" y="1417320"/>
            <a:ext cx="10607040" cy="365760"/>
          </a:xfrm>
          <a:prstGeom prst="rect">
            <a:avLst/>
          </a:prstGeom>
          <a:noFill/>
          <a:ln/>
        </p:spPr>
        <p:txBody>
          <a:bodyPr wrap="square" lIns="0" tIns="0" rIns="0" bIns="0" rtlCol="0" anchor="ctr"/>
          <a:lstStyle/>
          <a:p>
            <a:pPr indent="0" marL="0">
              <a:buNone/>
            </a:pPr>
            <a:r>
              <a:rPr lang="en-US" sz="1400" b="1" dirty="0">
                <a:solidFill>
                  <a:srgbClr val="CC785C"/>
                </a:solidFill>
                <a:latin typeface="Calibri" pitchFamily="34" charset="0"/>
                <a:ea typeface="Calibri" pitchFamily="34" charset="-122"/>
                <a:cs typeface="Calibri" pitchFamily="34" charset="-120"/>
              </a:rPr>
              <a:t>① インストール</a:t>
            </a:r>
            <a:endParaRPr lang="en-US" sz="1400" dirty="0"/>
          </a:p>
        </p:txBody>
      </p:sp>
      <p:sp>
        <p:nvSpPr>
          <p:cNvPr id="5" name="Text 3"/>
          <p:cNvSpPr txBox="1"/>
          <p:nvPr/>
        </p:nvSpPr>
        <p:spPr>
          <a:xfrm>
            <a:off x="548640" y="1783080"/>
            <a:ext cx="10607040" cy="11887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F1E1D"/>
                </a:solidFill>
                <a:latin typeface="Calibri" pitchFamily="34" charset="0"/>
                <a:ea typeface="Calibri" pitchFamily="34" charset="-122"/>
                <a:cs typeface="Calibri" pitchFamily="34" charset="-120"/>
              </a:rPr>
              <a:t>macOS/Linux/WSL: curl -fsSL https://claude.ai/install.sh | bash</a:t>
            </a:r>
            <a:endParaRPr lang="en-US" sz="1150" dirty="0"/>
          </a:p>
          <a:p>
            <a:pPr marL="342900" indent="-342900">
              <a:spcAft>
                <a:spcPts val="600"/>
              </a:spcAft>
              <a:buSzPct val="100000"/>
              <a:buChar char="•"/>
            </a:pPr>
            <a:r>
              <a:rPr lang="en-US" sz="1150" dirty="0">
                <a:solidFill>
                  <a:srgbClr val="1F1E1D"/>
                </a:solidFill>
                <a:latin typeface="Calibri" pitchFamily="34" charset="0"/>
                <a:ea typeface="Calibri" pitchFamily="34" charset="-122"/>
                <a:cs typeface="Calibri" pitchFamily="34" charset="-120"/>
              </a:rPr>
              <a:t>Windows PowerShell: irm https://claude.ai/install.ps1 | iex</a:t>
            </a:r>
            <a:endParaRPr lang="en-US" sz="1150" dirty="0"/>
          </a:p>
          <a:p>
            <a:pPr marL="342900" indent="-342900">
              <a:spcAft>
                <a:spcPts val="600"/>
              </a:spcAft>
              <a:buSzPct val="100000"/>
              <a:buChar char="•"/>
            </a:pPr>
            <a:r>
              <a:rPr lang="en-US" sz="1150" dirty="0">
                <a:solidFill>
                  <a:srgbClr val="1F1E1D"/>
                </a:solidFill>
                <a:latin typeface="Calibri" pitchFamily="34" charset="0"/>
                <a:ea typeface="Calibri" pitchFamily="34" charset="-122"/>
                <a:cs typeface="Calibri" pitchFamily="34" charset="-120"/>
              </a:rPr>
              <a:t>確認: claude --version でバージョン番号が表示されればOK。Native Installは自動でバックグラウンド更新される</a:t>
            </a:r>
            <a:endParaRPr lang="en-US" sz="1150" dirty="0"/>
          </a:p>
        </p:txBody>
      </p:sp>
      <p:sp>
        <p:nvSpPr>
          <p:cNvPr id="6" name="Text 4"/>
          <p:cNvSpPr txBox="1"/>
          <p:nvPr/>
        </p:nvSpPr>
        <p:spPr>
          <a:xfrm>
            <a:off x="548640" y="3063240"/>
            <a:ext cx="10607040" cy="365760"/>
          </a:xfrm>
          <a:prstGeom prst="rect">
            <a:avLst/>
          </a:prstGeom>
          <a:noFill/>
          <a:ln/>
        </p:spPr>
        <p:txBody>
          <a:bodyPr wrap="square" lIns="0" tIns="0" rIns="0" bIns="0" rtlCol="0" anchor="ctr"/>
          <a:lstStyle/>
          <a:p>
            <a:pPr indent="0" marL="0">
              <a:buNone/>
            </a:pPr>
            <a:r>
              <a:rPr lang="en-US" sz="1400" b="1" dirty="0">
                <a:solidFill>
                  <a:srgbClr val="CC785C"/>
                </a:solidFill>
                <a:latin typeface="Calibri" pitchFamily="34" charset="0"/>
                <a:ea typeface="Calibri" pitchFamily="34" charset="-122"/>
                <a:cs typeface="Calibri" pitchFamily="34" charset="-120"/>
              </a:rPr>
              <a:t>② ログイン</a:t>
            </a:r>
            <a:endParaRPr lang="en-US" sz="1400" dirty="0"/>
          </a:p>
        </p:txBody>
      </p:sp>
      <p:sp>
        <p:nvSpPr>
          <p:cNvPr id="7" name="Text 5"/>
          <p:cNvSpPr txBox="1"/>
          <p:nvPr/>
        </p:nvSpPr>
        <p:spPr>
          <a:xfrm>
            <a:off x="548640" y="3429000"/>
            <a:ext cx="10607040" cy="12801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F1E1D"/>
                </a:solidFill>
                <a:latin typeface="Calibri" pitchFamily="34" charset="0"/>
                <a:ea typeface="Calibri" pitchFamily="34" charset="-122"/>
                <a:cs typeface="Calibri" pitchFamily="34" charset="-120"/>
              </a:rPr>
              <a:t>claude と入力するとブラウザで認証を求められる(初回)。再ログイン・切替は /login</a:t>
            </a:r>
            <a:endParaRPr lang="en-US" sz="1150" dirty="0"/>
          </a:p>
          <a:p>
            <a:pPr marL="342900" indent="-342900">
              <a:spcAft>
                <a:spcPts val="600"/>
              </a:spcAft>
              <a:buSzPct val="100000"/>
              <a:buChar char="•"/>
            </a:pPr>
            <a:r>
              <a:rPr lang="en-US" sz="1150" dirty="0">
                <a:solidFill>
                  <a:srgbClr val="1F1E1D"/>
                </a:solidFill>
                <a:latin typeface="Calibri" pitchFamily="34" charset="0"/>
                <a:ea typeface="Calibri" pitchFamily="34" charset="-122"/>
                <a:cs typeface="Calibri" pitchFamily="34" charset="-120"/>
              </a:rPr>
              <a:t>対応アカウント: Claude Pro/Max/Team/Enterprise(推奨)、Claude Console(初回ログインで専用ワークスペース自動作成)、Bedrock/Vertex/Foundry等のクラウド経由、組織のセルフホストゲートウェイ経由(SSO)</a:t>
            </a:r>
            <a:endParaRPr lang="en-US" sz="1150" dirty="0"/>
          </a:p>
        </p:txBody>
      </p:sp>
      <p:sp>
        <p:nvSpPr>
          <p:cNvPr id="8" name="Text 6"/>
          <p:cNvSpPr txBox="1"/>
          <p:nvPr/>
        </p:nvSpPr>
        <p:spPr>
          <a:xfrm>
            <a:off x="548640" y="4846320"/>
            <a:ext cx="10607040" cy="365760"/>
          </a:xfrm>
          <a:prstGeom prst="rect">
            <a:avLst/>
          </a:prstGeom>
          <a:noFill/>
          <a:ln/>
        </p:spPr>
        <p:txBody>
          <a:bodyPr wrap="square" lIns="0" tIns="0" rIns="0" bIns="0" rtlCol="0" anchor="ctr"/>
          <a:lstStyle/>
          <a:p>
            <a:pPr indent="0" marL="0">
              <a:buNone/>
            </a:pPr>
            <a:r>
              <a:rPr lang="en-US" sz="1400" b="1" dirty="0">
                <a:solidFill>
                  <a:srgbClr val="CC785C"/>
                </a:solidFill>
                <a:latin typeface="Calibri" pitchFamily="34" charset="0"/>
                <a:ea typeface="Calibri" pitchFamily="34" charset="-122"/>
                <a:cs typeface="Calibri" pitchFamily="34" charset="-120"/>
              </a:rPr>
              <a:t>③ 最初のセッション</a:t>
            </a:r>
            <a:endParaRPr lang="en-US" sz="1400" dirty="0"/>
          </a:p>
        </p:txBody>
      </p:sp>
      <p:sp>
        <p:nvSpPr>
          <p:cNvPr id="9" name="Text 7"/>
          <p:cNvSpPr txBox="1"/>
          <p:nvPr/>
        </p:nvSpPr>
        <p:spPr>
          <a:xfrm>
            <a:off x="548640" y="5212080"/>
            <a:ext cx="10607040" cy="822960"/>
          </a:xfrm>
          <a:prstGeom prst="rect">
            <a:avLst/>
          </a:prstGeom>
          <a:noFill/>
          <a:ln/>
        </p:spPr>
        <p:txBody>
          <a:bodyPr wrap="square" lIns="0" tIns="0" rIns="0" bIns="0" rtlCol="0" anchor="ctr"/>
          <a:lstStyle/>
          <a:p>
            <a:pPr indent="0" marL="0">
              <a:buNone/>
            </a:pPr>
            <a:r>
              <a:rPr lang="en-US" sz="1150" dirty="0">
                <a:solidFill>
                  <a:srgbClr val="1F1E1D"/>
                </a:solidFill>
                <a:latin typeface="Calibri" pitchFamily="34" charset="0"/>
                <a:ea typeface="Calibri" pitchFamily="34" charset="-122"/>
                <a:cs typeface="Calibri" pitchFamily="34" charset="-120"/>
              </a:rPr>
              <a:t>cd /path/to/your/project &amp;&amp; claude で起動。「このプロジェクトは何をするものか?」のような質問から始めると、Claude Codeが必要なファイルを自動で読み込んで答えてくれる(手動でコンテキストを渡す必要はない)</a:t>
            </a:r>
            <a:endParaRPr lang="en-US" sz="1150" dirty="0"/>
          </a:p>
        </p:txBody>
      </p:sp>
      <p:sp>
        <p:nvSpPr>
          <p:cNvPr id="10" name="Text 8"/>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Code公式ドキュメント「Quickstart」</a:t>
            </a:r>
            <a:endParaRPr lang="en-US" sz="950" dirty="0"/>
          </a:p>
        </p:txBody>
      </p:sp>
      <p:sp>
        <p:nvSpPr>
          <p:cNvPr id="11" name="Text 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公式Quickstart: 基本コマンド一覧</a:t>
            </a:r>
            <a:endParaRPr lang="en-US" sz="2400" dirty="0"/>
          </a:p>
        </p:txBody>
      </p:sp>
      <p:sp>
        <p:nvSpPr>
          <p:cNvPr id="4" name="Text 2"/>
          <p:cNvSpPr txBox="1"/>
          <p:nvPr/>
        </p:nvSpPr>
        <p:spPr>
          <a:xfrm>
            <a:off x="548640" y="141732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シェルコマンド(ターミナルから起動・再開)</a:t>
            </a:r>
            <a:endParaRPr lang="en-US" sz="1300" dirty="0"/>
          </a:p>
        </p:txBody>
      </p:sp>
      <p:sp>
        <p:nvSpPr>
          <p:cNvPr id="5" name="Text 3"/>
          <p:cNvSpPr txBox="1"/>
          <p:nvPr/>
        </p:nvSpPr>
        <p:spPr>
          <a:xfrm>
            <a:off x="548640" y="1783080"/>
            <a:ext cx="2926080" cy="347472"/>
          </a:xfrm>
          <a:prstGeom prst="rect">
            <a:avLst/>
          </a:prstGeom>
          <a:noFill/>
          <a:ln/>
        </p:spPr>
        <p:txBody>
          <a:bodyPr wrap="square" lIns="0" tIns="0" rIns="0" bIns="0" rtlCol="0" anchor="ctr"/>
          <a:lstStyle/>
          <a:p>
            <a:pPr indent="0" marL="0">
              <a:buNone/>
            </a:pPr>
            <a:r>
              <a:rPr lang="en-US" sz="1150" b="1" dirty="0">
                <a:solidFill>
                  <a:srgbClr val="F4F3F0"/>
                </a:solidFill>
                <a:latin typeface="Courier New" pitchFamily="34" charset="0"/>
                <a:ea typeface="Courier New" pitchFamily="34" charset="-122"/>
                <a:cs typeface="Courier New" pitchFamily="34" charset="-120"/>
              </a:rPr>
              <a:t>claude</a:t>
            </a:r>
            <a:endParaRPr lang="en-US" sz="1150" dirty="0"/>
          </a:p>
        </p:txBody>
      </p:sp>
      <p:sp>
        <p:nvSpPr>
          <p:cNvPr id="6" name="Text 4"/>
          <p:cNvSpPr txBox="1"/>
          <p:nvPr/>
        </p:nvSpPr>
        <p:spPr>
          <a:xfrm>
            <a:off x="3566160" y="1783080"/>
            <a:ext cx="7132320" cy="347472"/>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対話モードを開始</a:t>
            </a:r>
            <a:endParaRPr lang="en-US" sz="1150" dirty="0"/>
          </a:p>
        </p:txBody>
      </p:sp>
      <p:sp>
        <p:nvSpPr>
          <p:cNvPr id="7" name="Text 5"/>
          <p:cNvSpPr txBox="1"/>
          <p:nvPr/>
        </p:nvSpPr>
        <p:spPr>
          <a:xfrm>
            <a:off x="548640" y="2167128"/>
            <a:ext cx="2926080" cy="347472"/>
          </a:xfrm>
          <a:prstGeom prst="rect">
            <a:avLst/>
          </a:prstGeom>
          <a:noFill/>
          <a:ln/>
        </p:spPr>
        <p:txBody>
          <a:bodyPr wrap="square" lIns="0" tIns="0" rIns="0" bIns="0" rtlCol="0" anchor="ctr"/>
          <a:lstStyle/>
          <a:p>
            <a:pPr indent="0" marL="0">
              <a:buNone/>
            </a:pPr>
            <a:r>
              <a:rPr lang="en-US" sz="1150" b="1" dirty="0">
                <a:solidFill>
                  <a:srgbClr val="F4F3F0"/>
                </a:solidFill>
                <a:latin typeface="Courier New" pitchFamily="34" charset="0"/>
                <a:ea typeface="Courier New" pitchFamily="34" charset="-122"/>
                <a:cs typeface="Courier New" pitchFamily="34" charset="-120"/>
              </a:rPr>
              <a:t>claude "task"</a:t>
            </a:r>
            <a:endParaRPr lang="en-US" sz="1150" dirty="0"/>
          </a:p>
        </p:txBody>
      </p:sp>
      <p:sp>
        <p:nvSpPr>
          <p:cNvPr id="8" name="Text 6"/>
          <p:cNvSpPr txBox="1"/>
          <p:nvPr/>
        </p:nvSpPr>
        <p:spPr>
          <a:xfrm>
            <a:off x="3566160" y="2167128"/>
            <a:ext cx="7132320" cy="347472"/>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初期プロンプト付きで対話モードを開始</a:t>
            </a:r>
            <a:endParaRPr lang="en-US" sz="1150" dirty="0"/>
          </a:p>
        </p:txBody>
      </p:sp>
      <p:sp>
        <p:nvSpPr>
          <p:cNvPr id="9" name="Text 7"/>
          <p:cNvSpPr txBox="1"/>
          <p:nvPr/>
        </p:nvSpPr>
        <p:spPr>
          <a:xfrm>
            <a:off x="548640" y="2551176"/>
            <a:ext cx="2926080" cy="347472"/>
          </a:xfrm>
          <a:prstGeom prst="rect">
            <a:avLst/>
          </a:prstGeom>
          <a:noFill/>
          <a:ln/>
        </p:spPr>
        <p:txBody>
          <a:bodyPr wrap="square" lIns="0" tIns="0" rIns="0" bIns="0" rtlCol="0" anchor="ctr"/>
          <a:lstStyle/>
          <a:p>
            <a:pPr indent="0" marL="0">
              <a:buNone/>
            </a:pPr>
            <a:r>
              <a:rPr lang="en-US" sz="1150" b="1" dirty="0">
                <a:solidFill>
                  <a:srgbClr val="F4F3F0"/>
                </a:solidFill>
                <a:latin typeface="Courier New" pitchFamily="34" charset="0"/>
                <a:ea typeface="Courier New" pitchFamily="34" charset="-122"/>
                <a:cs typeface="Courier New" pitchFamily="34" charset="-120"/>
              </a:rPr>
              <a:t>claude -p "query"</a:t>
            </a:r>
            <a:endParaRPr lang="en-US" sz="1150" dirty="0"/>
          </a:p>
        </p:txBody>
      </p:sp>
      <p:sp>
        <p:nvSpPr>
          <p:cNvPr id="10" name="Text 8"/>
          <p:cNvSpPr txBox="1"/>
          <p:nvPr/>
        </p:nvSpPr>
        <p:spPr>
          <a:xfrm>
            <a:off x="3566160" y="2551176"/>
            <a:ext cx="7132320" cy="347472"/>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一回限りのクエリを実行して終了</a:t>
            </a:r>
            <a:endParaRPr lang="en-US" sz="1150" dirty="0"/>
          </a:p>
        </p:txBody>
      </p:sp>
      <p:sp>
        <p:nvSpPr>
          <p:cNvPr id="11" name="Text 9"/>
          <p:cNvSpPr txBox="1"/>
          <p:nvPr/>
        </p:nvSpPr>
        <p:spPr>
          <a:xfrm>
            <a:off x="548640" y="2935224"/>
            <a:ext cx="2926080" cy="347472"/>
          </a:xfrm>
          <a:prstGeom prst="rect">
            <a:avLst/>
          </a:prstGeom>
          <a:noFill/>
          <a:ln/>
        </p:spPr>
        <p:txBody>
          <a:bodyPr wrap="square" lIns="0" tIns="0" rIns="0" bIns="0" rtlCol="0" anchor="ctr"/>
          <a:lstStyle/>
          <a:p>
            <a:pPr indent="0" marL="0">
              <a:buNone/>
            </a:pPr>
            <a:r>
              <a:rPr lang="en-US" sz="1150" b="1" dirty="0">
                <a:solidFill>
                  <a:srgbClr val="F4F3F0"/>
                </a:solidFill>
                <a:latin typeface="Courier New" pitchFamily="34" charset="0"/>
                <a:ea typeface="Courier New" pitchFamily="34" charset="-122"/>
                <a:cs typeface="Courier New" pitchFamily="34" charset="-120"/>
              </a:rPr>
              <a:t>claude -c</a:t>
            </a:r>
            <a:endParaRPr lang="en-US" sz="1150" dirty="0"/>
          </a:p>
        </p:txBody>
      </p:sp>
      <p:sp>
        <p:nvSpPr>
          <p:cNvPr id="12" name="Text 10"/>
          <p:cNvSpPr txBox="1"/>
          <p:nvPr/>
        </p:nvSpPr>
        <p:spPr>
          <a:xfrm>
            <a:off x="3566160" y="2935224"/>
            <a:ext cx="7132320" cy="347472"/>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現在のディレクトリの直近の会話を再開</a:t>
            </a:r>
            <a:endParaRPr lang="en-US" sz="1150" dirty="0"/>
          </a:p>
        </p:txBody>
      </p:sp>
      <p:sp>
        <p:nvSpPr>
          <p:cNvPr id="13" name="Text 11"/>
          <p:cNvSpPr txBox="1"/>
          <p:nvPr/>
        </p:nvSpPr>
        <p:spPr>
          <a:xfrm>
            <a:off x="548640" y="3319272"/>
            <a:ext cx="2926080" cy="347472"/>
          </a:xfrm>
          <a:prstGeom prst="rect">
            <a:avLst/>
          </a:prstGeom>
          <a:noFill/>
          <a:ln/>
        </p:spPr>
        <p:txBody>
          <a:bodyPr wrap="square" lIns="0" tIns="0" rIns="0" bIns="0" rtlCol="0" anchor="ctr"/>
          <a:lstStyle/>
          <a:p>
            <a:pPr indent="0" marL="0">
              <a:buNone/>
            </a:pPr>
            <a:r>
              <a:rPr lang="en-US" sz="1150" b="1" dirty="0">
                <a:solidFill>
                  <a:srgbClr val="F4F3F0"/>
                </a:solidFill>
                <a:latin typeface="Courier New" pitchFamily="34" charset="0"/>
                <a:ea typeface="Courier New" pitchFamily="34" charset="-122"/>
                <a:cs typeface="Courier New" pitchFamily="34" charset="-120"/>
              </a:rPr>
              <a:t>claude -r</a:t>
            </a:r>
            <a:endParaRPr lang="en-US" sz="1150" dirty="0"/>
          </a:p>
        </p:txBody>
      </p:sp>
      <p:sp>
        <p:nvSpPr>
          <p:cNvPr id="14" name="Text 12"/>
          <p:cNvSpPr txBox="1"/>
          <p:nvPr/>
        </p:nvSpPr>
        <p:spPr>
          <a:xfrm>
            <a:off x="3566160" y="3319272"/>
            <a:ext cx="7132320" cy="347472"/>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過去の会話を選んで再開</a:t>
            </a:r>
            <a:endParaRPr lang="en-US" sz="1150" dirty="0"/>
          </a:p>
        </p:txBody>
      </p:sp>
      <p:sp>
        <p:nvSpPr>
          <p:cNvPr id="15" name="Text 13"/>
          <p:cNvSpPr txBox="1"/>
          <p:nvPr/>
        </p:nvSpPr>
        <p:spPr>
          <a:xfrm>
            <a:off x="548640" y="384048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セッションコマンド(Claude Code起動中に使う)</a:t>
            </a:r>
            <a:endParaRPr lang="en-US" sz="1300" dirty="0"/>
          </a:p>
        </p:txBody>
      </p:sp>
      <p:sp>
        <p:nvSpPr>
          <p:cNvPr id="16" name="Text 14"/>
          <p:cNvSpPr txBox="1"/>
          <p:nvPr/>
        </p:nvSpPr>
        <p:spPr>
          <a:xfrm>
            <a:off x="548640" y="4206240"/>
            <a:ext cx="2926080" cy="347472"/>
          </a:xfrm>
          <a:prstGeom prst="rect">
            <a:avLst/>
          </a:prstGeom>
          <a:noFill/>
          <a:ln/>
        </p:spPr>
        <p:txBody>
          <a:bodyPr wrap="square" lIns="0" tIns="0" rIns="0" bIns="0" rtlCol="0" anchor="ctr"/>
          <a:lstStyle/>
          <a:p>
            <a:pPr indent="0" marL="0">
              <a:buNone/>
            </a:pPr>
            <a:r>
              <a:rPr lang="en-US" sz="1150" b="1" dirty="0">
                <a:solidFill>
                  <a:srgbClr val="F4F3F0"/>
                </a:solidFill>
                <a:latin typeface="Courier New" pitchFamily="34" charset="0"/>
                <a:ea typeface="Courier New" pitchFamily="34" charset="-122"/>
                <a:cs typeface="Courier New" pitchFamily="34" charset="-120"/>
              </a:rPr>
              <a:t>/clear</a:t>
            </a:r>
            <a:endParaRPr lang="en-US" sz="1150" dirty="0"/>
          </a:p>
        </p:txBody>
      </p:sp>
      <p:sp>
        <p:nvSpPr>
          <p:cNvPr id="17" name="Text 15"/>
          <p:cNvSpPr txBox="1"/>
          <p:nvPr/>
        </p:nvSpPr>
        <p:spPr>
          <a:xfrm>
            <a:off x="3566160" y="4206240"/>
            <a:ext cx="7132320" cy="347472"/>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会話履歴をクリア</a:t>
            </a:r>
            <a:endParaRPr lang="en-US" sz="1150" dirty="0"/>
          </a:p>
        </p:txBody>
      </p:sp>
      <p:sp>
        <p:nvSpPr>
          <p:cNvPr id="18" name="Text 16"/>
          <p:cNvSpPr txBox="1"/>
          <p:nvPr/>
        </p:nvSpPr>
        <p:spPr>
          <a:xfrm>
            <a:off x="548640" y="4590288"/>
            <a:ext cx="2926080" cy="347472"/>
          </a:xfrm>
          <a:prstGeom prst="rect">
            <a:avLst/>
          </a:prstGeom>
          <a:noFill/>
          <a:ln/>
        </p:spPr>
        <p:txBody>
          <a:bodyPr wrap="square" lIns="0" tIns="0" rIns="0" bIns="0" rtlCol="0" anchor="ctr"/>
          <a:lstStyle/>
          <a:p>
            <a:pPr indent="0" marL="0">
              <a:buNone/>
            </a:pPr>
            <a:r>
              <a:rPr lang="en-US" sz="1150" b="1" dirty="0">
                <a:solidFill>
                  <a:srgbClr val="F4F3F0"/>
                </a:solidFill>
                <a:latin typeface="Courier New" pitchFamily="34" charset="0"/>
                <a:ea typeface="Courier New" pitchFamily="34" charset="-122"/>
                <a:cs typeface="Courier New" pitchFamily="34" charset="-120"/>
              </a:rPr>
              <a:t>/help</a:t>
            </a:r>
            <a:endParaRPr lang="en-US" sz="1150" dirty="0"/>
          </a:p>
        </p:txBody>
      </p:sp>
      <p:sp>
        <p:nvSpPr>
          <p:cNvPr id="19" name="Text 17"/>
          <p:cNvSpPr txBox="1"/>
          <p:nvPr/>
        </p:nvSpPr>
        <p:spPr>
          <a:xfrm>
            <a:off x="3566160" y="4590288"/>
            <a:ext cx="7132320" cy="347472"/>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利用可能なコマンドを表示</a:t>
            </a:r>
            <a:endParaRPr lang="en-US" sz="1150" dirty="0"/>
          </a:p>
        </p:txBody>
      </p:sp>
      <p:sp>
        <p:nvSpPr>
          <p:cNvPr id="20" name="Text 18"/>
          <p:cNvSpPr txBox="1"/>
          <p:nvPr/>
        </p:nvSpPr>
        <p:spPr>
          <a:xfrm>
            <a:off x="548640" y="4974336"/>
            <a:ext cx="2926080" cy="347472"/>
          </a:xfrm>
          <a:prstGeom prst="rect">
            <a:avLst/>
          </a:prstGeom>
          <a:noFill/>
          <a:ln/>
        </p:spPr>
        <p:txBody>
          <a:bodyPr wrap="square" lIns="0" tIns="0" rIns="0" bIns="0" rtlCol="0" anchor="ctr"/>
          <a:lstStyle/>
          <a:p>
            <a:pPr indent="0" marL="0">
              <a:buNone/>
            </a:pPr>
            <a:r>
              <a:rPr lang="en-US" sz="1150" b="1" dirty="0">
                <a:solidFill>
                  <a:srgbClr val="F4F3F0"/>
                </a:solidFill>
                <a:latin typeface="Courier New" pitchFamily="34" charset="0"/>
                <a:ea typeface="Courier New" pitchFamily="34" charset="-122"/>
                <a:cs typeface="Courier New" pitchFamily="34" charset="-120"/>
              </a:rPr>
              <a:t>/exit (or Ctrl+D×2)</a:t>
            </a:r>
            <a:endParaRPr lang="en-US" sz="1150" dirty="0"/>
          </a:p>
        </p:txBody>
      </p:sp>
      <p:sp>
        <p:nvSpPr>
          <p:cNvPr id="21" name="Text 19"/>
          <p:cNvSpPr txBox="1"/>
          <p:nvPr/>
        </p:nvSpPr>
        <p:spPr>
          <a:xfrm>
            <a:off x="3566160" y="4974336"/>
            <a:ext cx="7132320" cy="347472"/>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Claude Codeを終了</a:t>
            </a:r>
            <a:endParaRPr lang="en-US" sz="1150" dirty="0"/>
          </a:p>
        </p:txBody>
      </p:sp>
      <p:sp>
        <p:nvSpPr>
          <p:cNvPr id="22" name="Text 20"/>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Claude Code公式ドキュメント「Quickstart」(完全な一覧はCLIリファレンス/コマンドリファレンス参照)</a:t>
            </a:r>
            <a:endParaRPr lang="en-US" sz="950" dirty="0"/>
          </a:p>
        </p:txBody>
      </p:sp>
      <p:sp>
        <p:nvSpPr>
          <p:cNvPr id="23" name="Text 21"/>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公式Quickstart: 典型的な8ステップ</a:t>
            </a:r>
            <a:endParaRPr lang="en-US" sz="2400" dirty="0"/>
          </a:p>
        </p:txBody>
      </p:sp>
      <p:sp>
        <p:nvSpPr>
          <p:cNvPr id="4" name="Shape 2"/>
          <p:cNvSpPr/>
          <p:nvPr/>
        </p:nvSpPr>
        <p:spPr>
          <a:xfrm>
            <a:off x="548640" y="1554480"/>
            <a:ext cx="10607040" cy="777240"/>
          </a:xfrm>
          <a:prstGeom prst="roundRect">
            <a:avLst>
              <a:gd name="adj" fmla="val 9412"/>
            </a:avLst>
          </a:prstGeom>
          <a:solidFill>
            <a:srgbClr val="FFFFFF"/>
          </a:solidFill>
          <a:ln w="12700">
            <a:solidFill>
              <a:srgbClr val="E5E2DC"/>
            </a:solidFill>
            <a:prstDash val="solid"/>
          </a:ln>
        </p:spPr>
      </p:sp>
      <p:sp>
        <p:nvSpPr>
          <p:cNvPr id="5" name="Text 3"/>
          <p:cNvSpPr txBox="1"/>
          <p:nvPr/>
        </p:nvSpPr>
        <p:spPr>
          <a:xfrm>
            <a:off x="822960" y="1645920"/>
            <a:ext cx="3108960" cy="594360"/>
          </a:xfrm>
          <a:prstGeom prst="rect">
            <a:avLst/>
          </a:prstGeom>
          <a:noFill/>
          <a:ln/>
        </p:spPr>
        <p:txBody>
          <a:bodyPr wrap="square" lIns="0" tIns="0" rIns="0" bIns="0" rtlCol="0" anchor="t"/>
          <a:lstStyle/>
          <a:p>
            <a:pPr indent="0" marL="0">
              <a:buNone/>
            </a:pPr>
            <a:r>
              <a:rPr lang="en-US" sz="1300" b="1" dirty="0">
                <a:solidFill>
                  <a:srgbClr val="CC785C"/>
                </a:solidFill>
                <a:latin typeface="Calibri" pitchFamily="34" charset="0"/>
                <a:ea typeface="Calibri" pitchFamily="34" charset="-122"/>
                <a:cs typeface="Calibri" pitchFamily="34" charset="-120"/>
              </a:rPr>
              <a:t>1. コードベース理解</a:t>
            </a:r>
            <a:endParaRPr lang="en-US" sz="1300" dirty="0"/>
          </a:p>
        </p:txBody>
      </p:sp>
      <p:sp>
        <p:nvSpPr>
          <p:cNvPr id="6" name="Text 4"/>
          <p:cNvSpPr txBox="1"/>
          <p:nvPr/>
        </p:nvSpPr>
        <p:spPr>
          <a:xfrm>
            <a:off x="4023360" y="1645920"/>
            <a:ext cx="69494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"what does this project do?" 等、質問から開始</a:t>
            </a:r>
            <a:endParaRPr lang="en-US" sz="1100" dirty="0"/>
          </a:p>
        </p:txBody>
      </p:sp>
      <p:sp>
        <p:nvSpPr>
          <p:cNvPr id="7" name="Shape 5"/>
          <p:cNvSpPr/>
          <p:nvPr/>
        </p:nvSpPr>
        <p:spPr>
          <a:xfrm>
            <a:off x="548640" y="2468880"/>
            <a:ext cx="10607040" cy="777240"/>
          </a:xfrm>
          <a:prstGeom prst="roundRect">
            <a:avLst>
              <a:gd name="adj" fmla="val 9412"/>
            </a:avLst>
          </a:prstGeom>
          <a:solidFill>
            <a:srgbClr val="FFFFFF"/>
          </a:solidFill>
          <a:ln w="12700">
            <a:solidFill>
              <a:srgbClr val="E5E2DC"/>
            </a:solidFill>
            <a:prstDash val="solid"/>
          </a:ln>
        </p:spPr>
      </p:sp>
      <p:sp>
        <p:nvSpPr>
          <p:cNvPr id="8" name="Text 6"/>
          <p:cNvSpPr txBox="1"/>
          <p:nvPr/>
        </p:nvSpPr>
        <p:spPr>
          <a:xfrm>
            <a:off x="822960" y="2560320"/>
            <a:ext cx="3108960" cy="594360"/>
          </a:xfrm>
          <a:prstGeom prst="rect">
            <a:avLst/>
          </a:prstGeom>
          <a:noFill/>
          <a:ln/>
        </p:spPr>
        <p:txBody>
          <a:bodyPr wrap="square" lIns="0" tIns="0" rIns="0" bIns="0" rtlCol="0" anchor="t"/>
          <a:lstStyle/>
          <a:p>
            <a:pPr indent="0" marL="0">
              <a:buNone/>
            </a:pPr>
            <a:r>
              <a:rPr lang="en-US" sz="1300" b="1" dirty="0">
                <a:solidFill>
                  <a:srgbClr val="CC785C"/>
                </a:solidFill>
                <a:latin typeface="Calibri" pitchFamily="34" charset="0"/>
                <a:ea typeface="Calibri" pitchFamily="34" charset="-122"/>
                <a:cs typeface="Calibri" pitchFamily="34" charset="-120"/>
              </a:rPr>
              <a:t>2. 初めてのコード変更</a:t>
            </a:r>
            <a:endParaRPr lang="en-US" sz="1300" dirty="0"/>
          </a:p>
        </p:txBody>
      </p:sp>
      <p:sp>
        <p:nvSpPr>
          <p:cNvPr id="9" name="Text 7"/>
          <p:cNvSpPr txBox="1"/>
          <p:nvPr/>
        </p:nvSpPr>
        <p:spPr>
          <a:xfrm>
            <a:off x="4023360" y="2560320"/>
            <a:ext cx="69494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"add a hello world function" — 承認を求められたらYesで許可</a:t>
            </a:r>
            <a:endParaRPr lang="en-US" sz="1100" dirty="0"/>
          </a:p>
        </p:txBody>
      </p:sp>
      <p:sp>
        <p:nvSpPr>
          <p:cNvPr id="10" name="Shape 8"/>
          <p:cNvSpPr/>
          <p:nvPr/>
        </p:nvSpPr>
        <p:spPr>
          <a:xfrm>
            <a:off x="548640" y="3383280"/>
            <a:ext cx="10607040" cy="777240"/>
          </a:xfrm>
          <a:prstGeom prst="roundRect">
            <a:avLst>
              <a:gd name="adj" fmla="val 9412"/>
            </a:avLst>
          </a:prstGeom>
          <a:solidFill>
            <a:srgbClr val="FFFFFF"/>
          </a:solidFill>
          <a:ln w="12700">
            <a:solidFill>
              <a:srgbClr val="E5E2DC"/>
            </a:solidFill>
            <a:prstDash val="solid"/>
          </a:ln>
        </p:spPr>
      </p:sp>
      <p:sp>
        <p:nvSpPr>
          <p:cNvPr id="11" name="Text 9"/>
          <p:cNvSpPr txBox="1"/>
          <p:nvPr/>
        </p:nvSpPr>
        <p:spPr>
          <a:xfrm>
            <a:off x="822960" y="3474720"/>
            <a:ext cx="3108960" cy="594360"/>
          </a:xfrm>
          <a:prstGeom prst="rect">
            <a:avLst/>
          </a:prstGeom>
          <a:noFill/>
          <a:ln/>
        </p:spPr>
        <p:txBody>
          <a:bodyPr wrap="square" lIns="0" tIns="0" rIns="0" bIns="0" rtlCol="0" anchor="t"/>
          <a:lstStyle/>
          <a:p>
            <a:pPr indent="0" marL="0">
              <a:buNone/>
            </a:pPr>
            <a:r>
              <a:rPr lang="en-US" sz="1300" b="1" dirty="0">
                <a:solidFill>
                  <a:srgbClr val="CC785C"/>
                </a:solidFill>
                <a:latin typeface="Calibri" pitchFamily="34" charset="0"/>
                <a:ea typeface="Calibri" pitchFamily="34" charset="-122"/>
                <a:cs typeface="Calibri" pitchFamily="34" charset="-120"/>
              </a:rPr>
              <a:t>3. Gitとの対話</a:t>
            </a:r>
            <a:endParaRPr lang="en-US" sz="1300" dirty="0"/>
          </a:p>
        </p:txBody>
      </p:sp>
      <p:sp>
        <p:nvSpPr>
          <p:cNvPr id="12" name="Text 10"/>
          <p:cNvSpPr txBox="1"/>
          <p:nvPr/>
        </p:nvSpPr>
        <p:spPr>
          <a:xfrm>
            <a:off x="4023360" y="3474720"/>
            <a:ext cx="69494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"commit my changes with a descriptive message" のように会話的に操作</a:t>
            </a:r>
            <a:endParaRPr lang="en-US" sz="1100" dirty="0"/>
          </a:p>
        </p:txBody>
      </p:sp>
      <p:sp>
        <p:nvSpPr>
          <p:cNvPr id="13" name="Shape 11"/>
          <p:cNvSpPr/>
          <p:nvPr/>
        </p:nvSpPr>
        <p:spPr>
          <a:xfrm>
            <a:off x="548640" y="4297680"/>
            <a:ext cx="10607040" cy="777240"/>
          </a:xfrm>
          <a:prstGeom prst="roundRect">
            <a:avLst>
              <a:gd name="adj" fmla="val 9412"/>
            </a:avLst>
          </a:prstGeom>
          <a:solidFill>
            <a:srgbClr val="FFFFFF"/>
          </a:solidFill>
          <a:ln w="12700">
            <a:solidFill>
              <a:srgbClr val="E5E2DC"/>
            </a:solidFill>
            <a:prstDash val="solid"/>
          </a:ln>
        </p:spPr>
      </p:sp>
      <p:sp>
        <p:nvSpPr>
          <p:cNvPr id="14" name="Text 12"/>
          <p:cNvSpPr txBox="1"/>
          <p:nvPr/>
        </p:nvSpPr>
        <p:spPr>
          <a:xfrm>
            <a:off x="822960" y="4389120"/>
            <a:ext cx="3108960" cy="594360"/>
          </a:xfrm>
          <a:prstGeom prst="rect">
            <a:avLst/>
          </a:prstGeom>
          <a:noFill/>
          <a:ln/>
        </p:spPr>
        <p:txBody>
          <a:bodyPr wrap="square" lIns="0" tIns="0" rIns="0" bIns="0" rtlCol="0" anchor="t"/>
          <a:lstStyle/>
          <a:p>
            <a:pPr indent="0" marL="0">
              <a:buNone/>
            </a:pPr>
            <a:r>
              <a:rPr lang="en-US" sz="1300" b="1" dirty="0">
                <a:solidFill>
                  <a:srgbClr val="CC785C"/>
                </a:solidFill>
                <a:latin typeface="Calibri" pitchFamily="34" charset="0"/>
                <a:ea typeface="Calibri" pitchFamily="34" charset="-122"/>
                <a:cs typeface="Calibri" pitchFamily="34" charset="-120"/>
              </a:rPr>
              <a:t>4. バグ修正・機能追加</a:t>
            </a:r>
            <a:endParaRPr lang="en-US" sz="1300" dirty="0"/>
          </a:p>
        </p:txBody>
      </p:sp>
      <p:sp>
        <p:nvSpPr>
          <p:cNvPr id="15" name="Text 13"/>
          <p:cNvSpPr txBox="1"/>
          <p:nvPr/>
        </p:nvSpPr>
        <p:spPr>
          <a:xfrm>
            <a:off x="4023360" y="4389120"/>
            <a:ext cx="69494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自然言語で記述するだけで、該当箇所の特定→実装→テスト実行まで自動で行う</a:t>
            </a:r>
            <a:endParaRPr lang="en-US" sz="1100" dirty="0"/>
          </a:p>
        </p:txBody>
      </p:sp>
      <p:sp>
        <p:nvSpPr>
          <p:cNvPr id="16" name="Shape 14"/>
          <p:cNvSpPr/>
          <p:nvPr/>
        </p:nvSpPr>
        <p:spPr>
          <a:xfrm>
            <a:off x="548640" y="5212080"/>
            <a:ext cx="10607040" cy="777240"/>
          </a:xfrm>
          <a:prstGeom prst="roundRect">
            <a:avLst>
              <a:gd name="adj" fmla="val 9412"/>
            </a:avLst>
          </a:prstGeom>
          <a:solidFill>
            <a:srgbClr val="FFFFFF"/>
          </a:solidFill>
          <a:ln w="12700">
            <a:solidFill>
              <a:srgbClr val="E5E2DC"/>
            </a:solidFill>
            <a:prstDash val="solid"/>
          </a:ln>
        </p:spPr>
      </p:sp>
      <p:sp>
        <p:nvSpPr>
          <p:cNvPr id="17" name="Text 15"/>
          <p:cNvSpPr txBox="1"/>
          <p:nvPr/>
        </p:nvSpPr>
        <p:spPr>
          <a:xfrm>
            <a:off x="822960" y="5303520"/>
            <a:ext cx="3108960" cy="594360"/>
          </a:xfrm>
          <a:prstGeom prst="rect">
            <a:avLst/>
          </a:prstGeom>
          <a:noFill/>
          <a:ln/>
        </p:spPr>
        <p:txBody>
          <a:bodyPr wrap="square" lIns="0" tIns="0" rIns="0" bIns="0" rtlCol="0" anchor="t"/>
          <a:lstStyle/>
          <a:p>
            <a:pPr indent="0" marL="0">
              <a:buNone/>
            </a:pPr>
            <a:r>
              <a:rPr lang="en-US" sz="1300" b="1" dirty="0">
                <a:solidFill>
                  <a:srgbClr val="CC785C"/>
                </a:solidFill>
                <a:latin typeface="Calibri" pitchFamily="34" charset="0"/>
                <a:ea typeface="Calibri" pitchFamily="34" charset="-122"/>
                <a:cs typeface="Calibri" pitchFamily="34" charset="-120"/>
              </a:rPr>
              <a:t>5. その他ワークフロー</a:t>
            </a:r>
            <a:endParaRPr lang="en-US" sz="1300" dirty="0"/>
          </a:p>
        </p:txBody>
      </p:sp>
      <p:sp>
        <p:nvSpPr>
          <p:cNvPr id="18" name="Text 16"/>
          <p:cNvSpPr txBox="1"/>
          <p:nvPr/>
        </p:nvSpPr>
        <p:spPr>
          <a:xfrm>
            <a:off x="4023360" y="5303520"/>
            <a:ext cx="69494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リファクタリング・テスト作成・ドキュメント更新・コードレビューも同様に依頼可能</a:t>
            </a:r>
            <a:endParaRPr lang="en-US" sz="1100" dirty="0"/>
          </a:p>
        </p:txBody>
      </p:sp>
      <p:sp>
        <p:nvSpPr>
          <p:cNvPr id="19" name="Text 17"/>
          <p:cNvSpPr txBox="1"/>
          <p:nvPr/>
        </p:nvSpPr>
        <p:spPr>
          <a:xfrm>
            <a:off x="548640" y="6126480"/>
            <a:ext cx="10607040" cy="365760"/>
          </a:xfrm>
          <a:prstGeom prst="rect">
            <a:avLst/>
          </a:prstGeom>
          <a:noFill/>
          <a:ln/>
        </p:spPr>
        <p:txBody>
          <a:bodyPr wrap="square" lIns="0" tIns="0" rIns="0" bIns="0" rtlCol="0" anchor="ctr"/>
          <a:lstStyle/>
          <a:p>
            <a:pPr indent="0" marL="0">
              <a:buNone/>
            </a:pPr>
            <a:r>
              <a:rPr lang="en-US" sz="1100" i="1" dirty="0">
                <a:solidFill>
                  <a:srgbClr val="6B6862"/>
                </a:solidFill>
                <a:latin typeface="Calibri" pitchFamily="34" charset="0"/>
                <a:ea typeface="Calibri" pitchFamily="34" charset="-122"/>
                <a:cs typeface="Calibri" pitchFamily="34" charset="-120"/>
              </a:rPr>
              <a:t>初心者向けのコツ: 具体的にリクエストする / 手順を分けて指示する / まずClaudeに探索させる / ショートカットで時間短縮</a:t>
            </a:r>
            <a:endParaRPr lang="en-US" sz="1100" dirty="0"/>
          </a:p>
        </p:txBody>
      </p:sp>
      <p:sp>
        <p:nvSpPr>
          <p:cNvPr id="20" name="Text 18"/>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Code公式ドキュメント「Quickstart」</a:t>
            </a:r>
            <a:endParaRPr lang="en-US" sz="950" dirty="0"/>
          </a:p>
        </p:txBody>
      </p:sp>
      <p:sp>
        <p:nvSpPr>
          <p:cNvPr id="21" name="Text 1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深掘り①: CLAUDE.md vs 自動メモリ</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50" i="1" dirty="0">
                <a:solidFill>
                  <a:srgbClr val="C9C5BD"/>
                </a:solidFill>
                <a:latin typeface="Calibri" pitchFamily="34" charset="0"/>
                <a:ea typeface="Calibri" pitchFamily="34" charset="-122"/>
                <a:cs typeface="Calibri" pitchFamily="34" charset="-120"/>
              </a:rPr>
              <a:t>セッションは毎回まっさらなコンテキストから始まる。知識を引き継ぐ2つの仕組み</a:t>
            </a:r>
            <a:endParaRPr lang="en-US" sz="1150" dirty="0"/>
          </a:p>
        </p:txBody>
      </p:sp>
      <p:sp>
        <p:nvSpPr>
          <p:cNvPr id="5" name="Shape 3"/>
          <p:cNvSpPr/>
          <p:nvPr/>
        </p:nvSpPr>
        <p:spPr>
          <a:xfrm>
            <a:off x="548640" y="1828800"/>
            <a:ext cx="5212080" cy="3931920"/>
          </a:xfrm>
          <a:prstGeom prst="roundRect">
            <a:avLst>
              <a:gd name="adj" fmla="val 2326"/>
            </a:avLst>
          </a:prstGeom>
          <a:solidFill>
            <a:srgbClr val="33312E"/>
          </a:solidFill>
          <a:ln/>
        </p:spPr>
      </p:sp>
      <p:sp>
        <p:nvSpPr>
          <p:cNvPr id="6" name="Text 4"/>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400" b="1" dirty="0">
                <a:solidFill>
                  <a:srgbClr val="CC785C"/>
                </a:solidFill>
                <a:latin typeface="Calibri" pitchFamily="34" charset="0"/>
                <a:ea typeface="Calibri" pitchFamily="34" charset="-122"/>
                <a:cs typeface="Calibri" pitchFamily="34" charset="-120"/>
              </a:rPr>
              <a:t>CLAUDE.md ファイル</a:t>
            </a:r>
            <a:endParaRPr lang="en-US" sz="1400" dirty="0"/>
          </a:p>
        </p:txBody>
      </p:sp>
      <p:sp>
        <p:nvSpPr>
          <p:cNvPr id="7" name="Text 5"/>
          <p:cNvSpPr txBox="1"/>
          <p:nvPr/>
        </p:nvSpPr>
        <p:spPr>
          <a:xfrm>
            <a:off x="822960" y="2423160"/>
            <a:ext cx="4754880" cy="32004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書く人: あなた</a:t>
            </a:r>
            <a:endParaRPr lang="en-US" sz="1200" dirty="0"/>
          </a:p>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内容: 指示・ルール</a:t>
            </a:r>
            <a:endParaRPr lang="en-US" sz="1200" dirty="0"/>
          </a:p>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範囲: プロジェクト/個人/組織</a:t>
            </a:r>
            <a:endParaRPr lang="en-US" sz="1200" dirty="0"/>
          </a:p>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読込: 毎セッション全体</a:t>
            </a:r>
            <a:endParaRPr lang="en-US" sz="1200" dirty="0"/>
          </a:p>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用途: コーディング規約・ワークフロー・アーキテクチャ</a:t>
            </a:r>
            <a:endParaRPr lang="en-US" sz="1200" dirty="0"/>
          </a:p>
        </p:txBody>
      </p:sp>
      <p:sp>
        <p:nvSpPr>
          <p:cNvPr id="8" name="Shape 6"/>
          <p:cNvSpPr/>
          <p:nvPr/>
        </p:nvSpPr>
        <p:spPr>
          <a:xfrm>
            <a:off x="6035040" y="1828800"/>
            <a:ext cx="5212080" cy="3931920"/>
          </a:xfrm>
          <a:prstGeom prst="roundRect">
            <a:avLst>
              <a:gd name="adj" fmla="val 2326"/>
            </a:avLst>
          </a:prstGeom>
          <a:solidFill>
            <a:srgbClr val="33312E"/>
          </a:solidFill>
          <a:ln/>
        </p:spPr>
      </p:sp>
      <p:sp>
        <p:nvSpPr>
          <p:cNvPr id="9" name="Text 7"/>
          <p:cNvSpPr txBox="1"/>
          <p:nvPr/>
        </p:nvSpPr>
        <p:spPr>
          <a:xfrm>
            <a:off x="6309360" y="2011680"/>
            <a:ext cx="4754880" cy="365760"/>
          </a:xfrm>
          <a:prstGeom prst="rect">
            <a:avLst/>
          </a:prstGeom>
          <a:noFill/>
          <a:ln/>
        </p:spPr>
        <p:txBody>
          <a:bodyPr wrap="square" lIns="0" tIns="0" rIns="0" bIns="0" rtlCol="0" anchor="ctr"/>
          <a:lstStyle/>
          <a:p>
            <a:pPr indent="0" marL="0">
              <a:buNone/>
            </a:pPr>
            <a:r>
              <a:rPr lang="en-US" sz="1400" b="1" dirty="0">
                <a:solidFill>
                  <a:srgbClr val="CC785C"/>
                </a:solidFill>
                <a:latin typeface="Calibri" pitchFamily="34" charset="0"/>
                <a:ea typeface="Calibri" pitchFamily="34" charset="-122"/>
                <a:cs typeface="Calibri" pitchFamily="34" charset="-120"/>
              </a:rPr>
              <a:t>Auto Memory(自動メモリ)</a:t>
            </a:r>
            <a:endParaRPr lang="en-US" sz="1400" dirty="0"/>
          </a:p>
        </p:txBody>
      </p:sp>
      <p:sp>
        <p:nvSpPr>
          <p:cNvPr id="10" name="Text 8"/>
          <p:cNvSpPr txBox="1"/>
          <p:nvPr/>
        </p:nvSpPr>
        <p:spPr>
          <a:xfrm>
            <a:off x="6309360" y="2423160"/>
            <a:ext cx="4754880" cy="32004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書く人: Claude自身</a:t>
            </a:r>
            <a:endParaRPr lang="en-US" sz="1200" dirty="0"/>
          </a:p>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内容: 学習内容・パターン</a:t>
            </a:r>
            <a:endParaRPr lang="en-US" sz="1200" dirty="0"/>
          </a:p>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範囲: リポジトリ単位(worktree間で共有)</a:t>
            </a:r>
            <a:endParaRPr lang="en-US" sz="1200" dirty="0"/>
          </a:p>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読込: 毎セッション(MEMORY.mdの先頭200行 or 25KBまで)</a:t>
            </a:r>
            <a:endParaRPr lang="en-US" sz="1200" dirty="0"/>
          </a:p>
          <a:p>
            <a:pPr marL="342900" indent="-342900">
              <a:spcAft>
                <a:spcPts val="800"/>
              </a:spcAft>
              <a:buSzPct val="100000"/>
              <a:buChar char="•"/>
            </a:pPr>
            <a:r>
              <a:rPr lang="en-US" sz="1200" dirty="0">
                <a:solidFill>
                  <a:srgbClr val="C9C5BD"/>
                </a:solidFill>
                <a:latin typeface="Calibri" pitchFamily="34" charset="0"/>
                <a:ea typeface="Calibri" pitchFamily="34" charset="-122"/>
                <a:cs typeface="Calibri" pitchFamily="34" charset="-120"/>
              </a:rPr>
              <a:t>用途: あなたの好み・修正指示・コードから読み取れないプロジェクト文脈</a:t>
            </a:r>
            <a:endParaRPr lang="en-US" sz="1200" dirty="0"/>
          </a:p>
        </p:txBody>
      </p:sp>
      <p:sp>
        <p:nvSpPr>
          <p:cNvPr id="11" name="Text 9"/>
          <p:cNvSpPr txBox="1"/>
          <p:nvPr/>
        </p:nvSpPr>
        <p:spPr>
          <a:xfrm>
            <a:off x="548640" y="5852160"/>
            <a:ext cx="10607040" cy="457200"/>
          </a:xfrm>
          <a:prstGeom prst="rect">
            <a:avLst/>
          </a:prstGeom>
          <a:noFill/>
          <a:ln/>
        </p:spPr>
        <p:txBody>
          <a:bodyPr wrap="square" lIns="0" tIns="0" rIns="0" bIns="0" rtlCol="0" anchor="ctr"/>
          <a:lstStyle/>
          <a:p>
            <a:pPr indent="0" marL="0">
              <a:buNone/>
            </a:pPr>
            <a:r>
              <a:rPr lang="en-US" sz="1050" i="1" dirty="0">
                <a:solidFill>
                  <a:srgbClr val="CC785C"/>
                </a:solidFill>
                <a:latin typeface="Calibri" pitchFamily="34" charset="0"/>
                <a:ea typeface="Calibri" pitchFamily="34" charset="-122"/>
                <a:cs typeface="Calibri" pitchFamily="34" charset="-120"/>
              </a:rPr>
              <a:t>いずれもコンテキストとして扱われ、強制設定ではない(system promptではなくsystem prompt後のuserメッセージとして渡る)。特定の行動を必ずブロックしたい場合はPreToolUseフックを使う</a:t>
            </a:r>
            <a:endParaRPr lang="en-US" sz="1050" dirty="0"/>
          </a:p>
        </p:txBody>
      </p:sp>
      <p:sp>
        <p:nvSpPr>
          <p:cNvPr id="12" name="Text 10"/>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Claude Code公式ドキュメント「How Claude remembers your project」</a:t>
            </a:r>
            <a:endParaRPr lang="en-US" sz="950" dirty="0"/>
          </a:p>
        </p:txBody>
      </p:sp>
      <p:sp>
        <p:nvSpPr>
          <p:cNvPr id="13" name="Text 11"/>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深掘り②: CLAUDE.mdの配置場所(詳細)</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00" i="1" dirty="0">
                <a:solidFill>
                  <a:srgbClr val="6B6862"/>
                </a:solidFill>
                <a:latin typeface="Calibri" pitchFamily="34" charset="0"/>
                <a:ea typeface="Calibri" pitchFamily="34" charset="-122"/>
                <a:cs typeface="Calibri" pitchFamily="34" charset="-120"/>
              </a:rPr>
              <a:t>読込順: 広い範囲→狭い範囲(後に読まれる=作業ディレクトリに近い指示ほど後段で提示される)</a:t>
            </a:r>
            <a:endParaRPr lang="en-US" sz="1100" dirty="0"/>
          </a:p>
        </p:txBody>
      </p:sp>
      <p:sp>
        <p:nvSpPr>
          <p:cNvPr id="5" name="Text 3"/>
          <p:cNvSpPr txBox="1"/>
          <p:nvPr/>
        </p:nvSpPr>
        <p:spPr>
          <a:xfrm>
            <a:off x="548640" y="1783080"/>
            <a:ext cx="2103120" cy="777240"/>
          </a:xfrm>
          <a:prstGeom prst="rect">
            <a:avLst/>
          </a:prstGeom>
          <a:noFill/>
          <a:ln/>
        </p:spPr>
        <p:txBody>
          <a:bodyPr wrap="square" lIns="0" tIns="0" rIns="0" bIns="0" rtlCol="0" anchor="ctr"/>
          <a:lstStyle/>
          <a:p>
            <a:pPr indent="0" marL="0">
              <a:buNone/>
            </a:pPr>
            <a:r>
              <a:rPr lang="en-US" sz="1100" b="1" dirty="0">
                <a:solidFill>
                  <a:srgbClr val="1F1E1D"/>
                </a:solidFill>
                <a:latin typeface="Calibri" pitchFamily="34" charset="0"/>
                <a:ea typeface="Calibri" pitchFamily="34" charset="-122"/>
                <a:cs typeface="Calibri" pitchFamily="34" charset="-120"/>
              </a:rPr>
              <a:t>Managed policy</a:t>
            </a:r>
            <a:endParaRPr lang="en-US" sz="1100" dirty="0"/>
          </a:p>
        </p:txBody>
      </p:sp>
      <p:sp>
        <p:nvSpPr>
          <p:cNvPr id="6" name="Text 4"/>
          <p:cNvSpPr txBox="1"/>
          <p:nvPr/>
        </p:nvSpPr>
        <p:spPr>
          <a:xfrm>
            <a:off x="2697480" y="1783080"/>
            <a:ext cx="4480560" cy="777240"/>
          </a:xfrm>
          <a:prstGeom prst="rect">
            <a:avLst/>
          </a:prstGeom>
          <a:noFill/>
          <a:ln/>
        </p:spPr>
        <p:txBody>
          <a:bodyPr wrap="square" lIns="0" tIns="0" rIns="0" bIns="0" rtlCol="0" anchor="ctr"/>
          <a:lstStyle/>
          <a:p>
            <a:pPr indent="0" marL="0">
              <a:buNone/>
            </a:pPr>
            <a:r>
              <a:rPr lang="en-US" sz="850" dirty="0">
                <a:solidFill>
                  <a:srgbClr val="6B6862"/>
                </a:solidFill>
                <a:latin typeface="Courier New" pitchFamily="34" charset="0"/>
                <a:ea typeface="Courier New" pitchFamily="34" charset="-122"/>
                <a:cs typeface="Courier New" pitchFamily="34" charset="-120"/>
              </a:rPr>
              <a:t>macOS: /Library/Application Support/ClaudeCode/CLAUDE.md</a:t>
            </a:r>
            <a:endParaRPr lang="en-US" sz="850" dirty="0"/>
          </a:p>
          <a:p>
            <a:pPr indent="0" marL="0">
              <a:buNone/>
            </a:pPr>
            <a:r>
              <a:rPr lang="en-US" sz="850" dirty="0">
                <a:solidFill>
                  <a:srgbClr val="6B6862"/>
                </a:solidFill>
                <a:latin typeface="Courier New" pitchFamily="34" charset="0"/>
                <a:ea typeface="Courier New" pitchFamily="34" charset="-122"/>
                <a:cs typeface="Courier New" pitchFamily="34" charset="-120"/>
              </a:rPr>
              <a:t>Linux/WSL: /etc/claude-code/CLAUDE.md</a:t>
            </a:r>
            <a:endParaRPr lang="en-US" sz="850" dirty="0"/>
          </a:p>
          <a:p>
            <a:pPr indent="0" marL="0">
              <a:buNone/>
            </a:pPr>
            <a:r>
              <a:rPr lang="en-US" sz="850" dirty="0">
                <a:solidFill>
                  <a:srgbClr val="6B6862"/>
                </a:solidFill>
                <a:latin typeface="Courier New" pitchFamily="34" charset="0"/>
                <a:ea typeface="Courier New" pitchFamily="34" charset="-122"/>
                <a:cs typeface="Courier New" pitchFamily="34" charset="-120"/>
              </a:rPr>
              <a:t>Windows: C:\Program Files\ClaudeCode\CLAUDE.md</a:t>
            </a:r>
            <a:endParaRPr lang="en-US" sz="850" dirty="0"/>
          </a:p>
        </p:txBody>
      </p:sp>
      <p:sp>
        <p:nvSpPr>
          <p:cNvPr id="7" name="Text 5"/>
          <p:cNvSpPr txBox="1"/>
          <p:nvPr/>
        </p:nvSpPr>
        <p:spPr>
          <a:xfrm>
            <a:off x="7269480" y="1783080"/>
            <a:ext cx="3886200" cy="77724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組織全体(IT/DevOps管理)。個別設定で除外不可</a:t>
            </a:r>
            <a:endParaRPr lang="en-US" sz="950" dirty="0"/>
          </a:p>
        </p:txBody>
      </p:sp>
      <p:sp>
        <p:nvSpPr>
          <p:cNvPr id="8" name="Text 6"/>
          <p:cNvSpPr txBox="1"/>
          <p:nvPr/>
        </p:nvSpPr>
        <p:spPr>
          <a:xfrm>
            <a:off x="548640" y="2651760"/>
            <a:ext cx="2103120" cy="777240"/>
          </a:xfrm>
          <a:prstGeom prst="rect">
            <a:avLst/>
          </a:prstGeom>
          <a:noFill/>
          <a:ln/>
        </p:spPr>
        <p:txBody>
          <a:bodyPr wrap="square" lIns="0" tIns="0" rIns="0" bIns="0" rtlCol="0" anchor="ctr"/>
          <a:lstStyle/>
          <a:p>
            <a:pPr indent="0" marL="0">
              <a:buNone/>
            </a:pPr>
            <a:r>
              <a:rPr lang="en-US" sz="1100" b="1" dirty="0">
                <a:solidFill>
                  <a:srgbClr val="1F1E1D"/>
                </a:solidFill>
                <a:latin typeface="Calibri" pitchFamily="34" charset="0"/>
                <a:ea typeface="Calibri" pitchFamily="34" charset="-122"/>
                <a:cs typeface="Calibri" pitchFamily="34" charset="-120"/>
              </a:rPr>
              <a:t>User instructions</a:t>
            </a:r>
            <a:endParaRPr lang="en-US" sz="1100" dirty="0"/>
          </a:p>
        </p:txBody>
      </p:sp>
      <p:sp>
        <p:nvSpPr>
          <p:cNvPr id="9" name="Text 7"/>
          <p:cNvSpPr txBox="1"/>
          <p:nvPr/>
        </p:nvSpPr>
        <p:spPr>
          <a:xfrm>
            <a:off x="2697480" y="2651760"/>
            <a:ext cx="4480560" cy="777240"/>
          </a:xfrm>
          <a:prstGeom prst="rect">
            <a:avLst/>
          </a:prstGeom>
          <a:noFill/>
          <a:ln/>
        </p:spPr>
        <p:txBody>
          <a:bodyPr wrap="square" lIns="0" tIns="0" rIns="0" bIns="0" rtlCol="0" anchor="ctr"/>
          <a:lstStyle/>
          <a:p>
            <a:pPr indent="0" marL="0">
              <a:buNone/>
            </a:pPr>
            <a:r>
              <a:rPr lang="en-US" sz="850" dirty="0">
                <a:solidFill>
                  <a:srgbClr val="6B6862"/>
                </a:solidFill>
                <a:latin typeface="Courier New" pitchFamily="34" charset="0"/>
                <a:ea typeface="Courier New" pitchFamily="34" charset="-122"/>
                <a:cs typeface="Courier New" pitchFamily="34" charset="-120"/>
              </a:rPr>
              <a:t>~/.claude/CLAUDE.md</a:t>
            </a:r>
            <a:endParaRPr lang="en-US" sz="850" dirty="0"/>
          </a:p>
        </p:txBody>
      </p:sp>
      <p:sp>
        <p:nvSpPr>
          <p:cNvPr id="10" name="Text 8"/>
          <p:cNvSpPr txBox="1"/>
          <p:nvPr/>
        </p:nvSpPr>
        <p:spPr>
          <a:xfrm>
            <a:off x="7269480" y="2651760"/>
            <a:ext cx="3886200" cy="77724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個人の全プロジェクト共通設定</a:t>
            </a:r>
            <a:endParaRPr lang="en-US" sz="950" dirty="0"/>
          </a:p>
        </p:txBody>
      </p:sp>
      <p:sp>
        <p:nvSpPr>
          <p:cNvPr id="11" name="Text 9"/>
          <p:cNvSpPr txBox="1"/>
          <p:nvPr/>
        </p:nvSpPr>
        <p:spPr>
          <a:xfrm>
            <a:off x="548640" y="3520440"/>
            <a:ext cx="2103120" cy="777240"/>
          </a:xfrm>
          <a:prstGeom prst="rect">
            <a:avLst/>
          </a:prstGeom>
          <a:noFill/>
          <a:ln/>
        </p:spPr>
        <p:txBody>
          <a:bodyPr wrap="square" lIns="0" tIns="0" rIns="0" bIns="0" rtlCol="0" anchor="ctr"/>
          <a:lstStyle/>
          <a:p>
            <a:pPr indent="0" marL="0">
              <a:buNone/>
            </a:pPr>
            <a:r>
              <a:rPr lang="en-US" sz="1100" b="1" dirty="0">
                <a:solidFill>
                  <a:srgbClr val="1F1E1D"/>
                </a:solidFill>
                <a:latin typeface="Calibri" pitchFamily="34" charset="0"/>
                <a:ea typeface="Calibri" pitchFamily="34" charset="-122"/>
                <a:cs typeface="Calibri" pitchFamily="34" charset="-120"/>
              </a:rPr>
              <a:t>Project instructions</a:t>
            </a:r>
            <a:endParaRPr lang="en-US" sz="1100" dirty="0"/>
          </a:p>
        </p:txBody>
      </p:sp>
      <p:sp>
        <p:nvSpPr>
          <p:cNvPr id="12" name="Text 10"/>
          <p:cNvSpPr txBox="1"/>
          <p:nvPr/>
        </p:nvSpPr>
        <p:spPr>
          <a:xfrm>
            <a:off x="2697480" y="3520440"/>
            <a:ext cx="4480560" cy="777240"/>
          </a:xfrm>
          <a:prstGeom prst="rect">
            <a:avLst/>
          </a:prstGeom>
          <a:noFill/>
          <a:ln/>
        </p:spPr>
        <p:txBody>
          <a:bodyPr wrap="square" lIns="0" tIns="0" rIns="0" bIns="0" rtlCol="0" anchor="ctr"/>
          <a:lstStyle/>
          <a:p>
            <a:pPr indent="0" marL="0">
              <a:buNone/>
            </a:pPr>
            <a:r>
              <a:rPr lang="en-US" sz="850" dirty="0">
                <a:solidFill>
                  <a:srgbClr val="6B6862"/>
                </a:solidFill>
                <a:latin typeface="Courier New" pitchFamily="34" charset="0"/>
                <a:ea typeface="Courier New" pitchFamily="34" charset="-122"/>
                <a:cs typeface="Courier New" pitchFamily="34" charset="-120"/>
              </a:rPr>
              <a:t>./CLAUDE.md または ./.claude/CLAUDE.md</a:t>
            </a:r>
            <a:endParaRPr lang="en-US" sz="850" dirty="0"/>
          </a:p>
        </p:txBody>
      </p:sp>
      <p:sp>
        <p:nvSpPr>
          <p:cNvPr id="13" name="Text 11"/>
          <p:cNvSpPr txBox="1"/>
          <p:nvPr/>
        </p:nvSpPr>
        <p:spPr>
          <a:xfrm>
            <a:off x="7269480" y="3520440"/>
            <a:ext cx="3886200" cy="77724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チーム共有。source control経由で配布</a:t>
            </a:r>
            <a:endParaRPr lang="en-US" sz="950" dirty="0"/>
          </a:p>
        </p:txBody>
      </p:sp>
      <p:sp>
        <p:nvSpPr>
          <p:cNvPr id="14" name="Text 12"/>
          <p:cNvSpPr txBox="1"/>
          <p:nvPr/>
        </p:nvSpPr>
        <p:spPr>
          <a:xfrm>
            <a:off x="548640" y="4389120"/>
            <a:ext cx="2103120" cy="777240"/>
          </a:xfrm>
          <a:prstGeom prst="rect">
            <a:avLst/>
          </a:prstGeom>
          <a:noFill/>
          <a:ln/>
        </p:spPr>
        <p:txBody>
          <a:bodyPr wrap="square" lIns="0" tIns="0" rIns="0" bIns="0" rtlCol="0" anchor="ctr"/>
          <a:lstStyle/>
          <a:p>
            <a:pPr indent="0" marL="0">
              <a:buNone/>
            </a:pPr>
            <a:r>
              <a:rPr lang="en-US" sz="1100" b="1" dirty="0">
                <a:solidFill>
                  <a:srgbClr val="1F1E1D"/>
                </a:solidFill>
                <a:latin typeface="Calibri" pitchFamily="34" charset="0"/>
                <a:ea typeface="Calibri" pitchFamily="34" charset="-122"/>
                <a:cs typeface="Calibri" pitchFamily="34" charset="-120"/>
              </a:rPr>
              <a:t>Local instructions</a:t>
            </a:r>
            <a:endParaRPr lang="en-US" sz="1100" dirty="0"/>
          </a:p>
        </p:txBody>
      </p:sp>
      <p:sp>
        <p:nvSpPr>
          <p:cNvPr id="15" name="Text 13"/>
          <p:cNvSpPr txBox="1"/>
          <p:nvPr/>
        </p:nvSpPr>
        <p:spPr>
          <a:xfrm>
            <a:off x="2697480" y="4389120"/>
            <a:ext cx="4480560" cy="777240"/>
          </a:xfrm>
          <a:prstGeom prst="rect">
            <a:avLst/>
          </a:prstGeom>
          <a:noFill/>
          <a:ln/>
        </p:spPr>
        <p:txBody>
          <a:bodyPr wrap="square" lIns="0" tIns="0" rIns="0" bIns="0" rtlCol="0" anchor="ctr"/>
          <a:lstStyle/>
          <a:p>
            <a:pPr indent="0" marL="0">
              <a:buNone/>
            </a:pPr>
            <a:r>
              <a:rPr lang="en-US" sz="850" dirty="0">
                <a:solidFill>
                  <a:srgbClr val="6B6862"/>
                </a:solidFill>
                <a:latin typeface="Courier New" pitchFamily="34" charset="0"/>
                <a:ea typeface="Courier New" pitchFamily="34" charset="-122"/>
                <a:cs typeface="Courier New" pitchFamily="34" charset="-120"/>
              </a:rPr>
              <a:t>./CLAUDE.local.md</a:t>
            </a:r>
            <a:endParaRPr lang="en-US" sz="850" dirty="0"/>
          </a:p>
        </p:txBody>
      </p:sp>
      <p:sp>
        <p:nvSpPr>
          <p:cNvPr id="16" name="Text 14"/>
          <p:cNvSpPr txBox="1"/>
          <p:nvPr/>
        </p:nvSpPr>
        <p:spPr>
          <a:xfrm>
            <a:off x="7269480" y="4389120"/>
            <a:ext cx="3886200" cy="77724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個人用・.gitignore対象(サンドボックスURL等)</a:t>
            </a:r>
            <a:endParaRPr lang="en-US" sz="950" dirty="0"/>
          </a:p>
        </p:txBody>
      </p:sp>
      <p:sp>
        <p:nvSpPr>
          <p:cNvPr id="17" name="Text 15"/>
          <p:cNvSpPr txBox="1"/>
          <p:nvPr/>
        </p:nvSpPr>
        <p:spPr>
          <a:xfrm>
            <a:off x="548640" y="5303520"/>
            <a:ext cx="1060704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読込ルールの詳細</a:t>
            </a:r>
            <a:endParaRPr lang="en-US" sz="1250" dirty="0"/>
          </a:p>
        </p:txBody>
      </p:sp>
      <p:sp>
        <p:nvSpPr>
          <p:cNvPr id="18" name="Text 16"/>
          <p:cNvSpPr txBox="1"/>
          <p:nvPr/>
        </p:nvSpPr>
        <p:spPr>
          <a:xfrm>
            <a:off x="548640" y="5623560"/>
            <a:ext cx="10607040" cy="82296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作業ディレクトリとその上位ディレクトリ全てのCLAUDE.md/CLAUDE.local.mdは起動時に連結ロード(上書きでなく全て読み込む)。サブディレクトリのファイルは、Claudeがそのディレクトリのファイルを読む時に遅延ロードされる。HTMLコメント(&lt;!-- --&gt;)は自動で除去されコンテキストを消費しない</a:t>
            </a:r>
            <a:endParaRPr lang="en-US" sz="1000" dirty="0"/>
          </a:p>
        </p:txBody>
      </p:sp>
      <p:sp>
        <p:nvSpPr>
          <p:cNvPr id="19" name="Text 17"/>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Code公式ドキュメント「How Claude remembers your project」</a:t>
            </a:r>
            <a:endParaRPr lang="en-US" sz="950" dirty="0"/>
          </a:p>
        </p:txBody>
      </p:sp>
      <p:sp>
        <p:nvSpPr>
          <p:cNvPr id="20" name="Text 1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深掘り③: 効果的な指示の書き方</a:t>
            </a:r>
            <a:endParaRPr lang="en-US" sz="2400" dirty="0"/>
          </a:p>
        </p:txBody>
      </p:sp>
      <p:sp>
        <p:nvSpPr>
          <p:cNvPr id="4" name="Shape 2"/>
          <p:cNvSpPr/>
          <p:nvPr/>
        </p:nvSpPr>
        <p:spPr>
          <a:xfrm>
            <a:off x="548640" y="1463040"/>
            <a:ext cx="10607040" cy="960120"/>
          </a:xfrm>
          <a:prstGeom prst="roundRect">
            <a:avLst>
              <a:gd name="adj" fmla="val 7619"/>
            </a:avLst>
          </a:prstGeom>
          <a:solidFill>
            <a:srgbClr val="33312E"/>
          </a:solidFill>
          <a:ln/>
        </p:spPr>
      </p:sp>
      <p:sp>
        <p:nvSpPr>
          <p:cNvPr id="5" name="Text 3"/>
          <p:cNvSpPr txBox="1"/>
          <p:nvPr/>
        </p:nvSpPr>
        <p:spPr>
          <a:xfrm>
            <a:off x="822960" y="1572768"/>
            <a:ext cx="2743200" cy="731520"/>
          </a:xfrm>
          <a:prstGeom prst="rect">
            <a:avLst/>
          </a:prstGeom>
          <a:noFill/>
          <a:ln/>
        </p:spPr>
        <p:txBody>
          <a:bodyPr wrap="square" lIns="0" tIns="0" rIns="0" bIns="0" rtlCol="0" anchor="t"/>
          <a:lstStyle/>
          <a:p>
            <a:pPr indent="0" marL="0">
              <a:buNone/>
            </a:pPr>
            <a:r>
              <a:rPr lang="en-US" sz="1250" b="1" dirty="0">
                <a:solidFill>
                  <a:srgbClr val="CC785C"/>
                </a:solidFill>
                <a:latin typeface="Calibri" pitchFamily="34" charset="0"/>
                <a:ea typeface="Calibri" pitchFamily="34" charset="-122"/>
                <a:cs typeface="Calibri" pitchFamily="34" charset="-120"/>
              </a:rPr>
              <a:t>Size(サイズ)</a:t>
            </a:r>
            <a:endParaRPr lang="en-US" sz="1250" dirty="0"/>
          </a:p>
        </p:txBody>
      </p:sp>
      <p:sp>
        <p:nvSpPr>
          <p:cNvPr id="6" name="Text 4"/>
          <p:cNvSpPr txBox="1"/>
          <p:nvPr/>
        </p:nvSpPr>
        <p:spPr>
          <a:xfrm>
            <a:off x="3657600" y="1572768"/>
            <a:ext cx="7315200" cy="7772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1ファイル200行未満が目安。長いほどコンテキストを圧迫し遵守率が下がる。大きくなったらpath-scoped rulesへ分割</a:t>
            </a:r>
            <a:endParaRPr lang="en-US" sz="1050" dirty="0"/>
          </a:p>
        </p:txBody>
      </p:sp>
      <p:sp>
        <p:nvSpPr>
          <p:cNvPr id="7" name="Shape 5"/>
          <p:cNvSpPr/>
          <p:nvPr/>
        </p:nvSpPr>
        <p:spPr>
          <a:xfrm>
            <a:off x="548640" y="2560320"/>
            <a:ext cx="10607040" cy="960120"/>
          </a:xfrm>
          <a:prstGeom prst="roundRect">
            <a:avLst>
              <a:gd name="adj" fmla="val 7619"/>
            </a:avLst>
          </a:prstGeom>
          <a:solidFill>
            <a:srgbClr val="33312E"/>
          </a:solidFill>
          <a:ln/>
        </p:spPr>
      </p:sp>
      <p:sp>
        <p:nvSpPr>
          <p:cNvPr id="8" name="Text 6"/>
          <p:cNvSpPr txBox="1"/>
          <p:nvPr/>
        </p:nvSpPr>
        <p:spPr>
          <a:xfrm>
            <a:off x="822960" y="2670048"/>
            <a:ext cx="2743200" cy="731520"/>
          </a:xfrm>
          <a:prstGeom prst="rect">
            <a:avLst/>
          </a:prstGeom>
          <a:noFill/>
          <a:ln/>
        </p:spPr>
        <p:txBody>
          <a:bodyPr wrap="square" lIns="0" tIns="0" rIns="0" bIns="0" rtlCol="0" anchor="t"/>
          <a:lstStyle/>
          <a:p>
            <a:pPr indent="0" marL="0">
              <a:buNone/>
            </a:pPr>
            <a:r>
              <a:rPr lang="en-US" sz="1250" b="1" dirty="0">
                <a:solidFill>
                  <a:srgbClr val="CC785C"/>
                </a:solidFill>
                <a:latin typeface="Calibri" pitchFamily="34" charset="0"/>
                <a:ea typeface="Calibri" pitchFamily="34" charset="-122"/>
                <a:cs typeface="Calibri" pitchFamily="34" charset="-120"/>
              </a:rPr>
              <a:t>Structure(構造)</a:t>
            </a:r>
            <a:endParaRPr lang="en-US" sz="1250" dirty="0"/>
          </a:p>
        </p:txBody>
      </p:sp>
      <p:sp>
        <p:nvSpPr>
          <p:cNvPr id="9" name="Text 7"/>
          <p:cNvSpPr txBox="1"/>
          <p:nvPr/>
        </p:nvSpPr>
        <p:spPr>
          <a:xfrm>
            <a:off x="3657600" y="2670048"/>
            <a:ext cx="7315200" cy="7772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見出しと箇条書きでグルーピング。Claudeも人間の読者と同じように構造を読み取る</a:t>
            </a:r>
            <a:endParaRPr lang="en-US" sz="1050" dirty="0"/>
          </a:p>
        </p:txBody>
      </p:sp>
      <p:sp>
        <p:nvSpPr>
          <p:cNvPr id="10" name="Shape 8"/>
          <p:cNvSpPr/>
          <p:nvPr/>
        </p:nvSpPr>
        <p:spPr>
          <a:xfrm>
            <a:off x="548640" y="3657600"/>
            <a:ext cx="10607040" cy="960120"/>
          </a:xfrm>
          <a:prstGeom prst="roundRect">
            <a:avLst>
              <a:gd name="adj" fmla="val 7619"/>
            </a:avLst>
          </a:prstGeom>
          <a:solidFill>
            <a:srgbClr val="33312E"/>
          </a:solidFill>
          <a:ln/>
        </p:spPr>
      </p:sp>
      <p:sp>
        <p:nvSpPr>
          <p:cNvPr id="11" name="Text 9"/>
          <p:cNvSpPr txBox="1"/>
          <p:nvPr/>
        </p:nvSpPr>
        <p:spPr>
          <a:xfrm>
            <a:off x="822960" y="3767328"/>
            <a:ext cx="2743200" cy="731520"/>
          </a:xfrm>
          <a:prstGeom prst="rect">
            <a:avLst/>
          </a:prstGeom>
          <a:noFill/>
          <a:ln/>
        </p:spPr>
        <p:txBody>
          <a:bodyPr wrap="square" lIns="0" tIns="0" rIns="0" bIns="0" rtlCol="0" anchor="t"/>
          <a:lstStyle/>
          <a:p>
            <a:pPr indent="0" marL="0">
              <a:buNone/>
            </a:pPr>
            <a:r>
              <a:rPr lang="en-US" sz="1250" b="1" dirty="0">
                <a:solidFill>
                  <a:srgbClr val="CC785C"/>
                </a:solidFill>
                <a:latin typeface="Calibri" pitchFamily="34" charset="0"/>
                <a:ea typeface="Calibri" pitchFamily="34" charset="-122"/>
                <a:cs typeface="Calibri" pitchFamily="34" charset="-120"/>
              </a:rPr>
              <a:t>Specificity(具体性)</a:t>
            </a:r>
            <a:endParaRPr lang="en-US" sz="1250" dirty="0"/>
          </a:p>
        </p:txBody>
      </p:sp>
      <p:sp>
        <p:nvSpPr>
          <p:cNvPr id="12" name="Text 10"/>
          <p:cNvSpPr txBox="1"/>
          <p:nvPr/>
        </p:nvSpPr>
        <p:spPr>
          <a:xfrm>
            <a:off x="3657600" y="3767328"/>
            <a:ext cx="7315200" cy="7772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「コードを綺麗に整形」でなく「2スペースインデント」、「変更をテストして」でなく「コミット前にnpm testを実行」のように検証可能な指示にする</a:t>
            </a:r>
            <a:endParaRPr lang="en-US" sz="1050" dirty="0"/>
          </a:p>
        </p:txBody>
      </p:sp>
      <p:sp>
        <p:nvSpPr>
          <p:cNvPr id="13" name="Shape 11"/>
          <p:cNvSpPr/>
          <p:nvPr/>
        </p:nvSpPr>
        <p:spPr>
          <a:xfrm>
            <a:off x="548640" y="4754880"/>
            <a:ext cx="10607040" cy="960120"/>
          </a:xfrm>
          <a:prstGeom prst="roundRect">
            <a:avLst>
              <a:gd name="adj" fmla="val 7619"/>
            </a:avLst>
          </a:prstGeom>
          <a:solidFill>
            <a:srgbClr val="33312E"/>
          </a:solidFill>
          <a:ln/>
        </p:spPr>
      </p:sp>
      <p:sp>
        <p:nvSpPr>
          <p:cNvPr id="14" name="Text 12"/>
          <p:cNvSpPr txBox="1"/>
          <p:nvPr/>
        </p:nvSpPr>
        <p:spPr>
          <a:xfrm>
            <a:off x="822960" y="4864608"/>
            <a:ext cx="2743200" cy="731520"/>
          </a:xfrm>
          <a:prstGeom prst="rect">
            <a:avLst/>
          </a:prstGeom>
          <a:noFill/>
          <a:ln/>
        </p:spPr>
        <p:txBody>
          <a:bodyPr wrap="square" lIns="0" tIns="0" rIns="0" bIns="0" rtlCol="0" anchor="t"/>
          <a:lstStyle/>
          <a:p>
            <a:pPr indent="0" marL="0">
              <a:buNone/>
            </a:pPr>
            <a:r>
              <a:rPr lang="en-US" sz="1250" b="1" dirty="0">
                <a:solidFill>
                  <a:srgbClr val="CC785C"/>
                </a:solidFill>
                <a:latin typeface="Calibri" pitchFamily="34" charset="0"/>
                <a:ea typeface="Calibri" pitchFamily="34" charset="-122"/>
                <a:cs typeface="Calibri" pitchFamily="34" charset="-120"/>
              </a:rPr>
              <a:t>Consistency(一貫性)</a:t>
            </a:r>
            <a:endParaRPr lang="en-US" sz="1250" dirty="0"/>
          </a:p>
        </p:txBody>
      </p:sp>
      <p:sp>
        <p:nvSpPr>
          <p:cNvPr id="15" name="Text 13"/>
          <p:cNvSpPr txBox="1"/>
          <p:nvPr/>
        </p:nvSpPr>
        <p:spPr>
          <a:xfrm>
            <a:off x="3657600" y="4864608"/>
            <a:ext cx="7315200" cy="7772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矛盾する指示があるとClaudeは恣意的にどちらかを選ぶ。モノレポではclaudeMdExcludesで無関係な他チームのCLAUDE.mdを除外できる</a:t>
            </a:r>
            <a:endParaRPr lang="en-US" sz="1050" dirty="0"/>
          </a:p>
        </p:txBody>
      </p:sp>
      <p:sp>
        <p:nvSpPr>
          <p:cNvPr id="16" name="Text 14"/>
          <p:cNvSpPr txBox="1"/>
          <p:nvPr/>
        </p:nvSpPr>
        <p:spPr>
          <a:xfrm>
            <a:off x="548640" y="5532120"/>
            <a:ext cx="10607040" cy="320040"/>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/doctor prompt-audit による自動監査(v2.1.283+)</a:t>
            </a:r>
            <a:endParaRPr lang="en-US" sz="1200" dirty="0"/>
          </a:p>
        </p:txBody>
      </p:sp>
      <p:sp>
        <p:nvSpPr>
          <p:cNvPr id="17" name="Text 15"/>
          <p:cNvSpPr txBox="1"/>
          <p:nvPr/>
        </p:nvSpPr>
        <p:spPr>
          <a:xfrm>
            <a:off x="548640" y="5852160"/>
            <a:ext cx="10607040" cy="54864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CLAUDE.md・CLAUDE.local.md・AGENTS.md・rules・skills・commands・subagents・output stylesをまとめて監査。古いモデル向け指示・存在しないファイル参照・矛盾を検出しレポート。実際の変更は依頼するまで適用されない</a:t>
            </a:r>
            <a:endParaRPr lang="en-US" sz="1000" dirty="0"/>
          </a:p>
        </p:txBody>
      </p:sp>
      <p:sp>
        <p:nvSpPr>
          <p:cNvPr id="18" name="Text 16"/>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Claude Code公式ドキュメント「How Claude remembers your project」</a:t>
            </a:r>
            <a:endParaRPr lang="en-US" sz="950" dirty="0"/>
          </a:p>
        </p:txBody>
      </p:sp>
      <p:sp>
        <p:nvSpPr>
          <p:cNvPr id="19" name="Text 17"/>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深掘り④: @path インポート構文</a:t>
            </a:r>
            <a:endParaRPr lang="en-US" sz="2400" dirty="0"/>
          </a:p>
        </p:txBody>
      </p:sp>
      <p:sp>
        <p:nvSpPr>
          <p:cNvPr id="4" name="Text 2"/>
          <p:cNvSpPr txBox="1"/>
          <p:nvPr/>
        </p:nvSpPr>
        <p:spPr>
          <a:xfrm>
            <a:off x="548640" y="1463040"/>
            <a:ext cx="10607040" cy="4206240"/>
          </a:xfrm>
          <a:prstGeom prst="rect">
            <a:avLst/>
          </a:prstGeom>
          <a:noFill/>
          <a:ln/>
        </p:spPr>
        <p:txBody>
          <a:bodyPr wrap="square" lIns="0" tIns="0" rIns="0" bIns="0" rtlCol="0" anchor="ctr"/>
          <a:lstStyle/>
          <a:p>
            <a:pPr marL="342900" indent="-342900">
              <a:spcAft>
                <a:spcPts val="1200"/>
              </a:spcAft>
              <a:buSzPct val="100000"/>
              <a:buChar char="•"/>
            </a:pPr>
            <a:r>
              <a:rPr lang="en-US" sz="1200" dirty="0">
                <a:solidFill>
                  <a:srgbClr val="1F1E1D"/>
                </a:solidFill>
                <a:latin typeface="Calibri" pitchFamily="34" charset="0"/>
                <a:ea typeface="Calibri" pitchFamily="34" charset="-122"/>
                <a:cs typeface="Calibri" pitchFamily="34" charset="-120"/>
              </a:rPr>
              <a:t>@path/to/file でファイルをCLAUDE.mdに取り込める。相対パスは「参照元ファイル」基準(作業ディレクトリ基準ではない点に注意)。再帰インポートは最大4階層まで</a:t>
            </a:r>
            <a:endParaRPr lang="en-US" sz="1200" dirty="0"/>
          </a:p>
          <a:p>
            <a:pPr marL="342900" indent="-342900">
              <a:spcAft>
                <a:spcPts val="1200"/>
              </a:spcAft>
              <a:buSzPct val="100000"/>
              <a:buChar char="•"/>
            </a:pPr>
            <a:r>
              <a:rPr lang="en-US" sz="1200" dirty="0">
                <a:solidFill>
                  <a:srgbClr val="1F1E1D"/>
                </a:solidFill>
                <a:latin typeface="Calibri" pitchFamily="34" charset="0"/>
                <a:ea typeface="Calibri" pitchFamily="34" charset="-122"/>
                <a:cs typeface="Calibri" pitchFamily="34" charset="-120"/>
              </a:rPr>
              <a:t>バッククォートで囲むとリテラル扱い: `@README`はインポートされないが、@README(バッククォート無し)はインポートされる</a:t>
            </a:r>
            <a:endParaRPr lang="en-US" sz="1200" dirty="0"/>
          </a:p>
          <a:p>
            <a:pPr marL="342900" indent="-342900">
              <a:spcAft>
                <a:spcPts val="1200"/>
              </a:spcAft>
              <a:buSzPct val="100000"/>
              <a:buChar char="•"/>
            </a:pPr>
            <a:r>
              <a:rPr lang="en-US" sz="1200" dirty="0">
                <a:solidFill>
                  <a:srgbClr val="1F1E1D"/>
                </a:solidFill>
                <a:latin typeface="Calibri" pitchFamily="34" charset="0"/>
                <a:ea typeface="Calibri" pitchFamily="34" charset="-122"/>
                <a:cs typeface="Calibri" pitchFamily="34" charset="-120"/>
              </a:rPr>
              <a:t>worktreeをまたいで個人設定を共有したい場合は、CLAUDE.local.mdでなく ~/.claude/ 以下のファイルを@importする</a:t>
            </a:r>
            <a:endParaRPr lang="en-US" sz="1200" dirty="0"/>
          </a:p>
          <a:p>
            <a:pPr marL="342900" indent="-342900">
              <a:spcAft>
                <a:spcPts val="1200"/>
              </a:spcAft>
              <a:buSzPct val="100000"/>
              <a:buChar char="•"/>
            </a:pPr>
            <a:r>
              <a:rPr lang="en-US" sz="1200" dirty="0">
                <a:solidFill>
                  <a:srgbClr val="1F1E1D"/>
                </a:solidFill>
                <a:latin typeface="Calibri" pitchFamily="34" charset="0"/>
                <a:ea typeface="Calibri" pitchFamily="34" charset="-122"/>
                <a:cs typeface="Calibri" pitchFamily="34" charset="-120"/>
              </a:rPr>
              <a:t>外部インポート(作業ディレクトリ外を指すパス)は初回に承認ダイアログが出る。拒否すると以後そのダイアログは出ず読み込まれない — 他人がコミットしたファイルから不用意に読み込まないための保護</a:t>
            </a:r>
            <a:endParaRPr lang="en-US" sz="1200" dirty="0"/>
          </a:p>
          <a:p>
            <a:pPr marL="342900" indent="-342900">
              <a:spcAft>
                <a:spcPts val="1200"/>
              </a:spcAft>
              <a:buSzPct val="100000"/>
              <a:buChar char="•"/>
            </a:pPr>
            <a:r>
              <a:rPr lang="en-US" sz="1200" dirty="0">
                <a:solidFill>
                  <a:srgbClr val="1F1E1D"/>
                </a:solidFill>
                <a:latin typeface="Calibri" pitchFamily="34" charset="0"/>
                <a:ea typeface="Calibri" pitchFamily="34" charset="-122"/>
                <a:cs typeface="Calibri" pitchFamily="34" charset="-120"/>
              </a:rPr>
              <a:t>~/.claude/CLAUDE.mdや~/.claude/rules/など自分で書いたユーザースコープのファイルは、通常はダイアログ無しで信頼される。ただしデスクトップ版Coworkセッションでは、作業ディレクトリ外を指すインポート・シンボリックリンクはスキップされる</a:t>
            </a:r>
            <a:endParaRPr lang="en-US" sz="1200" dirty="0"/>
          </a:p>
        </p:txBody>
      </p:sp>
      <p:sp>
        <p:nvSpPr>
          <p:cNvPr id="5" name="Text 3"/>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Code公式ドキュメント「How Claude remembers your project」</a:t>
            </a:r>
            <a:endParaRPr lang="en-US" sz="950" dirty="0"/>
          </a:p>
        </p:txBody>
      </p:sp>
      <p:sp>
        <p:nvSpPr>
          <p:cNvPr id="6" name="Text 4"/>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深掘り⑤: .claude/rules/ の詳細</a:t>
            </a:r>
            <a:endParaRPr lang="en-US" sz="2400" dirty="0"/>
          </a:p>
        </p:txBody>
      </p:sp>
      <p:sp>
        <p:nvSpPr>
          <p:cNvPr id="4" name="Text 2"/>
          <p:cNvSpPr txBox="1"/>
          <p:nvPr/>
        </p:nvSpPr>
        <p:spPr>
          <a:xfrm>
            <a:off x="548640" y="1371600"/>
            <a:ext cx="512064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基本とpath指定</a:t>
            </a:r>
            <a:endParaRPr lang="en-US" sz="1250" dirty="0"/>
          </a:p>
        </p:txBody>
      </p:sp>
      <p:sp>
        <p:nvSpPr>
          <p:cNvPr id="5" name="Text 3"/>
          <p:cNvSpPr txBox="1"/>
          <p:nvPr/>
        </p:nvSpPr>
        <p:spPr>
          <a:xfrm>
            <a:off x="548640" y="1737360"/>
            <a:ext cx="5120640" cy="22860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C9C5BD"/>
                </a:solidFill>
                <a:latin typeface="Calibri" pitchFamily="34" charset="0"/>
                <a:ea typeface="Calibri" pitchFamily="34" charset="-122"/>
                <a:cs typeface="Calibri" pitchFamily="34" charset="-120"/>
              </a:rPr>
              <a:t>1ファイル=1トピック(testing.md等)。サブディレクトリも再帰的に検出</a:t>
            </a:r>
            <a:endParaRPr lang="en-US" sz="1000" dirty="0"/>
          </a:p>
          <a:p>
            <a:pPr marL="342900" indent="-342900">
              <a:spcAft>
                <a:spcPts val="400"/>
              </a:spcAft>
              <a:buSzPct val="100000"/>
              <a:buChar char="•"/>
            </a:pPr>
            <a:r>
              <a:rPr lang="en-US" sz="1000" dirty="0">
                <a:solidFill>
                  <a:srgbClr val="C9C5BD"/>
                </a:solidFill>
                <a:latin typeface="Calibri" pitchFamily="34" charset="0"/>
                <a:ea typeface="Calibri" pitchFamily="34" charset="-122"/>
                <a:cs typeface="Calibri" pitchFamily="34" charset="-120"/>
              </a:rPr>
              <a:t>YAML frontmatterのpathsで対象ファイルを限定。無指定なら常時ロード</a:t>
            </a:r>
            <a:endParaRPr lang="en-US" sz="1000" dirty="0"/>
          </a:p>
          <a:p>
            <a:pPr marL="342900" indent="-342900">
              <a:spcAft>
                <a:spcPts val="400"/>
              </a:spcAft>
              <a:buSzPct val="100000"/>
              <a:buChar char="•"/>
            </a:pPr>
            <a:r>
              <a:rPr lang="en-US" sz="1000" dirty="0">
                <a:solidFill>
                  <a:srgbClr val="C9C5BD"/>
                </a:solidFill>
                <a:latin typeface="Calibri" pitchFamily="34" charset="0"/>
                <a:ea typeface="Calibri" pitchFamily="34" charset="-122"/>
                <a:cs typeface="Calibri" pitchFamily="34" charset="-120"/>
              </a:rPr>
              <a:t>pathsはファイルを開いた時にマッチ(全ツール呼び出しではない)</a:t>
            </a:r>
            <a:endParaRPr lang="en-US" sz="1000" dirty="0"/>
          </a:p>
          <a:p>
            <a:pPr marL="342900" indent="-342900">
              <a:spcAft>
                <a:spcPts val="400"/>
              </a:spcAft>
              <a:buSzPct val="100000"/>
              <a:buChar char="•"/>
            </a:pPr>
            <a:r>
              <a:rPr lang="en-US" sz="1000" dirty="0">
                <a:solidFill>
                  <a:srgbClr val="C9C5BD"/>
                </a:solidFill>
                <a:latin typeface="Calibri" pitchFamily="34" charset="0"/>
                <a:ea typeface="Calibri" pitchFamily="34" charset="-122"/>
                <a:cs typeface="Calibri" pitchFamily="34" charset="-120"/>
              </a:rPr>
              <a:t>brace展開({ts,tsx}等)は1ルールにつき最大1,000パターン/4MiBの予算を共有</a:t>
            </a:r>
            <a:endParaRPr lang="en-US" sz="1000" dirty="0"/>
          </a:p>
        </p:txBody>
      </p:sp>
      <p:sp>
        <p:nvSpPr>
          <p:cNvPr id="6" name="Text 4"/>
          <p:cNvSpPr txBox="1"/>
          <p:nvPr/>
        </p:nvSpPr>
        <p:spPr>
          <a:xfrm>
            <a:off x="5852160" y="1371600"/>
            <a:ext cx="530352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globパターン例</a:t>
            </a:r>
            <a:endParaRPr lang="en-US" sz="1250" dirty="0"/>
          </a:p>
        </p:txBody>
      </p:sp>
      <p:sp>
        <p:nvSpPr>
          <p:cNvPr id="7" name="Text 5"/>
          <p:cNvSpPr txBox="1"/>
          <p:nvPr/>
        </p:nvSpPr>
        <p:spPr>
          <a:xfrm>
            <a:off x="5852160" y="1737360"/>
            <a:ext cx="2377440" cy="365760"/>
          </a:xfrm>
          <a:prstGeom prst="rect">
            <a:avLst/>
          </a:prstGeom>
          <a:noFill/>
          <a:ln/>
        </p:spPr>
        <p:txBody>
          <a:bodyPr wrap="square" lIns="0" tIns="0" rIns="0" bIns="0" rtlCol="0" anchor="ctr"/>
          <a:lstStyle/>
          <a:p>
            <a:pPr indent="0" marL="0">
              <a:buNone/>
            </a:pPr>
            <a:r>
              <a:rPr lang="en-US" sz="1000" b="1" dirty="0">
                <a:solidFill>
                  <a:srgbClr val="F4F3F0"/>
                </a:solidFill>
                <a:latin typeface="Courier New" pitchFamily="34" charset="0"/>
                <a:ea typeface="Courier New" pitchFamily="34" charset="-122"/>
                <a:cs typeface="Courier New" pitchFamily="34" charset="-120"/>
              </a:rPr>
              <a:t>**/*.ts</a:t>
            </a:r>
            <a:endParaRPr lang="en-US" sz="1000" dirty="0"/>
          </a:p>
        </p:txBody>
      </p:sp>
      <p:sp>
        <p:nvSpPr>
          <p:cNvPr id="8" name="Text 6"/>
          <p:cNvSpPr txBox="1"/>
          <p:nvPr/>
        </p:nvSpPr>
        <p:spPr>
          <a:xfrm>
            <a:off x="8321040" y="1737360"/>
            <a:ext cx="2834640" cy="36576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任意の階層の全TypeScriptファイル</a:t>
            </a:r>
            <a:endParaRPr lang="en-US" sz="950" dirty="0"/>
          </a:p>
        </p:txBody>
      </p:sp>
      <p:sp>
        <p:nvSpPr>
          <p:cNvPr id="9" name="Text 7"/>
          <p:cNvSpPr txBox="1"/>
          <p:nvPr/>
        </p:nvSpPr>
        <p:spPr>
          <a:xfrm>
            <a:off x="5852160" y="2148840"/>
            <a:ext cx="2377440" cy="365760"/>
          </a:xfrm>
          <a:prstGeom prst="rect">
            <a:avLst/>
          </a:prstGeom>
          <a:noFill/>
          <a:ln/>
        </p:spPr>
        <p:txBody>
          <a:bodyPr wrap="square" lIns="0" tIns="0" rIns="0" bIns="0" rtlCol="0" anchor="ctr"/>
          <a:lstStyle/>
          <a:p>
            <a:pPr indent="0" marL="0">
              <a:buNone/>
            </a:pPr>
            <a:r>
              <a:rPr lang="en-US" sz="1000" b="1" dirty="0">
                <a:solidFill>
                  <a:srgbClr val="F4F3F0"/>
                </a:solidFill>
                <a:latin typeface="Courier New" pitchFamily="34" charset="0"/>
                <a:ea typeface="Courier New" pitchFamily="34" charset="-122"/>
                <a:cs typeface="Courier New" pitchFamily="34" charset="-120"/>
              </a:rPr>
              <a:t>src/**/*</a:t>
            </a:r>
            <a:endParaRPr lang="en-US" sz="1000" dirty="0"/>
          </a:p>
        </p:txBody>
      </p:sp>
      <p:sp>
        <p:nvSpPr>
          <p:cNvPr id="10" name="Text 8"/>
          <p:cNvSpPr txBox="1"/>
          <p:nvPr/>
        </p:nvSpPr>
        <p:spPr>
          <a:xfrm>
            <a:off x="8321040" y="2148840"/>
            <a:ext cx="2834640" cy="36576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src/配下の全ファイル</a:t>
            </a:r>
            <a:endParaRPr lang="en-US" sz="950" dirty="0"/>
          </a:p>
        </p:txBody>
      </p:sp>
      <p:sp>
        <p:nvSpPr>
          <p:cNvPr id="11" name="Text 9"/>
          <p:cNvSpPr txBox="1"/>
          <p:nvPr/>
        </p:nvSpPr>
        <p:spPr>
          <a:xfrm>
            <a:off x="5852160" y="2560320"/>
            <a:ext cx="2377440" cy="365760"/>
          </a:xfrm>
          <a:prstGeom prst="rect">
            <a:avLst/>
          </a:prstGeom>
          <a:noFill/>
          <a:ln/>
        </p:spPr>
        <p:txBody>
          <a:bodyPr wrap="square" lIns="0" tIns="0" rIns="0" bIns="0" rtlCol="0" anchor="ctr"/>
          <a:lstStyle/>
          <a:p>
            <a:pPr indent="0" marL="0">
              <a:buNone/>
            </a:pPr>
            <a:r>
              <a:rPr lang="en-US" sz="1000" b="1" dirty="0">
                <a:solidFill>
                  <a:srgbClr val="F4F3F0"/>
                </a:solidFill>
                <a:latin typeface="Courier New" pitchFamily="34" charset="0"/>
                <a:ea typeface="Courier New" pitchFamily="34" charset="-122"/>
                <a:cs typeface="Courier New" pitchFamily="34" charset="-120"/>
              </a:rPr>
              <a:t>*.md</a:t>
            </a:r>
            <a:endParaRPr lang="en-US" sz="1000" dirty="0"/>
          </a:p>
        </p:txBody>
      </p:sp>
      <p:sp>
        <p:nvSpPr>
          <p:cNvPr id="12" name="Text 10"/>
          <p:cNvSpPr txBox="1"/>
          <p:nvPr/>
        </p:nvSpPr>
        <p:spPr>
          <a:xfrm>
            <a:off x="8321040" y="2560320"/>
            <a:ext cx="2834640" cy="36576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プロジェクトルートのMarkdown</a:t>
            </a:r>
            <a:endParaRPr lang="en-US" sz="950" dirty="0"/>
          </a:p>
        </p:txBody>
      </p:sp>
      <p:sp>
        <p:nvSpPr>
          <p:cNvPr id="13" name="Text 11"/>
          <p:cNvSpPr txBox="1"/>
          <p:nvPr/>
        </p:nvSpPr>
        <p:spPr>
          <a:xfrm>
            <a:off x="5852160" y="2971800"/>
            <a:ext cx="2377440" cy="365760"/>
          </a:xfrm>
          <a:prstGeom prst="rect">
            <a:avLst/>
          </a:prstGeom>
          <a:noFill/>
          <a:ln/>
        </p:spPr>
        <p:txBody>
          <a:bodyPr wrap="square" lIns="0" tIns="0" rIns="0" bIns="0" rtlCol="0" anchor="ctr"/>
          <a:lstStyle/>
          <a:p>
            <a:pPr indent="0" marL="0">
              <a:buNone/>
            </a:pPr>
            <a:r>
              <a:rPr lang="en-US" sz="1000" b="1" dirty="0">
                <a:solidFill>
                  <a:srgbClr val="F4F3F0"/>
                </a:solidFill>
                <a:latin typeface="Courier New" pitchFamily="34" charset="0"/>
                <a:ea typeface="Courier New" pitchFamily="34" charset="-122"/>
                <a:cs typeface="Courier New" pitchFamily="34" charset="-120"/>
              </a:rPr>
              <a:t>src/components/*.tsx</a:t>
            </a:r>
            <a:endParaRPr lang="en-US" sz="1000" dirty="0"/>
          </a:p>
        </p:txBody>
      </p:sp>
      <p:sp>
        <p:nvSpPr>
          <p:cNvPr id="14" name="Text 12"/>
          <p:cNvSpPr txBox="1"/>
          <p:nvPr/>
        </p:nvSpPr>
        <p:spPr>
          <a:xfrm>
            <a:off x="8321040" y="2971800"/>
            <a:ext cx="2834640" cy="36576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特定ディレクトリのReactコンポーネント</a:t>
            </a:r>
            <a:endParaRPr lang="en-US" sz="950" dirty="0"/>
          </a:p>
        </p:txBody>
      </p:sp>
      <p:sp>
        <p:nvSpPr>
          <p:cNvPr id="15" name="Text 13"/>
          <p:cNvSpPr txBox="1"/>
          <p:nvPr/>
        </p:nvSpPr>
        <p:spPr>
          <a:xfrm>
            <a:off x="5852160" y="3657600"/>
            <a:ext cx="5303520" cy="73152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不正な[パターン(例: photos [2024/**)はそのパターンだけ無効(マッチなし)になり、他のパターンは正常動作する</a:t>
            </a:r>
            <a:endParaRPr lang="en-US" sz="950" dirty="0"/>
          </a:p>
        </p:txBody>
      </p:sp>
      <p:sp>
        <p:nvSpPr>
          <p:cNvPr id="16" name="Text 14"/>
          <p:cNvSpPr txBox="1"/>
          <p:nvPr/>
        </p:nvSpPr>
        <p:spPr>
          <a:xfrm>
            <a:off x="548640" y="4206240"/>
            <a:ext cx="1060704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共有とユーザーレベルルール</a:t>
            </a:r>
            <a:endParaRPr lang="en-US" sz="1250" dirty="0"/>
          </a:p>
        </p:txBody>
      </p:sp>
      <p:sp>
        <p:nvSpPr>
          <p:cNvPr id="17" name="Text 15"/>
          <p:cNvSpPr txBox="1"/>
          <p:nvPr/>
        </p:nvSpPr>
        <p:spPr>
          <a:xfrm>
            <a:off x="548640" y="4526280"/>
            <a:ext cx="10607040" cy="91440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シンボリックリンクで複数プロジェクトに共有ルールをリンク可能(循環リンクも安全に検出)。作業ディレクトリ外を指すシンボリックリンクは外部importと同様の承認が必要 — 承認なしで使いたいなら ~/.claude/rules/ に置く(全プロジェクト共通)。ユーザーレベルルールはプロジェクトルールより先に読まれるが、優先度としては対等で矛盾時はどちらか任意に従う</a:t>
            </a:r>
            <a:endParaRPr lang="en-US" sz="1000" dirty="0"/>
          </a:p>
        </p:txBody>
      </p:sp>
      <p:sp>
        <p:nvSpPr>
          <p:cNvPr id="18" name="Text 16"/>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Claude Code公式ドキュメント「How Claude remembers your project」</a:t>
            </a:r>
            <a:endParaRPr lang="en-US" sz="950" dirty="0"/>
          </a:p>
        </p:txBody>
      </p:sp>
      <p:sp>
        <p:nvSpPr>
          <p:cNvPr id="19" name="Text 17"/>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深掘り⑥: 大規模チームでの管理</a:t>
            </a:r>
            <a:endParaRPr lang="en-US" sz="2400" dirty="0"/>
          </a:p>
        </p:txBody>
      </p:sp>
      <p:sp>
        <p:nvSpPr>
          <p:cNvPr id="4" name="Text 2"/>
          <p:cNvSpPr txBox="1"/>
          <p:nvPr/>
        </p:nvSpPr>
        <p:spPr>
          <a:xfrm>
            <a:off x="548640" y="141732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組織全体へのManaged CLAUDE.md配布</a:t>
            </a:r>
            <a:endParaRPr lang="en-US" sz="1300" dirty="0"/>
          </a:p>
        </p:txBody>
      </p:sp>
      <p:sp>
        <p:nvSpPr>
          <p:cNvPr id="5" name="Text 3"/>
          <p:cNvSpPr txBox="1"/>
          <p:nvPr/>
        </p:nvSpPr>
        <p:spPr>
          <a:xfrm>
            <a:off x="548640" y="1783080"/>
            <a:ext cx="10607040" cy="146304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1F1E1D"/>
                </a:solidFill>
                <a:latin typeface="Calibri" pitchFamily="34" charset="0"/>
                <a:ea typeface="Calibri" pitchFamily="34" charset="-122"/>
                <a:cs typeface="Calibri" pitchFamily="34" charset="-120"/>
              </a:rPr>
              <a:t>OS別の所定パスにファイルを配置し、MDM/Group Policy/Ansible等で配布(個別設定では除外不可)</a:t>
            </a:r>
            <a:endParaRPr lang="en-US" sz="1100" dirty="0"/>
          </a:p>
          <a:p>
            <a:pPr marL="342900" indent="-342900">
              <a:spcAft>
                <a:spcPts val="500"/>
              </a:spcAft>
              <a:buSzPct val="100000"/>
              <a:buChar char="•"/>
            </a:pPr>
            <a:r>
              <a:rPr lang="en-US" sz="1100" dirty="0">
                <a:solidFill>
                  <a:srgbClr val="1F1E1D"/>
                </a:solidFill>
                <a:latin typeface="Calibri" pitchFamily="34" charset="0"/>
                <a:ea typeface="Calibri" pitchFamily="34" charset="-122"/>
                <a:cs typeface="Calibri" pitchFamily="34" charset="-120"/>
              </a:rPr>
              <a:t>managed-settings.jsonの claudeMd キーで、別ファイルを配らずJSON内に直接本文を書くことも可能</a:t>
            </a:r>
            <a:endParaRPr lang="en-US" sz="1100" dirty="0"/>
          </a:p>
          <a:p>
            <a:pPr marL="342900" indent="-342900">
              <a:spcAft>
                <a:spcPts val="500"/>
              </a:spcAft>
              <a:buSzPct val="100000"/>
              <a:buChar char="•"/>
            </a:pPr>
            <a:r>
              <a:rPr lang="en-US" sz="1100" dirty="0">
                <a:solidFill>
                  <a:srgbClr val="1F1E1D"/>
                </a:solidFill>
                <a:latin typeface="Calibri" pitchFamily="34" charset="0"/>
                <a:ea typeface="Calibri" pitchFamily="34" charset="-122"/>
                <a:cs typeface="Calibri" pitchFamily="34" charset="-120"/>
              </a:rPr>
              <a:t>適用範囲: そのマシン上の全セッション・全リポジトリ。優先順位はユーザー/プロジェクトCLAUDE.mdより先に読み込まれる</a:t>
            </a:r>
            <a:endParaRPr lang="en-US" sz="1100" dirty="0"/>
          </a:p>
        </p:txBody>
      </p:sp>
      <p:sp>
        <p:nvSpPr>
          <p:cNvPr id="6" name="Text 4"/>
          <p:cNvSpPr txBox="1"/>
          <p:nvPr/>
        </p:nvSpPr>
        <p:spPr>
          <a:xfrm>
            <a:off x="548640" y="338328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設定 vs CLAUDE.mdの使い分け</a:t>
            </a:r>
            <a:endParaRPr lang="en-US" sz="1300" dirty="0"/>
          </a:p>
        </p:txBody>
      </p:sp>
      <p:sp>
        <p:nvSpPr>
          <p:cNvPr id="7" name="Text 5"/>
          <p:cNvSpPr txBox="1"/>
          <p:nvPr/>
        </p:nvSpPr>
        <p:spPr>
          <a:xfrm>
            <a:off x="548640" y="3749040"/>
            <a:ext cx="5943600" cy="36576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特定ツール/コマンド/パスのブロック</a:t>
            </a:r>
            <a:endParaRPr lang="en-US" sz="1000" dirty="0"/>
          </a:p>
        </p:txBody>
      </p:sp>
      <p:sp>
        <p:nvSpPr>
          <p:cNvPr id="8" name="Text 6"/>
          <p:cNvSpPr txBox="1"/>
          <p:nvPr/>
        </p:nvSpPr>
        <p:spPr>
          <a:xfrm>
            <a:off x="6583680" y="3749040"/>
            <a:ext cx="4572000" cy="365760"/>
          </a:xfrm>
          <a:prstGeom prst="rect">
            <a:avLst/>
          </a:prstGeom>
          <a:noFill/>
          <a:ln/>
        </p:spPr>
        <p:txBody>
          <a:bodyPr wrap="square" lIns="0" tIns="0" rIns="0" bIns="0" rtlCol="0" anchor="ctr"/>
          <a:lstStyle/>
          <a:p>
            <a:pPr indent="0" marL="0">
              <a:buNone/>
            </a:pPr>
            <a:r>
              <a:rPr lang="en-US" sz="1000" b="1" dirty="0">
                <a:solidFill>
                  <a:srgbClr val="CC785C"/>
                </a:solidFill>
                <a:latin typeface="Calibri" pitchFamily="34" charset="0"/>
                <a:ea typeface="Calibri" pitchFamily="34" charset="-122"/>
                <a:cs typeface="Calibri" pitchFamily="34" charset="-120"/>
              </a:rPr>
              <a:t>Managed settings: permissions.deny</a:t>
            </a:r>
            <a:endParaRPr lang="en-US" sz="1000" dirty="0"/>
          </a:p>
        </p:txBody>
      </p:sp>
      <p:sp>
        <p:nvSpPr>
          <p:cNvPr id="9" name="Text 7"/>
          <p:cNvSpPr txBox="1"/>
          <p:nvPr/>
        </p:nvSpPr>
        <p:spPr>
          <a:xfrm>
            <a:off x="548640" y="4133088"/>
            <a:ext cx="5943600" cy="36576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サンドボックス分離の強制</a:t>
            </a:r>
            <a:endParaRPr lang="en-US" sz="1000" dirty="0"/>
          </a:p>
        </p:txBody>
      </p:sp>
      <p:sp>
        <p:nvSpPr>
          <p:cNvPr id="10" name="Text 8"/>
          <p:cNvSpPr txBox="1"/>
          <p:nvPr/>
        </p:nvSpPr>
        <p:spPr>
          <a:xfrm>
            <a:off x="6583680" y="4133088"/>
            <a:ext cx="4572000" cy="365760"/>
          </a:xfrm>
          <a:prstGeom prst="rect">
            <a:avLst/>
          </a:prstGeom>
          <a:noFill/>
          <a:ln/>
        </p:spPr>
        <p:txBody>
          <a:bodyPr wrap="square" lIns="0" tIns="0" rIns="0" bIns="0" rtlCol="0" anchor="ctr"/>
          <a:lstStyle/>
          <a:p>
            <a:pPr indent="0" marL="0">
              <a:buNone/>
            </a:pPr>
            <a:r>
              <a:rPr lang="en-US" sz="1000" b="1" dirty="0">
                <a:solidFill>
                  <a:srgbClr val="CC785C"/>
                </a:solidFill>
                <a:latin typeface="Calibri" pitchFamily="34" charset="0"/>
                <a:ea typeface="Calibri" pitchFamily="34" charset="-122"/>
                <a:cs typeface="Calibri" pitchFamily="34" charset="-120"/>
              </a:rPr>
              <a:t>Managed settings: sandbox.enabled</a:t>
            </a:r>
            <a:endParaRPr lang="en-US" sz="1000" dirty="0"/>
          </a:p>
        </p:txBody>
      </p:sp>
      <p:sp>
        <p:nvSpPr>
          <p:cNvPr id="11" name="Text 9"/>
          <p:cNvSpPr txBox="1"/>
          <p:nvPr/>
        </p:nvSpPr>
        <p:spPr>
          <a:xfrm>
            <a:off x="548640" y="4517136"/>
            <a:ext cx="5943600" cy="36576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コードスタイル・データ取扱いの注意</a:t>
            </a:r>
            <a:endParaRPr lang="en-US" sz="1000" dirty="0"/>
          </a:p>
        </p:txBody>
      </p:sp>
      <p:sp>
        <p:nvSpPr>
          <p:cNvPr id="12" name="Text 10"/>
          <p:cNvSpPr txBox="1"/>
          <p:nvPr/>
        </p:nvSpPr>
        <p:spPr>
          <a:xfrm>
            <a:off x="6583680" y="4517136"/>
            <a:ext cx="4572000" cy="365760"/>
          </a:xfrm>
          <a:prstGeom prst="rect">
            <a:avLst/>
          </a:prstGeom>
          <a:noFill/>
          <a:ln/>
        </p:spPr>
        <p:txBody>
          <a:bodyPr wrap="square" lIns="0" tIns="0" rIns="0" bIns="0" rtlCol="0" anchor="ctr"/>
          <a:lstStyle/>
          <a:p>
            <a:pPr indent="0" marL="0">
              <a:buNone/>
            </a:pPr>
            <a:r>
              <a:rPr lang="en-US" sz="1000" b="1" dirty="0">
                <a:solidFill>
                  <a:srgbClr val="CC785C"/>
                </a:solidFill>
                <a:latin typeface="Calibri" pitchFamily="34" charset="0"/>
                <a:ea typeface="Calibri" pitchFamily="34" charset="-122"/>
                <a:cs typeface="Calibri" pitchFamily="34" charset="-120"/>
              </a:rPr>
              <a:t>Managed CLAUDE.md</a:t>
            </a:r>
            <a:endParaRPr lang="en-US" sz="1000" dirty="0"/>
          </a:p>
        </p:txBody>
      </p:sp>
      <p:sp>
        <p:nvSpPr>
          <p:cNvPr id="13" name="Text 11"/>
          <p:cNvSpPr txBox="1"/>
          <p:nvPr/>
        </p:nvSpPr>
        <p:spPr>
          <a:xfrm>
            <a:off x="548640" y="4901184"/>
            <a:ext cx="5943600" cy="36576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Claudeへの行動指示</a:t>
            </a:r>
            <a:endParaRPr lang="en-US" sz="1000" dirty="0"/>
          </a:p>
        </p:txBody>
      </p:sp>
      <p:sp>
        <p:nvSpPr>
          <p:cNvPr id="14" name="Text 12"/>
          <p:cNvSpPr txBox="1"/>
          <p:nvPr/>
        </p:nvSpPr>
        <p:spPr>
          <a:xfrm>
            <a:off x="6583680" y="4901184"/>
            <a:ext cx="4572000" cy="365760"/>
          </a:xfrm>
          <a:prstGeom prst="rect">
            <a:avLst/>
          </a:prstGeom>
          <a:noFill/>
          <a:ln/>
        </p:spPr>
        <p:txBody>
          <a:bodyPr wrap="square" lIns="0" tIns="0" rIns="0" bIns="0" rtlCol="0" anchor="ctr"/>
          <a:lstStyle/>
          <a:p>
            <a:pPr indent="0" marL="0">
              <a:buNone/>
            </a:pPr>
            <a:r>
              <a:rPr lang="en-US" sz="1000" b="1" dirty="0">
                <a:solidFill>
                  <a:srgbClr val="CC785C"/>
                </a:solidFill>
                <a:latin typeface="Calibri" pitchFamily="34" charset="0"/>
                <a:ea typeface="Calibri" pitchFamily="34" charset="-122"/>
                <a:cs typeface="Calibri" pitchFamily="34" charset="-120"/>
              </a:rPr>
              <a:t>Managed CLAUDE.md</a:t>
            </a:r>
            <a:endParaRPr lang="en-US" sz="1000" dirty="0"/>
          </a:p>
        </p:txBody>
      </p:sp>
      <p:sp>
        <p:nvSpPr>
          <p:cNvPr id="15" name="Text 13"/>
          <p:cNvSpPr txBox="1"/>
          <p:nvPr/>
        </p:nvSpPr>
        <p:spPr>
          <a:xfrm>
            <a:off x="548640" y="5394960"/>
            <a:ext cx="10607040" cy="365760"/>
          </a:xfrm>
          <a:prstGeom prst="rect">
            <a:avLst/>
          </a:prstGeom>
          <a:noFill/>
          <a:ln/>
        </p:spPr>
        <p:txBody>
          <a:bodyPr wrap="square" lIns="0" tIns="0" rIns="0" bIns="0" rtlCol="0" anchor="ctr"/>
          <a:lstStyle/>
          <a:p>
            <a:pPr indent="0" marL="0">
              <a:buNone/>
            </a:pPr>
            <a:r>
              <a:rPr lang="en-US" sz="1000" i="1" dirty="0">
                <a:solidFill>
                  <a:srgbClr val="6B6862"/>
                </a:solidFill>
                <a:latin typeface="Calibri" pitchFamily="34" charset="0"/>
                <a:ea typeface="Calibri" pitchFamily="34" charset="-122"/>
                <a:cs typeface="Calibri" pitchFamily="34" charset="-120"/>
              </a:rPr>
              <a:t>設定(settings)はClaudeの判断に関わらずクライアント側で強制されるが、CLAUDE.mdは行動を方向づけるのみで強制レイヤーではない</a:t>
            </a:r>
            <a:endParaRPr lang="en-US" sz="1000" dirty="0"/>
          </a:p>
        </p:txBody>
      </p:sp>
      <p:sp>
        <p:nvSpPr>
          <p:cNvPr id="16" name="Text 14"/>
          <p:cNvSpPr txBox="1"/>
          <p:nvPr/>
        </p:nvSpPr>
        <p:spPr>
          <a:xfrm>
            <a:off x="548640" y="5806440"/>
            <a:ext cx="10607040" cy="64008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claudeMdExcludes: モノレポで他チームのCLAUDE.md/rulesをglobパターンで除外可能(user/project/local/managedいずれの設定層でも指定可、配列はレイヤーをまたいでマージされる)。Managed policyのCLAUDE.mdだけは除外不可</a:t>
            </a:r>
            <a:endParaRPr lang="en-US" sz="1000" dirty="0"/>
          </a:p>
        </p:txBody>
      </p:sp>
      <p:sp>
        <p:nvSpPr>
          <p:cNvPr id="17" name="Text 15"/>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Code公式ドキュメント「How Claude remembers your project」</a:t>
            </a:r>
            <a:endParaRPr lang="en-US" sz="950" dirty="0"/>
          </a:p>
        </p:txBody>
      </p:sp>
      <p:sp>
        <p:nvSpPr>
          <p:cNvPr id="18" name="Text 16"/>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深掘り⑦: AGENTS.md との関係</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デフォルトの読み込み優先順位</a:t>
            </a:r>
            <a:endParaRPr lang="en-US" sz="1250" dirty="0"/>
          </a:p>
        </p:txBody>
      </p:sp>
      <p:sp>
        <p:nvSpPr>
          <p:cNvPr id="5" name="Text 3"/>
          <p:cNvSpPr txBox="1"/>
          <p:nvPr/>
        </p:nvSpPr>
        <p:spPr>
          <a:xfrm>
            <a:off x="548640" y="1737360"/>
            <a:ext cx="6126480" cy="50292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AGENTS.mdのみ、CLAUDE.md/.local.mdなし</a:t>
            </a:r>
            <a:endParaRPr lang="en-US" sz="1000" dirty="0"/>
          </a:p>
        </p:txBody>
      </p:sp>
      <p:sp>
        <p:nvSpPr>
          <p:cNvPr id="6" name="Text 4"/>
          <p:cNvSpPr txBox="1"/>
          <p:nvPr/>
        </p:nvSpPr>
        <p:spPr>
          <a:xfrm>
            <a:off x="6766560" y="1737360"/>
            <a:ext cx="4389120" cy="502920"/>
          </a:xfrm>
          <a:prstGeom prst="rect">
            <a:avLst/>
          </a:prstGeom>
          <a:noFill/>
          <a:ln/>
        </p:spPr>
        <p:txBody>
          <a:bodyPr wrap="square" lIns="0" tIns="0" rIns="0" bIns="0" rtlCol="0" anchor="ctr"/>
          <a:lstStyle/>
          <a:p>
            <a:pPr indent="0" marL="0">
              <a:buNone/>
            </a:pPr>
            <a:r>
              <a:rPr lang="en-US" sz="1000" b="1" dirty="0">
                <a:solidFill>
                  <a:srgbClr val="CC785C"/>
                </a:solidFill>
                <a:latin typeface="Calibri" pitchFamily="34" charset="0"/>
                <a:ea typeface="Calibri" pitchFamily="34" charset="-122"/>
                <a:cs typeface="Calibri" pitchFamily="34" charset="-120"/>
              </a:rPr>
              <a:t>AGENTS.mdを読む</a:t>
            </a:r>
            <a:endParaRPr lang="en-US" sz="1000" dirty="0"/>
          </a:p>
        </p:txBody>
      </p:sp>
      <p:sp>
        <p:nvSpPr>
          <p:cNvPr id="7" name="Text 5"/>
          <p:cNvSpPr txBox="1"/>
          <p:nvPr/>
        </p:nvSpPr>
        <p:spPr>
          <a:xfrm>
            <a:off x="548640" y="2304288"/>
            <a:ext cx="6126480" cy="50292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AGENTS.mdとCLAUDE.md/.local.mdが両方存在</a:t>
            </a:r>
            <a:endParaRPr lang="en-US" sz="1000" dirty="0"/>
          </a:p>
        </p:txBody>
      </p:sp>
      <p:sp>
        <p:nvSpPr>
          <p:cNvPr id="8" name="Text 6"/>
          <p:cNvSpPr txBox="1"/>
          <p:nvPr/>
        </p:nvSpPr>
        <p:spPr>
          <a:xfrm>
            <a:off x="6766560" y="2304288"/>
            <a:ext cx="4389120" cy="502920"/>
          </a:xfrm>
          <a:prstGeom prst="rect">
            <a:avLst/>
          </a:prstGeom>
          <a:noFill/>
          <a:ln/>
        </p:spPr>
        <p:txBody>
          <a:bodyPr wrap="square" lIns="0" tIns="0" rIns="0" bIns="0" rtlCol="0" anchor="ctr"/>
          <a:lstStyle/>
          <a:p>
            <a:pPr indent="0" marL="0">
              <a:buNone/>
            </a:pPr>
            <a:r>
              <a:rPr lang="en-US" sz="1000" b="1" dirty="0">
                <a:solidFill>
                  <a:srgbClr val="CC785C"/>
                </a:solidFill>
                <a:latin typeface="Calibri" pitchFamily="34" charset="0"/>
                <a:ea typeface="Calibri" pitchFamily="34" charset="-122"/>
                <a:cs typeface="Calibri" pitchFamily="34" charset="-120"/>
              </a:rPr>
              <a:t>CLAUDE.mdのみ読む(AGENTS.mdは無視)</a:t>
            </a:r>
            <a:endParaRPr lang="en-US" sz="1000" dirty="0"/>
          </a:p>
        </p:txBody>
      </p:sp>
      <p:sp>
        <p:nvSpPr>
          <p:cNvPr id="9" name="Text 7"/>
          <p:cNvSpPr txBox="1"/>
          <p:nvPr/>
        </p:nvSpPr>
        <p:spPr>
          <a:xfrm>
            <a:off x="548640" y="2871216"/>
            <a:ext cx="6126480" cy="50292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CLAUDE.mdが既に@AGENTS.mdをインポート済み</a:t>
            </a:r>
            <a:endParaRPr lang="en-US" sz="1000" dirty="0"/>
          </a:p>
        </p:txBody>
      </p:sp>
      <p:sp>
        <p:nvSpPr>
          <p:cNvPr id="10" name="Text 8"/>
          <p:cNvSpPr txBox="1"/>
          <p:nvPr/>
        </p:nvSpPr>
        <p:spPr>
          <a:xfrm>
            <a:off x="6766560" y="2871216"/>
            <a:ext cx="4389120" cy="502920"/>
          </a:xfrm>
          <a:prstGeom prst="rect">
            <a:avLst/>
          </a:prstGeom>
          <a:noFill/>
          <a:ln/>
        </p:spPr>
        <p:txBody>
          <a:bodyPr wrap="square" lIns="0" tIns="0" rIns="0" bIns="0" rtlCol="0" anchor="ctr"/>
          <a:lstStyle/>
          <a:p>
            <a:pPr indent="0" marL="0">
              <a:buNone/>
            </a:pPr>
            <a:r>
              <a:rPr lang="en-US" sz="1000" b="1" dirty="0">
                <a:solidFill>
                  <a:srgbClr val="CC785C"/>
                </a:solidFill>
                <a:latin typeface="Calibri" pitchFamily="34" charset="0"/>
                <a:ea typeface="Calibri" pitchFamily="34" charset="-122"/>
                <a:cs typeface="Calibri" pitchFamily="34" charset="-120"/>
              </a:rPr>
              <a:t>CLAUDE.md経由でAGENTS.mdの内容も含めて読む</a:t>
            </a:r>
            <a:endParaRPr lang="en-US" sz="1000" dirty="0"/>
          </a:p>
        </p:txBody>
      </p:sp>
      <p:sp>
        <p:nvSpPr>
          <p:cNvPr id="11" name="Text 9"/>
          <p:cNvSpPr txBox="1"/>
          <p:nvPr/>
        </p:nvSpPr>
        <p:spPr>
          <a:xfrm>
            <a:off x="548640" y="3566160"/>
            <a:ext cx="10607040" cy="320040"/>
          </a:xfrm>
          <a:prstGeom prst="rect">
            <a:avLst/>
          </a:prstGeom>
          <a:noFill/>
          <a:ln/>
        </p:spPr>
        <p:txBody>
          <a:bodyPr wrap="square" lIns="0" tIns="0" rIns="0" bIns="0" rtlCol="0" anchor="ctr"/>
          <a:lstStyle/>
          <a:p>
            <a:pPr indent="0" marL="0">
              <a:buNone/>
            </a:pPr>
            <a:r>
              <a:rPr lang="en-US" sz="1250" b="1" dirty="0">
                <a:solidFill>
                  <a:srgbClr val="CC785C"/>
                </a:solidFill>
                <a:latin typeface="Calibri" pitchFamily="34" charset="0"/>
                <a:ea typeface="Calibri" pitchFamily="34" charset="-122"/>
                <a:cs typeface="Calibri" pitchFamily="34" charset="-120"/>
              </a:rPr>
              <a:t>/config の Project instructions 設定値</a:t>
            </a:r>
            <a:endParaRPr lang="en-US" sz="1250" dirty="0"/>
          </a:p>
        </p:txBody>
      </p:sp>
      <p:sp>
        <p:nvSpPr>
          <p:cNvPr id="12" name="Text 10"/>
          <p:cNvSpPr txBox="1"/>
          <p:nvPr/>
        </p:nvSpPr>
        <p:spPr>
          <a:xfrm>
            <a:off x="548640" y="3931920"/>
            <a:ext cx="3657600" cy="411480"/>
          </a:xfrm>
          <a:prstGeom prst="rect">
            <a:avLst/>
          </a:prstGeom>
          <a:noFill/>
          <a:ln/>
        </p:spPr>
        <p:txBody>
          <a:bodyPr wrap="square" lIns="0" tIns="0" rIns="0" bIns="0" rtlCol="0" anchor="ctr"/>
          <a:lstStyle/>
          <a:p>
            <a:pPr indent="0" marL="0">
              <a:buNone/>
            </a:pPr>
            <a:r>
              <a:rPr lang="en-US" sz="900" b="1" dirty="0">
                <a:solidFill>
                  <a:srgbClr val="F4F3F0"/>
                </a:solidFill>
                <a:latin typeface="Courier New" pitchFamily="34" charset="0"/>
                <a:ea typeface="Courier New" pitchFamily="34" charset="-122"/>
                <a:cs typeface="Courier New" pitchFamily="34" charset="-120"/>
              </a:rPr>
              <a:t>claude-md-or-agents-md(既定)</a:t>
            </a:r>
            <a:endParaRPr lang="en-US" sz="900" dirty="0"/>
          </a:p>
        </p:txBody>
      </p:sp>
      <p:sp>
        <p:nvSpPr>
          <p:cNvPr id="13" name="Text 11"/>
          <p:cNvSpPr txBox="1"/>
          <p:nvPr/>
        </p:nvSpPr>
        <p:spPr>
          <a:xfrm>
            <a:off x="4297680" y="3931920"/>
            <a:ext cx="6858000" cy="41148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CLAUDE.mdがあればそれを、無ければAGENTS.mdを読む</a:t>
            </a:r>
            <a:endParaRPr lang="en-US" sz="950" dirty="0"/>
          </a:p>
        </p:txBody>
      </p:sp>
      <p:sp>
        <p:nvSpPr>
          <p:cNvPr id="14" name="Text 12"/>
          <p:cNvSpPr txBox="1"/>
          <p:nvPr/>
        </p:nvSpPr>
        <p:spPr>
          <a:xfrm>
            <a:off x="548640" y="4370832"/>
            <a:ext cx="3657600" cy="411480"/>
          </a:xfrm>
          <a:prstGeom prst="rect">
            <a:avLst/>
          </a:prstGeom>
          <a:noFill/>
          <a:ln/>
        </p:spPr>
        <p:txBody>
          <a:bodyPr wrap="square" lIns="0" tIns="0" rIns="0" bIns="0" rtlCol="0" anchor="ctr"/>
          <a:lstStyle/>
          <a:p>
            <a:pPr indent="0" marL="0">
              <a:buNone/>
            </a:pPr>
            <a:r>
              <a:rPr lang="en-US" sz="900" b="1" dirty="0">
                <a:solidFill>
                  <a:srgbClr val="F4F3F0"/>
                </a:solidFill>
                <a:latin typeface="Courier New" pitchFamily="34" charset="0"/>
                <a:ea typeface="Courier New" pitchFamily="34" charset="-122"/>
                <a:cs typeface="Courier New" pitchFamily="34" charset="-120"/>
              </a:rPr>
              <a:t>claude-md-and-agents-md</a:t>
            </a:r>
            <a:endParaRPr lang="en-US" sz="900" dirty="0"/>
          </a:p>
        </p:txBody>
      </p:sp>
      <p:sp>
        <p:nvSpPr>
          <p:cNvPr id="15" name="Text 13"/>
          <p:cNvSpPr txBox="1"/>
          <p:nvPr/>
        </p:nvSpPr>
        <p:spPr>
          <a:xfrm>
            <a:off x="4297680" y="4370832"/>
            <a:ext cx="6858000" cy="41148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両方読む(各ディレクトリでCLAUDE.md→AGENTS.mdの順)</a:t>
            </a:r>
            <a:endParaRPr lang="en-US" sz="950" dirty="0"/>
          </a:p>
        </p:txBody>
      </p:sp>
      <p:sp>
        <p:nvSpPr>
          <p:cNvPr id="16" name="Text 14"/>
          <p:cNvSpPr txBox="1"/>
          <p:nvPr/>
        </p:nvSpPr>
        <p:spPr>
          <a:xfrm>
            <a:off x="548640" y="4809744"/>
            <a:ext cx="3657600" cy="411480"/>
          </a:xfrm>
          <a:prstGeom prst="rect">
            <a:avLst/>
          </a:prstGeom>
          <a:noFill/>
          <a:ln/>
        </p:spPr>
        <p:txBody>
          <a:bodyPr wrap="square" lIns="0" tIns="0" rIns="0" bIns="0" rtlCol="0" anchor="ctr"/>
          <a:lstStyle/>
          <a:p>
            <a:pPr indent="0" marL="0">
              <a:buNone/>
            </a:pPr>
            <a:r>
              <a:rPr lang="en-US" sz="900" b="1" dirty="0">
                <a:solidFill>
                  <a:srgbClr val="F4F3F0"/>
                </a:solidFill>
                <a:latin typeface="Courier New" pitchFamily="34" charset="0"/>
                <a:ea typeface="Courier New" pitchFamily="34" charset="-122"/>
                <a:cs typeface="Courier New" pitchFamily="34" charset="-120"/>
              </a:rPr>
              <a:t>claude-md</a:t>
            </a:r>
            <a:endParaRPr lang="en-US" sz="900" dirty="0"/>
          </a:p>
        </p:txBody>
      </p:sp>
      <p:sp>
        <p:nvSpPr>
          <p:cNvPr id="17" name="Text 15"/>
          <p:cNvSpPr txBox="1"/>
          <p:nvPr/>
        </p:nvSpPr>
        <p:spPr>
          <a:xfrm>
            <a:off x="4297680" y="4809744"/>
            <a:ext cx="6858000" cy="41148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CLAUDE.mdのみ</a:t>
            </a:r>
            <a:endParaRPr lang="en-US" sz="950" dirty="0"/>
          </a:p>
        </p:txBody>
      </p:sp>
      <p:sp>
        <p:nvSpPr>
          <p:cNvPr id="18" name="Text 16"/>
          <p:cNvSpPr txBox="1"/>
          <p:nvPr/>
        </p:nvSpPr>
        <p:spPr>
          <a:xfrm>
            <a:off x="548640" y="5248656"/>
            <a:ext cx="3657600" cy="411480"/>
          </a:xfrm>
          <a:prstGeom prst="rect">
            <a:avLst/>
          </a:prstGeom>
          <a:noFill/>
          <a:ln/>
        </p:spPr>
        <p:txBody>
          <a:bodyPr wrap="square" lIns="0" tIns="0" rIns="0" bIns="0" rtlCol="0" anchor="ctr"/>
          <a:lstStyle/>
          <a:p>
            <a:pPr indent="0" marL="0">
              <a:buNone/>
            </a:pPr>
            <a:r>
              <a:rPr lang="en-US" sz="900" b="1" dirty="0">
                <a:solidFill>
                  <a:srgbClr val="F4F3F0"/>
                </a:solidFill>
                <a:latin typeface="Courier New" pitchFamily="34" charset="0"/>
                <a:ea typeface="Courier New" pitchFamily="34" charset="-122"/>
                <a:cs typeface="Courier New" pitchFamily="34" charset="-120"/>
              </a:rPr>
              <a:t>managed-only</a:t>
            </a:r>
            <a:endParaRPr lang="en-US" sz="900" dirty="0"/>
          </a:p>
        </p:txBody>
      </p:sp>
      <p:sp>
        <p:nvSpPr>
          <p:cNvPr id="19" name="Text 17"/>
          <p:cNvSpPr txBox="1"/>
          <p:nvPr/>
        </p:nvSpPr>
        <p:spPr>
          <a:xfrm>
            <a:off x="4297680" y="5248656"/>
            <a:ext cx="6858000" cy="411480"/>
          </a:xfrm>
          <a:prstGeom prst="rect">
            <a:avLst/>
          </a:prstGeom>
          <a:noFill/>
          <a:ln/>
        </p:spPr>
        <p:txBody>
          <a:bodyPr wrap="square" lIns="0" tIns="0" rIns="0" bIns="0" rtlCol="0" anchor="ctr"/>
          <a:lstStyle/>
          <a:p>
            <a:pPr indent="0" marL="0">
              <a:buNone/>
            </a:pPr>
            <a:r>
              <a:rPr lang="en-US" sz="950" dirty="0">
                <a:solidFill>
                  <a:srgbClr val="C9C5BD"/>
                </a:solidFill>
                <a:latin typeface="Calibri" pitchFamily="34" charset="0"/>
                <a:ea typeface="Calibri" pitchFamily="34" charset="-122"/>
                <a:cs typeface="Calibri" pitchFamily="34" charset="-120"/>
              </a:rPr>
              <a:t>組織のManaged CLAUDE.mdと自動メモリのみ(rules/AGENTS.md等は全て除外)</a:t>
            </a:r>
            <a:endParaRPr lang="en-US" sz="950" dirty="0"/>
          </a:p>
        </p:txBody>
      </p:sp>
      <p:sp>
        <p:nvSpPr>
          <p:cNvPr id="20" name="Text 18"/>
          <p:cNvSpPr txBox="1"/>
          <p:nvPr/>
        </p:nvSpPr>
        <p:spPr>
          <a:xfrm>
            <a:off x="548640" y="5806440"/>
            <a:ext cx="10607040" cy="45720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AGENTS.mdはCLAUDE.mdと違いInstructionsLoadedフックが発火しない、--add-dir経由での追加読込もされない、という差異がある。v2.1.277以降が必要</a:t>
            </a:r>
            <a:endParaRPr lang="en-US" sz="950" dirty="0"/>
          </a:p>
        </p:txBody>
      </p:sp>
      <p:sp>
        <p:nvSpPr>
          <p:cNvPr id="21" name="Text 19"/>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Claude Code公式ドキュメント「How Claude remembers your project」</a:t>
            </a:r>
            <a:endParaRPr lang="en-US" sz="950" dirty="0"/>
          </a:p>
        </p:txBody>
      </p:sp>
      <p:sp>
        <p:nvSpPr>
          <p:cNvPr id="22" name="Text 20"/>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2</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深掘り⑧: 自動メモリの内部動作とトラブル対処</a:t>
            </a:r>
            <a:endParaRPr lang="en-US" sz="2400" dirty="0"/>
          </a:p>
        </p:txBody>
      </p:sp>
      <p:sp>
        <p:nvSpPr>
          <p:cNvPr id="4" name="Text 2"/>
          <p:cNvSpPr txBox="1"/>
          <p:nvPr/>
        </p:nvSpPr>
        <p:spPr>
          <a:xfrm>
            <a:off x="548640" y="1371600"/>
            <a:ext cx="5120640" cy="320040"/>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Auto Memoryの4種類 &amp; 保存の判断基準</a:t>
            </a:r>
            <a:endParaRPr lang="en-US" sz="1200" dirty="0"/>
          </a:p>
        </p:txBody>
      </p:sp>
      <p:sp>
        <p:nvSpPr>
          <p:cNvPr id="5" name="Text 3"/>
          <p:cNvSpPr txBox="1"/>
          <p:nvPr/>
        </p:nvSpPr>
        <p:spPr>
          <a:xfrm>
            <a:off x="548640" y="1737360"/>
            <a:ext cx="5120640" cy="292608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1F1E1D"/>
                </a:solidFill>
                <a:latin typeface="Calibri" pitchFamily="34" charset="0"/>
                <a:ea typeface="Calibri" pitchFamily="34" charset="-122"/>
                <a:cs typeface="Calibri" pitchFamily="34" charset="-120"/>
              </a:rPr>
              <a:t>user/feedback/project/reference の4type。コードから読み取れる情報やCLAUDE.mdに既にある情報は保存しない</a:t>
            </a:r>
            <a:endParaRPr lang="en-US" sz="950" dirty="0"/>
          </a:p>
          <a:p>
            <a:pPr marL="342900" indent="-342900">
              <a:spcAft>
                <a:spcPts val="400"/>
              </a:spcAft>
              <a:buSzPct val="100000"/>
              <a:buChar char="•"/>
            </a:pPr>
            <a:r>
              <a:rPr lang="en-US" sz="950" dirty="0">
                <a:solidFill>
                  <a:srgbClr val="1F1E1D"/>
                </a:solidFill>
                <a:latin typeface="Calibri" pitchFamily="34" charset="0"/>
                <a:ea typeface="Calibri" pitchFamily="34" charset="-122"/>
                <a:cs typeface="Calibri" pitchFamily="34" charset="-120"/>
              </a:rPr>
              <a:t>MEMORY.md(索引)は先頭200行 or 25KBのみ起動時ロード。超過分は次回ロードされないため、Claudeは超過時に書き直しを促される</a:t>
            </a:r>
            <a:endParaRPr lang="en-US" sz="950" dirty="0"/>
          </a:p>
          <a:p>
            <a:pPr marL="342900" indent="-342900">
              <a:spcAft>
                <a:spcPts val="400"/>
              </a:spcAft>
              <a:buSzPct val="100000"/>
              <a:buChar char="•"/>
            </a:pPr>
            <a:r>
              <a:rPr lang="en-US" sz="950" dirty="0">
                <a:solidFill>
                  <a:srgbClr val="1F1E1D"/>
                </a:solidFill>
                <a:latin typeface="Calibri" pitchFamily="34" charset="0"/>
                <a:ea typeface="Calibri" pitchFamily="34" charset="-122"/>
                <a:cs typeface="Calibri" pitchFamily="34" charset="-120"/>
              </a:rPr>
              <a:t>トピック別ファイルは起動時にロードされず、必要時にClaudeが読みに行く</a:t>
            </a:r>
            <a:endParaRPr lang="en-US" sz="950" dirty="0"/>
          </a:p>
          <a:p>
            <a:pPr marL="342900" indent="-342900">
              <a:spcAft>
                <a:spcPts val="400"/>
              </a:spcAft>
              <a:buSzPct val="100000"/>
              <a:buChar char="•"/>
            </a:pPr>
            <a:r>
              <a:rPr lang="en-US" sz="950" dirty="0">
                <a:solidFill>
                  <a:srgbClr val="1F1E1D"/>
                </a:solidFill>
                <a:latin typeface="Calibri" pitchFamily="34" charset="0"/>
                <a:ea typeface="Calibri" pitchFamily="34" charset="-122"/>
                <a:cs typeface="Calibri" pitchFamily="34" charset="-120"/>
              </a:rPr>
              <a:t>サブエージェントには基本継承されない(例外: forkは親の会話ごと継承)</a:t>
            </a:r>
            <a:endParaRPr lang="en-US" sz="950" dirty="0"/>
          </a:p>
        </p:txBody>
      </p:sp>
      <p:sp>
        <p:nvSpPr>
          <p:cNvPr id="6" name="Text 4"/>
          <p:cNvSpPr txBox="1"/>
          <p:nvPr/>
        </p:nvSpPr>
        <p:spPr>
          <a:xfrm>
            <a:off x="5852160" y="1371600"/>
            <a:ext cx="5303520" cy="320040"/>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トラブルシューティング</a:t>
            </a:r>
            <a:endParaRPr lang="en-US" sz="1200" dirty="0"/>
          </a:p>
        </p:txBody>
      </p:sp>
      <p:sp>
        <p:nvSpPr>
          <p:cNvPr id="7" name="Text 5"/>
          <p:cNvSpPr txBox="1"/>
          <p:nvPr/>
        </p:nvSpPr>
        <p:spPr>
          <a:xfrm>
            <a:off x="5852160" y="1737360"/>
            <a:ext cx="5303520" cy="384048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6B6862"/>
                </a:solidFill>
                <a:latin typeface="Calibri" pitchFamily="34" charset="0"/>
                <a:ea typeface="Calibri" pitchFamily="34" charset="-122"/>
                <a:cs typeface="Calibri" pitchFamily="34" charset="-120"/>
              </a:rPr>
              <a:t>指示が守られない→/contextでMemory files欄を確認、指示をより具体的に、矛盾を探す。コミット/PRルールはClaude Code組み込みの既定指示と競合しうる(includeGitInstructions等で調整)</a:t>
            </a:r>
            <a:endParaRPr lang="en-US" sz="900" dirty="0"/>
          </a:p>
          <a:p>
            <a:pPr marL="342900" indent="-342900">
              <a:spcAft>
                <a:spcPts val="400"/>
              </a:spcAft>
              <a:buSzPct val="100000"/>
              <a:buChar char="•"/>
            </a:pPr>
            <a:r>
              <a:rPr lang="en-US" sz="900" dirty="0">
                <a:solidFill>
                  <a:srgbClr val="6B6862"/>
                </a:solidFill>
                <a:latin typeface="Calibri" pitchFamily="34" charset="0"/>
                <a:ea typeface="Calibri" pitchFamily="34" charset="-122"/>
                <a:cs typeface="Calibri" pitchFamily="34" charset="-120"/>
              </a:rPr>
              <a:t>AGENTS.mdが読まれない→作業ディレクトリ上位にCLAUDE.md/.local.mdが無いか確認→claude --versionがv2.1.277以降か確認→/configでclaude-md/managed-onlyになっていないか確認</a:t>
            </a:r>
            <a:endParaRPr lang="en-US" sz="900" dirty="0"/>
          </a:p>
          <a:p>
            <a:pPr marL="342900" indent="-342900">
              <a:spcAft>
                <a:spcPts val="400"/>
              </a:spcAft>
              <a:buSzPct val="100000"/>
              <a:buChar char="•"/>
            </a:pPr>
            <a:r>
              <a:rPr lang="en-US" sz="900" dirty="0">
                <a:solidFill>
                  <a:srgbClr val="6B6862"/>
                </a:solidFill>
                <a:latin typeface="Calibri" pitchFamily="34" charset="0"/>
                <a:ea typeface="Calibri" pitchFamily="34" charset="-122"/>
                <a:cs typeface="Calibri" pitchFamily="34" charset="-120"/>
              </a:rPr>
              <a:t>CLAUDE.mdが大きすぎる→200行超で警告。4MiB超のファイルはロードされない。path-scoped rulesへ分割</a:t>
            </a:r>
            <a:endParaRPr lang="en-US" sz="900" dirty="0"/>
          </a:p>
          <a:p>
            <a:pPr marL="342900" indent="-342900">
              <a:spcAft>
                <a:spcPts val="400"/>
              </a:spcAft>
              <a:buSzPct val="100000"/>
              <a:buChar char="•"/>
            </a:pPr>
            <a:r>
              <a:rPr lang="en-US" sz="900" dirty="0">
                <a:solidFill>
                  <a:srgbClr val="6B6862"/>
                </a:solidFill>
                <a:latin typeface="Calibri" pitchFamily="34" charset="0"/>
                <a:ea typeface="Calibri" pitchFamily="34" charset="-122"/>
                <a:cs typeface="Calibri" pitchFamily="34" charset="-120"/>
              </a:rPr>
              <a:t>/compact後に指示が消えた→プロジェクトルートのCLAUDE.mdはディスクから再読込されるが、ネストしたCLAUDE.mdやpath-scoped rulesは該当ファイルを開くまで再ロードされない</a:t>
            </a:r>
            <a:endParaRPr lang="en-US" sz="900" dirty="0"/>
          </a:p>
        </p:txBody>
      </p:sp>
      <p:sp>
        <p:nvSpPr>
          <p:cNvPr id="8" name="Text 6"/>
          <p:cNvSpPr txBox="1"/>
          <p:nvPr/>
        </p:nvSpPr>
        <p:spPr>
          <a:xfrm>
            <a:off x="548640" y="5806440"/>
            <a:ext cx="10607040" cy="548640"/>
          </a:xfrm>
          <a:prstGeom prst="rect">
            <a:avLst/>
          </a:prstGeom>
          <a:noFill/>
          <a:ln/>
        </p:spPr>
        <p:txBody>
          <a:bodyPr wrap="square" lIns="0" tIns="0" rIns="0" bIns="0" rtlCol="0" anchor="ctr"/>
          <a:lstStyle/>
          <a:p>
            <a:pPr indent="0" marL="0">
              <a:buNone/>
            </a:pPr>
            <a:r>
              <a:rPr lang="en-US" sz="950" i="1" dirty="0">
                <a:solidFill>
                  <a:srgbClr val="CC785C"/>
                </a:solidFill>
                <a:latin typeface="Calibri" pitchFamily="34" charset="0"/>
                <a:ea typeface="Calibri" pitchFamily="34" charset="-122"/>
                <a:cs typeface="Calibri" pitchFamily="34" charset="-120"/>
              </a:rPr>
              <a:t>特定の時点で必ず実行したい処理(コミット前など)はCLAUDE.mdでなくHookで実装する — Hookはシェルコマンドとして固定のライフサイクルイベントで実行され、Claudeの判断に関係なく適用される</a:t>
            </a:r>
            <a:endParaRPr lang="en-US" sz="950" dirty="0"/>
          </a:p>
        </p:txBody>
      </p:sp>
      <p:sp>
        <p:nvSpPr>
          <p:cNvPr id="9" name="Text 7"/>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Claude Code公式ドキュメント「How Claude remembers your project」</a:t>
            </a:r>
            <a:endParaRPr lang="en-US" sz="95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3</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Getting Started with Claude Code (1/3)</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50" i="1" dirty="0">
                <a:solidFill>
                  <a:srgbClr val="C9C5BD"/>
                </a:solidFill>
                <a:latin typeface="Calibri" pitchFamily="34" charset="0"/>
                <a:ea typeface="Calibri" pitchFamily="34" charset="-122"/>
                <a:cs typeface="Calibri" pitchFamily="34" charset="-120"/>
              </a:rPr>
              <a:t>Claude Camp最終回・Anthony &amp; Maya・89分</a:t>
            </a:r>
            <a:endParaRPr lang="en-US" sz="1150" dirty="0"/>
          </a:p>
        </p:txBody>
      </p:sp>
      <p:sp>
        <p:nvSpPr>
          <p:cNvPr id="5" name="Text 3"/>
          <p:cNvSpPr txBox="1"/>
          <p:nvPr/>
        </p:nvSpPr>
        <p:spPr>
          <a:xfrm>
            <a:off x="548640" y="1783080"/>
            <a:ext cx="1060704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エージェントとは何か</a:t>
            </a:r>
            <a:endParaRPr lang="en-US" sz="1350" dirty="0"/>
          </a:p>
        </p:txBody>
      </p:sp>
      <p:sp>
        <p:nvSpPr>
          <p:cNvPr id="6" name="Text 4"/>
          <p:cNvSpPr txBox="1"/>
          <p:nvPr/>
        </p:nvSpPr>
        <p:spPr>
          <a:xfrm>
            <a:off x="548640" y="2103120"/>
            <a:ext cx="10607040" cy="731520"/>
          </a:xfrm>
          <a:prstGeom prst="rect">
            <a:avLst/>
          </a:prstGeom>
          <a:noFill/>
          <a:ln/>
        </p:spPr>
        <p:txBody>
          <a:bodyPr wrap="square" lIns="0" tIns="0" rIns="0" bIns="0" rtlCol="0" anchor="ctr"/>
          <a:lstStyle/>
          <a:p>
            <a:pPr indent="0" marL="0">
              <a:buNone/>
            </a:pPr>
            <a:r>
              <a:rPr lang="en-US" sz="1150" dirty="0">
                <a:solidFill>
                  <a:srgbClr val="C9C5BD"/>
                </a:solidFill>
                <a:latin typeface="Calibri" pitchFamily="34" charset="0"/>
                <a:ea typeface="Calibri" pitchFamily="34" charset="-122"/>
                <a:cs typeface="Calibri" pitchFamily="34" charset="-120"/>
              </a:rPr>
              <a:t>2022〜23年 = テキスト入出力のチャットボットの時代。2024年〜 = 「エージェント」の時代、モデルがゴール達成のためツールをループで呼び出す。Claude Code自体は、2024年末のハッカソンでAnthropicの「Boris」氏が作ったプロジェクトが起源</a:t>
            </a:r>
            <a:endParaRPr lang="en-US" sz="1150" dirty="0"/>
          </a:p>
        </p:txBody>
      </p:sp>
      <p:sp>
        <p:nvSpPr>
          <p:cNvPr id="7" name="Text 5"/>
          <p:cNvSpPr txBox="1"/>
          <p:nvPr/>
        </p:nvSpPr>
        <p:spPr>
          <a:xfrm>
            <a:off x="548640" y="2926080"/>
            <a:ext cx="512064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使用時の4原則</a:t>
            </a:r>
            <a:endParaRPr lang="en-US" sz="1350" dirty="0"/>
          </a:p>
        </p:txBody>
      </p:sp>
      <p:sp>
        <p:nvSpPr>
          <p:cNvPr id="8" name="Text 6"/>
          <p:cNvSpPr txBox="1"/>
          <p:nvPr/>
        </p:nvSpPr>
        <p:spPr>
          <a:xfrm>
            <a:off x="548640" y="3246120"/>
            <a:ext cx="5120640" cy="164592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C9C5BD"/>
                </a:solidFill>
                <a:latin typeface="Calibri" pitchFamily="34" charset="0"/>
                <a:ea typeface="Calibri" pitchFamily="34" charset="-122"/>
                <a:cs typeface="Calibri" pitchFamily="34" charset="-120"/>
              </a:rPr>
              <a:t>人間の判断をループに残す(全面的に信頼しない)</a:t>
            </a:r>
            <a:endParaRPr lang="en-US" sz="1100" dirty="0"/>
          </a:p>
          <a:p>
            <a:pPr marL="342900" indent="-342900">
              <a:spcAft>
                <a:spcPts val="500"/>
              </a:spcAft>
              <a:buSzPct val="100000"/>
              <a:buChar char="•"/>
            </a:pPr>
            <a:r>
              <a:rPr lang="en-US" sz="1100" dirty="0">
                <a:solidFill>
                  <a:srgbClr val="C9C5BD"/>
                </a:solidFill>
                <a:latin typeface="Calibri" pitchFamily="34" charset="0"/>
                <a:ea typeface="Calibri" pitchFamily="34" charset="-122"/>
                <a:cs typeface="Calibri" pitchFamily="34" charset="-120"/>
              </a:rPr>
              <a:t>事前に「成功」を定義する(曖昧な指示を避ける)</a:t>
            </a:r>
            <a:endParaRPr lang="en-US" sz="1100" dirty="0"/>
          </a:p>
          <a:p>
            <a:pPr marL="342900" indent="-342900">
              <a:spcAft>
                <a:spcPts val="500"/>
              </a:spcAft>
              <a:buSzPct val="100000"/>
              <a:buChar char="•"/>
            </a:pPr>
            <a:r>
              <a:rPr lang="en-US" sz="1100" dirty="0">
                <a:solidFill>
                  <a:srgbClr val="C9C5BD"/>
                </a:solidFill>
                <a:latin typeface="Calibri" pitchFamily="34" charset="0"/>
                <a:ea typeface="Calibri" pitchFamily="34" charset="-122"/>
                <a:cs typeface="Calibri" pitchFamily="34" charset="-120"/>
              </a:rPr>
              <a:t>最初の出力は「下書き」として扱う</a:t>
            </a:r>
            <a:endParaRPr lang="en-US" sz="1100" dirty="0"/>
          </a:p>
          <a:p>
            <a:pPr marL="342900" indent="-342900">
              <a:spcAft>
                <a:spcPts val="500"/>
              </a:spcAft>
              <a:buSzPct val="100000"/>
              <a:buChar char="•"/>
            </a:pPr>
            <a:r>
              <a:rPr lang="en-US" sz="1100" dirty="0">
                <a:solidFill>
                  <a:srgbClr val="C9C5BD"/>
                </a:solidFill>
                <a:latin typeface="Calibri" pitchFamily="34" charset="0"/>
                <a:ea typeface="Calibri" pitchFamily="34" charset="-122"/>
                <a:cs typeface="Calibri" pitchFamily="34" charset="-120"/>
              </a:rPr>
              <a:t>十分な指示を与える(Claudeは心を読めない)</a:t>
            </a:r>
            <a:endParaRPr lang="en-US" sz="1100" dirty="0"/>
          </a:p>
        </p:txBody>
      </p:sp>
      <p:sp>
        <p:nvSpPr>
          <p:cNvPr id="9" name="Text 7"/>
          <p:cNvSpPr txBox="1"/>
          <p:nvPr/>
        </p:nvSpPr>
        <p:spPr>
          <a:xfrm>
            <a:off x="5852160" y="2926080"/>
            <a:ext cx="530352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モデルの使い分け</a:t>
            </a:r>
            <a:endParaRPr lang="en-US" sz="1350" dirty="0"/>
          </a:p>
        </p:txBody>
      </p:sp>
      <p:sp>
        <p:nvSpPr>
          <p:cNvPr id="10" name="Text 8"/>
          <p:cNvSpPr txBox="1"/>
          <p:nvPr/>
        </p:nvSpPr>
        <p:spPr>
          <a:xfrm>
            <a:off x="5852160" y="3246120"/>
            <a:ext cx="1463040" cy="320040"/>
          </a:xfrm>
          <a:prstGeom prst="rect">
            <a:avLst/>
          </a:prstGeom>
          <a:noFill/>
          <a:ln/>
        </p:spPr>
        <p:txBody>
          <a:bodyPr wrap="square" lIns="0" tIns="0" rIns="0" bIns="0" rtlCol="0" anchor="ctr"/>
          <a:lstStyle/>
          <a:p>
            <a:pPr indent="0" marL="0">
              <a:buNone/>
            </a:pPr>
            <a:r>
              <a:rPr lang="en-US" sz="1100" b="1" dirty="0">
                <a:solidFill>
                  <a:srgbClr val="F4F3F0"/>
                </a:solidFill>
                <a:latin typeface="Calibri" pitchFamily="34" charset="0"/>
                <a:ea typeface="Calibri" pitchFamily="34" charset="-122"/>
                <a:cs typeface="Calibri" pitchFamily="34" charset="-120"/>
              </a:rPr>
              <a:t>Haiku</a:t>
            </a:r>
            <a:endParaRPr lang="en-US" sz="1100" dirty="0"/>
          </a:p>
        </p:txBody>
      </p:sp>
      <p:sp>
        <p:nvSpPr>
          <p:cNvPr id="11" name="Text 9"/>
          <p:cNvSpPr txBox="1"/>
          <p:nvPr/>
        </p:nvSpPr>
        <p:spPr>
          <a:xfrm>
            <a:off x="7315200" y="3246120"/>
            <a:ext cx="1920240" cy="3200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最速・最安</a:t>
            </a:r>
            <a:endParaRPr lang="en-US" sz="1050" dirty="0"/>
          </a:p>
        </p:txBody>
      </p:sp>
      <p:sp>
        <p:nvSpPr>
          <p:cNvPr id="12" name="Text 10"/>
          <p:cNvSpPr txBox="1"/>
          <p:nvPr/>
        </p:nvSpPr>
        <p:spPr>
          <a:xfrm>
            <a:off x="9235440" y="3246120"/>
            <a:ext cx="1920240" cy="3200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単純作業</a:t>
            </a:r>
            <a:endParaRPr lang="en-US" sz="1050" dirty="0"/>
          </a:p>
        </p:txBody>
      </p:sp>
      <p:sp>
        <p:nvSpPr>
          <p:cNvPr id="13" name="Text 11"/>
          <p:cNvSpPr txBox="1"/>
          <p:nvPr/>
        </p:nvSpPr>
        <p:spPr>
          <a:xfrm>
            <a:off x="5852160" y="3630168"/>
            <a:ext cx="1463040" cy="320040"/>
          </a:xfrm>
          <a:prstGeom prst="rect">
            <a:avLst/>
          </a:prstGeom>
          <a:noFill/>
          <a:ln/>
        </p:spPr>
        <p:txBody>
          <a:bodyPr wrap="square" lIns="0" tIns="0" rIns="0" bIns="0" rtlCol="0" anchor="ctr"/>
          <a:lstStyle/>
          <a:p>
            <a:pPr indent="0" marL="0">
              <a:buNone/>
            </a:pPr>
            <a:r>
              <a:rPr lang="en-US" sz="1100" b="1" dirty="0">
                <a:solidFill>
                  <a:srgbClr val="F4F3F0"/>
                </a:solidFill>
                <a:latin typeface="Calibri" pitchFamily="34" charset="0"/>
                <a:ea typeface="Calibri" pitchFamily="34" charset="-122"/>
                <a:cs typeface="Calibri" pitchFamily="34" charset="-120"/>
              </a:rPr>
              <a:t>Sonnet</a:t>
            </a:r>
            <a:endParaRPr lang="en-US" sz="1100" dirty="0"/>
          </a:p>
        </p:txBody>
      </p:sp>
      <p:sp>
        <p:nvSpPr>
          <p:cNvPr id="14" name="Text 12"/>
          <p:cNvSpPr txBox="1"/>
          <p:nvPr/>
        </p:nvSpPr>
        <p:spPr>
          <a:xfrm>
            <a:off x="7315200" y="3630168"/>
            <a:ext cx="1920240" cy="3200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バランス型</a:t>
            </a:r>
            <a:endParaRPr lang="en-US" sz="1050" dirty="0"/>
          </a:p>
        </p:txBody>
      </p:sp>
      <p:sp>
        <p:nvSpPr>
          <p:cNvPr id="15" name="Text 13"/>
          <p:cNvSpPr txBox="1"/>
          <p:nvPr/>
        </p:nvSpPr>
        <p:spPr>
          <a:xfrm>
            <a:off x="9235440" y="3630168"/>
            <a:ext cx="1920240" cy="3200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標準的な作業</a:t>
            </a:r>
            <a:endParaRPr lang="en-US" sz="1050" dirty="0"/>
          </a:p>
        </p:txBody>
      </p:sp>
      <p:sp>
        <p:nvSpPr>
          <p:cNvPr id="16" name="Text 14"/>
          <p:cNvSpPr txBox="1"/>
          <p:nvPr/>
        </p:nvSpPr>
        <p:spPr>
          <a:xfrm>
            <a:off x="5852160" y="4014216"/>
            <a:ext cx="1463040" cy="320040"/>
          </a:xfrm>
          <a:prstGeom prst="rect">
            <a:avLst/>
          </a:prstGeom>
          <a:noFill/>
          <a:ln/>
        </p:spPr>
        <p:txBody>
          <a:bodyPr wrap="square" lIns="0" tIns="0" rIns="0" bIns="0" rtlCol="0" anchor="ctr"/>
          <a:lstStyle/>
          <a:p>
            <a:pPr indent="0" marL="0">
              <a:buNone/>
            </a:pPr>
            <a:r>
              <a:rPr lang="en-US" sz="1100" b="1" dirty="0">
                <a:solidFill>
                  <a:srgbClr val="F4F3F0"/>
                </a:solidFill>
                <a:latin typeface="Calibri" pitchFamily="34" charset="0"/>
                <a:ea typeface="Calibri" pitchFamily="34" charset="-122"/>
                <a:cs typeface="Calibri" pitchFamily="34" charset="-120"/>
              </a:rPr>
              <a:t>Opus</a:t>
            </a:r>
            <a:endParaRPr lang="en-US" sz="1100" dirty="0"/>
          </a:p>
        </p:txBody>
      </p:sp>
      <p:sp>
        <p:nvSpPr>
          <p:cNvPr id="17" name="Text 15"/>
          <p:cNvSpPr txBox="1"/>
          <p:nvPr/>
        </p:nvSpPr>
        <p:spPr>
          <a:xfrm>
            <a:off x="7315200" y="4014216"/>
            <a:ext cx="1920240" cy="3200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主力モデル</a:t>
            </a:r>
            <a:endParaRPr lang="en-US" sz="1050" dirty="0"/>
          </a:p>
        </p:txBody>
      </p:sp>
      <p:sp>
        <p:nvSpPr>
          <p:cNvPr id="18" name="Text 16"/>
          <p:cNvSpPr txBox="1"/>
          <p:nvPr/>
        </p:nvSpPr>
        <p:spPr>
          <a:xfrm>
            <a:off x="9235440" y="4014216"/>
            <a:ext cx="1920240" cy="3200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複雑な開発</a:t>
            </a:r>
            <a:endParaRPr lang="en-US" sz="1050" dirty="0"/>
          </a:p>
        </p:txBody>
      </p:sp>
      <p:sp>
        <p:nvSpPr>
          <p:cNvPr id="19" name="Text 17"/>
          <p:cNvSpPr txBox="1"/>
          <p:nvPr/>
        </p:nvSpPr>
        <p:spPr>
          <a:xfrm>
            <a:off x="5852160" y="4398264"/>
            <a:ext cx="1463040" cy="320040"/>
          </a:xfrm>
          <a:prstGeom prst="rect">
            <a:avLst/>
          </a:prstGeom>
          <a:noFill/>
          <a:ln/>
        </p:spPr>
        <p:txBody>
          <a:bodyPr wrap="square" lIns="0" tIns="0" rIns="0" bIns="0" rtlCol="0" anchor="ctr"/>
          <a:lstStyle/>
          <a:p>
            <a:pPr indent="0" marL="0">
              <a:buNone/>
            </a:pPr>
            <a:r>
              <a:rPr lang="en-US" sz="1100" b="1" dirty="0">
                <a:solidFill>
                  <a:srgbClr val="F4F3F0"/>
                </a:solidFill>
                <a:latin typeface="Calibri" pitchFamily="34" charset="0"/>
                <a:ea typeface="Calibri" pitchFamily="34" charset="-122"/>
                <a:cs typeface="Calibri" pitchFamily="34" charset="-120"/>
              </a:rPr>
              <a:t>Fable</a:t>
            </a:r>
            <a:endParaRPr lang="en-US" sz="1100" dirty="0"/>
          </a:p>
        </p:txBody>
      </p:sp>
      <p:sp>
        <p:nvSpPr>
          <p:cNvPr id="20" name="Text 18"/>
          <p:cNvSpPr txBox="1"/>
          <p:nvPr/>
        </p:nvSpPr>
        <p:spPr>
          <a:xfrm>
            <a:off x="7315200" y="4398264"/>
            <a:ext cx="1920240" cy="3200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最高性能・高コスト</a:t>
            </a:r>
            <a:endParaRPr lang="en-US" sz="1050" dirty="0"/>
          </a:p>
        </p:txBody>
      </p:sp>
      <p:sp>
        <p:nvSpPr>
          <p:cNvPr id="21" name="Text 19"/>
          <p:cNvSpPr txBox="1"/>
          <p:nvPr/>
        </p:nvSpPr>
        <p:spPr>
          <a:xfrm>
            <a:off x="9235440" y="4398264"/>
            <a:ext cx="1920240" cy="32004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新規構想・複雑な戦略</a:t>
            </a:r>
            <a:endParaRPr lang="en-US" sz="1050" dirty="0"/>
          </a:p>
        </p:txBody>
      </p:sp>
      <p:sp>
        <p:nvSpPr>
          <p:cNvPr id="22" name="Text 20"/>
          <p:cNvSpPr txBox="1"/>
          <p:nvPr/>
        </p:nvSpPr>
        <p:spPr>
          <a:xfrm>
            <a:off x="548640" y="5120640"/>
            <a:ext cx="10607040" cy="731520"/>
          </a:xfrm>
          <a:prstGeom prst="rect">
            <a:avLst/>
          </a:prstGeom>
          <a:noFill/>
          <a:ln/>
        </p:spPr>
        <p:txBody>
          <a:bodyPr wrap="square" lIns="0" tIns="0" rIns="0" bIns="0" rtlCol="0" anchor="ctr"/>
          <a:lstStyle/>
          <a:p>
            <a:pPr indent="0" marL="0">
              <a:buNone/>
            </a:pPr>
            <a:r>
              <a:rPr lang="en-US" sz="1100" dirty="0">
                <a:solidFill>
                  <a:srgbClr val="C9C5BD"/>
                </a:solidFill>
                <a:latin typeface="Calibri" pitchFamily="34" charset="0"/>
                <a:ea typeface="Calibri" pitchFamily="34" charset="-122"/>
                <a:cs typeface="Calibri" pitchFamily="34" charset="-120"/>
              </a:rPr>
              <a:t>従来の開発プロセス(数日かかるコード理解・手動テスト作成)から、対話による理解の高速化・自動コード生成とテストループ・相互レビューへ加速される、という位置づけ</a:t>
            </a:r>
            <a:endParaRPr lang="en-US" sz="1100" dirty="0"/>
          </a:p>
        </p:txBody>
      </p:sp>
      <p:sp>
        <p:nvSpPr>
          <p:cNvPr id="23" name="Text 21"/>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Anthropic「Claude Camp」Getting Started with Claude Codeセッションまとめ</a:t>
            </a:r>
            <a:endParaRPr lang="en-US" sz="950" dirty="0"/>
          </a:p>
        </p:txBody>
      </p:sp>
      <p:sp>
        <p:nvSpPr>
          <p:cNvPr id="24" name="Text 22"/>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3</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Getting Started with Claude Code (2/3)</a:t>
            </a:r>
            <a:endParaRPr lang="en-US" sz="2400" dirty="0"/>
          </a:p>
        </p:txBody>
      </p:sp>
      <p:sp>
        <p:nvSpPr>
          <p:cNvPr id="4" name="Text 2"/>
          <p:cNvSpPr txBox="1"/>
          <p:nvPr/>
        </p:nvSpPr>
        <p:spPr>
          <a:xfrm>
            <a:off x="548640" y="1417320"/>
            <a:ext cx="512064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CLAUDE.mdの階層構造</a:t>
            </a:r>
            <a:endParaRPr lang="en-US" sz="1350" dirty="0"/>
          </a:p>
        </p:txBody>
      </p:sp>
      <p:sp>
        <p:nvSpPr>
          <p:cNvPr id="5" name="Shape 3"/>
          <p:cNvSpPr/>
          <p:nvPr/>
        </p:nvSpPr>
        <p:spPr>
          <a:xfrm>
            <a:off x="548640" y="1783080"/>
            <a:ext cx="5120640" cy="1371600"/>
          </a:xfrm>
          <a:prstGeom prst="roundRect">
            <a:avLst>
              <a:gd name="adj" fmla="val 5333"/>
            </a:avLst>
          </a:prstGeom>
          <a:solidFill>
            <a:srgbClr val="F7F5F2"/>
          </a:solidFill>
          <a:ln w="12700">
            <a:solidFill>
              <a:srgbClr val="E5E2DC"/>
            </a:solidFill>
            <a:prstDash val="solid"/>
          </a:ln>
        </p:spPr>
      </p:sp>
      <p:sp>
        <p:nvSpPr>
          <p:cNvPr id="6" name="Text 4"/>
          <p:cNvSpPr txBox="1"/>
          <p:nvPr/>
        </p:nvSpPr>
        <p:spPr>
          <a:xfrm>
            <a:off x="731520" y="1920240"/>
            <a:ext cx="4754880" cy="1097280"/>
          </a:xfrm>
          <a:prstGeom prst="rect">
            <a:avLst/>
          </a:prstGeom>
          <a:noFill/>
          <a:ln/>
        </p:spPr>
        <p:txBody>
          <a:bodyPr wrap="square" lIns="0" tIns="0" rIns="0" bIns="0" rtlCol="0" anchor="ctr"/>
          <a:lstStyle/>
          <a:p>
            <a:pPr indent="0" marL="0">
              <a:buNone/>
            </a:pPr>
            <a:r>
              <a:rPr lang="en-US" sz="1050" dirty="0">
                <a:solidFill>
                  <a:srgbClr val="1F1E1D"/>
                </a:solidFill>
                <a:latin typeface="Courier New" pitchFamily="34" charset="0"/>
                <a:ea typeface="Courier New" pitchFamily="34" charset="-122"/>
                <a:cs typeface="Courier New" pitchFamily="34" charset="-120"/>
              </a:rPr>
              <a:t>~/.claude/claude.md (個人設定)</a:t>
            </a:r>
            <a:endParaRPr lang="en-US" sz="1050" dirty="0"/>
          </a:p>
          <a:p>
            <a:pPr indent="0" marL="0">
              <a:buNone/>
            </a:pPr>
            <a:r>
              <a:rPr lang="en-US" sz="1050" dirty="0">
                <a:solidFill>
                  <a:srgbClr val="1F1E1D"/>
                </a:solidFill>
                <a:latin typeface="Courier New" pitchFamily="34" charset="0"/>
                <a:ea typeface="Courier New" pitchFamily="34" charset="-122"/>
                <a:cs typeface="Courier New" pitchFamily="34" charset="-120"/>
              </a:rPr>
              <a:t>→ /project/claude.md (プロジェクト全体)</a:t>
            </a:r>
            <a:endParaRPr lang="en-US" sz="1050" dirty="0"/>
          </a:p>
          <a:p>
            <a:pPr indent="0" marL="0">
              <a:buNone/>
            </a:pPr>
            <a:r>
              <a:rPr lang="en-US" sz="1050" dirty="0">
                <a:solidFill>
                  <a:srgbClr val="1F1E1D"/>
                </a:solidFill>
                <a:latin typeface="Courier New" pitchFamily="34" charset="0"/>
                <a:ea typeface="Courier New" pitchFamily="34" charset="-122"/>
                <a:cs typeface="Courier New" pitchFamily="34" charset="-120"/>
              </a:rPr>
              <a:t>→ /project/subdir/claude.md (機能別設定)</a:t>
            </a:r>
            <a:endParaRPr lang="en-US" sz="1050" dirty="0"/>
          </a:p>
        </p:txBody>
      </p:sp>
      <p:sp>
        <p:nvSpPr>
          <p:cNvPr id="7" name="Text 5"/>
          <p:cNvSpPr txBox="1"/>
          <p:nvPr/>
        </p:nvSpPr>
        <p:spPr>
          <a:xfrm>
            <a:off x="548640" y="3291840"/>
            <a:ext cx="5120640" cy="731520"/>
          </a:xfrm>
          <a:prstGeom prst="rect">
            <a:avLst/>
          </a:prstGeom>
          <a:noFill/>
          <a:ln/>
        </p:spPr>
        <p:txBody>
          <a:bodyPr wrap="square" lIns="0" tIns="0" rIns="0" bIns="0" rtlCol="0" anchor="ctr"/>
          <a:lstStyle/>
          <a:p>
            <a:pPr indent="0" marL="0">
              <a:buNone/>
            </a:pPr>
            <a:r>
              <a:rPr lang="en-US" sz="1050" dirty="0">
                <a:solidFill>
                  <a:srgbClr val="6B6862"/>
                </a:solidFill>
                <a:latin typeface="Calibri" pitchFamily="34" charset="0"/>
                <a:ea typeface="Calibri" pitchFamily="34" charset="-122"/>
                <a:cs typeface="Calibri" pitchFamily="34" charset="-120"/>
              </a:rPr>
              <a:t>/init で自動生成されるため手動作成は不要。プロジェクトの言語・モジュール関係・規約を自動記録</a:t>
            </a:r>
            <a:endParaRPr lang="en-US" sz="1050" dirty="0"/>
          </a:p>
        </p:txBody>
      </p:sp>
      <p:sp>
        <p:nvSpPr>
          <p:cNvPr id="8" name="Text 6"/>
          <p:cNvSpPr txBox="1"/>
          <p:nvPr/>
        </p:nvSpPr>
        <p:spPr>
          <a:xfrm>
            <a:off x="5852160" y="1417320"/>
            <a:ext cx="530352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権限モード(自由度の低い順)</a:t>
            </a:r>
            <a:endParaRPr lang="en-US" sz="1350" dirty="0"/>
          </a:p>
        </p:txBody>
      </p:sp>
      <p:sp>
        <p:nvSpPr>
          <p:cNvPr id="9" name="Text 7"/>
          <p:cNvSpPr txBox="1"/>
          <p:nvPr/>
        </p:nvSpPr>
        <p:spPr>
          <a:xfrm>
            <a:off x="5852160" y="1783080"/>
            <a:ext cx="1554480" cy="502920"/>
          </a:xfrm>
          <a:prstGeom prst="rect">
            <a:avLst/>
          </a:prstGeom>
          <a:noFill/>
          <a:ln/>
        </p:spPr>
        <p:txBody>
          <a:bodyPr wrap="square" lIns="0" tIns="0" rIns="0" bIns="0" rtlCol="0" anchor="ctr"/>
          <a:lstStyle/>
          <a:p>
            <a:pPr indent="0" marL="0">
              <a:buNone/>
            </a:pPr>
            <a:r>
              <a:rPr lang="en-US" sz="1150" b="1" dirty="0">
                <a:solidFill>
                  <a:srgbClr val="CC785C"/>
                </a:solidFill>
                <a:latin typeface="Calibri" pitchFamily="34" charset="0"/>
                <a:ea typeface="Calibri" pitchFamily="34" charset="-122"/>
                <a:cs typeface="Calibri" pitchFamily="34" charset="-120"/>
              </a:rPr>
              <a:t>Plan Mode</a:t>
            </a:r>
            <a:endParaRPr lang="en-US" sz="1150" dirty="0"/>
          </a:p>
        </p:txBody>
      </p:sp>
      <p:sp>
        <p:nvSpPr>
          <p:cNvPr id="10" name="Text 8"/>
          <p:cNvSpPr txBox="1"/>
          <p:nvPr/>
        </p:nvSpPr>
        <p:spPr>
          <a:xfrm>
            <a:off x="7406640" y="1783080"/>
            <a:ext cx="3749040" cy="50292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実行前に計画→承認。複雑・高リスクな機能向け</a:t>
            </a:r>
            <a:endParaRPr lang="en-US" sz="1000" dirty="0"/>
          </a:p>
        </p:txBody>
      </p:sp>
      <p:sp>
        <p:nvSpPr>
          <p:cNvPr id="11" name="Text 9"/>
          <p:cNvSpPr txBox="1"/>
          <p:nvPr/>
        </p:nvSpPr>
        <p:spPr>
          <a:xfrm>
            <a:off x="5852160" y="2313432"/>
            <a:ext cx="1554480" cy="502920"/>
          </a:xfrm>
          <a:prstGeom prst="rect">
            <a:avLst/>
          </a:prstGeom>
          <a:noFill/>
          <a:ln/>
        </p:spPr>
        <p:txBody>
          <a:bodyPr wrap="square" lIns="0" tIns="0" rIns="0" bIns="0" rtlCol="0" anchor="ctr"/>
          <a:lstStyle/>
          <a:p>
            <a:pPr indent="0" marL="0">
              <a:buNone/>
            </a:pPr>
            <a:r>
              <a:rPr lang="en-US" sz="1150" b="1" dirty="0">
                <a:solidFill>
                  <a:srgbClr val="CC785C"/>
                </a:solidFill>
                <a:latin typeface="Calibri" pitchFamily="34" charset="0"/>
                <a:ea typeface="Calibri" pitchFamily="34" charset="-122"/>
                <a:cs typeface="Calibri" pitchFamily="34" charset="-120"/>
              </a:rPr>
              <a:t>Approve</a:t>
            </a:r>
            <a:endParaRPr lang="en-US" sz="1150" dirty="0"/>
          </a:p>
        </p:txBody>
      </p:sp>
      <p:sp>
        <p:nvSpPr>
          <p:cNvPr id="12" name="Text 10"/>
          <p:cNvSpPr txBox="1"/>
          <p:nvPr/>
        </p:nvSpPr>
        <p:spPr>
          <a:xfrm>
            <a:off x="7406640" y="2313432"/>
            <a:ext cx="3749040" cy="50292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変更ごとに明示承認。学習段階・重要な変更向け</a:t>
            </a:r>
            <a:endParaRPr lang="en-US" sz="1000" dirty="0"/>
          </a:p>
        </p:txBody>
      </p:sp>
      <p:sp>
        <p:nvSpPr>
          <p:cNvPr id="13" name="Text 11"/>
          <p:cNvSpPr txBox="1"/>
          <p:nvPr/>
        </p:nvSpPr>
        <p:spPr>
          <a:xfrm>
            <a:off x="5852160" y="2843784"/>
            <a:ext cx="1554480" cy="502920"/>
          </a:xfrm>
          <a:prstGeom prst="rect">
            <a:avLst/>
          </a:prstGeom>
          <a:noFill/>
          <a:ln/>
        </p:spPr>
        <p:txBody>
          <a:bodyPr wrap="square" lIns="0" tIns="0" rIns="0" bIns="0" rtlCol="0" anchor="ctr"/>
          <a:lstStyle/>
          <a:p>
            <a:pPr indent="0" marL="0">
              <a:buNone/>
            </a:pPr>
            <a:r>
              <a:rPr lang="en-US" sz="1150" b="1" dirty="0">
                <a:solidFill>
                  <a:srgbClr val="CC785C"/>
                </a:solidFill>
                <a:latin typeface="Calibri" pitchFamily="34" charset="0"/>
                <a:ea typeface="Calibri" pitchFamily="34" charset="-122"/>
                <a:cs typeface="Calibri" pitchFamily="34" charset="-120"/>
              </a:rPr>
              <a:t>Auto</a:t>
            </a:r>
            <a:endParaRPr lang="en-US" sz="1150" dirty="0"/>
          </a:p>
        </p:txBody>
      </p:sp>
      <p:sp>
        <p:nvSpPr>
          <p:cNvPr id="14" name="Text 12"/>
          <p:cNvSpPr txBox="1"/>
          <p:nvPr/>
        </p:nvSpPr>
        <p:spPr>
          <a:xfrm>
            <a:off x="7406640" y="2843784"/>
            <a:ext cx="3749040" cy="50292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自動実行(デフォルト)。通常業務・スケール向け</a:t>
            </a:r>
            <a:endParaRPr lang="en-US" sz="1000" dirty="0"/>
          </a:p>
        </p:txBody>
      </p:sp>
      <p:sp>
        <p:nvSpPr>
          <p:cNvPr id="15" name="Text 13"/>
          <p:cNvSpPr txBox="1"/>
          <p:nvPr/>
        </p:nvSpPr>
        <p:spPr>
          <a:xfrm>
            <a:off x="5852160" y="3374136"/>
            <a:ext cx="1554480" cy="502920"/>
          </a:xfrm>
          <a:prstGeom prst="rect">
            <a:avLst/>
          </a:prstGeom>
          <a:noFill/>
          <a:ln/>
        </p:spPr>
        <p:txBody>
          <a:bodyPr wrap="square" lIns="0" tIns="0" rIns="0" bIns="0" rtlCol="0" anchor="ctr"/>
          <a:lstStyle/>
          <a:p>
            <a:pPr indent="0" marL="0">
              <a:buNone/>
            </a:pPr>
            <a:r>
              <a:rPr lang="en-US" sz="1150" b="1" dirty="0">
                <a:solidFill>
                  <a:srgbClr val="CC785C"/>
                </a:solidFill>
                <a:latin typeface="Calibri" pitchFamily="34" charset="0"/>
                <a:ea typeface="Calibri" pitchFamily="34" charset="-122"/>
                <a:cs typeface="Calibri" pitchFamily="34" charset="-120"/>
              </a:rPr>
              <a:t>YOLO</a:t>
            </a:r>
            <a:endParaRPr lang="en-US" sz="1150" dirty="0"/>
          </a:p>
        </p:txBody>
      </p:sp>
      <p:sp>
        <p:nvSpPr>
          <p:cNvPr id="16" name="Text 14"/>
          <p:cNvSpPr txBox="1"/>
          <p:nvPr/>
        </p:nvSpPr>
        <p:spPr>
          <a:xfrm>
            <a:off x="7406640" y="3374136"/>
            <a:ext cx="3749040" cy="50292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全自動・無承認。使い捨て環境限定</a:t>
            </a:r>
            <a:endParaRPr lang="en-US" sz="1000" dirty="0"/>
          </a:p>
        </p:txBody>
      </p:sp>
      <p:sp>
        <p:nvSpPr>
          <p:cNvPr id="17" name="Text 15"/>
          <p:cNvSpPr txBox="1"/>
          <p:nvPr/>
        </p:nvSpPr>
        <p:spPr>
          <a:xfrm>
            <a:off x="5852160" y="3931920"/>
            <a:ext cx="5303520" cy="1188720"/>
          </a:xfrm>
          <a:prstGeom prst="rect">
            <a:avLst/>
          </a:prstGeom>
          <a:noFill/>
          <a:ln/>
        </p:spPr>
        <p:txBody>
          <a:bodyPr wrap="square" lIns="0" tIns="0" rIns="0" bIns="0" rtlCol="0" anchor="ctr"/>
          <a:lstStyle/>
          <a:p>
            <a:pPr indent="0" marL="0">
              <a:buNone/>
            </a:pPr>
            <a:r>
              <a:rPr lang="en-US" sz="1000" i="1" dirty="0">
                <a:solidFill>
                  <a:srgbClr val="6B6862"/>
                </a:solidFill>
                <a:latin typeface="Calibri" pitchFamily="34" charset="0"/>
                <a:ea typeface="Calibri" pitchFamily="34" charset="-122"/>
                <a:cs typeface="Calibri" pitchFamily="34" charset="-120"/>
              </a:rPr>
              <a:t>重要な指摘(引用): 「全て自動承認するモードの方が、ユーザーが逐一承認するモードより実は安全」— 逐一承認するユーザーは“機械的な承認(rubber-stamp)”に陥り、危険な操作を見逃しがちという調査結果</a:t>
            </a:r>
            <a:endParaRPr lang="en-US" sz="1000" dirty="0"/>
          </a:p>
        </p:txBody>
      </p:sp>
      <p:sp>
        <p:nvSpPr>
          <p:cNvPr id="18" name="Text 16"/>
          <p:cNvSpPr txBox="1"/>
          <p:nvPr/>
        </p:nvSpPr>
        <p:spPr>
          <a:xfrm>
            <a:off x="548640" y="5212080"/>
            <a:ext cx="10607040" cy="320040"/>
          </a:xfrm>
          <a:prstGeom prst="rect">
            <a:avLst/>
          </a:prstGeom>
          <a:noFill/>
          <a:ln/>
        </p:spPr>
        <p:txBody>
          <a:bodyPr wrap="square" lIns="0" tIns="0" rIns="0" bIns="0" rtlCol="0" anchor="ctr"/>
          <a:lstStyle/>
          <a:p>
            <a:pPr indent="0" marL="0">
              <a:buNone/>
            </a:pPr>
            <a:r>
              <a:rPr lang="en-US" sz="1250" b="1" dirty="0">
                <a:solidFill>
                  <a:srgbClr val="1F1E1D"/>
                </a:solidFill>
                <a:latin typeface="Calibri" pitchFamily="34" charset="0"/>
                <a:ea typeface="Calibri" pitchFamily="34" charset="-122"/>
                <a:cs typeface="Calibri" pitchFamily="34" charset="-120"/>
              </a:rPr>
              <a:t>プロンプトの具体性が効率を左右する(例: テスト修正)</a:t>
            </a:r>
            <a:endParaRPr lang="en-US" sz="1250" dirty="0"/>
          </a:p>
        </p:txBody>
      </p:sp>
      <p:sp>
        <p:nvSpPr>
          <p:cNvPr id="19" name="Text 17"/>
          <p:cNvSpPr txBox="1"/>
          <p:nvPr/>
        </p:nvSpPr>
        <p:spPr>
          <a:xfrm>
            <a:off x="548640" y="5532120"/>
            <a:ext cx="10607040" cy="640080"/>
          </a:xfrm>
          <a:prstGeom prst="rect">
            <a:avLst/>
          </a:prstGeom>
          <a:noFill/>
          <a:ln/>
        </p:spPr>
        <p:txBody>
          <a:bodyPr wrap="square" lIns="0" tIns="0" rIns="0" bIns="0" rtlCol="0" anchor="ctr"/>
          <a:lstStyle/>
          <a:p>
            <a:pPr indent="0" marL="0">
              <a:buNone/>
            </a:pPr>
            <a:r>
              <a:rPr lang="en-US" sz="1050" dirty="0">
                <a:solidFill>
                  <a:srgbClr val="6B6862"/>
                </a:solidFill>
                <a:latin typeface="Calibri" pitchFamily="34" charset="0"/>
                <a:ea typeface="Calibri" pitchFamily="34" charset="-122"/>
                <a:cs typeface="Calibri" pitchFamily="34" charset="-120"/>
              </a:rPr>
              <a:t>❌曖昧: 「失敗しているテストを直して」→解釈の余地が大きく、テスト自体を書き換えられることも　✓具体的: 「/tests/session.test.jsのテストが失敗している。実行して実装コード(テストではない)を直し、全テストが通ったら報告して」</a:t>
            </a:r>
            <a:endParaRPr lang="en-US" sz="1050" dirty="0"/>
          </a:p>
        </p:txBody>
      </p:sp>
      <p:sp>
        <p:nvSpPr>
          <p:cNvPr id="20" name="Text 18"/>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Anthropic「Claude Camp」Getting Started with Claude Codeセッションまとめ</a:t>
            </a:r>
            <a:endParaRPr lang="en-US" sz="950" dirty="0"/>
          </a:p>
        </p:txBody>
      </p:sp>
      <p:sp>
        <p:nvSpPr>
          <p:cNvPr id="21" name="Text 1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3</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Getting Started with Claude Code (3/3)</a:t>
            </a:r>
            <a:endParaRPr lang="en-US" sz="2400" dirty="0"/>
          </a:p>
        </p:txBody>
      </p:sp>
      <p:sp>
        <p:nvSpPr>
          <p:cNvPr id="4" name="Text 2"/>
          <p:cNvSpPr txBox="1"/>
          <p:nvPr/>
        </p:nvSpPr>
        <p:spPr>
          <a:xfrm>
            <a:off x="548640" y="1417320"/>
            <a:ext cx="51206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コンテキスト管理 / チェックポイント</a:t>
            </a:r>
            <a:endParaRPr lang="en-US" sz="1300" dirty="0"/>
          </a:p>
        </p:txBody>
      </p:sp>
      <p:sp>
        <p:nvSpPr>
          <p:cNvPr id="5" name="Text 3"/>
          <p:cNvSpPr txBox="1"/>
          <p:nvPr/>
        </p:nvSpPr>
        <p:spPr>
          <a:xfrm>
            <a:off x="548640" y="1783080"/>
            <a:ext cx="5120640" cy="23774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C9C5BD"/>
                </a:solidFill>
                <a:latin typeface="Calibri" pitchFamily="34" charset="0"/>
                <a:ea typeface="Calibri" pitchFamily="34" charset="-122"/>
                <a:cs typeface="Calibri" pitchFamily="34" charset="-120"/>
              </a:rPr>
              <a:t>積み上げ順: システムプロンプト→ツール定義→CLAUDE.md等→会話履歴</a:t>
            </a:r>
            <a:endParaRPr lang="en-US" sz="1050" dirty="0"/>
          </a:p>
          <a:p>
            <a:pPr marL="342900" indent="-342900">
              <a:spcAft>
                <a:spcPts val="500"/>
              </a:spcAft>
              <a:buSzPct val="100000"/>
              <a:buChar char="•"/>
            </a:pPr>
            <a:r>
              <a:rPr lang="en-US" sz="1050" dirty="0">
                <a:solidFill>
                  <a:srgbClr val="C9C5BD"/>
                </a:solidFill>
                <a:latin typeface="Calibri" pitchFamily="34" charset="0"/>
                <a:ea typeface="Calibri" pitchFamily="34" charset="-122"/>
                <a:cs typeface="Calibri" pitchFamily="34" charset="-120"/>
              </a:rPr>
              <a:t>対処法: 自動要約 / /compact(要約作成) / /clear(全リセット) / Escape(中断)</a:t>
            </a:r>
            <a:endParaRPr lang="en-US" sz="1050" dirty="0"/>
          </a:p>
          <a:p>
            <a:pPr marL="342900" indent="-342900">
              <a:spcAft>
                <a:spcPts val="500"/>
              </a:spcAft>
              <a:buSzPct val="100000"/>
              <a:buChar char="•"/>
            </a:pPr>
            <a:r>
              <a:rPr lang="en-US" sz="1050" dirty="0">
                <a:solidFill>
                  <a:srgbClr val="C9C5BD"/>
                </a:solidFill>
                <a:latin typeface="Calibri" pitchFamily="34" charset="0"/>
                <a:ea typeface="Calibri" pitchFamily="34" charset="-122"/>
                <a:cs typeface="Calibri" pitchFamily="34" charset="-120"/>
              </a:rPr>
              <a:t>キャッシュ: 短時間で同モデルを連続利用すると有効化。モデル/effort/モード変更や5分〜1時間の空白で失効</a:t>
            </a:r>
            <a:endParaRPr lang="en-US" sz="1050" dirty="0"/>
          </a:p>
          <a:p>
            <a:pPr marL="342900" indent="-342900">
              <a:spcAft>
                <a:spcPts val="500"/>
              </a:spcAft>
              <a:buSzPct val="100000"/>
              <a:buChar char="•"/>
            </a:pPr>
            <a:r>
              <a:rPr lang="en-US" sz="1050" dirty="0">
                <a:solidFill>
                  <a:srgbClr val="C9C5BD"/>
                </a:solidFill>
                <a:latin typeface="Calibri" pitchFamily="34" charset="0"/>
                <a:ea typeface="Calibri" pitchFamily="34" charset="-122"/>
                <a:cs typeface="Calibri" pitchFamily="34" charset="-120"/>
              </a:rPr>
              <a:t>チェックポイント: 各ターンの前後でファイル状態・会話を自動保存。Escape×2 か /rewind で復元(⚠️手動編集は記録されない)</a:t>
            </a:r>
            <a:endParaRPr lang="en-US" sz="1050" dirty="0"/>
          </a:p>
        </p:txBody>
      </p:sp>
      <p:sp>
        <p:nvSpPr>
          <p:cNvPr id="6" name="Text 4"/>
          <p:cNvSpPr txBox="1"/>
          <p:nvPr/>
        </p:nvSpPr>
        <p:spPr>
          <a:xfrm>
            <a:off x="5852160" y="1417320"/>
            <a:ext cx="530352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Skill / MCP</a:t>
            </a:r>
            <a:endParaRPr lang="en-US" sz="1300" dirty="0"/>
          </a:p>
        </p:txBody>
      </p:sp>
      <p:sp>
        <p:nvSpPr>
          <p:cNvPr id="7" name="Text 5"/>
          <p:cNvSpPr txBox="1"/>
          <p:nvPr/>
        </p:nvSpPr>
        <p:spPr>
          <a:xfrm>
            <a:off x="5852160" y="1783080"/>
            <a:ext cx="5303520" cy="237744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C9C5BD"/>
                </a:solidFill>
                <a:latin typeface="Calibri" pitchFamily="34" charset="0"/>
                <a:ea typeface="Calibri" pitchFamily="34" charset="-122"/>
                <a:cs typeface="Calibri" pitchFamily="34" charset="-120"/>
              </a:rPr>
              <a:t>Skill = skill.md + 参考ファイル + アセットのフォルダ。自然言語で「〇〇のskillを作って」と頼むだけで自動生成できる</a:t>
            </a:r>
            <a:endParaRPr lang="en-US" sz="1050" dirty="0"/>
          </a:p>
          <a:p>
            <a:pPr marL="342900" indent="-342900">
              <a:spcAft>
                <a:spcPts val="500"/>
              </a:spcAft>
              <a:buSzPct val="100000"/>
              <a:buChar char="•"/>
            </a:pPr>
            <a:r>
              <a:rPr lang="en-US" sz="1050" dirty="0">
                <a:solidFill>
                  <a:srgbClr val="C9C5BD"/>
                </a:solidFill>
                <a:latin typeface="Calibri" pitchFamily="34" charset="0"/>
                <a:ea typeface="Calibri" pitchFamily="34" charset="-122"/>
                <a:cs typeface="Calibri" pitchFamily="34" charset="-120"/>
              </a:rPr>
              <a:t>MCP = 外部システム(ファイル/SharePoint/Jira/GitHub/Slack/DB等)へ安全に接続する標準プロトコル</a:t>
            </a:r>
            <a:endParaRPr lang="en-US" sz="1050" dirty="0"/>
          </a:p>
          <a:p>
            <a:pPr marL="342900" indent="-342900">
              <a:spcAft>
                <a:spcPts val="500"/>
              </a:spcAft>
              <a:buSzPct val="100000"/>
              <a:buChar char="•"/>
            </a:pPr>
            <a:r>
              <a:rPr lang="en-US" sz="1050" dirty="0">
                <a:solidFill>
                  <a:srgbClr val="C9C5BD"/>
                </a:solidFill>
                <a:latin typeface="Calibri" pitchFamily="34" charset="0"/>
                <a:ea typeface="Calibri" pitchFamily="34" charset="-122"/>
                <a:cs typeface="Calibri" pitchFamily="34" charset="-120"/>
              </a:rPr>
              <a:t>組み込みレビューSkill: /code-review(コード品質)、/security-review(脆弱性)、/simplify(重複排除・簡素化)</a:t>
            </a:r>
            <a:endParaRPr lang="en-US" sz="1050" dirty="0"/>
          </a:p>
        </p:txBody>
      </p:sp>
      <p:sp>
        <p:nvSpPr>
          <p:cNvPr id="8" name="Text 6"/>
          <p:cNvSpPr txBox="1"/>
          <p:nvPr/>
        </p:nvSpPr>
        <p:spPr>
          <a:xfrm>
            <a:off x="548640" y="429768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ベストプラクティス・チェックリスト(要点)</a:t>
            </a:r>
            <a:endParaRPr lang="en-US" sz="1300" dirty="0"/>
          </a:p>
        </p:txBody>
      </p:sp>
      <p:sp>
        <p:nvSpPr>
          <p:cNvPr id="9" name="Text 7"/>
          <p:cNvSpPr txBox="1"/>
          <p:nvPr/>
        </p:nvSpPr>
        <p:spPr>
          <a:xfrm>
            <a:off x="548640" y="4617720"/>
            <a:ext cx="10607040" cy="155448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開始時: /initでCLAUDE.md生成・規約を明記・モデルを明示選択(デフォルトOpus推奨) / 実行時: 複雑ならPlan Modeへ切替・@fileで対象ファイル固定 / 効率化: 出力スタイルをConcise化・5分以内はキャッシュ活用・自然な区切りで/compact / リスク回避: 承認前に/rewindで履歴確認・本番はApprove Mode検討 / 再利用: よく使う作業はSkill化しチームに共有</a:t>
            </a:r>
            <a:endParaRPr lang="en-US" sz="1050" dirty="0"/>
          </a:p>
        </p:txBody>
      </p:sp>
      <p:sp>
        <p:nvSpPr>
          <p:cNvPr id="10" name="Text 8"/>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Anthropic「Claude Camp」Getting Started with Claude Codeセッションまとめ</a:t>
            </a:r>
            <a:endParaRPr lang="en-US" sz="950" dirty="0"/>
          </a:p>
        </p:txBody>
      </p:sp>
      <p:sp>
        <p:nvSpPr>
          <p:cNvPr id="11" name="Text 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4</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Moving to the Frontier</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50" i="1" dirty="0">
                <a:solidFill>
                  <a:srgbClr val="6B6862"/>
                </a:solidFill>
                <a:latin typeface="Calibri" pitchFamily="34" charset="0"/>
                <a:ea typeface="Calibri" pitchFamily="34" charset="-122"/>
                <a:cs typeface="Calibri" pitchFamily="34" charset="-120"/>
              </a:rPr>
              <a:t>Max Kirby(Anthropic戦略責任者)・45分</a:t>
            </a:r>
            <a:endParaRPr lang="en-US" sz="1150" dirty="0"/>
          </a:p>
        </p:txBody>
      </p:sp>
      <p:sp>
        <p:nvSpPr>
          <p:cNvPr id="5" name="Text 3"/>
          <p:cNvSpPr txBox="1"/>
          <p:nvPr/>
        </p:nvSpPr>
        <p:spPr>
          <a:xfrm>
            <a:off x="548640" y="1737360"/>
            <a:ext cx="512064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AI進歩トレンドの3指標</a:t>
            </a:r>
            <a:endParaRPr lang="en-US" sz="1350" dirty="0"/>
          </a:p>
        </p:txBody>
      </p:sp>
      <p:sp>
        <p:nvSpPr>
          <p:cNvPr id="6" name="Text 4"/>
          <p:cNvSpPr txBox="1"/>
          <p:nvPr/>
        </p:nvSpPr>
        <p:spPr>
          <a:xfrm>
            <a:off x="548640" y="2057400"/>
            <a:ext cx="5120640" cy="210312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1F1E1D"/>
                </a:solidFill>
                <a:latin typeface="Calibri" pitchFamily="34" charset="0"/>
                <a:ea typeface="Calibri" pitchFamily="34" charset="-122"/>
                <a:cs typeface="Calibri" pitchFamily="34" charset="-120"/>
              </a:rPr>
              <a:t>①指数関数的成長: 知能の向上が継続(現在は垂直上昇フェーズと判断)</a:t>
            </a:r>
            <a:endParaRPr lang="en-US" sz="1100" dirty="0"/>
          </a:p>
          <a:p>
            <a:pPr marL="342900" indent="-342900">
              <a:spcAft>
                <a:spcPts val="800"/>
              </a:spcAft>
              <a:buSzPct val="100000"/>
              <a:buChar char="•"/>
            </a:pPr>
            <a:r>
              <a:rPr lang="en-US" sz="1100" dirty="0">
                <a:solidFill>
                  <a:srgbClr val="1F1E1D"/>
                </a:solidFill>
                <a:latin typeface="Calibri" pitchFamily="34" charset="0"/>
                <a:ea typeface="Calibri" pitchFamily="34" charset="-122"/>
                <a:cs typeface="Calibri" pitchFamily="34" charset="-120"/>
              </a:rPr>
              <a:t>②エージェント持続性: 「Claudeは今や数ヶ月動き続けられる」。能力倍増の周期が7ヶ月→4ヶ月に短縮</a:t>
            </a:r>
            <a:endParaRPr lang="en-US" sz="1100" dirty="0"/>
          </a:p>
          <a:p>
            <a:pPr marL="342900" indent="-342900">
              <a:spcAft>
                <a:spcPts val="800"/>
              </a:spcAft>
              <a:buSzPct val="100000"/>
              <a:buChar char="•"/>
            </a:pPr>
            <a:r>
              <a:rPr lang="en-US" sz="1100" dirty="0">
                <a:solidFill>
                  <a:srgbClr val="1F1E1D"/>
                </a:solidFill>
                <a:latin typeface="Calibri" pitchFamily="34" charset="0"/>
                <a:ea typeface="Calibri" pitchFamily="34" charset="-122"/>
                <a:cs typeface="Calibri" pitchFamily="34" charset="-120"/>
              </a:rPr>
              <a:t>③トークンコスト削減: 年率10倍以上の低下。技術はまだ初期段階でさらなる下落が見込まれる</a:t>
            </a:r>
            <a:endParaRPr lang="en-US" sz="1100" dirty="0"/>
          </a:p>
        </p:txBody>
      </p:sp>
      <p:sp>
        <p:nvSpPr>
          <p:cNvPr id="7" name="Text 5"/>
          <p:cNvSpPr txBox="1"/>
          <p:nvPr/>
        </p:nvSpPr>
        <p:spPr>
          <a:xfrm>
            <a:off x="5852160" y="1737360"/>
            <a:ext cx="530352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2つのビジネス戦略マインドセット</a:t>
            </a:r>
            <a:endParaRPr lang="en-US" sz="1350" dirty="0"/>
          </a:p>
        </p:txBody>
      </p:sp>
      <p:sp>
        <p:nvSpPr>
          <p:cNvPr id="8" name="Shape 6"/>
          <p:cNvSpPr/>
          <p:nvPr/>
        </p:nvSpPr>
        <p:spPr>
          <a:xfrm>
            <a:off x="5852160" y="2057400"/>
            <a:ext cx="5303520" cy="960120"/>
          </a:xfrm>
          <a:prstGeom prst="roundRect">
            <a:avLst>
              <a:gd name="adj" fmla="val 7619"/>
            </a:avLst>
          </a:prstGeom>
          <a:solidFill>
            <a:srgbClr val="F7F5F2"/>
          </a:solidFill>
          <a:ln w="12700">
            <a:solidFill>
              <a:srgbClr val="E5E2DC"/>
            </a:solidFill>
            <a:prstDash val="solid"/>
          </a:ln>
        </p:spPr>
      </p:sp>
      <p:sp>
        <p:nvSpPr>
          <p:cNvPr id="9" name="Text 7"/>
          <p:cNvSpPr txBox="1"/>
          <p:nvPr/>
        </p:nvSpPr>
        <p:spPr>
          <a:xfrm>
            <a:off x="6035040" y="2194560"/>
            <a:ext cx="4937760" cy="731520"/>
          </a:xfrm>
          <a:prstGeom prst="rect">
            <a:avLst/>
          </a:prstGeom>
          <a:noFill/>
          <a:ln/>
        </p:spPr>
        <p:txBody>
          <a:bodyPr wrap="square" lIns="0" tIns="0" rIns="0" bIns="0" rtlCol="0" anchor="ctr"/>
          <a:lstStyle/>
          <a:p>
            <a:pPr indent="0" marL="0">
              <a:buNone/>
            </a:pPr>
            <a:r>
              <a:rPr lang="en-US" sz="1050" dirty="0">
                <a:solidFill>
                  <a:srgbClr val="1F1E1D"/>
                </a:solidFill>
                <a:latin typeface="Calibri" pitchFamily="34" charset="0"/>
                <a:ea typeface="Calibri" pitchFamily="34" charset="-122"/>
                <a:cs typeface="Calibri" pitchFamily="34" charset="-120"/>
              </a:rPr>
              <a:t>Innovation Mindset — 最新・最高性能モデルで、今まで不可能だった問題を解く</a:t>
            </a:r>
            <a:endParaRPr lang="en-US" sz="1050" dirty="0"/>
          </a:p>
        </p:txBody>
      </p:sp>
      <p:sp>
        <p:nvSpPr>
          <p:cNvPr id="10" name="Shape 8"/>
          <p:cNvSpPr/>
          <p:nvPr/>
        </p:nvSpPr>
        <p:spPr>
          <a:xfrm>
            <a:off x="5852160" y="3108960"/>
            <a:ext cx="5303520" cy="960120"/>
          </a:xfrm>
          <a:prstGeom prst="roundRect">
            <a:avLst>
              <a:gd name="adj" fmla="val 7619"/>
            </a:avLst>
          </a:prstGeom>
          <a:solidFill>
            <a:srgbClr val="F7F5F2"/>
          </a:solidFill>
          <a:ln w="12700">
            <a:solidFill>
              <a:srgbClr val="E5E2DC"/>
            </a:solidFill>
            <a:prstDash val="solid"/>
          </a:ln>
        </p:spPr>
      </p:sp>
      <p:sp>
        <p:nvSpPr>
          <p:cNvPr id="11" name="Text 9"/>
          <p:cNvSpPr txBox="1"/>
          <p:nvPr/>
        </p:nvSpPr>
        <p:spPr>
          <a:xfrm>
            <a:off x="6035040" y="3246120"/>
            <a:ext cx="4937760" cy="731520"/>
          </a:xfrm>
          <a:prstGeom prst="rect">
            <a:avLst/>
          </a:prstGeom>
          <a:noFill/>
          <a:ln/>
        </p:spPr>
        <p:txBody>
          <a:bodyPr wrap="square" lIns="0" tIns="0" rIns="0" bIns="0" rtlCol="0" anchor="ctr"/>
          <a:lstStyle/>
          <a:p>
            <a:pPr indent="0" marL="0">
              <a:buNone/>
            </a:pPr>
            <a:r>
              <a:rPr lang="en-US" sz="1050" dirty="0">
                <a:solidFill>
                  <a:srgbClr val="1F1E1D"/>
                </a:solidFill>
                <a:latin typeface="Calibri" pitchFamily="34" charset="0"/>
                <a:ea typeface="Calibri" pitchFamily="34" charset="-122"/>
                <a:cs typeface="Calibri" pitchFamily="34" charset="-120"/>
              </a:rPr>
              <a:t>Diffusion Mindset — 安価なモデルでコスト効率を優先し、広範な普及を目指す</a:t>
            </a:r>
            <a:endParaRPr lang="en-US" sz="1050" dirty="0"/>
          </a:p>
        </p:txBody>
      </p:sp>
      <p:sp>
        <p:nvSpPr>
          <p:cNvPr id="12" name="Text 10"/>
          <p:cNvSpPr txBox="1"/>
          <p:nvPr/>
        </p:nvSpPr>
        <p:spPr>
          <a:xfrm>
            <a:off x="5852160" y="4160520"/>
            <a:ext cx="5303520" cy="320040"/>
          </a:xfrm>
          <a:prstGeom prst="rect">
            <a:avLst/>
          </a:prstGeom>
          <a:noFill/>
          <a:ln/>
        </p:spPr>
        <p:txBody>
          <a:bodyPr wrap="square" lIns="0" tIns="0" rIns="0" bIns="0" rtlCol="0" anchor="ctr"/>
          <a:lstStyle/>
          <a:p>
            <a:pPr indent="0" marL="0">
              <a:buNone/>
            </a:pPr>
            <a:r>
              <a:rPr lang="en-US" sz="1000" i="1" dirty="0">
                <a:solidFill>
                  <a:srgbClr val="6B6862"/>
                </a:solidFill>
                <a:latin typeface="Calibri" pitchFamily="34" charset="0"/>
                <a:ea typeface="Calibri" pitchFamily="34" charset="-122"/>
                <a:cs typeface="Calibri" pitchFamily="34" charset="-120"/>
              </a:rPr>
              <a:t>2つを混在させないことを強く推奨</a:t>
            </a:r>
            <a:endParaRPr lang="en-US" sz="1000" dirty="0"/>
          </a:p>
        </p:txBody>
      </p:sp>
      <p:sp>
        <p:nvSpPr>
          <p:cNvPr id="13" name="Text 11"/>
          <p:cNvSpPr txBox="1"/>
          <p:nvPr/>
        </p:nvSpPr>
        <p:spPr>
          <a:xfrm>
            <a:off x="548640" y="4389120"/>
            <a:ext cx="10607040" cy="640080"/>
          </a:xfrm>
          <a:prstGeom prst="rect">
            <a:avLst/>
          </a:prstGeom>
          <a:noFill/>
          <a:ln/>
        </p:spPr>
        <p:txBody>
          <a:bodyPr wrap="square" lIns="0" tIns="0" rIns="0" bIns="0" rtlCol="0" anchor="ctr"/>
          <a:lstStyle/>
          <a:p>
            <a:pPr indent="0" marL="0">
              <a:buNone/>
            </a:pPr>
            <a:r>
              <a:rPr lang="en-US" sz="1150" dirty="0">
                <a:solidFill>
                  <a:srgbClr val="1F1E1D"/>
                </a:solidFill>
                <a:latin typeface="Calibri" pitchFamily="34" charset="0"/>
                <a:ea typeface="Calibri" pitchFamily="34" charset="-122"/>
                <a:cs typeface="Calibri" pitchFamily="34" charset="-120"/>
              </a:rPr>
              <a:t>3段階実装フレームワーク: ①Adoption first(自組織への導入) → ②ビジネス戦略の選択 → ③レーン選択(Frontier Building / Frontier-Ready / Adoption-First)</a:t>
            </a:r>
            <a:endParaRPr lang="en-US" sz="1150" dirty="0"/>
          </a:p>
        </p:txBody>
      </p:sp>
      <p:sp>
        <p:nvSpPr>
          <p:cNvPr id="14" name="Text 12"/>
          <p:cNvSpPr txBox="1"/>
          <p:nvPr/>
        </p:nvSpPr>
        <p:spPr>
          <a:xfrm>
            <a:off x="548640" y="5120640"/>
            <a:ext cx="10607040" cy="822960"/>
          </a:xfrm>
          <a:prstGeom prst="rect">
            <a:avLst/>
          </a:prstGeom>
          <a:noFill/>
          <a:ln/>
        </p:spPr>
        <p:txBody>
          <a:bodyPr wrap="square" lIns="0" tIns="0" rIns="0" bIns="0" rtlCol="0" anchor="ctr"/>
          <a:lstStyle/>
          <a:p>
            <a:pPr indent="0" marL="0">
              <a:buNone/>
            </a:pPr>
            <a:r>
              <a:rPr lang="en-US" sz="1100" i="1" dirty="0">
                <a:solidFill>
                  <a:srgbClr val="6B6862"/>
                </a:solidFill>
                <a:latin typeface="Calibri" pitchFamily="34" charset="0"/>
                <a:ea typeface="Calibri" pitchFamily="34" charset="-122"/>
                <a:cs typeface="Calibri" pitchFamily="34" charset="-120"/>
              </a:rPr>
              <a:t>締めの言葉(引用): 「誰もがほぼ何でもできるようになった時、最も重要になるのは“何をすべきか”を知っていること」— Howは不安定、What/Whyに焦点を当てることが競争優位になる</a:t>
            </a:r>
            <a:endParaRPr lang="en-US" sz="1100" dirty="0"/>
          </a:p>
        </p:txBody>
      </p:sp>
      <p:sp>
        <p:nvSpPr>
          <p:cNvPr id="15" name="Text 13"/>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Anthropic「Claude Camp」Moving to the Frontierセッションまとめ</a:t>
            </a:r>
            <a:endParaRPr lang="en-US" sz="950" dirty="0"/>
          </a:p>
        </p:txBody>
      </p:sp>
      <p:sp>
        <p:nvSpPr>
          <p:cNvPr id="16" name="Text 14"/>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5</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Proving value and controlling cost (1/2)</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50" i="1" dirty="0">
                <a:solidFill>
                  <a:srgbClr val="C9C5BD"/>
                </a:solidFill>
                <a:latin typeface="Calibri" pitchFamily="34" charset="0"/>
                <a:ea typeface="Calibri" pitchFamily="34" charset="-122"/>
                <a:cs typeface="Calibri" pitchFamily="34" charset="-120"/>
              </a:rPr>
              <a:t>Shannon(顧客成功) &amp; Noel(財務)・90分・APAC初開催</a:t>
            </a:r>
            <a:endParaRPr lang="en-US" sz="1150" dirty="0"/>
          </a:p>
        </p:txBody>
      </p:sp>
      <p:sp>
        <p:nvSpPr>
          <p:cNvPr id="5" name="Text 3"/>
          <p:cNvSpPr txBox="1"/>
          <p:nvPr/>
        </p:nvSpPr>
        <p:spPr>
          <a:xfrm>
            <a:off x="548640" y="1737360"/>
            <a:ext cx="1060704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コスト管理の4レバー</a:t>
            </a:r>
            <a:endParaRPr lang="en-US" sz="1350" dirty="0"/>
          </a:p>
        </p:txBody>
      </p:sp>
      <p:sp>
        <p:nvSpPr>
          <p:cNvPr id="6" name="Shape 4"/>
          <p:cNvSpPr/>
          <p:nvPr/>
        </p:nvSpPr>
        <p:spPr>
          <a:xfrm>
            <a:off x="548640" y="2057400"/>
            <a:ext cx="10607040" cy="868680"/>
          </a:xfrm>
          <a:prstGeom prst="roundRect">
            <a:avLst>
              <a:gd name="adj" fmla="val 8421"/>
            </a:avLst>
          </a:prstGeom>
          <a:solidFill>
            <a:srgbClr val="33312E"/>
          </a:solidFill>
          <a:ln/>
        </p:spPr>
      </p:sp>
      <p:sp>
        <p:nvSpPr>
          <p:cNvPr id="7" name="Text 5"/>
          <p:cNvSpPr txBox="1"/>
          <p:nvPr/>
        </p:nvSpPr>
        <p:spPr>
          <a:xfrm>
            <a:off x="822960" y="2148840"/>
            <a:ext cx="3108960" cy="68580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① モデル選択</a:t>
            </a:r>
            <a:endParaRPr lang="en-US" sz="1200" dirty="0"/>
          </a:p>
        </p:txBody>
      </p:sp>
      <p:sp>
        <p:nvSpPr>
          <p:cNvPr id="8" name="Text 6"/>
          <p:cNvSpPr txBox="1"/>
          <p:nvPr/>
        </p:nvSpPr>
        <p:spPr>
          <a:xfrm>
            <a:off x="4023360" y="2148840"/>
            <a:ext cx="6949440" cy="68580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Haiku/Sonnet/Opus/Fable。発表直後のOpus 5.5は「より安価で高品質」。デフォルトモデルの設定を推奨</a:t>
            </a:r>
            <a:endParaRPr lang="en-US" sz="1050" dirty="0"/>
          </a:p>
        </p:txBody>
      </p:sp>
      <p:sp>
        <p:nvSpPr>
          <p:cNvPr id="9" name="Shape 7"/>
          <p:cNvSpPr/>
          <p:nvPr/>
        </p:nvSpPr>
        <p:spPr>
          <a:xfrm>
            <a:off x="548640" y="3063240"/>
            <a:ext cx="10607040" cy="868680"/>
          </a:xfrm>
          <a:prstGeom prst="roundRect">
            <a:avLst>
              <a:gd name="adj" fmla="val 8421"/>
            </a:avLst>
          </a:prstGeom>
          <a:solidFill>
            <a:srgbClr val="33312E"/>
          </a:solidFill>
          <a:ln/>
        </p:spPr>
      </p:sp>
      <p:sp>
        <p:nvSpPr>
          <p:cNvPr id="10" name="Text 8"/>
          <p:cNvSpPr txBox="1"/>
          <p:nvPr/>
        </p:nvSpPr>
        <p:spPr>
          <a:xfrm>
            <a:off x="822960" y="3154680"/>
            <a:ext cx="3108960" cy="68580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② Effort level</a:t>
            </a:r>
            <a:endParaRPr lang="en-US" sz="1200" dirty="0"/>
          </a:p>
        </p:txBody>
      </p:sp>
      <p:sp>
        <p:nvSpPr>
          <p:cNvPr id="11" name="Text 9"/>
          <p:cNvSpPr txBox="1"/>
          <p:nvPr/>
        </p:nvSpPr>
        <p:spPr>
          <a:xfrm>
            <a:off x="4023360" y="3154680"/>
            <a:ext cx="6949440" cy="68580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低/中/高。高いほどトークン消費増。一般的には中(medium)で十分なことが多い</a:t>
            </a:r>
            <a:endParaRPr lang="en-US" sz="1050" dirty="0"/>
          </a:p>
        </p:txBody>
      </p:sp>
      <p:sp>
        <p:nvSpPr>
          <p:cNvPr id="12" name="Shape 10"/>
          <p:cNvSpPr/>
          <p:nvPr/>
        </p:nvSpPr>
        <p:spPr>
          <a:xfrm>
            <a:off x="548640" y="4069080"/>
            <a:ext cx="10607040" cy="868680"/>
          </a:xfrm>
          <a:prstGeom prst="roundRect">
            <a:avLst>
              <a:gd name="adj" fmla="val 8421"/>
            </a:avLst>
          </a:prstGeom>
          <a:solidFill>
            <a:srgbClr val="33312E"/>
          </a:solidFill>
          <a:ln/>
        </p:spPr>
      </p:sp>
      <p:sp>
        <p:nvSpPr>
          <p:cNvPr id="13" name="Text 11"/>
          <p:cNvSpPr txBox="1"/>
          <p:nvPr/>
        </p:nvSpPr>
        <p:spPr>
          <a:xfrm>
            <a:off x="822960" y="4160520"/>
            <a:ext cx="3108960" cy="68580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③ グループ別アクセス制御(RBAC)</a:t>
            </a:r>
            <a:endParaRPr lang="en-US" sz="1200" dirty="0"/>
          </a:p>
        </p:txBody>
      </p:sp>
      <p:sp>
        <p:nvSpPr>
          <p:cNvPr id="14" name="Text 12"/>
          <p:cNvSpPr txBox="1"/>
          <p:nvPr/>
        </p:nvSpPr>
        <p:spPr>
          <a:xfrm>
            <a:off x="4023360" y="4160520"/>
            <a:ext cx="6949440" cy="68580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開発者グループ(Code+Cowork、上位モデル可)/ベースユーザー(Coworkのみ、Sonnet限定)のような構成</a:t>
            </a:r>
            <a:endParaRPr lang="en-US" sz="1050" dirty="0"/>
          </a:p>
        </p:txBody>
      </p:sp>
      <p:sp>
        <p:nvSpPr>
          <p:cNvPr id="15" name="Shape 13"/>
          <p:cNvSpPr/>
          <p:nvPr/>
        </p:nvSpPr>
        <p:spPr>
          <a:xfrm>
            <a:off x="548640" y="5074920"/>
            <a:ext cx="10607040" cy="868680"/>
          </a:xfrm>
          <a:prstGeom prst="roundRect">
            <a:avLst>
              <a:gd name="adj" fmla="val 8421"/>
            </a:avLst>
          </a:prstGeom>
          <a:solidFill>
            <a:srgbClr val="33312E"/>
          </a:solidFill>
          <a:ln/>
        </p:spPr>
      </p:sp>
      <p:sp>
        <p:nvSpPr>
          <p:cNvPr id="16" name="Text 14"/>
          <p:cNvSpPr txBox="1"/>
          <p:nvPr/>
        </p:nvSpPr>
        <p:spPr>
          <a:xfrm>
            <a:off x="822960" y="5166360"/>
            <a:ext cx="3108960" cy="68580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④ 支出上限</a:t>
            </a:r>
            <a:endParaRPr lang="en-US" sz="1200" dirty="0"/>
          </a:p>
        </p:txBody>
      </p:sp>
      <p:sp>
        <p:nvSpPr>
          <p:cNvPr id="17" name="Text 15"/>
          <p:cNvSpPr txBox="1"/>
          <p:nvPr/>
        </p:nvSpPr>
        <p:spPr>
          <a:xfrm>
            <a:off x="4023360" y="5166360"/>
            <a:ext cx="6949440" cy="68580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組織/グループ/ユーザーの3階層。現状は月単位のみ(週次・隔週のニーズが強い)</a:t>
            </a:r>
            <a:endParaRPr lang="en-US" sz="1050" dirty="0"/>
          </a:p>
        </p:txBody>
      </p:sp>
      <p:sp>
        <p:nvSpPr>
          <p:cNvPr id="18" name="Text 16"/>
          <p:cNvSpPr txBox="1"/>
          <p:nvPr/>
        </p:nvSpPr>
        <p:spPr>
          <a:xfrm>
            <a:off x="548640" y="6035040"/>
            <a:ext cx="10607040" cy="36576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ユーザー通知: 利用75%・90%到達時にアラート、上限到達時に通知、Slack経由の承認オプションあり</a:t>
            </a:r>
            <a:endParaRPr lang="en-US" sz="1050" dirty="0"/>
          </a:p>
        </p:txBody>
      </p:sp>
      <p:sp>
        <p:nvSpPr>
          <p:cNvPr id="19" name="Text 17"/>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Anthropic「Claude Camp」Proving value and controlling costセッションまとめ</a:t>
            </a:r>
            <a:endParaRPr lang="en-US" sz="950" dirty="0"/>
          </a:p>
        </p:txBody>
      </p:sp>
      <p:sp>
        <p:nvSpPr>
          <p:cNvPr id="20" name="Text 1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5</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Proving value and controlling cost (2/2)</a:t>
            </a:r>
            <a:endParaRPr lang="en-US" sz="2400" dirty="0"/>
          </a:p>
        </p:txBody>
      </p:sp>
      <p:sp>
        <p:nvSpPr>
          <p:cNvPr id="4" name="Text 2"/>
          <p:cNvSpPr txBox="1"/>
          <p:nvPr/>
        </p:nvSpPr>
        <p:spPr>
          <a:xfrm>
            <a:off x="548640" y="1417320"/>
            <a:ext cx="51206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価値実現の6ステップメソドロジー</a:t>
            </a:r>
            <a:endParaRPr lang="en-US" sz="1300" dirty="0"/>
          </a:p>
        </p:txBody>
      </p:sp>
      <p:sp>
        <p:nvSpPr>
          <p:cNvPr id="5" name="Text 3"/>
          <p:cNvSpPr txBox="1"/>
          <p:nvPr/>
        </p:nvSpPr>
        <p:spPr>
          <a:xfrm>
            <a:off x="548640" y="1783080"/>
            <a:ext cx="5120640" cy="164592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F1E1D"/>
                </a:solidFill>
                <a:latin typeface="Calibri" pitchFamily="34" charset="0"/>
                <a:ea typeface="Calibri" pitchFamily="34" charset="-122"/>
                <a:cs typeface="Calibri" pitchFamily="34" charset="-120"/>
              </a:rPr>
              <a:t>① ワークフロー選定(トリガー・再現性・アウトプットの3条件を満たすもの)</a:t>
            </a:r>
            <a:endParaRPr lang="en-US" sz="1050" dirty="0"/>
          </a:p>
          <a:p>
            <a:pPr marL="342900" indent="-342900">
              <a:spcAft>
                <a:spcPts val="500"/>
              </a:spcAft>
              <a:buSzPct val="100000"/>
              <a:buChar char="•"/>
            </a:pPr>
            <a:r>
              <a:rPr lang="en-US" sz="1050" dirty="0">
                <a:solidFill>
                  <a:srgbClr val="1F1E1D"/>
                </a:solidFill>
                <a:latin typeface="Calibri" pitchFamily="34" charset="0"/>
                <a:ea typeface="Calibri" pitchFamily="34" charset="-122"/>
                <a:cs typeface="Calibri" pitchFamily="34" charset="-120"/>
              </a:rPr>
              <a:t>② ベースライン合意(現状コスト/時間をFinance担当と確認)</a:t>
            </a:r>
            <a:endParaRPr lang="en-US" sz="1050" dirty="0"/>
          </a:p>
          <a:p>
            <a:pPr marL="342900" indent="-342900">
              <a:spcAft>
                <a:spcPts val="500"/>
              </a:spcAft>
              <a:buSzPct val="100000"/>
              <a:buChar char="•"/>
            </a:pPr>
            <a:r>
              <a:rPr lang="en-US" sz="1050" dirty="0">
                <a:solidFill>
                  <a:srgbClr val="1F1E1D"/>
                </a:solidFill>
                <a:latin typeface="Calibri" pitchFamily="34" charset="0"/>
                <a:ea typeface="Calibri" pitchFamily="34" charset="-122"/>
                <a:cs typeface="Calibri" pitchFamily="34" charset="-120"/>
              </a:rPr>
              <a:t>③ Skill実装 → ④ 価値分類(コスト回避 vs 価値創造) → ⑤ 定量化 → ⑥ CFOシートへ統合</a:t>
            </a:r>
            <a:endParaRPr lang="en-US" sz="1050" dirty="0"/>
          </a:p>
        </p:txBody>
      </p:sp>
      <p:sp>
        <p:nvSpPr>
          <p:cNvPr id="6" name="Shape 4"/>
          <p:cNvSpPr/>
          <p:nvPr/>
        </p:nvSpPr>
        <p:spPr>
          <a:xfrm>
            <a:off x="5852160" y="1417320"/>
            <a:ext cx="5303520" cy="2011680"/>
          </a:xfrm>
          <a:prstGeom prst="roundRect">
            <a:avLst>
              <a:gd name="adj" fmla="val 3636"/>
            </a:avLst>
          </a:prstGeom>
          <a:solidFill>
            <a:srgbClr val="F7F5F2"/>
          </a:solidFill>
          <a:ln w="12700">
            <a:solidFill>
              <a:srgbClr val="E5E2DC"/>
            </a:solidFill>
            <a:prstDash val="solid"/>
          </a:ln>
        </p:spPr>
      </p:sp>
      <p:sp>
        <p:nvSpPr>
          <p:cNvPr id="7" name="Text 5"/>
          <p:cNvSpPr txBox="1"/>
          <p:nvPr/>
        </p:nvSpPr>
        <p:spPr>
          <a:xfrm>
            <a:off x="6035040" y="1554480"/>
            <a:ext cx="4937760" cy="320040"/>
          </a:xfrm>
          <a:prstGeom prst="rect">
            <a:avLst/>
          </a:prstGeom>
          <a:noFill/>
          <a:ln/>
        </p:spPr>
        <p:txBody>
          <a:bodyPr wrap="square" lIns="0" tIns="0" rIns="0" bIns="0" rtlCol="0" anchor="ctr"/>
          <a:lstStyle/>
          <a:p>
            <a:pPr indent="0" marL="0">
              <a:buNone/>
            </a:pPr>
            <a:r>
              <a:rPr lang="en-US" sz="1150" b="1" dirty="0">
                <a:solidFill>
                  <a:srgbClr val="CC785C"/>
                </a:solidFill>
                <a:latin typeface="Calibri" pitchFamily="34" charset="0"/>
                <a:ea typeface="Calibri" pitchFamily="34" charset="-122"/>
                <a:cs typeface="Calibri" pitchFamily="34" charset="-120"/>
              </a:rPr>
              <a:t>実例: コスト回避(法務)</a:t>
            </a:r>
            <a:endParaRPr lang="en-US" sz="1150" dirty="0"/>
          </a:p>
        </p:txBody>
      </p:sp>
      <p:sp>
        <p:nvSpPr>
          <p:cNvPr id="8" name="Text 6"/>
          <p:cNvSpPr txBox="1"/>
          <p:nvPr/>
        </p:nvSpPr>
        <p:spPr>
          <a:xfrm>
            <a:off x="6035040" y="1874520"/>
            <a:ext cx="4937760" cy="59436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契約レビュー: 11時間/件→6時間/件(45%削減)。四半期610件×6時間削減=3,660時間節約。「$300〜500K相当のコスト回避」</a:t>
            </a:r>
            <a:endParaRPr lang="en-US" sz="1000" dirty="0"/>
          </a:p>
        </p:txBody>
      </p:sp>
      <p:sp>
        <p:nvSpPr>
          <p:cNvPr id="9" name="Text 7"/>
          <p:cNvSpPr txBox="1"/>
          <p:nvPr/>
        </p:nvSpPr>
        <p:spPr>
          <a:xfrm>
            <a:off x="6035040" y="2514600"/>
            <a:ext cx="4937760" cy="320040"/>
          </a:xfrm>
          <a:prstGeom prst="rect">
            <a:avLst/>
          </a:prstGeom>
          <a:noFill/>
          <a:ln/>
        </p:spPr>
        <p:txBody>
          <a:bodyPr wrap="square" lIns="0" tIns="0" rIns="0" bIns="0" rtlCol="0" anchor="ctr"/>
          <a:lstStyle/>
          <a:p>
            <a:pPr indent="0" marL="0">
              <a:buNone/>
            </a:pPr>
            <a:r>
              <a:rPr lang="en-US" sz="1150" b="1" dirty="0">
                <a:solidFill>
                  <a:srgbClr val="CC785C"/>
                </a:solidFill>
                <a:latin typeface="Calibri" pitchFamily="34" charset="0"/>
                <a:ea typeface="Calibri" pitchFamily="34" charset="-122"/>
                <a:cs typeface="Calibri" pitchFamily="34" charset="-120"/>
              </a:rPr>
              <a:t>実例: 価値創造(営業)</a:t>
            </a:r>
            <a:endParaRPr lang="en-US" sz="1150" dirty="0"/>
          </a:p>
        </p:txBody>
      </p:sp>
      <p:sp>
        <p:nvSpPr>
          <p:cNvPr id="10" name="Text 8"/>
          <p:cNvSpPr txBox="1"/>
          <p:nvPr/>
        </p:nvSpPr>
        <p:spPr>
          <a:xfrm>
            <a:off x="6035040" y="2834640"/>
            <a:ext cx="4937760" cy="548640"/>
          </a:xfrm>
          <a:prstGeom prst="rect">
            <a:avLst/>
          </a:prstGeom>
          <a:noFill/>
          <a:ln/>
        </p:spPr>
        <p:txBody>
          <a:bodyPr wrap="square" lIns="0" tIns="0" rIns="0" bIns="0" rtlCol="0" anchor="ctr"/>
          <a:lstStyle/>
          <a:p>
            <a:pPr indent="0" marL="0">
              <a:buNone/>
            </a:pPr>
            <a:r>
              <a:rPr lang="en-US" sz="1000" dirty="0">
                <a:solidFill>
                  <a:srgbClr val="6B6862"/>
                </a:solidFill>
                <a:latin typeface="Calibri" pitchFamily="34" charset="0"/>
                <a:ea typeface="Calibri" pitchFamily="34" charset="-122"/>
                <a:cs typeface="Calibri" pitchFamily="34" charset="-120"/>
              </a:rPr>
              <a:t>商談準備時間: 45分→10分(3倍速)。190件の追加商談機会。成約率25%×平均$20-34K → 追加収益$900K〜1.6M</a:t>
            </a:r>
            <a:endParaRPr lang="en-US" sz="1000" dirty="0"/>
          </a:p>
        </p:txBody>
      </p:sp>
      <p:sp>
        <p:nvSpPr>
          <p:cNvPr id="11" name="Text 9"/>
          <p:cNvSpPr txBox="1"/>
          <p:nvPr/>
        </p:nvSpPr>
        <p:spPr>
          <a:xfrm>
            <a:off x="548640" y="365760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Claude Code向け価値フレームワーク(計測単位の階層)</a:t>
            </a:r>
            <a:endParaRPr lang="en-US" sz="1300" dirty="0"/>
          </a:p>
        </p:txBody>
      </p:sp>
      <p:sp>
        <p:nvSpPr>
          <p:cNvPr id="12" name="Text 10"/>
          <p:cNvSpPr txBox="1"/>
          <p:nvPr/>
        </p:nvSpPr>
        <p:spPr>
          <a:xfrm>
            <a:off x="548640" y="3977640"/>
            <a:ext cx="10607040" cy="1097280"/>
          </a:xfrm>
          <a:prstGeom prst="rect">
            <a:avLst/>
          </a:prstGeom>
          <a:noFill/>
          <a:ln/>
        </p:spPr>
        <p:txBody>
          <a:bodyPr wrap="square" lIns="0" tIns="0" rIns="0" bIns="0" rtlCol="0" anchor="ctr"/>
          <a:lstStyle/>
          <a:p>
            <a:pPr indent="0" marL="0">
              <a:buNone/>
            </a:pPr>
            <a:r>
              <a:rPr lang="en-US" sz="1050" dirty="0">
                <a:solidFill>
                  <a:srgbClr val="1F1E1D"/>
                </a:solidFill>
                <a:latin typeface="Calibri" pitchFamily="34" charset="0"/>
                <a:ea typeface="Calibri" pitchFamily="34" charset="-122"/>
                <a:cs typeface="Calibri" pitchFamily="34" charset="-120"/>
              </a:rPr>
              <a:t>Volume(出荷数)→Code Assist率(Claude活用割合、例18/22=82%)→Business impact(定量化された時間削減、例4日→1.5日=62.5%削減)。Phoenix Corp事例: 80マイクロサービス移行で約$1.8M削減。あるASX上場企業では移行コストが7桁台から「トークン費用$20〜30K」まで圧縮</a:t>
            </a:r>
            <a:endParaRPr lang="en-US" sz="1050" dirty="0"/>
          </a:p>
        </p:txBody>
      </p:sp>
      <p:sp>
        <p:nvSpPr>
          <p:cNvPr id="13" name="Text 11"/>
          <p:cNvSpPr txBox="1"/>
          <p:nvPr/>
        </p:nvSpPr>
        <p:spPr>
          <a:xfrm>
            <a:off x="548640" y="5166360"/>
            <a:ext cx="10607040" cy="731520"/>
          </a:xfrm>
          <a:prstGeom prst="rect">
            <a:avLst/>
          </a:prstGeom>
          <a:noFill/>
          <a:ln/>
        </p:spPr>
        <p:txBody>
          <a:bodyPr wrap="square" lIns="0" tIns="0" rIns="0" bIns="0" rtlCol="0" anchor="ctr"/>
          <a:lstStyle/>
          <a:p>
            <a:pPr indent="0" marL="0">
              <a:buNone/>
            </a:pPr>
            <a:r>
              <a:rPr lang="en-US" sz="1050" i="1" dirty="0">
                <a:solidFill>
                  <a:srgbClr val="6B6862"/>
                </a:solidFill>
                <a:latin typeface="Calibri" pitchFamily="34" charset="0"/>
                <a:ea typeface="Calibri" pitchFamily="34" charset="-122"/>
                <a:cs typeface="Calibri" pitchFamily="34" charset="-120"/>
              </a:rPr>
              <a:t>Step Change Process(契約レビュー例): 段階1(11h→6h)から、段階2で例外ベース処理へ転換(全610件→例外180件のみレビュー、70%削減)、Financeと新ベースラインを再合意</a:t>
            </a:r>
            <a:endParaRPr lang="en-US" sz="1050" dirty="0"/>
          </a:p>
        </p:txBody>
      </p:sp>
      <p:sp>
        <p:nvSpPr>
          <p:cNvPr id="14" name="Text 12"/>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Anthropic「Claude Camp」Proving value and controlling costセッションまとめ</a:t>
            </a:r>
            <a:endParaRPr lang="en-US" sz="950" dirty="0"/>
          </a:p>
        </p:txBody>
      </p:sp>
      <p:sp>
        <p:nvSpPr>
          <p:cNvPr id="15" name="Text 13"/>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6</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AI Fluency</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50" i="1" dirty="0">
                <a:solidFill>
                  <a:srgbClr val="C9C5BD"/>
                </a:solidFill>
                <a:latin typeface="Calibri" pitchFamily="34" charset="0"/>
                <a:ea typeface="Calibri" pitchFamily="34" charset="-122"/>
                <a:cs typeface="Calibri" pitchFamily="34" charset="-120"/>
              </a:rPr>
              <a:t>Kristen Swanson(Anthropic教育部門責任者)・43分</a:t>
            </a:r>
            <a:endParaRPr lang="en-US" sz="1150" dirty="0"/>
          </a:p>
        </p:txBody>
      </p:sp>
      <p:sp>
        <p:nvSpPr>
          <p:cNvPr id="5" name="Text 3"/>
          <p:cNvSpPr txBox="1"/>
          <p:nvPr/>
        </p:nvSpPr>
        <p:spPr>
          <a:xfrm>
            <a:off x="548640" y="1737360"/>
            <a:ext cx="51206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4Dフレームワーク(内側/外側のループ)</a:t>
            </a:r>
            <a:endParaRPr lang="en-US" sz="1300" dirty="0"/>
          </a:p>
        </p:txBody>
      </p:sp>
      <p:sp>
        <p:nvSpPr>
          <p:cNvPr id="6" name="Text 4"/>
          <p:cNvSpPr txBox="1"/>
          <p:nvPr/>
        </p:nvSpPr>
        <p:spPr>
          <a:xfrm>
            <a:off x="548640" y="2057400"/>
            <a:ext cx="5120640" cy="256032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C9C5BD"/>
                </a:solidFill>
                <a:latin typeface="Calibri" pitchFamily="34" charset="0"/>
                <a:ea typeface="Calibri" pitchFamily="34" charset="-122"/>
                <a:cs typeface="Calibri" pitchFamily="34" charset="-120"/>
              </a:rPr>
              <a:t>内側のループ: Description(明確に説明する) ⇄ Discernment(出力を批判的に評価する)</a:t>
            </a:r>
            <a:endParaRPr lang="en-US" sz="1050" dirty="0"/>
          </a:p>
          <a:p>
            <a:pPr marL="342900" indent="-342900">
              <a:spcAft>
                <a:spcPts val="600"/>
              </a:spcAft>
              <a:buSzPct val="100000"/>
              <a:buChar char="•"/>
            </a:pPr>
            <a:r>
              <a:rPr lang="en-US" sz="1050" dirty="0">
                <a:solidFill>
                  <a:srgbClr val="C9C5BD"/>
                </a:solidFill>
                <a:latin typeface="Calibri" pitchFamily="34" charset="0"/>
                <a:ea typeface="Calibri" pitchFamily="34" charset="-122"/>
                <a:cs typeface="Calibri" pitchFamily="34" charset="-120"/>
              </a:rPr>
              <a:t>外側のループ: Delegation(何を任せるか選ぶ) ⇄ Diligence(AI利用の透明性を保つ)</a:t>
            </a:r>
            <a:endParaRPr lang="en-US" sz="1050" dirty="0"/>
          </a:p>
          <a:p>
            <a:pPr marL="342900" indent="-342900">
              <a:spcAft>
                <a:spcPts val="600"/>
              </a:spcAft>
              <a:buSzPct val="100000"/>
              <a:buChar char="•"/>
            </a:pPr>
            <a:r>
              <a:rPr lang="en-US" sz="1050" dirty="0">
                <a:solidFill>
                  <a:srgbClr val="C9C5BD"/>
                </a:solidFill>
                <a:latin typeface="Calibri" pitchFamily="34" charset="0"/>
                <a:ea typeface="Calibri" pitchFamily="34" charset="-122"/>
                <a:cs typeface="Calibri" pitchFamily="34" charset="-120"/>
              </a:rPr>
              <a:t>「Discernment Tax」問題: モデルが饒舌なため、ユーザーが重い検証作業を強いられる</a:t>
            </a:r>
            <a:endParaRPr lang="en-US" sz="1050" dirty="0"/>
          </a:p>
          <a:p>
            <a:pPr marL="342900" indent="-342900">
              <a:spcAft>
                <a:spcPts val="600"/>
              </a:spcAft>
              <a:buSzPct val="100000"/>
              <a:buChar char="•"/>
            </a:pPr>
            <a:r>
              <a:rPr lang="en-US" sz="1050" dirty="0">
                <a:solidFill>
                  <a:srgbClr val="C9C5BD"/>
                </a:solidFill>
                <a:latin typeface="Calibri" pitchFamily="34" charset="0"/>
                <a:ea typeface="Calibri" pitchFamily="34" charset="-122"/>
                <a:cs typeface="Calibri" pitchFamily="34" charset="-120"/>
              </a:rPr>
              <a:t>社内ノルム例: ❤️(完全に人間作成)・💪(人間+Claude協働)・🤖(完全にClaude作成)のタイトル表示</a:t>
            </a:r>
            <a:endParaRPr lang="en-US" sz="1050" dirty="0"/>
          </a:p>
        </p:txBody>
      </p:sp>
      <p:sp>
        <p:nvSpPr>
          <p:cNvPr id="7" name="Text 5"/>
          <p:cNvSpPr txBox="1"/>
          <p:nvPr/>
        </p:nvSpPr>
        <p:spPr>
          <a:xfrm>
            <a:off x="5852160" y="1737360"/>
            <a:ext cx="530352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AI流暢性エコシステムの3要素</a:t>
            </a:r>
            <a:endParaRPr lang="en-US" sz="1300" dirty="0"/>
          </a:p>
        </p:txBody>
      </p:sp>
      <p:sp>
        <p:nvSpPr>
          <p:cNvPr id="8" name="Text 6"/>
          <p:cNvSpPr txBox="1"/>
          <p:nvPr/>
        </p:nvSpPr>
        <p:spPr>
          <a:xfrm>
            <a:off x="5852160" y="2057400"/>
            <a:ext cx="5303520" cy="182880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C9C5BD"/>
                </a:solidFill>
                <a:latin typeface="Calibri" pitchFamily="34" charset="0"/>
                <a:ea typeface="Calibri" pitchFamily="34" charset="-122"/>
                <a:cs typeface="Calibri" pitchFamily="34" charset="-120"/>
              </a:rPr>
              <a:t>Mindset: 「AIの進化ペースに適応する」姿勢が最重要。新モデル登場時に難タスクを試す“evalingパーティ”を推奨</a:t>
            </a:r>
            <a:endParaRPr lang="en-US" sz="1050" dirty="0"/>
          </a:p>
          <a:p>
            <a:pPr marL="342900" indent="-342900">
              <a:spcAft>
                <a:spcPts val="600"/>
              </a:spcAft>
              <a:buSzPct val="100000"/>
              <a:buChar char="•"/>
            </a:pPr>
            <a:r>
              <a:rPr lang="en-US" sz="1050" dirty="0">
                <a:solidFill>
                  <a:srgbClr val="C9C5BD"/>
                </a:solidFill>
                <a:latin typeface="Calibri" pitchFamily="34" charset="0"/>
                <a:ea typeface="Calibri" pitchFamily="34" charset="-122"/>
                <a:cs typeface="Calibri" pitchFamily="34" charset="-120"/>
              </a:rPr>
              <a:t>Skill: 特定の対話テクニックでなく「タスク成功」を重視。反復とチーム間の知見共有で積み上げる</a:t>
            </a:r>
            <a:endParaRPr lang="en-US" sz="1050" dirty="0"/>
          </a:p>
          <a:p>
            <a:pPr marL="342900" indent="-342900">
              <a:spcAft>
                <a:spcPts val="600"/>
              </a:spcAft>
              <a:buSzPct val="100000"/>
              <a:buChar char="•"/>
            </a:pPr>
            <a:r>
              <a:rPr lang="en-US" sz="1050" dirty="0">
                <a:solidFill>
                  <a:srgbClr val="C9C5BD"/>
                </a:solidFill>
                <a:latin typeface="Calibri" pitchFamily="34" charset="0"/>
                <a:ea typeface="Calibri" pitchFamily="34" charset="-122"/>
                <a:cs typeface="Calibri" pitchFamily="34" charset="-120"/>
              </a:rPr>
              <a:t>Access: 利用可能なモデル・インターフェース(デスクトップ/モバイル/ターミナル)・機能</a:t>
            </a:r>
            <a:endParaRPr lang="en-US" sz="1050" dirty="0"/>
          </a:p>
        </p:txBody>
      </p:sp>
      <p:sp>
        <p:nvSpPr>
          <p:cNvPr id="9" name="Text 7"/>
          <p:cNvSpPr txBox="1"/>
          <p:nvPr/>
        </p:nvSpPr>
        <p:spPr>
          <a:xfrm>
            <a:off x="5852160" y="4023360"/>
            <a:ext cx="5303520" cy="822960"/>
          </a:xfrm>
          <a:prstGeom prst="rect">
            <a:avLst/>
          </a:prstGeom>
          <a:noFill/>
          <a:ln/>
        </p:spPr>
        <p:txBody>
          <a:bodyPr wrap="square" lIns="0" tIns="0" rIns="0" bIns="0" rtlCol="0" anchor="ctr"/>
          <a:lstStyle/>
          <a:p>
            <a:pPr indent="0" marL="0">
              <a:buNone/>
            </a:pPr>
            <a:r>
              <a:rPr lang="en-US" sz="1000" i="1" dirty="0">
                <a:solidFill>
                  <a:srgbClr val="C9C5BD"/>
                </a:solidFill>
                <a:latin typeface="Calibri" pitchFamily="34" charset="0"/>
                <a:ea typeface="Calibri" pitchFamily="34" charset="-122"/>
                <a:cs typeface="Calibri" pitchFamily="34" charset="-120"/>
              </a:rPr>
              <a:t>81,000人調査: 「専門性を高めたい」という希望と「スキルが陳腐化する」という不安が同時に存在。両方を認識することがリーダーシップの鍵</a:t>
            </a:r>
            <a:endParaRPr lang="en-US" sz="1000" dirty="0"/>
          </a:p>
        </p:txBody>
      </p:sp>
      <p:sp>
        <p:nvSpPr>
          <p:cNvPr id="10" name="Text 8"/>
          <p:cNvSpPr txBox="1"/>
          <p:nvPr/>
        </p:nvSpPr>
        <p:spPr>
          <a:xfrm>
            <a:off x="548640" y="5029200"/>
            <a:ext cx="10607040" cy="822960"/>
          </a:xfrm>
          <a:prstGeom prst="rect">
            <a:avLst/>
          </a:prstGeom>
          <a:noFill/>
          <a:ln/>
        </p:spPr>
        <p:txBody>
          <a:bodyPr wrap="square" lIns="0" tIns="0" rIns="0" bIns="0" rtlCol="0" anchor="ctr"/>
          <a:lstStyle/>
          <a:p>
            <a:pPr indent="0" marL="0">
              <a:buNone/>
            </a:pPr>
            <a:r>
              <a:rPr lang="en-US" sz="1100" dirty="0">
                <a:solidFill>
                  <a:srgbClr val="CC785C"/>
                </a:solidFill>
                <a:latin typeface="Calibri" pitchFamily="34" charset="0"/>
                <a:ea typeface="Calibri" pitchFamily="34" charset="-122"/>
                <a:cs typeface="Calibri" pitchFamily="34" charset="-120"/>
              </a:rPr>
              <a:t>重要な引用: 「Task success is the key」「Mindsetは機能より速く価値を生む」「継続的な学習と実験の文化」</a:t>
            </a:r>
            <a:endParaRPr lang="en-US" sz="1100" dirty="0"/>
          </a:p>
        </p:txBody>
      </p:sp>
      <p:sp>
        <p:nvSpPr>
          <p:cNvPr id="11" name="Text 9"/>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Anthropic「Claude Camp」AI Fluencyセッションまとめ</a:t>
            </a:r>
            <a:endParaRPr lang="en-US" sz="950" dirty="0"/>
          </a:p>
        </p:txBody>
      </p:sp>
      <p:sp>
        <p:nvSpPr>
          <p:cNvPr id="12" name="Text 10"/>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7</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1F1E1D"/>
                </a:solidFill>
                <a:latin typeface="Cambria" pitchFamily="34" charset="0"/>
                <a:ea typeface="Cambria" pitchFamily="34" charset="-122"/>
                <a:cs typeface="Cambria" pitchFamily="34" charset="-120"/>
              </a:rPr>
              <a:t>Your first real workflow in Cowork (1/2)</a:t>
            </a:r>
            <a:endParaRPr lang="en-US" sz="2400" dirty="0"/>
          </a:p>
        </p:txBody>
      </p:sp>
      <p:sp>
        <p:nvSpPr>
          <p:cNvPr id="4" name="Text 2"/>
          <p:cNvSpPr txBox="1"/>
          <p:nvPr/>
        </p:nvSpPr>
        <p:spPr>
          <a:xfrm>
            <a:off x="548640" y="1371600"/>
            <a:ext cx="10607040" cy="320040"/>
          </a:xfrm>
          <a:prstGeom prst="rect">
            <a:avLst/>
          </a:prstGeom>
          <a:noFill/>
          <a:ln/>
        </p:spPr>
        <p:txBody>
          <a:bodyPr wrap="square" lIns="0" tIns="0" rIns="0" bIns="0" rtlCol="0" anchor="ctr"/>
          <a:lstStyle/>
          <a:p>
            <a:pPr indent="0" marL="0">
              <a:buNone/>
            </a:pPr>
            <a:r>
              <a:rPr lang="en-US" sz="1150" i="1" dirty="0">
                <a:solidFill>
                  <a:srgbClr val="6B6862"/>
                </a:solidFill>
                <a:latin typeface="Calibri" pitchFamily="34" charset="0"/>
                <a:ea typeface="Calibri" pitchFamily="34" charset="-122"/>
                <a:cs typeface="Calibri" pitchFamily="34" charset="-120"/>
              </a:rPr>
              <a:t>Maddie(進行)・Anthony &amp; Shannon(Q&amp;A)・APAC Day3・90分</a:t>
            </a:r>
            <a:endParaRPr lang="en-US" sz="1150" dirty="0"/>
          </a:p>
        </p:txBody>
      </p:sp>
      <p:sp>
        <p:nvSpPr>
          <p:cNvPr id="5" name="Text 3"/>
          <p:cNvSpPr txBox="1"/>
          <p:nvPr/>
        </p:nvSpPr>
        <p:spPr>
          <a:xfrm>
            <a:off x="548640" y="1737360"/>
            <a:ext cx="1060704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Chat vs Coworkの使い分け</a:t>
            </a:r>
            <a:endParaRPr lang="en-US" sz="1350" dirty="0"/>
          </a:p>
        </p:txBody>
      </p:sp>
      <p:sp>
        <p:nvSpPr>
          <p:cNvPr id="6" name="Text 4"/>
          <p:cNvSpPr txBox="1"/>
          <p:nvPr/>
        </p:nvSpPr>
        <p:spPr>
          <a:xfrm>
            <a:off x="548640" y="2057400"/>
            <a:ext cx="10607040" cy="731520"/>
          </a:xfrm>
          <a:prstGeom prst="rect">
            <a:avLst/>
          </a:prstGeom>
          <a:noFill/>
          <a:ln/>
        </p:spPr>
        <p:txBody>
          <a:bodyPr wrap="square" lIns="0" tIns="0" rIns="0" bIns="0" rtlCol="0" anchor="ctr"/>
          <a:lstStyle/>
          <a:p>
            <a:pPr indent="0" marL="0">
              <a:buNone/>
            </a:pPr>
            <a:r>
              <a:rPr lang="en-US" sz="1100" dirty="0">
                <a:solidFill>
                  <a:srgbClr val="1F1E1D"/>
                </a:solidFill>
                <a:latin typeface="Calibri" pitchFamily="34" charset="0"/>
                <a:ea typeface="Calibri" pitchFamily="34" charset="-122"/>
                <a:cs typeface="Calibri" pitchFamily="34" charset="-120"/>
              </a:rPr>
              <a:t>判断ルール(引用): 「質問ならChatで聞く。作業ならCoworkで始める」— Chatは質問して答えをもらう場、Coworkは求める成果を指定するとClaudeが文脈収集→実行→完成ファイルまで届ける場</a:t>
            </a:r>
            <a:endParaRPr lang="en-US" sz="1100" dirty="0"/>
          </a:p>
        </p:txBody>
      </p:sp>
      <p:sp>
        <p:nvSpPr>
          <p:cNvPr id="7" name="Text 5"/>
          <p:cNvSpPr txBox="1"/>
          <p:nvPr/>
        </p:nvSpPr>
        <p:spPr>
          <a:xfrm>
            <a:off x="548640" y="2926080"/>
            <a:ext cx="10607040" cy="320040"/>
          </a:xfrm>
          <a:prstGeom prst="rect">
            <a:avLst/>
          </a:prstGeom>
          <a:noFill/>
          <a:ln/>
        </p:spPr>
        <p:txBody>
          <a:bodyPr wrap="square" lIns="0" tIns="0" rIns="0" bIns="0" rtlCol="0" anchor="ctr"/>
          <a:lstStyle/>
          <a:p>
            <a:pPr indent="0" marL="0">
              <a:buNone/>
            </a:pPr>
            <a:r>
              <a:rPr lang="en-US" sz="1350" b="1" dirty="0">
                <a:solidFill>
                  <a:srgbClr val="CC785C"/>
                </a:solidFill>
                <a:latin typeface="Calibri" pitchFamily="34" charset="0"/>
                <a:ea typeface="Calibri" pitchFamily="34" charset="-122"/>
                <a:cs typeface="Calibri" pitchFamily="34" charset="-120"/>
              </a:rPr>
              <a:t>Coworkの4段階実行ループ</a:t>
            </a:r>
            <a:endParaRPr lang="en-US" sz="1350" dirty="0"/>
          </a:p>
        </p:txBody>
      </p:sp>
      <p:sp>
        <p:nvSpPr>
          <p:cNvPr id="8" name="Shape 6"/>
          <p:cNvSpPr/>
          <p:nvPr/>
        </p:nvSpPr>
        <p:spPr>
          <a:xfrm>
            <a:off x="548640" y="3291840"/>
            <a:ext cx="2560320" cy="1554480"/>
          </a:xfrm>
          <a:prstGeom prst="roundRect">
            <a:avLst>
              <a:gd name="adj" fmla="val 5882"/>
            </a:avLst>
          </a:prstGeom>
          <a:solidFill>
            <a:srgbClr val="FFFFFF"/>
          </a:solidFill>
          <a:ln w="12700">
            <a:solidFill>
              <a:srgbClr val="E5E2DC"/>
            </a:solidFill>
            <a:prstDash val="solid"/>
          </a:ln>
          <a:effectLst>
            <a:outerShdw sx="100000" sy="100000" kx="0" ky="0" algn="bl" rotWithShape="0" blurRad="63500" dist="25400" dir="5400000">
              <a:srgbClr val="000000">
                <a:alpha val="10000"/>
              </a:srgbClr>
            </a:outerShdw>
          </a:effectLst>
        </p:spPr>
      </p:sp>
      <p:sp>
        <p:nvSpPr>
          <p:cNvPr id="9" name="Text 7"/>
          <p:cNvSpPr txBox="1"/>
          <p:nvPr/>
        </p:nvSpPr>
        <p:spPr>
          <a:xfrm>
            <a:off x="685800" y="3429000"/>
            <a:ext cx="2286000" cy="411480"/>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① Understand</a:t>
            </a:r>
            <a:endParaRPr lang="en-US" sz="1200" dirty="0"/>
          </a:p>
        </p:txBody>
      </p:sp>
      <p:sp>
        <p:nvSpPr>
          <p:cNvPr id="10" name="Text 8"/>
          <p:cNvSpPr txBox="1"/>
          <p:nvPr/>
        </p:nvSpPr>
        <p:spPr>
          <a:xfrm>
            <a:off x="685800" y="3840480"/>
            <a:ext cx="2286000" cy="96012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質問して専門知識を引き出す(例:「これは誰向け?」)</a:t>
            </a:r>
            <a:endParaRPr lang="en-US" sz="950" dirty="0"/>
          </a:p>
        </p:txBody>
      </p:sp>
      <p:sp>
        <p:nvSpPr>
          <p:cNvPr id="11" name="Shape 9"/>
          <p:cNvSpPr/>
          <p:nvPr/>
        </p:nvSpPr>
        <p:spPr>
          <a:xfrm>
            <a:off x="3246120" y="3291840"/>
            <a:ext cx="2560320" cy="1554480"/>
          </a:xfrm>
          <a:prstGeom prst="roundRect">
            <a:avLst>
              <a:gd name="adj" fmla="val 5882"/>
            </a:avLst>
          </a:prstGeom>
          <a:solidFill>
            <a:srgbClr val="FFFFFF"/>
          </a:solidFill>
          <a:ln w="12700">
            <a:solidFill>
              <a:srgbClr val="E5E2DC"/>
            </a:solidFill>
            <a:prstDash val="solid"/>
          </a:ln>
          <a:effectLst>
            <a:outerShdw sx="100000" sy="100000" kx="0" ky="0" algn="bl" rotWithShape="0" blurRad="63500" dist="25400" dir="5400000">
              <a:srgbClr val="000000">
                <a:alpha val="10000"/>
              </a:srgbClr>
            </a:outerShdw>
          </a:effectLst>
        </p:spPr>
      </p:sp>
      <p:sp>
        <p:nvSpPr>
          <p:cNvPr id="12" name="Text 10"/>
          <p:cNvSpPr txBox="1"/>
          <p:nvPr/>
        </p:nvSpPr>
        <p:spPr>
          <a:xfrm>
            <a:off x="3383280" y="3429000"/>
            <a:ext cx="2286000" cy="411480"/>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② Plan</a:t>
            </a:r>
            <a:endParaRPr lang="en-US" sz="1200" dirty="0"/>
          </a:p>
        </p:txBody>
      </p:sp>
      <p:sp>
        <p:nvSpPr>
          <p:cNvPr id="13" name="Text 11"/>
          <p:cNvSpPr txBox="1"/>
          <p:nvPr/>
        </p:nvSpPr>
        <p:spPr>
          <a:xfrm>
            <a:off x="3383280" y="3840480"/>
            <a:ext cx="2286000" cy="96012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手順を明示化。修正が最も安価にできる段階</a:t>
            </a:r>
            <a:endParaRPr lang="en-US" sz="950" dirty="0"/>
          </a:p>
        </p:txBody>
      </p:sp>
      <p:sp>
        <p:nvSpPr>
          <p:cNvPr id="14" name="Shape 12"/>
          <p:cNvSpPr/>
          <p:nvPr/>
        </p:nvSpPr>
        <p:spPr>
          <a:xfrm>
            <a:off x="5943600" y="3291840"/>
            <a:ext cx="2560320" cy="1554480"/>
          </a:xfrm>
          <a:prstGeom prst="roundRect">
            <a:avLst>
              <a:gd name="adj" fmla="val 5882"/>
            </a:avLst>
          </a:prstGeom>
          <a:solidFill>
            <a:srgbClr val="FFFFFF"/>
          </a:solidFill>
          <a:ln w="12700">
            <a:solidFill>
              <a:srgbClr val="E5E2DC"/>
            </a:solidFill>
            <a:prstDash val="solid"/>
          </a:ln>
          <a:effectLst>
            <a:outerShdw sx="100000" sy="100000" kx="0" ky="0" algn="bl" rotWithShape="0" blurRad="63500" dist="25400" dir="5400000">
              <a:srgbClr val="000000">
                <a:alpha val="10000"/>
              </a:srgbClr>
            </a:outerShdw>
          </a:effectLst>
        </p:spPr>
      </p:sp>
      <p:sp>
        <p:nvSpPr>
          <p:cNvPr id="15" name="Text 13"/>
          <p:cNvSpPr txBox="1"/>
          <p:nvPr/>
        </p:nvSpPr>
        <p:spPr>
          <a:xfrm>
            <a:off x="6080760" y="3429000"/>
            <a:ext cx="2286000" cy="411480"/>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③ Execute</a:t>
            </a:r>
            <a:endParaRPr lang="en-US" sz="1200" dirty="0"/>
          </a:p>
        </p:txBody>
      </p:sp>
      <p:sp>
        <p:nvSpPr>
          <p:cNvPr id="16" name="Text 14"/>
          <p:cNvSpPr txBox="1"/>
          <p:nvPr/>
        </p:nvSpPr>
        <p:spPr>
          <a:xfrm>
            <a:off x="6080760" y="3840480"/>
            <a:ext cx="2286000" cy="96012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ツール・ファイル・Webを操作(数分かかることも)</a:t>
            </a:r>
            <a:endParaRPr lang="en-US" sz="950" dirty="0"/>
          </a:p>
        </p:txBody>
      </p:sp>
      <p:sp>
        <p:nvSpPr>
          <p:cNvPr id="17" name="Shape 15"/>
          <p:cNvSpPr/>
          <p:nvPr/>
        </p:nvSpPr>
        <p:spPr>
          <a:xfrm>
            <a:off x="8641080" y="3291840"/>
            <a:ext cx="2560320" cy="1554480"/>
          </a:xfrm>
          <a:prstGeom prst="roundRect">
            <a:avLst>
              <a:gd name="adj" fmla="val 5882"/>
            </a:avLst>
          </a:prstGeom>
          <a:solidFill>
            <a:srgbClr val="FFFFFF"/>
          </a:solidFill>
          <a:ln w="12700">
            <a:solidFill>
              <a:srgbClr val="E5E2DC"/>
            </a:solidFill>
            <a:prstDash val="solid"/>
          </a:ln>
          <a:effectLst>
            <a:outerShdw sx="100000" sy="100000" kx="0" ky="0" algn="bl" rotWithShape="0" blurRad="63500" dist="25400" dir="5400000">
              <a:srgbClr val="000000">
                <a:alpha val="10000"/>
              </a:srgbClr>
            </a:outerShdw>
          </a:effectLst>
        </p:spPr>
      </p:sp>
      <p:sp>
        <p:nvSpPr>
          <p:cNvPr id="18" name="Text 16"/>
          <p:cNvSpPr txBox="1"/>
          <p:nvPr/>
        </p:nvSpPr>
        <p:spPr>
          <a:xfrm>
            <a:off x="8778240" y="3429000"/>
            <a:ext cx="2286000" cy="411480"/>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④ Verify &amp; Deliver</a:t>
            </a:r>
            <a:endParaRPr lang="en-US" sz="1200" dirty="0"/>
          </a:p>
        </p:txBody>
      </p:sp>
      <p:sp>
        <p:nvSpPr>
          <p:cNvPr id="19" name="Text 17"/>
          <p:cNvSpPr txBox="1"/>
          <p:nvPr/>
        </p:nvSpPr>
        <p:spPr>
          <a:xfrm>
            <a:off x="8778240" y="3840480"/>
            <a:ext cx="2286000" cy="960120"/>
          </a:xfrm>
          <a:prstGeom prst="rect">
            <a:avLst/>
          </a:prstGeom>
          <a:noFill/>
          <a:ln/>
        </p:spPr>
        <p:txBody>
          <a:bodyPr wrap="square" lIns="0" tIns="0" rIns="0" bIns="0" rtlCol="0" anchor="ctr"/>
          <a:lstStyle/>
          <a:p>
            <a:pPr indent="0" marL="0">
              <a:buNone/>
            </a:pPr>
            <a:r>
              <a:rPr lang="en-US" sz="950" dirty="0">
                <a:solidFill>
                  <a:srgbClr val="6B6862"/>
                </a:solidFill>
                <a:latin typeface="Calibri" pitchFamily="34" charset="0"/>
                <a:ea typeface="Calibri" pitchFamily="34" charset="-122"/>
                <a:cs typeface="Calibri" pitchFamily="34" charset="-120"/>
              </a:rPr>
              <a:t>既存ファイルとの整合性を確認し完成物を納品</a:t>
            </a:r>
            <a:endParaRPr lang="en-US" sz="950" dirty="0"/>
          </a:p>
        </p:txBody>
      </p:sp>
      <p:sp>
        <p:nvSpPr>
          <p:cNvPr id="20" name="Text 18"/>
          <p:cNvSpPr txBox="1"/>
          <p:nvPr/>
        </p:nvSpPr>
        <p:spPr>
          <a:xfrm>
            <a:off x="548640" y="5120640"/>
            <a:ext cx="10607040" cy="457200"/>
          </a:xfrm>
          <a:prstGeom prst="rect">
            <a:avLst/>
          </a:prstGeom>
          <a:noFill/>
          <a:ln/>
        </p:spPr>
        <p:txBody>
          <a:bodyPr wrap="square" lIns="0" tIns="0" rIns="0" bIns="0" rtlCol="0" anchor="ctr"/>
          <a:lstStyle/>
          <a:p>
            <a:pPr indent="0" marL="0">
              <a:buNone/>
            </a:pPr>
            <a:r>
              <a:rPr lang="en-US" sz="1050" dirty="0">
                <a:solidFill>
                  <a:srgbClr val="6B6862"/>
                </a:solidFill>
                <a:latin typeface="Calibri" pitchFamily="34" charset="0"/>
                <a:ea typeface="Calibri" pitchFamily="34" charset="-122"/>
                <a:cs typeface="Calibri" pitchFamily="34" charset="-120"/>
              </a:rPr>
              <a:t>必須環境: Claude デスクトップアプリ(ブラウザ版は機能制限あり)・ローカルファイルアクセス可能なノートPC・スリープ防止(定期実行タスクに必要)</a:t>
            </a:r>
            <a:endParaRPr lang="en-US" sz="1050" dirty="0"/>
          </a:p>
        </p:txBody>
      </p:sp>
      <p:sp>
        <p:nvSpPr>
          <p:cNvPr id="21" name="Text 19"/>
          <p:cNvSpPr txBox="1"/>
          <p:nvPr/>
        </p:nvSpPr>
        <p:spPr>
          <a:xfrm>
            <a:off x="548640" y="5623560"/>
            <a:ext cx="10607040" cy="731520"/>
          </a:xfrm>
          <a:prstGeom prst="rect">
            <a:avLst/>
          </a:prstGeom>
          <a:noFill/>
          <a:ln/>
        </p:spPr>
        <p:txBody>
          <a:bodyPr wrap="square" lIns="0" tIns="0" rIns="0" bIns="0" rtlCol="0" anchor="ctr"/>
          <a:lstStyle/>
          <a:p>
            <a:pPr indent="0" marL="0">
              <a:buNone/>
            </a:pPr>
            <a:r>
              <a:rPr lang="en-US" sz="1050" dirty="0">
                <a:solidFill>
                  <a:srgbClr val="6B6862"/>
                </a:solidFill>
                <a:latin typeface="Calibri" pitchFamily="34" charset="0"/>
                <a:ea typeface="Calibri" pitchFamily="34" charset="-122"/>
                <a:cs typeface="Calibri" pitchFamily="34" charset="-120"/>
              </a:rPr>
              <a:t>コネクタ設定(例: Google Calendar): 設定→Customize→Connectors→該当サービスの「Connect」→ブラウザでログイン許可。Team/Enterprise利用者はAdminが組織全体で有効化後、各自サインイン(「ホテルのカードキー」の例え: Adminがフロアを有効化、ユーザーがカードをタップ)</a:t>
            </a:r>
            <a:endParaRPr lang="en-US" sz="1050" dirty="0"/>
          </a:p>
        </p:txBody>
      </p:sp>
      <p:sp>
        <p:nvSpPr>
          <p:cNvPr id="22" name="Text 20"/>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6B6862"/>
                </a:solidFill>
                <a:latin typeface="Calibri" pitchFamily="34" charset="0"/>
                <a:ea typeface="Calibri" pitchFamily="34" charset="-122"/>
                <a:cs typeface="Calibri" pitchFamily="34" charset="-120"/>
              </a:rPr>
              <a:t>出典: Anthropic「Claude Camp」Your first real workflow in Coworkセッションまとめ</a:t>
            </a:r>
            <a:endParaRPr lang="en-US" sz="950" dirty="0"/>
          </a:p>
        </p:txBody>
      </p:sp>
      <p:sp>
        <p:nvSpPr>
          <p:cNvPr id="23" name="Text 21"/>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62624"/>
        </a:solidFill>
      </p:bgPr>
    </p:bg>
    <p:spTree>
      <p:nvGrpSpPr>
        <p:cNvPr id="1" name=""/>
        <p:cNvGrpSpPr/>
        <p:nvPr/>
      </p:nvGrpSpPr>
      <p:grpSpPr>
        <a:xfrm>
          <a:off x="0" y="0"/>
          <a:ext cx="0" cy="0"/>
          <a:chOff x="0" y="0"/>
          <a:chExt cx="0" cy="0"/>
        </a:xfrm>
      </p:grpSpPr>
      <p:sp>
        <p:nvSpPr>
          <p:cNvPr id="2" name="Text 0"/>
          <p:cNvSpPr txBox="1"/>
          <p:nvPr/>
        </p:nvSpPr>
        <p:spPr>
          <a:xfrm>
            <a:off x="548640" y="457200"/>
            <a:ext cx="731520" cy="731520"/>
          </a:xfrm>
          <a:prstGeom prst="rect">
            <a:avLst/>
          </a:prstGeom>
          <a:noFill/>
          <a:ln/>
        </p:spPr>
        <p:txBody>
          <a:bodyPr wrap="square" lIns="0" tIns="0" rIns="0" bIns="0" rtlCol="0" anchor="ctr"/>
          <a:lstStyle/>
          <a:p>
            <a:pPr indent="0" marL="0">
              <a:buNone/>
            </a:pPr>
            <a:r>
              <a:rPr lang="en-US" sz="2600" b="1" dirty="0">
                <a:solidFill>
                  <a:srgbClr val="CC785C"/>
                </a:solidFill>
                <a:latin typeface="Cambria" pitchFamily="34" charset="0"/>
                <a:ea typeface="Cambria" pitchFamily="34" charset="-122"/>
                <a:cs typeface="Cambria" pitchFamily="34" charset="-120"/>
              </a:rPr>
              <a:t>7</a:t>
            </a:r>
            <a:endParaRPr lang="en-US" sz="2600" dirty="0"/>
          </a:p>
        </p:txBody>
      </p:sp>
      <p:sp>
        <p:nvSpPr>
          <p:cNvPr id="3" name="Text 1"/>
          <p:cNvSpPr txBox="1"/>
          <p:nvPr/>
        </p:nvSpPr>
        <p:spPr>
          <a:xfrm>
            <a:off x="1280160" y="502920"/>
            <a:ext cx="9784080" cy="640080"/>
          </a:xfrm>
          <a:prstGeom prst="rect">
            <a:avLst/>
          </a:prstGeom>
          <a:noFill/>
          <a:ln/>
        </p:spPr>
        <p:txBody>
          <a:bodyPr wrap="square" lIns="0" tIns="0" rIns="0" bIns="0" rtlCol="0" anchor="ctr"/>
          <a:lstStyle/>
          <a:p>
            <a:pPr indent="0" marL="0">
              <a:buNone/>
            </a:pPr>
            <a:r>
              <a:rPr lang="en-US" sz="2400" b="1" dirty="0">
                <a:solidFill>
                  <a:srgbClr val="F4F3F0"/>
                </a:solidFill>
                <a:latin typeface="Cambria" pitchFamily="34" charset="0"/>
                <a:ea typeface="Cambria" pitchFamily="34" charset="-122"/>
                <a:cs typeface="Cambria" pitchFamily="34" charset="-120"/>
              </a:rPr>
              <a:t>Your first real workflow in Cowork (2/2)</a:t>
            </a:r>
            <a:endParaRPr lang="en-US" sz="2400" dirty="0"/>
          </a:p>
        </p:txBody>
      </p:sp>
      <p:sp>
        <p:nvSpPr>
          <p:cNvPr id="4" name="Text 2"/>
          <p:cNvSpPr txBox="1"/>
          <p:nvPr/>
        </p:nvSpPr>
        <p:spPr>
          <a:xfrm>
            <a:off x="548640" y="141732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5つのハンズオンデモ(週次ステータスブリーフを構築)</a:t>
            </a:r>
            <a:endParaRPr lang="en-US" sz="1300" dirty="0"/>
          </a:p>
        </p:txBody>
      </p:sp>
      <p:sp>
        <p:nvSpPr>
          <p:cNvPr id="5" name="Text 3"/>
          <p:cNvSpPr txBox="1"/>
          <p:nvPr/>
        </p:nvSpPr>
        <p:spPr>
          <a:xfrm>
            <a:off x="548640" y="1783080"/>
            <a:ext cx="329184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Demo1: 練習ファイル作成(10分)</a:t>
            </a:r>
            <a:endParaRPr lang="en-US" sz="1050" dirty="0"/>
          </a:p>
        </p:txBody>
      </p:sp>
      <p:sp>
        <p:nvSpPr>
          <p:cNvPr id="6" name="Text 4"/>
          <p:cNvSpPr txBox="1"/>
          <p:nvPr/>
        </p:nvSpPr>
        <p:spPr>
          <a:xfrm>
            <a:off x="3931920" y="1783080"/>
            <a:ext cx="7223760" cy="50292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議事録・タスクリスト等のダミーデータを生成</a:t>
            </a:r>
            <a:endParaRPr lang="en-US" sz="1000" dirty="0"/>
          </a:p>
        </p:txBody>
      </p:sp>
      <p:sp>
        <p:nvSpPr>
          <p:cNvPr id="7" name="Text 5"/>
          <p:cNvSpPr txBox="1"/>
          <p:nvPr/>
        </p:nvSpPr>
        <p:spPr>
          <a:xfrm>
            <a:off x="548640" y="2350008"/>
            <a:ext cx="329184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Demo2: 情報収集(15分)</a:t>
            </a:r>
            <a:endParaRPr lang="en-US" sz="1050" dirty="0"/>
          </a:p>
        </p:txBody>
      </p:sp>
      <p:sp>
        <p:nvSpPr>
          <p:cNvPr id="8" name="Text 6"/>
          <p:cNvSpPr txBox="1"/>
          <p:nvPr/>
        </p:nvSpPr>
        <p:spPr>
          <a:xfrm>
            <a:off x="3931920" y="2350008"/>
            <a:ext cx="7223760" cy="50292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フォルダ内全ファイル+カレンダーを読み込み、各行に出典タグを付与。矛盾を検知しユーザーに確認を促す例も</a:t>
            </a:r>
            <a:endParaRPr lang="en-US" sz="1000" dirty="0"/>
          </a:p>
        </p:txBody>
      </p:sp>
      <p:sp>
        <p:nvSpPr>
          <p:cNvPr id="9" name="Text 7"/>
          <p:cNvSpPr txBox="1"/>
          <p:nvPr/>
        </p:nvSpPr>
        <p:spPr>
          <a:xfrm>
            <a:off x="548640" y="2916936"/>
            <a:ext cx="329184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Demo3: Skill作成(15分)</a:t>
            </a:r>
            <a:endParaRPr lang="en-US" sz="1050" dirty="0"/>
          </a:p>
        </p:txBody>
      </p:sp>
      <p:sp>
        <p:nvSpPr>
          <p:cNvPr id="10" name="Text 8"/>
          <p:cNvSpPr txBox="1"/>
          <p:nvPr/>
        </p:nvSpPr>
        <p:spPr>
          <a:xfrm>
            <a:off x="3931920" y="2916936"/>
            <a:ext cx="7223760" cy="50292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「まず書かず、後から振り返る」哲学 — 良い結果を出してから「今やったことをSkillにパッケージ化して」と依頼</a:t>
            </a:r>
            <a:endParaRPr lang="en-US" sz="1000" dirty="0"/>
          </a:p>
        </p:txBody>
      </p:sp>
      <p:sp>
        <p:nvSpPr>
          <p:cNvPr id="11" name="Text 9"/>
          <p:cNvSpPr txBox="1"/>
          <p:nvPr/>
        </p:nvSpPr>
        <p:spPr>
          <a:xfrm>
            <a:off x="548640" y="3483864"/>
            <a:ext cx="329184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Demo4: Project構築(20分)</a:t>
            </a:r>
            <a:endParaRPr lang="en-US" sz="1050" dirty="0"/>
          </a:p>
        </p:txBody>
      </p:sp>
      <p:sp>
        <p:nvSpPr>
          <p:cNvPr id="12" name="Text 10"/>
          <p:cNvSpPr txBox="1"/>
          <p:nvPr/>
        </p:nvSpPr>
        <p:spPr>
          <a:xfrm>
            <a:off x="3931920" y="3483864"/>
            <a:ext cx="7223760" cy="50292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ファイル+指示+メモリを統合したワークスペース。閲覧/コメント/編集の3段階アクセス設定</a:t>
            </a:r>
            <a:endParaRPr lang="en-US" sz="1000" dirty="0"/>
          </a:p>
        </p:txBody>
      </p:sp>
      <p:sp>
        <p:nvSpPr>
          <p:cNvPr id="13" name="Text 11"/>
          <p:cNvSpPr txBox="1"/>
          <p:nvPr/>
        </p:nvSpPr>
        <p:spPr>
          <a:xfrm>
            <a:off x="548640" y="4050792"/>
            <a:ext cx="3291840" cy="502920"/>
          </a:xfrm>
          <a:prstGeom prst="rect">
            <a:avLst/>
          </a:prstGeom>
          <a:noFill/>
          <a:ln/>
        </p:spPr>
        <p:txBody>
          <a:bodyPr wrap="square" lIns="0" tIns="0" rIns="0" bIns="0" rtlCol="0" anchor="ctr"/>
          <a:lstStyle/>
          <a:p>
            <a:pPr indent="0" marL="0">
              <a:buNone/>
            </a:pPr>
            <a:r>
              <a:rPr lang="en-US" sz="1050" b="1" dirty="0">
                <a:solidFill>
                  <a:srgbClr val="F4F3F0"/>
                </a:solidFill>
                <a:latin typeface="Calibri" pitchFamily="34" charset="0"/>
                <a:ea typeface="Calibri" pitchFamily="34" charset="-122"/>
                <a:cs typeface="Calibri" pitchFamily="34" charset="-120"/>
              </a:rPr>
              <a:t>Demo5: 定期実行タスク(10分)</a:t>
            </a:r>
            <a:endParaRPr lang="en-US" sz="1050" dirty="0"/>
          </a:p>
        </p:txBody>
      </p:sp>
      <p:sp>
        <p:nvSpPr>
          <p:cNvPr id="14" name="Text 12"/>
          <p:cNvSpPr txBox="1"/>
          <p:nvPr/>
        </p:nvSpPr>
        <p:spPr>
          <a:xfrm>
            <a:off x="3931920" y="4050792"/>
            <a:ext cx="7223760" cy="502920"/>
          </a:xfrm>
          <a:prstGeom prst="rect">
            <a:avLst/>
          </a:prstGeom>
          <a:noFill/>
          <a:ln/>
        </p:spPr>
        <p:txBody>
          <a:bodyPr wrap="square" lIns="0" tIns="0" rIns="0" bIns="0" rtlCol="0" anchor="ctr"/>
          <a:lstStyle/>
          <a:p>
            <a:pPr indent="0" marL="0">
              <a:buNone/>
            </a:pPr>
            <a:r>
              <a:rPr lang="en-US" sz="1000" dirty="0">
                <a:solidFill>
                  <a:srgbClr val="C9C5BD"/>
                </a:solidFill>
                <a:latin typeface="Calibri" pitchFamily="34" charset="0"/>
                <a:ea typeface="Calibri" pitchFamily="34" charset="-122"/>
                <a:cs typeface="Calibri" pitchFamily="34" charset="-120"/>
              </a:rPr>
              <a:t>毎週月曜8時に自動実行。ローカルPC上で動作するためPCがスリープ/アプリ未起動だと失敗する</a:t>
            </a:r>
            <a:endParaRPr lang="en-US" sz="1000" dirty="0"/>
          </a:p>
        </p:txBody>
      </p:sp>
      <p:sp>
        <p:nvSpPr>
          <p:cNvPr id="15" name="Text 13"/>
          <p:cNvSpPr txBox="1"/>
          <p:nvPr/>
        </p:nvSpPr>
        <p:spPr>
          <a:xfrm>
            <a:off x="548640" y="4709160"/>
            <a:ext cx="10607040" cy="320040"/>
          </a:xfrm>
          <a:prstGeom prst="rect">
            <a:avLst/>
          </a:prstGeom>
          <a:noFill/>
          <a:ln/>
        </p:spPr>
        <p:txBody>
          <a:bodyPr wrap="square" lIns="0" tIns="0" rIns="0" bIns="0" rtlCol="0" anchor="ctr"/>
          <a:lstStyle/>
          <a:p>
            <a:pPr indent="0" marL="0">
              <a:buNone/>
            </a:pPr>
            <a:r>
              <a:rPr lang="en-US" sz="1300" b="1" dirty="0">
                <a:solidFill>
                  <a:srgbClr val="CC785C"/>
                </a:solidFill>
                <a:latin typeface="Calibri" pitchFamily="34" charset="0"/>
                <a:ea typeface="Calibri" pitchFamily="34" charset="-122"/>
                <a:cs typeface="Calibri" pitchFamily="34" charset="-120"/>
              </a:rPr>
              <a:t>習慣化の「Uカーブ」と承認設定</a:t>
            </a:r>
            <a:endParaRPr lang="en-US" sz="1300" dirty="0"/>
          </a:p>
        </p:txBody>
      </p:sp>
      <p:sp>
        <p:nvSpPr>
          <p:cNvPr id="16" name="Text 14"/>
          <p:cNvSpPr txBox="1"/>
          <p:nvPr/>
        </p:nvSpPr>
        <p:spPr>
          <a:xfrm>
            <a:off x="548640" y="5029200"/>
            <a:ext cx="10607040" cy="731520"/>
          </a:xfrm>
          <a:prstGeom prst="rect">
            <a:avLst/>
          </a:prstGeom>
          <a:noFill/>
          <a:ln/>
        </p:spPr>
        <p:txBody>
          <a:bodyPr wrap="square" lIns="0" tIns="0" rIns="0" bIns="0" rtlCol="0" anchor="ctr"/>
          <a:lstStyle/>
          <a:p>
            <a:pPr indent="0" marL="0">
              <a:buNone/>
            </a:pPr>
            <a:r>
              <a:rPr lang="en-US" sz="1050" dirty="0">
                <a:solidFill>
                  <a:srgbClr val="C9C5BD"/>
                </a:solidFill>
                <a:latin typeface="Calibri" pitchFamily="34" charset="0"/>
                <a:ea typeface="Calibri" pitchFamily="34" charset="-122"/>
                <a:cs typeface="Calibri" pitchFamily="34" charset="-120"/>
              </a:rPr>
              <a:t>最初の2〜3週間は逐一確認するため手動より遅くなるが、損益分岐点を超えると急加速する。Manually Approve(学習期)で監視→信頼できるパターン確立後にAutomatically Approveへ切替→組織へ共有、という順序を推奨</a:t>
            </a:r>
            <a:endParaRPr lang="en-US" sz="1050" dirty="0"/>
          </a:p>
        </p:txBody>
      </p:sp>
      <p:sp>
        <p:nvSpPr>
          <p:cNvPr id="17" name="Text 15"/>
          <p:cNvSpPr txBox="1"/>
          <p:nvPr/>
        </p:nvSpPr>
        <p:spPr>
          <a:xfrm>
            <a:off x="548640" y="5806440"/>
            <a:ext cx="10607040" cy="457200"/>
          </a:xfrm>
          <a:prstGeom prst="rect">
            <a:avLst/>
          </a:prstGeom>
          <a:noFill/>
          <a:ln/>
        </p:spPr>
        <p:txBody>
          <a:bodyPr wrap="square" lIns="0" tIns="0" rIns="0" bIns="0" rtlCol="0" anchor="ctr"/>
          <a:lstStyle/>
          <a:p>
            <a:pPr indent="0" marL="0">
              <a:buNone/>
            </a:pPr>
            <a:r>
              <a:rPr lang="en-US" sz="1000" i="1" dirty="0">
                <a:solidFill>
                  <a:srgbClr val="CC785C"/>
                </a:solidFill>
                <a:latin typeface="Calibri" pitchFamily="34" charset="0"/>
                <a:ea typeface="Calibri" pitchFamily="34" charset="-122"/>
                <a:cs typeface="Calibri" pitchFamily="34" charset="-120"/>
              </a:rPr>
              <a:t>安全設計(引用): 「付与されたフォルダにしか触れない」— アクセス範囲は指定フォルダに限定され、組織レベルでも機能ON/OFFを制御可能</a:t>
            </a:r>
            <a:endParaRPr lang="en-US" sz="1000" dirty="0"/>
          </a:p>
        </p:txBody>
      </p:sp>
      <p:sp>
        <p:nvSpPr>
          <p:cNvPr id="18" name="Text 16"/>
          <p:cNvSpPr txBox="1"/>
          <p:nvPr/>
        </p:nvSpPr>
        <p:spPr>
          <a:xfrm>
            <a:off x="548640" y="6400800"/>
            <a:ext cx="10424160" cy="320040"/>
          </a:xfrm>
          <a:prstGeom prst="rect">
            <a:avLst/>
          </a:prstGeom>
          <a:noFill/>
          <a:ln/>
        </p:spPr>
        <p:txBody>
          <a:bodyPr wrap="square" lIns="0" tIns="0" rIns="0" bIns="0" rtlCol="0" anchor="ctr"/>
          <a:lstStyle/>
          <a:p>
            <a:pPr indent="0" marL="0">
              <a:buNone/>
            </a:pPr>
            <a:r>
              <a:rPr lang="en-US" sz="950" i="1" dirty="0">
                <a:solidFill>
                  <a:srgbClr val="C9C5BD"/>
                </a:solidFill>
                <a:latin typeface="Calibri" pitchFamily="34" charset="0"/>
                <a:ea typeface="Calibri" pitchFamily="34" charset="-122"/>
                <a:cs typeface="Calibri" pitchFamily="34" charset="-120"/>
              </a:rPr>
              <a:t>出典: Anthropic「Claude Camp」Your first real workflow in Coworkセッションまとめ</a:t>
            </a:r>
            <a:endParaRPr lang="en-US" sz="950" dirty="0"/>
          </a:p>
        </p:txBody>
      </p:sp>
      <p:sp>
        <p:nvSpPr>
          <p:cNvPr id="19" name="Text 17"/>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607040" cy="640080"/>
          </a:xfrm>
          <a:prstGeom prst="rect">
            <a:avLst/>
          </a:prstGeom>
          <a:noFill/>
          <a:ln/>
        </p:spPr>
        <p:txBody>
          <a:bodyPr wrap="square" lIns="0" tIns="0" rIns="0" bIns="0" rtlCol="0" anchor="ctr"/>
          <a:lstStyle/>
          <a:p>
            <a:pPr indent="0" marL="0">
              <a:buNone/>
            </a:pPr>
            <a:r>
              <a:rPr lang="en-US" sz="3000" b="1" dirty="0">
                <a:solidFill>
                  <a:srgbClr val="1F1E1D"/>
                </a:solidFill>
                <a:latin typeface="Cambria" pitchFamily="34" charset="0"/>
                <a:ea typeface="Cambria" pitchFamily="34" charset="-122"/>
                <a:cs typeface="Cambria" pitchFamily="34" charset="-120"/>
              </a:rPr>
              <a:t>用語集・まとめ</a:t>
            </a:r>
            <a:endParaRPr lang="en-US" sz="3000" dirty="0"/>
          </a:p>
        </p:txBody>
      </p:sp>
      <p:sp>
        <p:nvSpPr>
          <p:cNvPr id="3" name="Text 1"/>
          <p:cNvSpPr txBox="1"/>
          <p:nvPr/>
        </p:nvSpPr>
        <p:spPr>
          <a:xfrm>
            <a:off x="548640" y="1280160"/>
            <a:ext cx="3108960" cy="59436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エージェントループ</a:t>
            </a:r>
            <a:endParaRPr lang="en-US" sz="1200" dirty="0"/>
          </a:p>
        </p:txBody>
      </p:sp>
      <p:sp>
        <p:nvSpPr>
          <p:cNvPr id="4" name="Text 2"/>
          <p:cNvSpPr txBox="1"/>
          <p:nvPr/>
        </p:nvSpPr>
        <p:spPr>
          <a:xfrm>
            <a:off x="3749040" y="1280160"/>
            <a:ext cx="74066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モデルがゴール達成のためツール呼び出しを繰り返す仕組み</a:t>
            </a:r>
            <a:endParaRPr lang="en-US" sz="1100" dirty="0"/>
          </a:p>
        </p:txBody>
      </p:sp>
      <p:sp>
        <p:nvSpPr>
          <p:cNvPr id="5" name="Text 3"/>
          <p:cNvSpPr txBox="1"/>
          <p:nvPr/>
        </p:nvSpPr>
        <p:spPr>
          <a:xfrm>
            <a:off x="548640" y="1993392"/>
            <a:ext cx="3108960" cy="59436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CLAUDE.md</a:t>
            </a:r>
            <a:endParaRPr lang="en-US" sz="1200" dirty="0"/>
          </a:p>
        </p:txBody>
      </p:sp>
      <p:sp>
        <p:nvSpPr>
          <p:cNvPr id="6" name="Text 4"/>
          <p:cNvSpPr txBox="1"/>
          <p:nvPr/>
        </p:nvSpPr>
        <p:spPr>
          <a:xfrm>
            <a:off x="3749040" y="1993392"/>
            <a:ext cx="74066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プロジェクトの規約・文脈を記録する永続メモリファイル(/initで自動生成)</a:t>
            </a:r>
            <a:endParaRPr lang="en-US" sz="1100" dirty="0"/>
          </a:p>
        </p:txBody>
      </p:sp>
      <p:sp>
        <p:nvSpPr>
          <p:cNvPr id="7" name="Text 5"/>
          <p:cNvSpPr txBox="1"/>
          <p:nvPr/>
        </p:nvSpPr>
        <p:spPr>
          <a:xfrm>
            <a:off x="548640" y="2706624"/>
            <a:ext cx="3108960" cy="59436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Skill / MCP / Plugin</a:t>
            </a:r>
            <a:endParaRPr lang="en-US" sz="1200" dirty="0"/>
          </a:p>
        </p:txBody>
      </p:sp>
      <p:sp>
        <p:nvSpPr>
          <p:cNvPr id="8" name="Text 6"/>
          <p:cNvSpPr txBox="1"/>
          <p:nvPr/>
        </p:nvSpPr>
        <p:spPr>
          <a:xfrm>
            <a:off x="3749040" y="2706624"/>
            <a:ext cx="74066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Skill=再利用可能な作業手順、MCP=外部システム接続の標準規格、Plugin=これらの配布バンドル</a:t>
            </a:r>
            <a:endParaRPr lang="en-US" sz="1100" dirty="0"/>
          </a:p>
        </p:txBody>
      </p:sp>
      <p:sp>
        <p:nvSpPr>
          <p:cNvPr id="9" name="Text 7"/>
          <p:cNvSpPr txBox="1"/>
          <p:nvPr/>
        </p:nvSpPr>
        <p:spPr>
          <a:xfrm>
            <a:off x="548640" y="3419856"/>
            <a:ext cx="3108960" cy="59436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4Dフレームワーク</a:t>
            </a:r>
            <a:endParaRPr lang="en-US" sz="1200" dirty="0"/>
          </a:p>
        </p:txBody>
      </p:sp>
      <p:sp>
        <p:nvSpPr>
          <p:cNvPr id="10" name="Text 8"/>
          <p:cNvSpPr txBox="1"/>
          <p:nvPr/>
        </p:nvSpPr>
        <p:spPr>
          <a:xfrm>
            <a:off x="3749040" y="3419856"/>
            <a:ext cx="74066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Description・Discernment・Delegation・Diligenceの2重ループ</a:t>
            </a:r>
            <a:endParaRPr lang="en-US" sz="1100" dirty="0"/>
          </a:p>
        </p:txBody>
      </p:sp>
      <p:sp>
        <p:nvSpPr>
          <p:cNvPr id="11" name="Text 9"/>
          <p:cNvSpPr txBox="1"/>
          <p:nvPr/>
        </p:nvSpPr>
        <p:spPr>
          <a:xfrm>
            <a:off x="548640" y="4133088"/>
            <a:ext cx="3108960" cy="59436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Cost avoidance / Value creation</a:t>
            </a:r>
            <a:endParaRPr lang="en-US" sz="1200" dirty="0"/>
          </a:p>
        </p:txBody>
      </p:sp>
      <p:sp>
        <p:nvSpPr>
          <p:cNvPr id="12" name="Text 10"/>
          <p:cNvSpPr txBox="1"/>
          <p:nvPr/>
        </p:nvSpPr>
        <p:spPr>
          <a:xfrm>
            <a:off x="3749040" y="4133088"/>
            <a:ext cx="74066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既存作業を低コスト化 / 新たな収益・成果を生み出す、という価値分類の2軸</a:t>
            </a:r>
            <a:endParaRPr lang="en-US" sz="1100" dirty="0"/>
          </a:p>
        </p:txBody>
      </p:sp>
      <p:sp>
        <p:nvSpPr>
          <p:cNvPr id="13" name="Text 11"/>
          <p:cNvSpPr txBox="1"/>
          <p:nvPr/>
        </p:nvSpPr>
        <p:spPr>
          <a:xfrm>
            <a:off x="548640" y="4846320"/>
            <a:ext cx="3108960" cy="594360"/>
          </a:xfrm>
          <a:prstGeom prst="rect">
            <a:avLst/>
          </a:prstGeom>
          <a:noFill/>
          <a:ln/>
        </p:spPr>
        <p:txBody>
          <a:bodyPr wrap="square" lIns="0" tIns="0" rIns="0" bIns="0" rtlCol="0" anchor="t"/>
          <a:lstStyle/>
          <a:p>
            <a:pPr indent="0" marL="0">
              <a:buNone/>
            </a:pPr>
            <a:r>
              <a:rPr lang="en-US" sz="1200" b="1" dirty="0">
                <a:solidFill>
                  <a:srgbClr val="CC785C"/>
                </a:solidFill>
                <a:latin typeface="Calibri" pitchFamily="34" charset="0"/>
                <a:ea typeface="Calibri" pitchFamily="34" charset="-122"/>
                <a:cs typeface="Calibri" pitchFamily="34" charset="-120"/>
              </a:rPr>
              <a:t>Cowork 4段階ループ</a:t>
            </a:r>
            <a:endParaRPr lang="en-US" sz="1200" dirty="0"/>
          </a:p>
        </p:txBody>
      </p:sp>
      <p:sp>
        <p:nvSpPr>
          <p:cNvPr id="14" name="Text 12"/>
          <p:cNvSpPr txBox="1"/>
          <p:nvPr/>
        </p:nvSpPr>
        <p:spPr>
          <a:xfrm>
            <a:off x="3749040" y="4846320"/>
            <a:ext cx="7406640" cy="594360"/>
          </a:xfrm>
          <a:prstGeom prst="rect">
            <a:avLst/>
          </a:prstGeom>
          <a:noFill/>
          <a:ln/>
        </p:spPr>
        <p:txBody>
          <a:bodyPr wrap="square" lIns="0" tIns="0" rIns="0" bIns="0" rtlCol="0" anchor="ctr"/>
          <a:lstStyle/>
          <a:p>
            <a:pPr indent="0" marL="0">
              <a:buNone/>
            </a:pPr>
            <a:r>
              <a:rPr lang="en-US" sz="1100" dirty="0">
                <a:solidFill>
                  <a:srgbClr val="6B6862"/>
                </a:solidFill>
                <a:latin typeface="Calibri" pitchFamily="34" charset="0"/>
                <a:ea typeface="Calibri" pitchFamily="34" charset="-122"/>
                <a:cs typeface="Calibri" pitchFamily="34" charset="-120"/>
              </a:rPr>
              <a:t>Understand→Plan→Execute→Verify &amp; Deliver</a:t>
            </a:r>
            <a:endParaRPr lang="en-US" sz="1100" dirty="0"/>
          </a:p>
        </p:txBody>
      </p:sp>
      <p:sp>
        <p:nvSpPr>
          <p:cNvPr id="15" name="Text 13"/>
          <p:cNvSpPr txBox="1"/>
          <p:nvPr/>
        </p:nvSpPr>
        <p:spPr>
          <a:xfrm>
            <a:off x="548640" y="5532120"/>
            <a:ext cx="10607040" cy="320040"/>
          </a:xfrm>
          <a:prstGeom prst="rect">
            <a:avLst/>
          </a:prstGeom>
          <a:noFill/>
          <a:ln/>
        </p:spPr>
        <p:txBody>
          <a:bodyPr wrap="square" lIns="0" tIns="0" rIns="0" bIns="0" rtlCol="0" anchor="ctr"/>
          <a:lstStyle/>
          <a:p>
            <a:pPr indent="0" marL="0">
              <a:buNone/>
            </a:pPr>
            <a:r>
              <a:rPr lang="en-US" sz="1250" b="1" dirty="0">
                <a:solidFill>
                  <a:srgbClr val="1F1E1D"/>
                </a:solidFill>
                <a:latin typeface="Calibri" pitchFamily="34" charset="0"/>
                <a:ea typeface="Calibri" pitchFamily="34" charset="-122"/>
                <a:cs typeface="Calibri" pitchFamily="34" charset="-120"/>
              </a:rPr>
              <a:t>このノートの位置づけ</a:t>
            </a:r>
            <a:endParaRPr lang="en-US" sz="1250" dirty="0"/>
          </a:p>
        </p:txBody>
      </p:sp>
      <p:sp>
        <p:nvSpPr>
          <p:cNvPr id="16" name="Text 14"/>
          <p:cNvSpPr txBox="1"/>
          <p:nvPr/>
        </p:nvSpPr>
        <p:spPr>
          <a:xfrm>
            <a:off x="548640" y="5852160"/>
            <a:ext cx="10607040" cy="640080"/>
          </a:xfrm>
          <a:prstGeom prst="rect">
            <a:avLst/>
          </a:prstGeom>
          <a:noFill/>
          <a:ln/>
        </p:spPr>
        <p:txBody>
          <a:bodyPr wrap="square" lIns="0" tIns="0" rIns="0" bIns="0" rtlCol="0" anchor="ctr"/>
          <a:lstStyle/>
          <a:p>
            <a:pPr indent="0" marL="0">
              <a:buNone/>
            </a:pPr>
            <a:r>
              <a:rPr lang="en-US" sz="1100" i="1" dirty="0">
                <a:solidFill>
                  <a:srgbClr val="6B6862"/>
                </a:solidFill>
                <a:latin typeface="Calibri" pitchFamily="34" charset="0"/>
                <a:ea typeface="Calibri" pitchFamily="34" charset="-122"/>
                <a:cs typeface="Calibri" pitchFamily="34" charset="-120"/>
              </a:rPr>
              <a:t>Claude CCA-F試験対策やGitHub攻略法とは別の「Anthropic公式トレーニング資料(Academy・Camp)」の学習ノートとして、今後もセッションや資料が増えるたびに改版していく想定</a:t>
            </a:r>
            <a:endParaRPr lang="en-US" sz="1100" dirty="0"/>
          </a:p>
        </p:txBody>
      </p:sp>
      <p:sp>
        <p:nvSpPr>
          <p:cNvPr id="17" name="Text 15"/>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6B6862"/>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2026-09-28T15:27:03Z</dcterms:created>
  <dcterms:modified xsi:type="dcterms:W3CDTF">2026-09-28T15:27:03Z</dcterms:modified>
</cp:coreProperties>
</file>