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669280" cy="5669280"/>
          </a:xfrm>
          <a:prstGeom prst="ellipse">
            <a:avLst/>
          </a:prstGeom>
          <a:solidFill>
            <a:srgbClr val="CC785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572000"/>
            <a:ext cx="4754880" cy="4754880"/>
          </a:xfrm>
          <a:prstGeom prst="ellipse">
            <a:avLst/>
          </a:prstGeom>
          <a:solidFill>
            <a:srgbClr val="6A8EAE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1031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4F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学習ノート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54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Academy「Claude Code 101」・公式Quickstart・Claude Camp講演5本のまとめ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Anthropic公式トレーニング資料の学習ノート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目次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438912" cy="438912"/>
          </a:xfrm>
          <a:prstGeom prst="ellipse">
            <a:avLst/>
          </a:prstGeom>
          <a:solidFill>
            <a:srgbClr val="CC785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116128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Academy: Claude Code 101 コース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1463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公式自習コースの全体構成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947672"/>
            <a:ext cx="438912" cy="438912"/>
          </a:xfrm>
          <a:prstGeom prst="ellipse">
            <a:avLst/>
          </a:prstGeom>
          <a:solidFill>
            <a:srgbClr val="CC78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476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9202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公式Quickstart &amp; CLAUDE.md/自動メモリ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22219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インストール〜基本コマンド〜プロジェクトの記憶の仕組み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06624"/>
            <a:ext cx="438912" cy="438912"/>
          </a:xfrm>
          <a:prstGeom prst="ellipse">
            <a:avLst/>
          </a:prstGeom>
          <a:solidFill>
            <a:srgbClr val="CC78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7066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98448" y="26791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Camp: Getting Started with Claude Code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98448" y="298094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エージェントの仕組み・ワークフロー実践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465576"/>
            <a:ext cx="438912" cy="438912"/>
          </a:xfrm>
          <a:prstGeom prst="ellipse">
            <a:avLst/>
          </a:prstGeom>
          <a:solidFill>
            <a:srgbClr val="CC785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4655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98448" y="343814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Camp: Moving to the Frontier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98448" y="373989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AI進歩トレンドとビジネス戦略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24528"/>
            <a:ext cx="438912" cy="438912"/>
          </a:xfrm>
          <a:prstGeom prst="ellipse">
            <a:avLst/>
          </a:prstGeom>
          <a:solidFill>
            <a:srgbClr val="CC78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2245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98448" y="419709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Camp: Proving value and controlling cost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98448" y="449884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コスト管理と価値実現の実例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983480"/>
            <a:ext cx="438912" cy="438912"/>
          </a:xfrm>
          <a:prstGeom prst="ellipse">
            <a:avLst/>
          </a:prstGeom>
          <a:solidFill>
            <a:srgbClr val="CC785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983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298448" y="495604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Camp: AI Fluency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98448" y="525780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4Dフレームワークと組織への浸透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742432"/>
            <a:ext cx="438912" cy="438912"/>
          </a:xfrm>
          <a:prstGeom prst="ellipse">
            <a:avLst/>
          </a:prstGeom>
          <a:solidFill>
            <a:srgbClr val="CC785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5742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298448" y="571500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Camp: Your first real workflow in Cowork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98448" y="601675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Coworkでの実践ワークフロー構築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Academy: Claude Code 101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ターミナル常駐のエージェント型コーディングツールを基礎から学ぶ公式コース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5146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19385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68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レッスン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828800"/>
            <a:ext cx="25146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246120" y="19385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1.5h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468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所要時間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0" y="1828800"/>
            <a:ext cx="25146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943600" y="19385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468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クイズ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641080" y="1828800"/>
            <a:ext cx="25146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41080" y="19385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641080" y="2468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修了バッジ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200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学習内容(このコースを終えると)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56616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AIコーディングエージェントとチャットベースツールの違いを説明できる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エージェントループ・コンテキストウィンドウ・ツール・権限の連携を理解する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手動モード・自動承認・Plan Modeを使い分けて効果的にプロンプトを書く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→ Plan → Code → Commit ワークフローに従う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CLAUDE.md・サブエージェント・MCP・フックでClaude Codeをカスタマイズする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Claude Academy「Claude Code 101」コースページ(academy.claude.com/ja)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62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コース構成(4セクション・12レッスン)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0607040" cy="1097280"/>
          </a:xfrm>
          <a:prstGeom prst="roundRect">
            <a:avLst>
              <a:gd name="adj" fmla="val 8333"/>
            </a:avLst>
          </a:prstGeom>
          <a:solidFill>
            <a:srgbClr val="3331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Codeとは？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2レッスン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69164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エージェントループ、ツールと権限の統制を第一原理から理解する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0607040" cy="1097280"/>
          </a:xfrm>
          <a:prstGeom prst="roundRect">
            <a:avLst>
              <a:gd name="adj" fmla="val 8333"/>
            </a:avLst>
          </a:prstGeom>
          <a:solidFill>
            <a:srgbClr val="3331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926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最初のプロンプト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291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2レッスン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92608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複数環境へのインストール、承認モード・自動承認・Plan Modeの使い分け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0607040" cy="1097280"/>
          </a:xfrm>
          <a:prstGeom prst="roundRect">
            <a:avLst>
              <a:gd name="adj" fmla="val 8333"/>
            </a:avLst>
          </a:prstGeom>
          <a:solidFill>
            <a:srgbClr val="3331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日々のワークフロー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26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3レッスン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41605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Explore→Plan→Code→Commit、コンテキスト管理、コードレビュー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0607040" cy="1097280"/>
          </a:xfrm>
          <a:prstGeom prst="roundRect">
            <a:avLst>
              <a:gd name="adj" fmla="val 8333"/>
            </a:avLst>
          </a:prstGeom>
          <a:solidFill>
            <a:srgbClr val="3331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Codeをカスタマイズする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760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5レッスン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539496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CLAUDE.md、サブエージェント、スキル、MCP、フック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公式Quickstart: インストール〜ログイン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インストール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macOS/Linux/WSL: curl -fsSL https://claude.ai/install.sh | bash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PowerShell: irm https://claude.ai/install.ps1 | iex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確認: claude --version でバージョン番号が表示されればOK。Native Installは自動でバックグラウンド更新される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ログイン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290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と入力するとブラウザで認証を求められる(初回)。再ログイン・切替は /login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対応アカウント: Claude Pro/Max/Team/Enterprise(推奨)、Claude Console(初回ログインで専用ワークスペース自動作成)、Bedrock/Vertex/Foundry等のクラウド経由、組織のセルフホストゲートウェイ経由(SSO)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46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最初のセッション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12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/path/to/your/project &amp;&amp; claude で起動。「このプロジェクトは何をするものか?」のような質問から始めると、Claude Codeが必要なファイルを自動で読み込んで答えてくれる(手動でコンテキストを渡す必要はない)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Claude Code公式ドキュメント「Quickstart」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62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公式Quickstart: 基本コマンド一覧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シェルコマンド(ターミナルから起動・再開)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F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178308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対話モードを開始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671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F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"task"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16712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初期プロンプト付きで対話モードを開始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5511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F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"query"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551176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一回限りのクエリを実行して終了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9352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F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935224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現在のディレクトリの直近の会話を再開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31927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F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-r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31927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過去の会話を選んで再開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セッションコマンド(Claude Code起動中に使う)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F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420624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会話履歴をクリア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902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F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459028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利用可能なコマンドを表示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97433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F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 (or Ctrl+D×2)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4974336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Codeを終了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Claude Code公式ドキュメント「Quickstart」(完全な一覧はCLIリファレンス/コマンドリファレンス参照)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公式Quickstart: 典型的な8ステップ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0607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コードベース理解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64592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does this project do?" 等、質問から開始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10607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5603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初めてのコード変更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56032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"add a hello world function" — 承認を求められたらYesで許可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383280"/>
            <a:ext cx="10607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4747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Gitとの対話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47472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"commit my changes with a descriptive message" のように会話的に操作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0607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3891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バグ修正・機能追加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438912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自然言語で記述するだけで、該当箇所の特定→実装→テスト実行まで自動で行う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10607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3035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その他ワークフロー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530352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リファクタリング・テスト作成・ドキュメント更新・コードレビューも同様に依頼可能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1264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初心者向けのコツ: 具体的にリクエストする / 手順を分けて指示する / まずClaudeに探索させる / ショートカットで時間短縮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Claude Code公式ドキュメント「Quickstart」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62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公式ドキュメント: CLAUDE.md vs 自動メモリ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セッションは毎回まっさらなコンテキストから始まる。知識を引き継ぐ2つの仕組み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3331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ファイル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2316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書く人: あなた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内容: 指示・ルール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範囲: プロジェクト/個人/組織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読込: 毎セッション全体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用途: コーディング規約・ワークフロー・アーキテクチャ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35040" y="182880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3331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Memory(自動メモリ)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42316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書く人: Claude自身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内容: 学習内容・パターン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範囲: リポジトリ単位(worktree間で共有)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読込: 毎セッション(MEMORY.mdの先頭200行 or 25KBまで)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用途: あなたの好み・修正指示・コードから読み取れないプロジェクト文脈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897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いずれもコンテキストとして扱われ、強制設定ではない。特定の行動を必ずブロックしたい場合はPreToolUseフックを使う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Claude Code公式ドキュメント「How Claude remembers your project」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CLAUDE.mdの配置場所と書き方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配置場所(読込順: 広い範囲→狭い範囲)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policy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17830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/etc/claude-code/CLAUDE.md 等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1783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組織全体の規約(IT/DevOps管理)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134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instructions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3134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~/.claude/CLAUDE.md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231343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個人の好み(全プロジェクト共通)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437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instructions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8437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./CLAUDE.md または ./.claude/CLAUDE.md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8437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チーム共有のプロジェクト規約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741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instructions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33741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./CLAUDE.local.md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33741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個人用・.gitignore対象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233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効果的な書き方の原則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38912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サイズ: 1ファイル200行未満を目安に(長いほどコンテキストを圧迫し遵守率が下がる)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具体性: 「コードを綺麗に整形して」でなく「2スペースインデントを使う」のように検証可能な指示にする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一貫性: 矛盾する指示があるとClaudeはどちらかを恣意的に選んでしまう。定期的に/doctor prompt-auditで監査可能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@path構文でファイルをインポート可能(相対パス基準は参照元ファイル、最大4階層まで再帰)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Claude Code公式ドキュメント「How Claude remembers your project」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2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自動メモリ・rules・AGENTS.md・トラブル対処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Memoryの4種類のノート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役割・専門性・作業の好み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feedback: 修正指示・確認済みアプローチ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project: 進行中の作業・締切・決定事項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プロジェクト外の情報源(課題管理・ダッシュボード等)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保存先: ~/.claude/projects/&lt;project&gt;/memory/ (MEMORY.md=索引 + トピック別ファイル)。/memory で閲覧・編集・ON/OFF切替が可能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3716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.claude/rules/ とAGENTS.md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169164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rules/: トピック別にファイル分割。YAML frontmatterのpathsで特定ファイル種別にのみ適用可能(例: src/api/**/*.ts)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AGENTS.md: 他ツール用の指示ファイルをそのまま読める(CLAUDE.mdが無い場合のデフォルト)。/configのProject instructionsで挙動変更可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AGENTS.mdを@importすれば、ツール間で1つのファイルを共有できる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062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よくあるトラブルと対処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52628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指示が守られない→/contextで読込確認、指示をより具体的に、矛盾を探す / AGENTS.mdが読まれない→CLAUDE.mdが同経路上に無いか確認 / ファイルが大きすぎる→path-scoped rulesに分割 / /compact後に指示が消えた→プロジェクトルートのCLAUDE.mdは再読込されるが、ネストしたCLAUDE.mdやpath-scoped rulesは対象ファイルを開くまで再読込されない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Claude Code公式ドキュメント「How Claude remembers your project」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62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Started with Claude Code (1/3)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Camp最終回・Anthony &amp; Maya・89分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エージェントとは何か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2022〜23年 = テキスト入出力のチャットボットの時代。2024年〜 = 「エージェント」の時代、モデルがゴール達成のためツールをループで呼び出す。Claude Code自体は、2024年末のハッカソンでAnthropicの「Boris」氏が作ったプロジェクトが起源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260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使用時の4原則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461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人間の判断をループに残す(全面的に信頼しない)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事前に「成功」を定義する(曖昧な指示を避ける)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最初の出力は「下書き」として扱う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十分な指示を与える(Claudeは心を読めない)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2926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モデルの使い分け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3246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最速・最安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235440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単純作業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36301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6301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バランス型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36301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標準的な作業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40142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01421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主力モデル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401421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複雑な開発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852160" y="439826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439826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最高性能・高コスト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9235440" y="439826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新規構想・複雑な戦略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206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従来の開発プロセス(数日かかるコード理解・手動テスト作成)から、対話による理解の高速化・自動コード生成とテストループ・相互レビューへ加速される、という位置づけ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Anthropic「Claude Camp」Getting Started with Claude Codeセッションまとめ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Started with Claude Code (2/3)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CLAUDE.mdの階層構造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7F5F2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E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~/.claude/claude.md (個人設定)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E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/project/claude.md (プロジェクト全体)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E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/project/subdir/claude.md (機能別設定)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で自動生成されるため手動作成は不要。プロジェクトの言語・モジュール関係・規約を自動記録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権限モード(自由度の低い順)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783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Mode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1783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実行前に計画→承認。複雑・高リスクな機能向け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23134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1343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変更ごとに明示承認。学習段階・重要な変更向け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84378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406640" y="284378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自動実行(デフォルト)。通常業務・スケール向け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337413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337413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全自動・無承認。使い捨て環境限定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393192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重要な指摘(引用): 「全て自動承認するモードの方が、ユーザーが逐一承認するモードより実は安全」— 逐一承認するユーザーは“機械的な承認(rubber-stamp)”に陥り、危険な操作を見逃しがちという調査結果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212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プロンプトの具体性が効率を左右する(例: テスト修正)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❌曖昧: 「失敗しているテストを直して」→解釈の余地が大きく、テスト自体を書き換えられることも　✓具体的: 「/tests/session.test.jsのテストが失敗している。実行して実装コード(テストではない)を直し、全テストが通ったら報告して」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Anthropic「Claude Camp」Getting Started with Claude Codeセッションまとめ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62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Started with Claude Code (3/3)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コンテキスト管理 / チェックポイント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積み上げ順: システムプロンプト→ツール定義→CLAUDE.md等→会話履歴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対処法: 自動要約 / /compact(要約作成) / /clear(全リセット) / Escape(中断)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キャッシュ: 短時間で同モデルを連続利用すると有効化。モデル/effort/モード変更や5分〜1時間の空白で失効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チェックポイント: 各ターンの前後でファイル状態・会話を自動保存。Escape×2 か /rewind で復元(⚠️手動編集は記録されない)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/ MCP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78308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= skill.md + 参考ファイル + アセットのフォルダ。自然言語で「〇〇のskillを作って」と頼むだけで自動生成できる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= 外部システム(ファイル/SharePoint/Jira/GitHub/Slack/DB等)へ安全に接続する標準プロトコル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組み込みレビューSkill: /code-review(コード品質)、/security-review(脆弱性)、/simplify(重複排除・簡素化)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976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ベストプラクティス・チェックリスト(要点)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77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開始時: /initでCLAUDE.md生成・規約を明記・モデルを明示選択(デフォルトOpus推奨) / 実行時: 複雑ならPlan Modeへ切替・@fileで対象ファイル固定 / 効率化: 出力スタイルをConcise化・5分以内はキャッシュ活用・自然な区切りで/compact / リスク回避: 承認前に/rewindで履歴確認・本番はApprove Mode検討 / 再利用: よく使う作業はSkill化しチームに共有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Anthropic「Claude Camp」Getting Started with Claude Codeセッションまとめ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Moving to the Frontier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Kirby(Anthropic戦略責任者)・45分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AI進歩トレンドの3指標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①指数関数的成長: 知能の向上が継続(現在は垂直上昇フェーズと判断)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②エージェント持続性: 「Claudeは今や数ヶ月動き続けられる」。能力倍増の周期が7ヶ月→4ヶ月に短縮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③トークンコスト削減: 年率10倍以上の低下。技術はまだ初期段階でさらなる下落が見込まれる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737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2つのビジネス戦略マインドセット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52160" y="2057400"/>
            <a:ext cx="5303520" cy="960120"/>
          </a:xfrm>
          <a:prstGeom prst="roundRect">
            <a:avLst>
              <a:gd name="adj" fmla="val 7619"/>
            </a:avLst>
          </a:prstGeom>
          <a:solidFill>
            <a:srgbClr val="F7F5F2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Mindset — 最新・最高性能モデルで、今まで不可能だった問題を解く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52160" y="3108960"/>
            <a:ext cx="5303520" cy="960120"/>
          </a:xfrm>
          <a:prstGeom prst="roundRect">
            <a:avLst>
              <a:gd name="adj" fmla="val 7619"/>
            </a:avLst>
          </a:prstGeom>
          <a:solidFill>
            <a:srgbClr val="F7F5F2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32461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Mindset — 安価なモデルでコスト効率を優先し、広範な普及を目指す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4160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2つを混在させないことを強く推奨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3段階実装フレームワーク: ①Adoption first(自組織への導入) → ②ビジネス戦略の選択 → ③レーン選択(Frontier Building / Frontier-Ready / Adoption-First)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締めの言葉(引用): 「誰もがほぼ何でもできるようになった時、最も重要になるのは“何をすべきか”を知っていること」— Howは不安定、What/Whyに焦点を当てることが競争優位になる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Anthropic「Claude Camp」Moving to the Frontierセッションまとめ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62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Proving value and controlling cost (1/2)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Shannon(顧客成功) &amp; Noel(財務)・90分・APAC初開催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コスト管理の4レバー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3331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モデル選択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214884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Haiku/Sonnet/Opus/Fable。発表直後のOpus 5.5は「より安価で高品質」。デフォルトモデルの設定を推奨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3331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1546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Effort level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31546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低/中/高。高いほどトークン消費増。一般的には中(medium)で十分なことが多い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06908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3331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1605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グループ別アクセス制御(RBAC)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41605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開発者グループ(Code+Cowork、上位モデル可)/ベースユーザー(Coworkのみ、Sonnet限定)のような構成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3331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1663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支出上限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516636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組織/グループ/ユーザーの3階層。現状は月単位のみ(週次・隔週のニーズが強い)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035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ユーザー通知: 利用75%・90%到達時にアラート、上限到達時に通知、Slack経由の承認オプションあり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Anthropic「Claude Camp」Proving value and controlling costセッションまとめ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Proving value and controlling cost (2/2)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価値実現の6ステップメソドロジー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ワークフロー選定(トリガー・再現性・アウトプットの3条件を満たすもの)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ベースライン合意(現状コスト/時間をFinance担当と確認)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Skill実装 → ④ 価値分類(コスト回避 vs 価値創造) → ⑤ 定量化 → ⑥ CFOシートへ統合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852160" y="1417320"/>
            <a:ext cx="5303520" cy="2011680"/>
          </a:xfrm>
          <a:prstGeom prst="roundRect">
            <a:avLst>
              <a:gd name="adj" fmla="val 3636"/>
            </a:avLst>
          </a:prstGeom>
          <a:solidFill>
            <a:srgbClr val="F7F5F2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実例: コスト回避(法務)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契約レビュー: 11時間/件→6時間/件(45%削減)。四半期610件×6時間削減=3,660時間節約。「$300〜500K相当のコスト回避」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514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実例: 価値創造(営業)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商談準備時間: 45分→10分(3倍速)。190件の追加商談機会。成約率25%×平均$20-34K → 追加収益$900K〜1.6M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657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Code向け価値フレームワーク(計測単位の階層)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776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Volume(出荷数)→Code Assist率(Claude活用割合、例18/22=82%)→Business impact(定量化された時間削減、例4日→1.5日=62.5%削減)。Phoenix Corp事例: 80マイクロサービス移行で約$1.8M削減。あるASX上場企業では移行コストが7桁台から「トークン費用$20〜30K」まで圧縮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1663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Change Process(契約レビュー例): 段階1(11h→6h)から、段階2で例外ベース処理へ転換(全610件→例外180件のみレビュー、70%削減)、Financeと新ベースラインを再合意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Anthropic「Claude Camp」Proving value and controlling costセッションまとめ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62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Fluency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Kristen Swanson(Anthropic教育部門責任者)・43分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4Dフレームワーク(内側/外側のループ)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5120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内側のループ: Description(明確に説明する) ⇄ Discernment(出力を批判的に評価する)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外側のループ: Delegation(何を任せるか選ぶ) ⇄ Diligence(AI利用の透明性を保つ)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「Discernment Tax」問題: モデルが饒舌なため、ユーザーが重い検証作業を強いられる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社内ノルム例: ❤️(完全に人間作成)・💪(人間+Claude協働)・🤖(完全にClaude作成)のタイトル表示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737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AI流暢性エコシステムの3要素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205740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Mindset: 「AIの進化ペースに適応する」姿勢が最重要。新モデル登場時に難タスクを試す“evalingパーティ”を推奨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Skill: 特定の対話テクニックでなく「タスク成功」を重視。反復とチーム間の知見共有で積み上げる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Access: 利用可能なモデル・インターフェース(デスクトップ/モバイル/ターミナル)・機能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40233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81,000人調査: 「専門性を高めたい」という希望と「スキルが陳腐化する」という不安が同時に存在。両方を認識することがリーダーシップの鍵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0292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重要な引用: 「Task success is the key」「Mindsetは機能より速く価値を生む」「継続的な学習と実験の文化」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Anthropic「Claude Camp」AI Fluencyセッションまとめ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real workflow in Cowork (1/2)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Maddie(進行)・Anthony &amp; Shannon(Q&amp;A)・APAC Day3・90分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vs Coworkの使い分け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判断ルール(引用): 「質問ならChatで聞く。作業ならCoworkで始める」— Chatは質問して答えをもらう場、Coworkは求める成果を指定するとClaudeが文脈収集→実行→完成ファイルまで届ける場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26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Coworkの4段階実行ループ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85800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Understand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04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質問して専門知識を引き出す(例:「これは誰向け?」)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329184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383280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Plan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8404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手順を明示化。修正が最も安価にできる段階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43600" y="329184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080760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Execute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080760" y="38404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ツール・ファイル・Webを操作(数分かかることも)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641080" y="329184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78240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Verify &amp; Deliver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38404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既存ファイルとの整合性を確認し完成物を納品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必須環境: Claude デスクトップアプリ(ブラウザ版は機能制限あり)・ローカルファイルアクセス可能なノートPC・スリープ防止(定期実行タスクに必要)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6235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コネクタ設定(例: Google Calendar): 設定→Customize→Connectors→該当サービスの「Connect」→ブラウザでログイン許可。Team/Enterprise利用者はAdminが組織全体で有効化後、各自サインイン(「ホテルのカードキー」の例え: Adminがフロアを有効化、ユーザーがカードをタップ)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Anthropic「Claude Camp」Your first real workflow in Coworkセッションまとめ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626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C7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real workflow in Cowork (2/2)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5つのハンズオンデモ(週次ステータスブリーフを構築)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Demo1: 練習ファイル作成(10分)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78308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議事録・タスクリスト等のダミーデータを生成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500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Demo2: 情報収集(15分)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235000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フォルダ内全ファイル+カレンダーを読み込み、各行に出典タグを付与。矛盾を検知しユーザーに確認を促す例も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1693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Demo3: Skill作成(15分)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91693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「まず書かず、後から振り返る」哲学 — 良い結果を出してから「今やったことをSkillにパッケージ化して」と依頼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838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Demo4: Project構築(20分)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3483864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ファイル+指示+メモリを統合したワークスペース。閲覧/コメント/編集の3段階アクセス設定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507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Demo5: 定期実行タスク(10分)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405079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毎週月曜8時に自動実行。ローカルPC上で動作するためPCがスリープ/アプリ未起動だと失敗する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7091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習慣化の「Uカーブ」と承認設定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292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最初の2〜3週間は逐一確認するため手動より遅くなるが、損益分岐点を超えると急加速する。Manually Approve(学習期)で監視→信頼できるパターン確立後にAutomatically Approveへ切替→組織へ共有、という順序を推奨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安全設計(引用): 「付与されたフォルダにしか触れない」— アクセス範囲は指定フォルダに限定され、組織レベルでも機能ON/OFFを制御可能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C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Anthropic「Claude Camp」Your first real workflow in Coworkセッションまとめ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用語集・まとめ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エージェントループ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3749040" y="1280160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モデルがゴール達成のためツール呼び出しを繰り返す仕組み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9339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99339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プロジェクトの規約・文脈を記録する永続メモリファイル(/initで自動生成)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06624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/ MCP / Plugin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706624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Skill=再利用可能な作業手順、MCP=外部システム接続の標準規格、Plugin=これらの配布バンドル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19856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4Dフレームワーク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3419856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Description・Discernment・Delegation・Diligenceの2重ループ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13308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avoidance / Value creation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133088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既存作業を低コスト化 / 新たな収益・成果を生み出す、という価値分類の2軸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463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 4段階ループ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4846320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Understand→Plan→Execute→Verify &amp; Deliver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532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このノートの位置づけ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521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CCA-F試験対策やGitHub攻略法とは別の「Anthropic公式トレーニング資料(Academy・Camp)」の学習ノートとして、今後もセッションや資料が増えるたびに改版していく想定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2026-09-28T15:03:14Z</dcterms:created>
  <dcterms:modified xsi:type="dcterms:W3CDTF">2026-09-28T15:03:14Z</dcterms:modified>
</cp:coreProperties>
</file>