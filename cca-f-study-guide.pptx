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43" r:id="rId94"/>
    <p:sldId id="340" r:id="rId91"/>
    <p:sldId id="341" r:id="rId92"/>
    <p:sldId id="342" r:id="rId93"/>
    <p:sldId id="257" r:id="rId3"/>
    <p:sldId id="346" r:id="rId97"/>
    <p:sldId id="258" r:id="rId4"/>
    <p:sldId id="392" r:id="rId143"/>
    <p:sldId id="259" r:id="rId5"/>
    <p:sldId id="347" r:id="rId98"/>
    <p:sldId id="260" r:id="rId6"/>
    <p:sldId id="261" r:id="rId7"/>
    <p:sldId id="262" r:id="rId8"/>
    <p:sldId id="263" r:id="rId9"/>
    <p:sldId id="264" r:id="rId10"/>
    <p:sldId id="265" r:id="rId11"/>
    <p:sldId id="266" r:id="rId12"/>
    <p:sldId id="267" r:id="rId13"/>
    <p:sldId id="268" r:id="rId14"/>
    <p:sldId id="269" r:id="rId15"/>
    <p:sldId id="270" r:id="rId16"/>
    <p:sldId id="271" r:id="rId17"/>
    <p:sldId id="344" r:id="rId95"/>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335" r:id="rId86"/>
    <p:sldId id="296" r:id="rId42"/>
    <p:sldId id="297" r:id="rId43"/>
    <p:sldId id="298" r:id="rId44"/>
    <p:sldId id="299" r:id="rId45"/>
    <p:sldId id="300" r:id="rId46"/>
    <p:sldId id="301" r:id="rId47"/>
    <p:sldId id="336" r:id="rId87"/>
    <p:sldId id="337" r:id="rId88"/>
    <p:sldId id="338" r:id="rId89"/>
    <p:sldId id="339" r:id="rId90"/>
    <p:sldId id="302" r:id="rId48"/>
    <p:sldId id="345" r:id="rId96"/>
    <p:sldId id="303" r:id="rId49"/>
    <p:sldId id="304" r:id="rId50"/>
    <p:sldId id="305" r:id="rId51"/>
    <p:sldId id="324" r:id="rId70"/>
    <p:sldId id="325" r:id="rId71"/>
    <p:sldId id="326" r:id="rId72"/>
    <p:sldId id="327" r:id="rId73"/>
    <p:sldId id="328" r:id="rId74"/>
    <p:sldId id="329" r:id="rId75"/>
    <p:sldId id="330" r:id="rId76"/>
    <p:sldId id="331" r:id="rId77"/>
    <p:sldId id="332" r:id="rId78"/>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23" r:id="rId69"/>
    <p:sldId id="333" r:id="rId79"/>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6.xml"/><Relationship Id="rId4" Type="http://schemas.openxmlformats.org/officeDocument/2006/relationships/slide" Target="slides/slide8.xml"/><Relationship Id="rId5" Type="http://schemas.openxmlformats.org/officeDocument/2006/relationships/slide" Target="slides/slide10.xml"/><Relationship Id="rId6" Type="http://schemas.openxmlformats.org/officeDocument/2006/relationships/slide" Target="slides/slide12.xml"/><Relationship Id="rId7" Type="http://schemas.openxmlformats.org/officeDocument/2006/relationships/slide" Target="slides/slide13.xml"/><Relationship Id="rId8" Type="http://schemas.openxmlformats.org/officeDocument/2006/relationships/slide" Target="slides/slide14.xml"/><Relationship Id="rId9" Type="http://schemas.openxmlformats.org/officeDocument/2006/relationships/slide" Target="slides/slide15.xml"/><Relationship Id="rId10" Type="http://schemas.openxmlformats.org/officeDocument/2006/relationships/slide" Target="slides/slide16.xml"/><Relationship Id="rId11" Type="http://schemas.openxmlformats.org/officeDocument/2006/relationships/slide" Target="slides/slide17.xml"/><Relationship Id="rId12" Type="http://schemas.openxmlformats.org/officeDocument/2006/relationships/slide" Target="slides/slide18.xml"/><Relationship Id="rId13" Type="http://schemas.openxmlformats.org/officeDocument/2006/relationships/slide" Target="slides/slide19.xml"/><Relationship Id="rId14" Type="http://schemas.openxmlformats.org/officeDocument/2006/relationships/slide" Target="slides/slide20.xml"/><Relationship Id="rId15" Type="http://schemas.openxmlformats.org/officeDocument/2006/relationships/slide" Target="slides/slide21.xml"/><Relationship Id="rId16" Type="http://schemas.openxmlformats.org/officeDocument/2006/relationships/slide" Target="slides/slide22.xml"/><Relationship Id="rId17" Type="http://schemas.openxmlformats.org/officeDocument/2006/relationships/slide" Target="slides/slide23.xml"/><Relationship Id="rId18" Type="http://schemas.openxmlformats.org/officeDocument/2006/relationships/slide" Target="slides/slide25.xml"/><Relationship Id="rId19" Type="http://schemas.openxmlformats.org/officeDocument/2006/relationships/slide" Target="slides/slide26.xml"/><Relationship Id="rId20" Type="http://schemas.openxmlformats.org/officeDocument/2006/relationships/slide" Target="slides/slide27.xml"/><Relationship Id="rId21" Type="http://schemas.openxmlformats.org/officeDocument/2006/relationships/slide" Target="slides/slide28.xml"/><Relationship Id="rId22" Type="http://schemas.openxmlformats.org/officeDocument/2006/relationships/slide" Target="slides/slide29.xml"/><Relationship Id="rId23" Type="http://schemas.openxmlformats.org/officeDocument/2006/relationships/slide" Target="slides/slide30.xml"/><Relationship Id="rId24" Type="http://schemas.openxmlformats.org/officeDocument/2006/relationships/slide" Target="slides/slide31.xml"/><Relationship Id="rId25" Type="http://schemas.openxmlformats.org/officeDocument/2006/relationships/slide" Target="slides/slide32.xml"/><Relationship Id="rId26" Type="http://schemas.openxmlformats.org/officeDocument/2006/relationships/slide" Target="slides/slide33.xml"/><Relationship Id="rId27" Type="http://schemas.openxmlformats.org/officeDocument/2006/relationships/slide" Target="slides/slide34.xml"/><Relationship Id="rId28" Type="http://schemas.openxmlformats.org/officeDocument/2006/relationships/slide" Target="slides/slide35.xml"/><Relationship Id="rId29" Type="http://schemas.openxmlformats.org/officeDocument/2006/relationships/slide" Target="slides/slide36.xml"/><Relationship Id="rId30" Type="http://schemas.openxmlformats.org/officeDocument/2006/relationships/slide" Target="slides/slide37.xml"/><Relationship Id="rId31" Type="http://schemas.openxmlformats.org/officeDocument/2006/relationships/slide" Target="slides/slide38.xml"/><Relationship Id="rId32" Type="http://schemas.openxmlformats.org/officeDocument/2006/relationships/slide" Target="slides/slide39.xml"/><Relationship Id="rId33" Type="http://schemas.openxmlformats.org/officeDocument/2006/relationships/slide" Target="slides/slide40.xml"/><Relationship Id="rId34" Type="http://schemas.openxmlformats.org/officeDocument/2006/relationships/slide" Target="slides/slide41.xml"/><Relationship Id="rId35" Type="http://schemas.openxmlformats.org/officeDocument/2006/relationships/slide" Target="slides/slide42.xml"/><Relationship Id="rId36" Type="http://schemas.openxmlformats.org/officeDocument/2006/relationships/slide" Target="slides/slide43.xml"/><Relationship Id="rId37" Type="http://schemas.openxmlformats.org/officeDocument/2006/relationships/slide" Target="slides/slide44.xml"/><Relationship Id="rId38" Type="http://schemas.openxmlformats.org/officeDocument/2006/relationships/slide" Target="slides/slide45.xml"/><Relationship Id="rId39" Type="http://schemas.openxmlformats.org/officeDocument/2006/relationships/slide" Target="slides/slide46.xml"/><Relationship Id="rId40" Type="http://schemas.openxmlformats.org/officeDocument/2006/relationships/slide" Target="slides/slide47.xml"/><Relationship Id="rId41" Type="http://schemas.openxmlformats.org/officeDocument/2006/relationships/slide" Target="slides/slide48.xml"/><Relationship Id="rId42" Type="http://schemas.openxmlformats.org/officeDocument/2006/relationships/slide" Target="slides/slide50.xml"/><Relationship Id="rId43" Type="http://schemas.openxmlformats.org/officeDocument/2006/relationships/slide" Target="slides/slide51.xml"/><Relationship Id="rId44" Type="http://schemas.openxmlformats.org/officeDocument/2006/relationships/slide" Target="slides/slide52.xml"/><Relationship Id="rId45" Type="http://schemas.openxmlformats.org/officeDocument/2006/relationships/slide" Target="slides/slide53.xml"/><Relationship Id="rId46" Type="http://schemas.openxmlformats.org/officeDocument/2006/relationships/slide" Target="slides/slide54.xml"/><Relationship Id="rId47" Type="http://schemas.openxmlformats.org/officeDocument/2006/relationships/slide" Target="slides/slide55.xml"/><Relationship Id="rId48" Type="http://schemas.openxmlformats.org/officeDocument/2006/relationships/slide" Target="slides/slide60.xml"/><Relationship Id="rId49" Type="http://schemas.openxmlformats.org/officeDocument/2006/relationships/slide" Target="slides/slide62.xml"/><Relationship Id="rId50" Type="http://schemas.openxmlformats.org/officeDocument/2006/relationships/slide" Target="slides/slide63.xml"/><Relationship Id="rId51" Type="http://schemas.openxmlformats.org/officeDocument/2006/relationships/slide" Target="slides/slide64.xml"/><Relationship Id="rId52" Type="http://schemas.openxmlformats.org/officeDocument/2006/relationships/slide" Target="slides/slide74.xml"/><Relationship Id="rId53" Type="http://schemas.openxmlformats.org/officeDocument/2006/relationships/slide" Target="slides/slide75.xml"/><Relationship Id="rId54" Type="http://schemas.openxmlformats.org/officeDocument/2006/relationships/slide" Target="slides/slide76.xml"/><Relationship Id="rId55" Type="http://schemas.openxmlformats.org/officeDocument/2006/relationships/slide" Target="slides/slide77.xml"/><Relationship Id="rId56" Type="http://schemas.openxmlformats.org/officeDocument/2006/relationships/slide" Target="slides/slide78.xml"/><Relationship Id="rId57" Type="http://schemas.openxmlformats.org/officeDocument/2006/relationships/slide" Target="slides/slide79.xml"/><Relationship Id="rId58" Type="http://schemas.openxmlformats.org/officeDocument/2006/relationships/slide" Target="slides/slide80.xml"/><Relationship Id="rId59" Type="http://schemas.openxmlformats.org/officeDocument/2006/relationships/slide" Target="slides/slide81.xml"/><Relationship Id="rId60" Type="http://schemas.openxmlformats.org/officeDocument/2006/relationships/slide" Target="slides/slide82.xml"/><Relationship Id="rId61" Type="http://schemas.openxmlformats.org/officeDocument/2006/relationships/slide" Target="slides/slide83.xml"/><Relationship Id="rId62" Type="http://schemas.openxmlformats.org/officeDocument/2006/relationships/slide" Target="slides/slide84.xml"/><Relationship Id="rId63" Type="http://schemas.openxmlformats.org/officeDocument/2006/relationships/slide" Target="slides/slide85.xml"/><Relationship Id="rId64" Type="http://schemas.openxmlformats.org/officeDocument/2006/relationships/slide" Target="slides/slide86.xml"/><Relationship Id="rId65" Type="http://schemas.openxmlformats.org/officeDocument/2006/relationships/slide" Target="slides/slide87.xml"/><Relationship Id="rId66" Type="http://schemas.openxmlformats.org/officeDocument/2006/relationships/slide" Target="slides/slide88.xml"/><Relationship Id="rId67" Type="http://schemas.openxmlformats.org/officeDocument/2006/relationships/slide" Target="slides/slide89.xml"/><Relationship Id="rId68" Type="http://schemas.openxmlformats.org/officeDocument/2006/relationships/slide" Target="slides/slide90.xml"/><Relationship Id="rId69" Type="http://schemas.openxmlformats.org/officeDocument/2006/relationships/slide" Target="slides/slide135.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136.xml"/><Relationship Id="rId80" Type="http://schemas.openxmlformats.org/officeDocument/2006/relationships/slide" Target="slides/slide137.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 Id="rId86" Type="http://schemas.openxmlformats.org/officeDocument/2006/relationships/slide" Target="slides/slide49.xml"/><Relationship Id="rId87" Type="http://schemas.openxmlformats.org/officeDocument/2006/relationships/slide" Target="slides/slide56.xml"/><Relationship Id="rId88" Type="http://schemas.openxmlformats.org/officeDocument/2006/relationships/slide" Target="slides/slide57.xml"/><Relationship Id="rId89" Type="http://schemas.openxmlformats.org/officeDocument/2006/relationships/slide" Target="slides/slide58.xml"/><Relationship Id="rId90" Type="http://schemas.openxmlformats.org/officeDocument/2006/relationships/slide" Target="slides/slide59.xml"/><Relationship Id="rId91" Type="http://schemas.openxmlformats.org/officeDocument/2006/relationships/slide" Target="slides/slide3.xml"/><Relationship Id="rId92" Type="http://schemas.openxmlformats.org/officeDocument/2006/relationships/slide" Target="slides/slide4.xml"/><Relationship Id="rId93" Type="http://schemas.openxmlformats.org/officeDocument/2006/relationships/slide" Target="slides/slide5.xml"/><Relationship Id="rId94" Type="http://schemas.openxmlformats.org/officeDocument/2006/relationships/slide" Target="slides/slide2.xml"/><Relationship Id="rId95" Type="http://schemas.openxmlformats.org/officeDocument/2006/relationships/slide" Target="slides/slide24.xml"/><Relationship Id="rId96" Type="http://schemas.openxmlformats.org/officeDocument/2006/relationships/slide" Target="slides/slide61.xml"/><Relationship Id="rId97" Type="http://schemas.openxmlformats.org/officeDocument/2006/relationships/slide" Target="slides/slide7.xml"/><Relationship Id="rId98" Type="http://schemas.openxmlformats.org/officeDocument/2006/relationships/slide" Target="slides/slide11.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 Id="rId128" Type="http://schemas.openxmlformats.org/officeDocument/2006/relationships/slide" Target="slides/slide120.xml"/><Relationship Id="rId129" Type="http://schemas.openxmlformats.org/officeDocument/2006/relationships/slide" Target="slides/slide121.xml"/><Relationship Id="rId130" Type="http://schemas.openxmlformats.org/officeDocument/2006/relationships/slide" Target="slides/slide122.xml"/><Relationship Id="rId131" Type="http://schemas.openxmlformats.org/officeDocument/2006/relationships/slide" Target="slides/slide123.xml"/><Relationship Id="rId132" Type="http://schemas.openxmlformats.org/officeDocument/2006/relationships/slide" Target="slides/slide124.xml"/><Relationship Id="rId133" Type="http://schemas.openxmlformats.org/officeDocument/2006/relationships/slide" Target="slides/slide125.xml"/><Relationship Id="rId134" Type="http://schemas.openxmlformats.org/officeDocument/2006/relationships/slide" Target="slides/slide126.xml"/><Relationship Id="rId135" Type="http://schemas.openxmlformats.org/officeDocument/2006/relationships/slide" Target="slides/slide127.xml"/><Relationship Id="rId136" Type="http://schemas.openxmlformats.org/officeDocument/2006/relationships/slide" Target="slides/slide128.xml"/><Relationship Id="rId137" Type="http://schemas.openxmlformats.org/officeDocument/2006/relationships/slide" Target="slides/slide129.xml"/><Relationship Id="rId138" Type="http://schemas.openxmlformats.org/officeDocument/2006/relationships/slide" Target="slides/slide130.xml"/><Relationship Id="rId139" Type="http://schemas.openxmlformats.org/officeDocument/2006/relationships/slide" Target="slides/slide131.xml"/><Relationship Id="rId140" Type="http://schemas.openxmlformats.org/officeDocument/2006/relationships/slide" Target="slides/slide132.xml"/><Relationship Id="rId141" Type="http://schemas.openxmlformats.org/officeDocument/2006/relationships/slide" Target="slides/slide133.xml"/><Relationship Id="rId142" Type="http://schemas.openxmlformats.org/officeDocument/2006/relationships/slide" Target="slides/slide134.xml"/><Relationship Id="rId143"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配点</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dPt>
          <c:dPt>
            <c:idx val="1"/>
            <c:bubble3D val="0"/>
            <c:spPr>
              <a:solidFill>
                <a:srgbClr val="3A4899"/>
              </a:solidFill>
              <a:effectLst/>
            </c:spPr>
          </c:dPt>
          <c:dPt>
            <c:idx val="2"/>
            <c:bubble3D val="0"/>
            <c:spPr>
              <a:solidFill>
                <a:srgbClr val="6B7FC9"/>
              </a:solidFill>
              <a:effectLst/>
            </c:spPr>
          </c:dPt>
          <c:dPt>
            <c:idx val="3"/>
            <c:bubble3D val="0"/>
            <c:spPr>
              <a:solidFill>
                <a:srgbClr val="9AAAE0"/>
              </a:solidFill>
              <a:effectLst/>
            </c:spPr>
          </c:dPt>
          <c:dPt>
            <c:idx val="4"/>
            <c:bubble3D val="0"/>
            <c:spPr>
              <a:solidFill>
                <a:srgbClr val="CADCFC"/>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1: Agentic Architecture (27%)</c:v>
                </c:pt>
                <c:pt idx="1">
                  <c:v>2: Tool Design &amp; MCP (18%)</c:v>
                </c:pt>
                <c:pt idx="2">
                  <c:v>3: Claude Code Config (20%)</c:v>
                </c:pt>
                <c:pt idx="3">
                  <c:v>4: Prompt &amp; Structured Output (20%)</c:v>
                </c:pt>
                <c:pt idx="4">
                  <c:v>5: Context &amp; Reliability (15%)</c:v>
                </c:pt>
              </c:strCache>
            </c:strRef>
          </c:cat>
          <c:val>
            <c:numRef>
              <c:f>Sheet1!$B$2:$B$6</c:f>
              <c:numCache>
                <c:ptCount val="5"/>
                <c:pt idx="0">
                  <c:v>27</c:v>
                </c:pt>
                <c:pt idx="1">
                  <c:v>18</c:v>
                </c:pt>
                <c:pt idx="2">
                  <c:v>20</c:v>
                </c:pt>
                <c:pt idx="3">
                  <c:v>20</c:v>
                </c:pt>
                <c:pt idx="4">
                  <c:v>15</c:v>
                </c:pt>
              </c:numCache>
            </c:numRef>
          </c:val>
        </c:ser>
        <c:firstSliceAng val="0"/>
      </c:pieChart>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chart" Target="../charts/chart1.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hyperlink" Target="https://anthropic.skilljar.com/" TargetMode="External"/><Relationship Id="rId3" Type="http://schemas.openxmlformats.org/officeDocument/2006/relationships/hyperlink" Target="https://anthropic.skilljar.com/claude-certified-architect-foundations-access-request" TargetMode="External"/><Relationship Id="rId4" Type="http://schemas.openxmlformats.org/officeDocument/2006/relationships/hyperlink" Target="https://github.com/paullarionov/claude-certified-architect" TargetMode="External"/><Relationship Id="rId5" Type="http://schemas.openxmlformats.org/officeDocument/2006/relationships/hyperlink" Target="https://www.reddit.com/r/ClaudeAI/"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 Id="rId8" Type="http://schemas.openxmlformats.org/officeDocument/2006/relationships/hyperlink" Target="https://claudecertificationguide.com/learn/2-tool-design-mcp" TargetMode="External"/></Relationships>
</file>

<file path=ppt/slides/_rels/slide19.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63.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64.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65.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66.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67.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68.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69.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0.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1.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2.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3.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4.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75.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76.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77.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78.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79.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80.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81.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82.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83.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84.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8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8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87.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88.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89.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90.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136.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image" Target="../media/image-78-4.png"/><Relationship Id="rId5" Type="http://schemas.openxmlformats.org/officeDocument/2006/relationships/image" Target="../media/image-78-5.png"/><Relationship Id="rId6" Type="http://schemas.openxmlformats.org/officeDocument/2006/relationships/image" Target="../media/image-78-6.png"/><Relationship Id="rId7" Type="http://schemas.openxmlformats.org/officeDocument/2006/relationships/image" Target="../media/image-78-7.png"/><Relationship Id="rId8" Type="http://schemas.openxmlformats.org/officeDocument/2006/relationships/slideLayout" Target="../slideLayouts/slideLayout1.xml"/><Relationship Id="rId9" Type="http://schemas.openxmlformats.org/officeDocument/2006/relationships/notesSlide" Target="../notesSlides/notesSlide78.xml"/></Relationships>
</file>

<file path=ppt/slides/_rels/slide137.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hyperlink" Target="https://claude.com/partners" TargetMode="External"/><Relationship Id="rId3" Type="http://schemas.openxmlformats.org/officeDocument/2006/relationships/hyperlink" Target="https://anthropic.skilljar.com/" TargetMode="External"/><Relationship Id="rId4" Type="http://schemas.openxmlformats.org/officeDocument/2006/relationships/slideLayout" Target="../slideLayouts/slideLayout1.xml"/><Relationship Id="rId5"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412480" y="-1645920"/>
            <a:ext cx="5486400" cy="5486400"/>
          </a:xfrm>
          <a:prstGeom prst="ellipse">
            <a:avLst/>
          </a:prstGeom>
          <a:solidFill>
            <a:srgbClr val="141B44"/>
          </a:solidFill>
          <a:ln/>
        </p:spPr>
        <p:txBody>
          <a:bodyPr/>
          <a:p/>
        </p:txBody>
      </p:sp>
      <p:sp>
        <p:nvSpPr>
          <p:cNvPr id="3" name="Shape 1"/>
          <p:cNvSpPr/>
          <p:nvPr/>
        </p:nvSpPr>
        <p:spPr>
          <a:xfrm>
            <a:off x="-1371600" y="4754880"/>
            <a:ext cx="3657600" cy="3657600"/>
          </a:xfrm>
          <a:prstGeom prst="ellipse">
            <a:avLst/>
          </a:prstGeom>
          <a:solidFill>
            <a:srgbClr val="141B44"/>
          </a:solidFill>
          <a:ln/>
        </p:spPr>
        <p:txBody>
          <a:bodyPr/>
          <a:p/>
        </p:txBody>
      </p:sp>
      <p:sp>
        <p:nvSpPr>
          <p:cNvPr id="4" name="Shape 2"/>
          <p:cNvSpPr/>
          <p:nvPr/>
        </p:nvSpPr>
        <p:spPr>
          <a:xfrm>
            <a:off x="822960" y="1005840"/>
            <a:ext cx="1005840" cy="1005840"/>
          </a:xfrm>
          <a:prstGeom prst="ellipse">
            <a:avLst/>
          </a:prstGeom>
          <a:solidFill>
            <a:srgbClr val="141B44"/>
          </a:solidFill>
          <a:ln/>
        </p:spPr>
        <p:txBody>
          <a:bodyPr/>
          <a:p/>
        </p:txBody>
      </p:sp>
      <p:pic>
        <p:nvPicPr>
          <p:cNvPr id="5" name="Image 0" descr="preencoded.png">    </p:cNvPr>
          <p:cNvPicPr>
            <a:picLocks noChangeAspect="1"/>
          </p:cNvPicPr>
          <p:nvPr/>
        </p:nvPicPr>
        <p:blipFill>
          <a:blip r:embed="rId1"/>
          <a:stretch>
            <a:fillRect/>
          </a:stretch>
        </p:blipFill>
        <p:spPr>
          <a:xfrm>
            <a:off x="1064362" y="1247242"/>
            <a:ext cx="523037" cy="523037"/>
          </a:xfrm>
          <a:prstGeom prst="rect">
            <a:avLst/>
          </a:prstGeom>
        </p:spPr>
      </p:pic>
      <p:sp>
        <p:nvSpPr>
          <p:cNvPr id="6" name="Text 3"/>
          <p:cNvSpPr/>
          <p:nvPr/>
        </p:nvSpPr>
        <p:spPr>
          <a:xfrm>
            <a:off x="822960" y="2286000"/>
            <a:ext cx="10058400" cy="822960"/>
          </a:xfrm>
          <a:prstGeom prst="rect">
            <a:avLst/>
          </a:prstGeom>
          <a:noFill/>
          <a:ln/>
        </p:spPr>
        <p:txBody>
          <a:bodyPr wrap="square" rtlCol="0" anchor="ctr"/>
          <a:lstStyle/>
          <a:p>
            <a:pPr indent="0" marL="0">
              <a:buNone/>
            </a:pPr>
            <a:r>
              <a:rPr lang="en-US" sz="4000" b="1" dirty="0">
                <a:solidFill>
                  <a:srgbClr val="FFFFFF"/>
                </a:solidFill>
                <a:latin typeface="Meiryo" pitchFamily="34" charset="0"/>
                <a:ea typeface="Meiryo" pitchFamily="34" charset="-122"/>
                <a:cs typeface="Meiryo" pitchFamily="34" charset="-120"/>
              </a:rPr>
              <a:t>Claude Certified Architect</a:t>
            </a:r>
            <a:endParaRPr lang="en-US" sz="4000" dirty="0"/>
          </a:p>
        </p:txBody>
      </p:sp>
      <p:sp>
        <p:nvSpPr>
          <p:cNvPr id="7" name="Text 4"/>
          <p:cNvSpPr/>
          <p:nvPr/>
        </p:nvSpPr>
        <p:spPr>
          <a:xfrm>
            <a:off x="822960" y="2971800"/>
            <a:ext cx="10058400" cy="548640"/>
          </a:xfrm>
          <a:prstGeom prst="rect">
            <a:avLst/>
          </a:prstGeom>
          <a:noFill/>
          <a:ln/>
        </p:spPr>
        <p:txBody>
          <a:bodyPr wrap="square" rtlCol="0" anchor="ctr"/>
          <a:lstStyle/>
          <a:p>
            <a:pPr indent="0" marL="0">
              <a:buNone/>
            </a:pPr>
            <a:r>
              <a:rPr lang="en-US" sz="2500" dirty="0">
                <a:solidFill>
                  <a:srgbClr val="CADCFC"/>
                </a:solidFill>
                <a:latin typeface="Meiryo" pitchFamily="34" charset="0"/>
                <a:ea typeface="Meiryo" pitchFamily="34" charset="-122"/>
                <a:cs typeface="Meiryo" pitchFamily="34" charset="-120"/>
              </a:rPr>
              <a:t>– Foundations (CCA-F) –</a:t>
            </a:r>
            <a:endParaRPr lang="en-US" sz="2500" dirty="0"/>
          </a:p>
        </p:txBody>
      </p:sp>
      <p:sp>
        <p:nvSpPr>
          <p:cNvPr id="8" name="Text 5"/>
          <p:cNvSpPr/>
          <p:nvPr/>
        </p:nvSpPr>
        <p:spPr>
          <a:xfrm>
            <a:off x="822960" y="3657600"/>
            <a:ext cx="10058400" cy="457200"/>
          </a:xfrm>
          <a:prstGeom prst="rect">
            <a:avLst/>
          </a:prstGeom>
          <a:noFill/>
          <a:ln/>
        </p:spPr>
        <p:txBody>
          <a:bodyPr wrap="square" rtlCol="0" anchor="ctr"/>
          <a:lstStyle/>
          <a:p>
            <a:pPr indent="0" marL="0">
              <a:buNone/>
            </a:pPr>
            <a:r>
              <a:rPr lang="en-US" sz="1900" dirty="0">
                <a:solidFill>
                  <a:srgbClr val="FFFFFF"/>
                </a:solidFill>
                <a:latin typeface="Meiryo" pitchFamily="34" charset="0"/>
                <a:ea typeface="Meiryo" pitchFamily="34" charset="-122"/>
                <a:cs typeface="Meiryo" pitchFamily="34" charset="-120"/>
              </a:rPr>
              <a:t>試験対策 参考書 完全版</a:t>
            </a:r>
            <a:endParaRPr lang="en-US" sz="1900" dirty="0"/>
          </a:p>
        </p:txBody>
      </p:sp>
      <p:sp>
        <p:nvSpPr>
          <p:cNvPr id="9" name="Shape 6"/>
          <p:cNvSpPr/>
          <p:nvPr/>
        </p:nvSpPr>
        <p:spPr>
          <a:xfrm>
            <a:off x="822960" y="4297680"/>
            <a:ext cx="4114800" cy="0"/>
          </a:xfrm>
          <a:prstGeom prst="line">
            <a:avLst/>
          </a:prstGeom>
          <a:noFill/>
          <a:ln w="25400">
            <a:solidFill>
              <a:srgbClr val="CADCFC"/>
            </a:solidFill>
            <a:prstDash val="solid"/>
          </a:ln>
        </p:spPr>
        <p:txBody>
          <a:bodyPr/>
          <a:p/>
        </p:txBody>
      </p:sp>
      <p:sp>
        <p:nvSpPr>
          <p:cNvPr id="10" name="Text 7"/>
          <p:cNvSpPr/>
          <p:nvPr/>
        </p:nvSpPr>
        <p:spPr>
          <a:xfrm>
            <a:off x="822960" y="4480560"/>
            <a:ext cx="9144000" cy="365760"/>
          </a:xfrm>
          <a:prstGeom prst="rect">
            <a:avLst/>
          </a:prstGeom>
          <a:noFill/>
          <a:ln/>
        </p:spPr>
        <p:txBody>
          <a:bodyPr wrap="square" rtlCol="0" anchor="ctr"/>
          <a:lstStyle/>
          <a:p>
            <a:pPr indent="0" marL="0">
              <a:buNone/>
            </a:pPr>
            <a:r>
              <a:rPr lang="en-US" sz="1400" dirty="0">
                <a:solidFill>
                  <a:srgbClr val="CADCFC"/>
                </a:solidFill>
                <a:latin typeface="Meiryo" pitchFamily="34" charset="0"/>
                <a:ea typeface="Meiryo" pitchFamily="34" charset="-122"/>
                <a:cs typeface="Meiryo" pitchFamily="34" charset="-120"/>
              </a:rPr>
              <a:t>5ドメイン・60問・120分  |  Anthropic公式ドキュメント準拠</a:t>
            </a:r>
            <a:endParaRPr lang="en-US" sz="140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a:t>
            </a:r>
            <a:endParaRPr lang="en-US" sz="10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目</a:t>
            </a:r>
            <a:endParaRPr lang="en-US" sz="1800" dirty="0"/>
          </a:p>
        </p:txBody>
      </p:sp>
      <p:sp>
        <p:nvSpPr>
          <p:cNvPr id="4" name="Text 2"/>
          <p:cNvSpPr/>
          <p:nvPr/>
        </p:nvSpPr>
        <p:spPr>
          <a:xfrm>
            <a:off x="1188720" y="292608"/>
            <a:ext cx="10058400" cy="594360"/>
          </a:xfrm>
          <a:prstGeom prst="rect">
            <a:avLst/>
          </a:prstGeom>
          <a:noFill/>
          <a:ln/>
        </p:spPr>
        <p:txBody>
          <a:bodyPr wrap="square" rtlCol="0" anchor="ctr"/>
          <a:lstStyle/>
          <a:p>
            <a:pPr indent="0" marL="0">
              <a:buNone/>
            </a:pPr>
            <a:r>
              <a:rPr lang="en-US" sz="2400" b="1" dirty="0">
                <a:solidFill>
                  <a:srgbClr val="1F2430"/>
                </a:solidFill>
                <a:latin typeface="Meiryo" pitchFamily="34" charset="0"/>
                <a:ea typeface="Meiryo" pitchFamily="34" charset="-122"/>
                <a:cs typeface="Meiryo" pitchFamily="34" charset="-120"/>
              </a:rPr>
              <a:t>目次</a:t>
            </a:r>
            <a:endParaRPr lang="en-US" sz="2400" dirty="0"/>
          </a:p>
        </p:txBody>
      </p:sp>
      <p:sp>
        <p:nvSpPr>
          <p:cNvPr id="5" name="Shape 3"/>
          <p:cNvSpPr/>
          <p:nvPr/>
        </p:nvSpPr>
        <p:spPr>
          <a:xfrm>
            <a:off x="457200" y="960120"/>
            <a:ext cx="11247120" cy="0"/>
          </a:xfrm>
          <a:prstGeom prst="line">
            <a:avLst/>
          </a:prstGeom>
          <a:noFill/>
          <a:ln w="12700">
            <a:solidFill>
              <a:srgbClr val="E2E8F0"/>
            </a:solidFill>
            <a:prstDash val="solid"/>
          </a:ln>
        </p:spPr>
        <p:txBody>
          <a:bodyPr/>
          <a:p/>
        </p:txBody>
      </p:sp>
      <p:sp>
        <p:nvSpPr>
          <p:cNvPr id="6" name="Shape 4"/>
          <p:cNvSpPr/>
          <p:nvPr/>
        </p:nvSpPr>
        <p:spPr>
          <a:xfrm>
            <a:off x="548640" y="1234440"/>
            <a:ext cx="11064240" cy="402336"/>
          </a:xfrm>
          <a:prstGeom prst="rect">
            <a:avLst/>
          </a:prstGeom>
          <a:solidFill>
            <a:srgbClr val="F4F7FD"/>
          </a:solidFill>
          <a:ln/>
        </p:spPr>
        <p:txBody>
          <a:bodyPr/>
          <a:p/>
        </p:txBody>
      </p:sp>
      <p:sp>
        <p:nvSpPr>
          <p:cNvPr id="7" name="Text 5"/>
          <p:cNvSpPr/>
          <p:nvPr/>
        </p:nvSpPr>
        <p:spPr>
          <a:xfrm>
            <a:off x="731520" y="1234440"/>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超基礎編(チャット/API/JSONとは)</a:t>
            </a:r>
            <a:endParaRPr lang="en-US" sz="1250" dirty="0"/>
          </a:p>
        </p:txBody>
      </p:sp>
      <p:sp>
        <p:nvSpPr>
          <p:cNvPr id="8" name="Text 6"/>
          <p:cNvSpPr/>
          <p:nvPr/>
        </p:nvSpPr>
        <p:spPr>
          <a:xfrm>
            <a:off x="9875520" y="1234440"/>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3-5</a:t>
            </a:r>
            <a:endParaRPr lang="en-US" sz="1200" dirty="0"/>
          </a:p>
        </p:txBody>
      </p:sp>
      <p:sp>
        <p:nvSpPr>
          <p:cNvPr id="9" name="Text 7"/>
          <p:cNvSpPr/>
          <p:nvPr/>
        </p:nvSpPr>
        <p:spPr>
          <a:xfrm>
            <a:off x="731520" y="1636776"/>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試験概要・攻略法・海外情報</a:t>
            </a:r>
            <a:endParaRPr lang="en-US" sz="1250" dirty="0"/>
          </a:p>
        </p:txBody>
      </p:sp>
      <p:sp>
        <p:nvSpPr>
          <p:cNvPr id="10" name="Text 8"/>
          <p:cNvSpPr/>
          <p:nvPr/>
        </p:nvSpPr>
        <p:spPr>
          <a:xfrm>
            <a:off x="9875520" y="1636776"/>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6-18</a:t>
            </a:r>
            <a:endParaRPr lang="en-US" sz="1200" dirty="0"/>
          </a:p>
        </p:txBody>
      </p:sp>
      <p:sp>
        <p:nvSpPr>
          <p:cNvPr id="11" name="Shape 9"/>
          <p:cNvSpPr/>
          <p:nvPr/>
        </p:nvSpPr>
        <p:spPr>
          <a:xfrm>
            <a:off x="548640" y="2039112"/>
            <a:ext cx="11064240" cy="402336"/>
          </a:xfrm>
          <a:prstGeom prst="rect">
            <a:avLst/>
          </a:prstGeom>
          <a:solidFill>
            <a:srgbClr val="F4F7FD"/>
          </a:solidFill>
          <a:ln/>
        </p:spPr>
        <p:txBody>
          <a:bodyPr/>
          <a:p/>
        </p:txBody>
      </p:sp>
      <p:sp>
        <p:nvSpPr>
          <p:cNvPr id="12" name="Text 10"/>
          <p:cNvSpPr/>
          <p:nvPr/>
        </p:nvSpPr>
        <p:spPr>
          <a:xfrm>
            <a:off x="731520" y="2039112"/>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エージェント基礎</a:t>
            </a:r>
            <a:endParaRPr lang="en-US" sz="1250" dirty="0"/>
          </a:p>
        </p:txBody>
      </p:sp>
      <p:sp>
        <p:nvSpPr>
          <p:cNvPr id="13" name="Text 11"/>
          <p:cNvSpPr/>
          <p:nvPr/>
        </p:nvSpPr>
        <p:spPr>
          <a:xfrm>
            <a:off x="9875520" y="2039112"/>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19-20</a:t>
            </a:r>
            <a:endParaRPr lang="en-US" sz="1200" dirty="0"/>
          </a:p>
        </p:txBody>
      </p:sp>
      <p:sp>
        <p:nvSpPr>
          <p:cNvPr id="14" name="Text 12"/>
          <p:cNvSpPr/>
          <p:nvPr/>
        </p:nvSpPr>
        <p:spPr>
          <a:xfrm>
            <a:off x="731520" y="2441448"/>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ドメイン1: Agentic Architecture &amp; Orchestration(27%)</a:t>
            </a:r>
            <a:endParaRPr lang="en-US" sz="1250" dirty="0"/>
          </a:p>
        </p:txBody>
      </p:sp>
      <p:sp>
        <p:nvSpPr>
          <p:cNvPr id="15" name="Text 13"/>
          <p:cNvSpPr/>
          <p:nvPr/>
        </p:nvSpPr>
        <p:spPr>
          <a:xfrm>
            <a:off x="9875520" y="2441448"/>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21-32</a:t>
            </a:r>
            <a:endParaRPr lang="en-US" sz="1200" dirty="0"/>
          </a:p>
        </p:txBody>
      </p:sp>
      <p:sp>
        <p:nvSpPr>
          <p:cNvPr id="16" name="Shape 14"/>
          <p:cNvSpPr/>
          <p:nvPr/>
        </p:nvSpPr>
        <p:spPr>
          <a:xfrm>
            <a:off x="548640" y="2843784"/>
            <a:ext cx="11064240" cy="402336"/>
          </a:xfrm>
          <a:prstGeom prst="rect">
            <a:avLst/>
          </a:prstGeom>
          <a:solidFill>
            <a:srgbClr val="F4F7FD"/>
          </a:solidFill>
          <a:ln/>
        </p:spPr>
        <p:txBody>
          <a:bodyPr/>
          <a:p/>
        </p:txBody>
      </p:sp>
      <p:sp>
        <p:nvSpPr>
          <p:cNvPr id="17" name="Text 15"/>
          <p:cNvSpPr/>
          <p:nvPr/>
        </p:nvSpPr>
        <p:spPr>
          <a:xfrm>
            <a:off x="731520" y="2843784"/>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ドメイン2: Tool Design &amp; MCP Integration(18%)</a:t>
            </a:r>
            <a:endParaRPr lang="en-US" sz="1250" dirty="0"/>
          </a:p>
        </p:txBody>
      </p:sp>
      <p:sp>
        <p:nvSpPr>
          <p:cNvPr id="18" name="Text 16"/>
          <p:cNvSpPr/>
          <p:nvPr/>
        </p:nvSpPr>
        <p:spPr>
          <a:xfrm>
            <a:off x="9875520" y="2843784"/>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33-38</a:t>
            </a:r>
            <a:endParaRPr lang="en-US" sz="1200" dirty="0"/>
          </a:p>
        </p:txBody>
      </p:sp>
      <p:sp>
        <p:nvSpPr>
          <p:cNvPr id="19" name="Text 17"/>
          <p:cNvSpPr/>
          <p:nvPr/>
        </p:nvSpPr>
        <p:spPr>
          <a:xfrm>
            <a:off x="731520" y="3246120"/>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ドメイン3: Claude Code Configuration &amp; Workflows(Skills等)(20%)</a:t>
            </a:r>
            <a:endParaRPr lang="en-US" sz="1250" dirty="0"/>
          </a:p>
        </p:txBody>
      </p:sp>
      <p:sp>
        <p:nvSpPr>
          <p:cNvPr id="20" name="Text 18"/>
          <p:cNvSpPr/>
          <p:nvPr/>
        </p:nvSpPr>
        <p:spPr>
          <a:xfrm>
            <a:off x="9875520" y="3246120"/>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39-46</a:t>
            </a:r>
            <a:endParaRPr lang="en-US" sz="1200" dirty="0"/>
          </a:p>
        </p:txBody>
      </p:sp>
      <p:sp>
        <p:nvSpPr>
          <p:cNvPr id="21" name="Shape 19"/>
          <p:cNvSpPr/>
          <p:nvPr/>
        </p:nvSpPr>
        <p:spPr>
          <a:xfrm>
            <a:off x="548640" y="3648456"/>
            <a:ext cx="11064240" cy="402336"/>
          </a:xfrm>
          <a:prstGeom prst="rect">
            <a:avLst/>
          </a:prstGeom>
          <a:solidFill>
            <a:srgbClr val="F4F7FD"/>
          </a:solidFill>
          <a:ln/>
        </p:spPr>
        <p:txBody>
          <a:bodyPr/>
          <a:p/>
        </p:txBody>
      </p:sp>
      <p:sp>
        <p:nvSpPr>
          <p:cNvPr id="22" name="Text 20"/>
          <p:cNvSpPr/>
          <p:nvPr/>
        </p:nvSpPr>
        <p:spPr>
          <a:xfrm>
            <a:off x="731520" y="3648456"/>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ドメイン4: Prompt Engineering &amp; Structured Output(20%)</a:t>
            </a:r>
            <a:endParaRPr lang="en-US" sz="1250" dirty="0"/>
          </a:p>
        </p:txBody>
      </p:sp>
      <p:sp>
        <p:nvSpPr>
          <p:cNvPr id="23" name="Text 21"/>
          <p:cNvSpPr/>
          <p:nvPr/>
        </p:nvSpPr>
        <p:spPr>
          <a:xfrm>
            <a:off x="9875520" y="3648456"/>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47-52</a:t>
            </a:r>
            <a:endParaRPr lang="en-US" sz="1200" dirty="0"/>
          </a:p>
        </p:txBody>
      </p:sp>
      <p:sp>
        <p:nvSpPr>
          <p:cNvPr id="24" name="Text 22"/>
          <p:cNvSpPr/>
          <p:nvPr/>
        </p:nvSpPr>
        <p:spPr>
          <a:xfrm>
            <a:off x="731520" y="4050792"/>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ドメイン5: Context Management &amp; Reliability(15%)</a:t>
            </a:r>
            <a:endParaRPr lang="en-US" sz="1250" dirty="0"/>
          </a:p>
        </p:txBody>
      </p:sp>
      <p:sp>
        <p:nvSpPr>
          <p:cNvPr id="25" name="Text 23"/>
          <p:cNvSpPr/>
          <p:nvPr/>
        </p:nvSpPr>
        <p:spPr>
          <a:xfrm>
            <a:off x="9875520" y="4050792"/>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53-64</a:t>
            </a:r>
            <a:endParaRPr lang="en-US" sz="1200" dirty="0"/>
          </a:p>
        </p:txBody>
      </p:sp>
      <p:sp>
        <p:nvSpPr>
          <p:cNvPr id="26" name="Shape 24"/>
          <p:cNvSpPr/>
          <p:nvPr/>
        </p:nvSpPr>
        <p:spPr>
          <a:xfrm>
            <a:off x="548640" y="4453128"/>
            <a:ext cx="11064240" cy="402336"/>
          </a:xfrm>
          <a:prstGeom prst="rect">
            <a:avLst/>
          </a:prstGeom>
          <a:solidFill>
            <a:srgbClr val="F4F7FD"/>
          </a:solidFill>
          <a:ln/>
        </p:spPr>
        <p:txBody>
          <a:bodyPr/>
          <a:p/>
        </p:txBody>
      </p:sp>
      <p:sp>
        <p:nvSpPr>
          <p:cNvPr id="27" name="Text 25"/>
          <p:cNvSpPr/>
          <p:nvPr/>
        </p:nvSpPr>
        <p:spPr>
          <a:xfrm>
            <a:off x="731520" y="4453128"/>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深掘り編: 実装レベルの設計原則(16項目)</a:t>
            </a:r>
            <a:endParaRPr lang="en-US" sz="1250" dirty="0"/>
          </a:p>
        </p:txBody>
      </p:sp>
      <p:sp>
        <p:nvSpPr>
          <p:cNvPr id="28" name="Text 26"/>
          <p:cNvSpPr/>
          <p:nvPr/>
        </p:nvSpPr>
        <p:spPr>
          <a:xfrm>
            <a:off x="9875520" y="4453128"/>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65-73</a:t>
            </a:r>
            <a:endParaRPr lang="en-US" sz="1200" dirty="0"/>
          </a:p>
        </p:txBody>
      </p:sp>
      <p:sp>
        <p:nvSpPr>
          <p:cNvPr id="29" name="Text 27"/>
          <p:cNvSpPr/>
          <p:nvPr/>
        </p:nvSpPr>
        <p:spPr>
          <a:xfrm>
            <a:off x="731520" y="4855464"/>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補足: AI Fluency・Bedrock/Vertex・6シナリオ詳細</a:t>
            </a:r>
            <a:endParaRPr lang="en-US" sz="1250" dirty="0"/>
          </a:p>
        </p:txBody>
      </p:sp>
      <p:sp>
        <p:nvSpPr>
          <p:cNvPr id="30" name="Text 28"/>
          <p:cNvSpPr/>
          <p:nvPr/>
        </p:nvSpPr>
        <p:spPr>
          <a:xfrm>
            <a:off x="9875520" y="4855464"/>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74-76</a:t>
            </a:r>
            <a:endParaRPr lang="en-US" sz="1200" dirty="0"/>
          </a:p>
        </p:txBody>
      </p:sp>
      <p:sp>
        <p:nvSpPr>
          <p:cNvPr id="31" name="Shape 29"/>
          <p:cNvSpPr/>
          <p:nvPr/>
        </p:nvSpPr>
        <p:spPr>
          <a:xfrm>
            <a:off x="548640" y="5257800"/>
            <a:ext cx="11064240" cy="402336"/>
          </a:xfrm>
          <a:prstGeom prst="rect">
            <a:avLst/>
          </a:prstGeom>
          <a:solidFill>
            <a:srgbClr val="F4F7FD"/>
          </a:solidFill>
          <a:ln/>
        </p:spPr>
        <p:txBody>
          <a:bodyPr/>
          <a:p/>
        </p:txBody>
      </p:sp>
      <p:sp>
        <p:nvSpPr>
          <p:cNvPr id="32" name="Text 30"/>
          <p:cNvSpPr/>
          <p:nvPr/>
        </p:nvSpPr>
        <p:spPr>
          <a:xfrm>
            <a:off x="731520" y="5257800"/>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公式サンプル問題12問+出題傾向+追加練習問題44問</a:t>
            </a:r>
            <a:endParaRPr lang="en-US" sz="1250" dirty="0"/>
          </a:p>
        </p:txBody>
      </p:sp>
      <p:sp>
        <p:nvSpPr>
          <p:cNvPr id="33" name="Text 31"/>
          <p:cNvSpPr/>
          <p:nvPr/>
        </p:nvSpPr>
        <p:spPr>
          <a:xfrm>
            <a:off x="9875520" y="5257800"/>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77-134</a:t>
            </a:r>
            <a:endParaRPr lang="en-US" sz="1200" dirty="0"/>
          </a:p>
        </p:txBody>
      </p:sp>
      <p:sp>
        <p:nvSpPr>
          <p:cNvPr id="34" name="Text 32"/>
          <p:cNvSpPr/>
          <p:nvPr/>
        </p:nvSpPr>
        <p:spPr>
          <a:xfrm>
            <a:off x="731520" y="5660136"/>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重要用語集・頻出の誤答パターン</a:t>
            </a:r>
            <a:endParaRPr lang="en-US" sz="1250" dirty="0"/>
          </a:p>
        </p:txBody>
      </p:sp>
      <p:sp>
        <p:nvSpPr>
          <p:cNvPr id="35" name="Text 33"/>
          <p:cNvSpPr/>
          <p:nvPr/>
        </p:nvSpPr>
        <p:spPr>
          <a:xfrm>
            <a:off x="9875520" y="5660136"/>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135-136</a:t>
            </a:r>
            <a:endParaRPr lang="en-US" sz="1200" dirty="0"/>
          </a:p>
        </p:txBody>
      </p:sp>
      <p:sp>
        <p:nvSpPr>
          <p:cNvPr id="36" name="Shape 34"/>
          <p:cNvSpPr/>
          <p:nvPr/>
        </p:nvSpPr>
        <p:spPr>
          <a:xfrm>
            <a:off x="548640" y="6062472"/>
            <a:ext cx="11064240" cy="402336"/>
          </a:xfrm>
          <a:prstGeom prst="rect">
            <a:avLst/>
          </a:prstGeom>
          <a:solidFill>
            <a:srgbClr val="F4F7FD"/>
          </a:solidFill>
          <a:ln/>
        </p:spPr>
        <p:txBody>
          <a:bodyPr/>
          <a:p/>
        </p:txBody>
      </p:sp>
      <p:sp>
        <p:nvSpPr>
          <p:cNvPr id="37" name="Text 35"/>
          <p:cNvSpPr/>
          <p:nvPr/>
        </p:nvSpPr>
        <p:spPr>
          <a:xfrm>
            <a:off x="731520" y="6062472"/>
            <a:ext cx="8961120" cy="402336"/>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受験前の確認事項</a:t>
            </a:r>
            <a:endParaRPr lang="en-US" sz="1250" dirty="0"/>
          </a:p>
        </p:txBody>
      </p:sp>
      <p:sp>
        <p:nvSpPr>
          <p:cNvPr id="38" name="Text 36"/>
          <p:cNvSpPr/>
          <p:nvPr/>
        </p:nvSpPr>
        <p:spPr>
          <a:xfrm>
            <a:off x="9875520" y="6062472"/>
            <a:ext cx="1554480" cy="402336"/>
          </a:xfrm>
          <a:prstGeom prst="rect">
            <a:avLst/>
          </a:prstGeom>
          <a:noFill/>
          <a:ln/>
        </p:spPr>
        <p:txBody>
          <a:bodyPr wrap="square" rtlCol="0" anchor="ctr"/>
          <a:lstStyle/>
          <a:p>
            <a:pPr algn="r" indent="0" marL="0">
              <a:buNone/>
            </a:pPr>
            <a:r>
              <a:rPr lang="en-US" sz="1200" dirty="0">
                <a:solidFill>
                  <a:srgbClr val="5B6472"/>
                </a:solidFill>
                <a:latin typeface="Meiryo" pitchFamily="34" charset="0"/>
                <a:ea typeface="Meiryo" pitchFamily="34" charset="-122"/>
                <a:cs typeface="Meiryo" pitchFamily="34" charset="-120"/>
              </a:rPr>
              <a:t>137</a:t>
            </a:r>
            <a:endParaRPr lang="en-US" sz="1200" dirty="0"/>
          </a:p>
        </p:txBody>
      </p:sp>
      <p:sp>
        <p:nvSpPr>
          <p:cNvPr id="39" name="Text 3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40" name="Text 38"/>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2</a:t>
            </a:r>
            <a:endParaRPr lang="en-US" sz="9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A</a:t>
            </a:r>
            <a:endParaRPr lang="en-US" sz="20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300" b="1" dirty="0">
                <a:solidFill>
                  <a:srgbClr val="1F2430"/>
                </a:solidFill>
                <a:latin typeface="Meiryo" pitchFamily="34" charset="0"/>
                <a:ea typeface="Meiryo" pitchFamily="34" charset="-122"/>
                <a:cs typeface="Meiryo" pitchFamily="34" charset="-120"/>
              </a:rPr>
              <a:t>普段の「チャット」と「API」は何が違うのか</a:t>
            </a:r>
            <a:endParaRPr lang="en-US" sz="2300" dirty="0"/>
          </a:p>
        </p:txBody>
      </p:sp>
      <p:sp>
        <p:nvSpPr>
          <p:cNvPr id="5" name="Shape 3"/>
          <p:cNvSpPr/>
          <p:nvPr/>
        </p:nvSpPr>
        <p:spPr>
          <a:xfrm>
            <a:off x="8686800" y="384048"/>
            <a:ext cx="2926080" cy="411480"/>
          </a:xfrm>
          <a:prstGeom prst="roundRect">
            <a:avLst>
              <a:gd name="adj" fmla="val 48889"/>
            </a:avLst>
          </a:prstGeom>
          <a:solidFill>
            <a:srgbClr val="F3E8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B3FA0"/>
                </a:solidFill>
                <a:latin typeface="Meiryo" pitchFamily="34" charset="0"/>
                <a:ea typeface="Meiryo" pitchFamily="34" charset="-122"/>
                <a:cs typeface="Meiryo" pitchFamily="34" charset="-120"/>
              </a:rPr>
              <a:t>超基礎編</a:t>
            </a:r>
            <a:endParaRPr lang="en-US" sz="11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Shape 6"/>
          <p:cNvSpPr/>
          <p:nvPr/>
        </p:nvSpPr>
        <p:spPr>
          <a:xfrm>
            <a:off x="548640" y="1097280"/>
            <a:ext cx="11064240" cy="594360"/>
          </a:xfrm>
          <a:prstGeom prst="roundRect">
            <a:avLst>
              <a:gd name="adj" fmla="val 12308"/>
            </a:avLst>
          </a:prstGeom>
          <a:solidFill>
            <a:srgbClr val="F4F7FD"/>
          </a:solidFill>
          <a:ln/>
        </p:spPr>
        <p:txBody>
          <a:bodyPr/>
          <a:p/>
        </p:txBody>
      </p:sp>
      <p:sp>
        <p:nvSpPr>
          <p:cNvPr id="9" name="Text 7"/>
          <p:cNvSpPr/>
          <p:nvPr/>
        </p:nvSpPr>
        <p:spPr>
          <a:xfrm>
            <a:off x="777240" y="1097280"/>
            <a:ext cx="10607040" cy="91440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普段Claudeを使う時は「画面に文字を打つ→返事が返ってくる」だけですが、裏側では文字だけでなく「見えないデータ」もやり取りされています。それがAPIの世界です。APIとは、人がその都度操作しなくても、コンピュータ(プログラム)同士が直接データをやり取りできる「窓口」のことです。</a:t>
            </a:r>
            <a:endParaRPr lang="en-US" sz="12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914400"/>
        </p:xfrm>
        <a:graphic>
          <a:graphicData uri="http://schemas.openxmlformats.org/drawingml/2006/table">
            <a:tbl>
              <a:tblPr/>
              <a:tblGrid>
                <a:gridCol w="1828800"/>
                <a:gridCol w="4389120"/>
                <a:gridCol w="4846320"/>
              </a:tblGrid>
              <a:tr h="0">
                <a:tc>
                  <a:txBody>
                    <a:bodyPr/>
                    <a:lstStyle/>
                    <a:p>
                      <a:pPr indent="0" marL="0">
                        <a:buNone/>
                      </a:pP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普段のチャット画面(claude.ai)</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API(プログラムからの利用)</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見えているもの</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文字だけ(会話の吹き出し)</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文字 + 見えないデータ(下記参照)</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やり取りの形</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人間が読む自然な文章</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プログラムが読み取れる「決まった形」のデータ(JSON等)</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応答に付くもの</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特になし(見た目上は)</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「なぜここで終わったか」等のラベルが必ず付く</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1" name="Text 8"/>
          <p:cNvSpPr/>
          <p:nvPr/>
        </p:nvSpPr>
        <p:spPr>
          <a:xfrm>
            <a:off x="548640" y="4160520"/>
            <a:ext cx="11064240" cy="32004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たとえ話: 宅配便の伝票</a:t>
            </a:r>
            <a:endParaRPr lang="en-US" sz="1300" dirty="0"/>
          </a:p>
        </p:txBody>
      </p:sp>
      <p:sp>
        <p:nvSpPr>
          <p:cNvPr id="12" name="Text 9"/>
          <p:cNvSpPr/>
          <p:nvPr/>
        </p:nvSpPr>
        <p:spPr>
          <a:xfrm>
            <a:off x="548640" y="452628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友達に荷物を手渡しする時は「はい、どうぞ」で済みます(=普段のチャット)</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宅配便で送る時は、荷物(中身=文字の返事)に必ず伝票(配送状況・重量などのラベル)が貼られます(=API)</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この「伝票に書かれた情報」にあたるものが、これから説明する ステータス・フラグ です</a:t>
            </a:r>
            <a:endParaRPr lang="en-US" sz="1250" dirty="0"/>
          </a:p>
        </p:txBody>
      </p:sp>
      <p:sp>
        <p:nvSpPr>
          <p:cNvPr id="13" name="Shape 10"/>
          <p:cNvSpPr/>
          <p:nvPr/>
        </p:nvSpPr>
        <p:spPr>
          <a:xfrm>
            <a:off x="548640" y="5943600"/>
            <a:ext cx="11064240" cy="960120"/>
          </a:xfrm>
          <a:prstGeom prst="roundRect">
            <a:avLst>
              <a:gd name="adj" fmla="val 7619"/>
            </a:avLst>
          </a:prstGeom>
          <a:solidFill>
            <a:srgbClr val="FBF1E4"/>
          </a:solidFill>
          <a:ln/>
        </p:spPr>
        <p:txBody>
          <a:bodyPr/>
          <a:p/>
        </p:txBody>
      </p:sp>
      <p:sp>
        <p:nvSpPr>
          <p:cNvPr id="14" name="Text 11"/>
          <p:cNvSpPr/>
          <p:nvPr/>
        </p:nvSpPr>
        <p:spPr>
          <a:xfrm>
            <a:off x="685800" y="603504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15" name="Text 12"/>
          <p:cNvSpPr/>
          <p:nvPr/>
        </p:nvSpPr>
        <p:spPr>
          <a:xfrm>
            <a:off x="1143000" y="60350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覚えておくと安心なこと</a:t>
            </a:r>
            <a:endParaRPr lang="en-US" sz="1300" dirty="0"/>
          </a:p>
        </p:txBody>
      </p:sp>
      <p:sp>
        <p:nvSpPr>
          <p:cNvPr id="16" name="Text 13"/>
          <p:cNvSpPr/>
          <p:nvPr/>
        </p:nvSpPr>
        <p:spPr>
          <a:xfrm>
            <a:off x="1143000" y="632764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本参考書で出てくる stop_reason・isError・tool_use といった単語は、全部この「伝票に書かれたラベル」の実例です。普段のチャット画面には出てこないので、初見で戸惑うのは自然なことです。</a:t>
            </a:r>
            <a:endParaRPr lang="en-US" sz="1200" dirty="0"/>
          </a:p>
        </p:txBody>
      </p:sp>
      <p:sp>
        <p:nvSpPr>
          <p:cNvPr id="17" name="Text 14"/>
          <p:cNvSpPr/>
          <p:nvPr/>
        </p:nvSpPr>
        <p:spPr>
          <a:xfrm>
            <a:off x="457200" y="685800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18" name="Text 15"/>
          <p:cNvSpPr/>
          <p:nvPr/>
        </p:nvSpPr>
        <p:spPr>
          <a:xfrm>
            <a:off x="9902952" y="685800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3</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B</a:t>
            </a:r>
            <a:endParaRPr lang="en-US" sz="20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300" b="1" dirty="0">
                <a:solidFill>
                  <a:srgbClr val="1F2430"/>
                </a:solidFill>
                <a:latin typeface="Meiryo" pitchFamily="34" charset="0"/>
                <a:ea typeface="Meiryo" pitchFamily="34" charset="-122"/>
                <a:cs typeface="Meiryo" pitchFamily="34" charset="-120"/>
              </a:rPr>
              <a:t>「ステータス」「フラグ」って結局なに?</a:t>
            </a:r>
            <a:endParaRPr lang="en-US" sz="2300" dirty="0"/>
          </a:p>
        </p:txBody>
      </p:sp>
      <p:sp>
        <p:nvSpPr>
          <p:cNvPr id="5" name="Shape 3"/>
          <p:cNvSpPr/>
          <p:nvPr/>
        </p:nvSpPr>
        <p:spPr>
          <a:xfrm>
            <a:off x="8686800" y="384048"/>
            <a:ext cx="2926080" cy="411480"/>
          </a:xfrm>
          <a:prstGeom prst="roundRect">
            <a:avLst>
              <a:gd name="adj" fmla="val 48889"/>
            </a:avLst>
          </a:prstGeom>
          <a:solidFill>
            <a:srgbClr val="F3E8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B3FA0"/>
                </a:solidFill>
                <a:latin typeface="Meiryo" pitchFamily="34" charset="0"/>
                <a:ea typeface="Meiryo" pitchFamily="34" charset="-122"/>
                <a:cs typeface="Meiryo" pitchFamily="34" charset="-120"/>
              </a:rPr>
              <a:t>超基礎編</a:t>
            </a:r>
            <a:endParaRPr lang="en-US" sz="11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97280"/>
            <a:ext cx="11064240" cy="36576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一言でいうと: 人間向けの「文章」とは別に付いている、プログラム向けの「短い合図」のこと</a:t>
            </a:r>
            <a:endParaRPr lang="en-US" sz="1300" dirty="0"/>
          </a:p>
        </p:txBody>
      </p:sp>
      <p:sp>
        <p:nvSpPr>
          <p:cNvPr id="9" name="Text 7"/>
          <p:cNvSpPr/>
          <p:nvPr/>
        </p:nvSpPr>
        <p:spPr>
          <a:xfrm>
            <a:off x="548640" y="1600200"/>
            <a:ext cx="5303520" cy="32004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身近な例で考える</a:t>
            </a:r>
            <a:endParaRPr lang="en-US" sz="1300" dirty="0"/>
          </a:p>
        </p:txBody>
      </p:sp>
      <p:sp>
        <p:nvSpPr>
          <p:cNvPr id="10" name="Text 8"/>
          <p:cNvSpPr/>
          <p:nvPr/>
        </p:nvSpPr>
        <p:spPr>
          <a:xfrm>
            <a:off x="548640" y="1965960"/>
            <a:ext cx="5303520"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信号機の「赤・青・黄」→ 説明文なしで一瞬で「進む/止まる」が伝わる合図</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宅配の「配達完了」「不在」「保留中」→ 一言のラベルで状況が伝わる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コンビニのレシートの「返品可」「返品不可」→ 決まった選択肢の中の1つが表示される</a:t>
            </a:r>
            <a:endParaRPr lang="en-US" sz="1250" dirty="0"/>
          </a:p>
        </p:txBody>
      </p:sp>
      <p:sp>
        <p:nvSpPr>
          <p:cNvPr id="11" name="Text 9"/>
          <p:cNvSpPr/>
          <p:nvPr/>
        </p:nvSpPr>
        <p:spPr>
          <a:xfrm>
            <a:off x="6126480" y="1600200"/>
            <a:ext cx="5303520" cy="32004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これをAIの世界に当てはめると</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126480" y="1965960"/>
          <a:ext cx="5303520" cy="914400"/>
        </p:xfrm>
        <a:graphic>
          <a:graphicData uri="http://schemas.openxmlformats.org/drawingml/2006/table">
            <a:tbl>
              <a:tblPr/>
              <a:tblGrid>
                <a:gridCol w="1828800"/>
                <a:gridCol w="3474720"/>
              </a:tblGrid>
              <a:tr h="0">
                <a:tc>
                  <a:txBody>
                    <a:bodyPr/>
                    <a:lstStyle/>
                    <a:p>
                      <a:pPr indent="0" marL="0">
                        <a:buNone/>
                      </a:pPr>
                      <a:r>
                        <a:rPr lang="en-US" sz="1050" dirty="0">
                          <a:solidFill>
                            <a:srgbClr val="1F2430"/>
                          </a:solidFill>
                          <a:latin typeface="Meiryo" pitchFamily="34" charset="0"/>
                          <a:ea typeface="Meiryo" pitchFamily="34" charset="-122"/>
                          <a:cs typeface="Meiryo" pitchFamily="34" charset="-120"/>
                        </a:rPr>
                        <a:t>用語</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信号機で言うと</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430"/>
                          </a:solidFill>
                          <a:latin typeface="Meiryo" pitchFamily="34" charset="0"/>
                          <a:ea typeface="Meiryo" pitchFamily="34" charset="-122"/>
                          <a:cs typeface="Meiryo" pitchFamily="34" charset="-120"/>
                        </a:rPr>
                        <a:t>ステータス(status)</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今どの色が点灯しているか、の状態そのもの</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430"/>
                          </a:solidFill>
                          <a:latin typeface="Meiryo" pitchFamily="34" charset="0"/>
                          <a:ea typeface="Meiryo" pitchFamily="34" charset="-122"/>
                          <a:cs typeface="Meiryo" pitchFamily="34" charset="-120"/>
                        </a:rPr>
                        <a:t>フラグ(flag)</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「はい/いいえ」の2択スイッチ(例: 故障中フラグON/OFF)</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430"/>
                          </a:solidFill>
                          <a:latin typeface="Meiryo" pitchFamily="34" charset="0"/>
                          <a:ea typeface="Meiryo" pitchFamily="34" charset="-122"/>
                          <a:cs typeface="Meiryo" pitchFamily="34" charset="-120"/>
                        </a:rPr>
                        <a:t>stop_reason</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「なぜ今の応答を止めたか」の信号(全6色)</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430"/>
                          </a:solidFill>
                          <a:latin typeface="Meiryo" pitchFamily="34" charset="0"/>
                          <a:ea typeface="Meiryo" pitchFamily="34" charset="-122"/>
                          <a:cs typeface="Meiryo" pitchFamily="34" charset="-120"/>
                        </a:rPr>
                        <a:t>isError</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「これはエラーだったか」のON/OFFフラグ</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3" name="Text 10"/>
          <p:cNvSpPr/>
          <p:nvPr/>
        </p:nvSpPr>
        <p:spPr>
          <a:xfrm>
            <a:off x="548640" y="4572000"/>
            <a:ext cx="11064240" cy="32004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なぜ「文章」だけでなく「ステータス」が必要なのか</a:t>
            </a:r>
            <a:endParaRPr lang="en-US" sz="1300" dirty="0"/>
          </a:p>
        </p:txBody>
      </p:sp>
      <p:sp>
        <p:nvSpPr>
          <p:cNvPr id="14" name="Text 11"/>
          <p:cNvSpPr/>
          <p:nvPr/>
        </p:nvSpPr>
        <p:spPr>
          <a:xfrm>
            <a:off x="548640" y="4937760"/>
            <a:ext cx="11064240" cy="12801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文章は人間が読んで解釈するもの。表現の揺れがある(「終わりました」「完了です」「以上です」)</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プログラムは文章の細かいニュアンスを正確に読み取るのが苦手。だから「決まったラベル」で機械的に判断させる</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これが以前説明した「stop_reasonを見てループを止める(文章を読んで判断しない)」の理由そのもの</a:t>
            </a:r>
            <a:endParaRPr lang="en-US" sz="1200" dirty="0"/>
          </a:p>
        </p:txBody>
      </p:sp>
      <p:sp>
        <p:nvSpPr>
          <p:cNvPr id="15" name="Text 1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16" name="Text 13"/>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4</a:t>
            </a:r>
            <a:endParaRPr lang="en-US" sz="9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C</a:t>
            </a:r>
            <a:endParaRPr lang="en-US" sz="20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300" b="1" dirty="0">
                <a:solidFill>
                  <a:srgbClr val="1F2430"/>
                </a:solidFill>
                <a:latin typeface="Meiryo" pitchFamily="34" charset="0"/>
                <a:ea typeface="Meiryo" pitchFamily="34" charset="-122"/>
                <a:cs typeface="Meiryo" pitchFamily="34" charset="-120"/>
              </a:rPr>
              <a:t>JSON(データの入れ物)って何?</a:t>
            </a:r>
            <a:endParaRPr lang="en-US" sz="2300" dirty="0"/>
          </a:p>
        </p:txBody>
      </p:sp>
      <p:sp>
        <p:nvSpPr>
          <p:cNvPr id="5" name="Shape 3"/>
          <p:cNvSpPr/>
          <p:nvPr/>
        </p:nvSpPr>
        <p:spPr>
          <a:xfrm>
            <a:off x="8686800" y="384048"/>
            <a:ext cx="2926080" cy="411480"/>
          </a:xfrm>
          <a:prstGeom prst="roundRect">
            <a:avLst>
              <a:gd name="adj" fmla="val 48889"/>
            </a:avLst>
          </a:prstGeom>
          <a:solidFill>
            <a:srgbClr val="F3E8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B3FA0"/>
                </a:solidFill>
                <a:latin typeface="Meiryo" pitchFamily="34" charset="0"/>
                <a:ea typeface="Meiryo" pitchFamily="34" charset="-122"/>
                <a:cs typeface="Meiryo" pitchFamily="34" charset="-120"/>
              </a:rPr>
              <a:t>超基礎編</a:t>
            </a:r>
            <a:endParaRPr lang="en-US" sz="11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97280"/>
            <a:ext cx="11064240" cy="45720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一言でいうと: 「項目名: 値」という組み合わせで情報を整理する、プログラム用のメモ書きフォーマット</a:t>
            </a:r>
            <a:endParaRPr lang="en-US" sz="1300" dirty="0"/>
          </a:p>
        </p:txBody>
      </p:sp>
      <p:sp>
        <p:nvSpPr>
          <p:cNvPr id="9" name="Text 7"/>
          <p:cNvSpPr/>
          <p:nvPr/>
        </p:nvSpPr>
        <p:spPr>
          <a:xfrm>
            <a:off x="548640" y="1691640"/>
            <a:ext cx="5303520" cy="32004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人間向けの文章</a:t>
            </a:r>
            <a:endParaRPr lang="en-US" sz="1250" dirty="0"/>
          </a:p>
        </p:txBody>
      </p:sp>
      <p:sp>
        <p:nvSpPr>
          <p:cNvPr id="10" name="Shape 8"/>
          <p:cNvSpPr/>
          <p:nvPr/>
        </p:nvSpPr>
        <p:spPr>
          <a:xfrm>
            <a:off x="548640" y="2057400"/>
            <a:ext cx="5303520" cy="1280160"/>
          </a:xfrm>
          <a:prstGeom prst="roundRect">
            <a:avLst>
              <a:gd name="adj" fmla="val 5714"/>
            </a:avLst>
          </a:prstGeom>
          <a:solidFill>
            <a:srgbClr val="F4F7FD"/>
          </a:solidFill>
          <a:ln/>
        </p:spPr>
        <p:txBody>
          <a:bodyPr/>
          <a:p/>
        </p:txBody>
      </p:sp>
      <p:sp>
        <p:nvSpPr>
          <p:cNvPr id="11" name="Text 9"/>
          <p:cNvSpPr/>
          <p:nvPr/>
        </p:nvSpPr>
        <p:spPr>
          <a:xfrm>
            <a:off x="777240" y="2240280"/>
            <a:ext cx="4846320" cy="914400"/>
          </a:xfrm>
          <a:prstGeom prst="rect">
            <a:avLst/>
          </a:prstGeom>
          <a:noFill/>
          <a:ln/>
        </p:spPr>
        <p:txBody>
          <a:bodyPr wrap="square" rtlCol="0" anchor="t"/>
          <a:lstStyle/>
          <a:p>
            <a:pPr indent="0" marL="0">
              <a:buNone/>
            </a:pPr>
            <a:r>
              <a:rPr lang="en-US" sz="1300" dirty="0">
                <a:solidFill>
                  <a:srgbClr val="1F2430"/>
                </a:solidFill>
                <a:latin typeface="Meiryo" pitchFamily="34" charset="0"/>
                <a:ea typeface="Meiryo" pitchFamily="34" charset="-122"/>
                <a:cs typeface="Meiryo" pitchFamily="34" charset="-120"/>
              </a:rPr>
              <a:t>田中さんは32歳のエンジニアで、</a:t>
            </a:r>
            <a:endParaRPr lang="en-US" sz="1300" dirty="0"/>
          </a:p>
          <a:p>
            <a:pPr indent="0" marL="0">
              <a:buNone/>
            </a:pPr>
            <a:r>
              <a:rPr lang="en-US" sz="1300" dirty="0">
                <a:solidFill>
                  <a:srgbClr val="1F2430"/>
                </a:solidFill>
                <a:latin typeface="Meiryo" pitchFamily="34" charset="0"/>
                <a:ea typeface="Meiryo" pitchFamily="34" charset="-122"/>
                <a:cs typeface="Meiryo" pitchFamily="34" charset="-120"/>
              </a:rPr>
              <a:t>東京在住です。</a:t>
            </a:r>
            <a:endParaRPr lang="en-US" sz="1300" dirty="0"/>
          </a:p>
        </p:txBody>
      </p:sp>
      <p:sp>
        <p:nvSpPr>
          <p:cNvPr id="12" name="Text 10"/>
          <p:cNvSpPr/>
          <p:nvPr/>
        </p:nvSpPr>
        <p:spPr>
          <a:xfrm>
            <a:off x="6126480" y="1691640"/>
            <a:ext cx="5303520" cy="32004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同じ情報をJSONで書くと</a:t>
            </a:r>
            <a:endParaRPr lang="en-US" sz="1250" dirty="0"/>
          </a:p>
        </p:txBody>
      </p:sp>
      <p:sp>
        <p:nvSpPr>
          <p:cNvPr id="13" name="Shape 11"/>
          <p:cNvSpPr/>
          <p:nvPr/>
        </p:nvSpPr>
        <p:spPr>
          <a:xfrm>
            <a:off x="6126480" y="2057400"/>
            <a:ext cx="5303520" cy="1280160"/>
          </a:xfrm>
          <a:prstGeom prst="roundRect">
            <a:avLst>
              <a:gd name="adj" fmla="val 5714"/>
            </a:avLst>
          </a:prstGeom>
          <a:solidFill>
            <a:srgbClr val="141B44"/>
          </a:solidFill>
          <a:ln/>
        </p:spPr>
        <p:txBody>
          <a:bodyPr/>
          <a:p/>
        </p:txBody>
      </p:sp>
      <p:sp>
        <p:nvSpPr>
          <p:cNvPr id="14" name="Text 12"/>
          <p:cNvSpPr/>
          <p:nvPr/>
        </p:nvSpPr>
        <p:spPr>
          <a:xfrm>
            <a:off x="6355080" y="2148840"/>
            <a:ext cx="4846320" cy="1097280"/>
          </a:xfrm>
          <a:prstGeom prst="rect">
            <a:avLst/>
          </a:prstGeom>
          <a:noFill/>
          <a:ln/>
        </p:spPr>
        <p:txBody>
          <a:bodyPr wrap="square" rtlCol="0" anchor="t"/>
          <a:lstStyle/>
          <a:p>
            <a:pPr indent="0" marL="0">
              <a:buNone/>
            </a:pPr>
            <a:r>
              <a:rPr lang="en-US" sz="1150" dirty="0">
                <a:solidFill>
                  <a:srgbClr val="D8E2FF"/>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D8E2FF"/>
                </a:solidFill>
                <a:latin typeface="Consolas" pitchFamily="34" charset="0"/>
                <a:ea typeface="Consolas" pitchFamily="34" charset="-122"/>
                <a:cs typeface="Consolas" pitchFamily="34" charset="-120"/>
              </a:rPr>
              <a:t>  "name": "田中",</a:t>
            </a:r>
            <a:endParaRPr lang="en-US" sz="1150" dirty="0"/>
          </a:p>
          <a:p>
            <a:pPr indent="0" marL="0">
              <a:buNone/>
            </a:pPr>
            <a:r>
              <a:rPr lang="en-US" sz="1150" dirty="0">
                <a:solidFill>
                  <a:srgbClr val="D8E2FF"/>
                </a:solidFill>
                <a:latin typeface="Consolas" pitchFamily="34" charset="0"/>
                <a:ea typeface="Consolas" pitchFamily="34" charset="-122"/>
                <a:cs typeface="Consolas" pitchFamily="34" charset="-120"/>
              </a:rPr>
              <a:t>  "age": 32,</a:t>
            </a:r>
            <a:endParaRPr lang="en-US" sz="1150" dirty="0"/>
          </a:p>
          <a:p>
            <a:pPr indent="0" marL="0">
              <a:buNone/>
            </a:pPr>
            <a:r>
              <a:rPr lang="en-US" sz="1150" dirty="0">
                <a:solidFill>
                  <a:srgbClr val="D8E2FF"/>
                </a:solidFill>
                <a:latin typeface="Consolas" pitchFamily="34" charset="0"/>
                <a:ea typeface="Consolas" pitchFamily="34" charset="-122"/>
                <a:cs typeface="Consolas" pitchFamily="34" charset="-120"/>
              </a:rPr>
              <a:t>  "job": "エンジニア",</a:t>
            </a:r>
            <a:endParaRPr lang="en-US" sz="1150" dirty="0"/>
          </a:p>
          <a:p>
            <a:pPr indent="0" marL="0">
              <a:buNone/>
            </a:pPr>
            <a:r>
              <a:rPr lang="en-US" sz="1150" dirty="0">
                <a:solidFill>
                  <a:srgbClr val="D8E2FF"/>
                </a:solidFill>
                <a:latin typeface="Consolas" pitchFamily="34" charset="0"/>
                <a:ea typeface="Consolas" pitchFamily="34" charset="-122"/>
                <a:cs typeface="Consolas" pitchFamily="34" charset="-120"/>
              </a:rPr>
              <a:t>  "city": "東京"</a:t>
            </a:r>
            <a:endParaRPr lang="en-US" sz="1150" dirty="0"/>
          </a:p>
          <a:p>
            <a:pPr indent="0" marL="0">
              <a:buNone/>
            </a:pPr>
            <a:r>
              <a:rPr lang="en-US" sz="1150" dirty="0">
                <a:solidFill>
                  <a:srgbClr val="D8E2FF"/>
                </a:solidFill>
                <a:latin typeface="Consolas" pitchFamily="34" charset="0"/>
                <a:ea typeface="Consolas" pitchFamily="34" charset="-122"/>
                <a:cs typeface="Consolas" pitchFamily="34" charset="-120"/>
              </a:rPr>
              <a:t>}</a:t>
            </a:r>
            <a:endParaRPr lang="en-US" sz="1150" dirty="0"/>
          </a:p>
        </p:txBody>
      </p:sp>
      <p:sp>
        <p:nvSpPr>
          <p:cNvPr id="15" name="Text 13"/>
          <p:cNvSpPr/>
          <p:nvPr/>
        </p:nvSpPr>
        <p:spPr>
          <a:xfrm>
            <a:off x="548640" y="3611880"/>
            <a:ext cx="1106424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人間には読みにくく見えるが、プログラムは「name(項目名)の値は田中」と機械的に一瞬で取り出せる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本参考書の「構造化出力」「JSON Schema」は、このJSON形式で必ず情報を返させる仕組みのこと</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「required(必須)」「nullable(空でもよい)」といった用語も、このJSONの各項目に対するルール</a:t>
            </a:r>
            <a:endParaRPr lang="en-US" sz="1250" dirty="0"/>
          </a:p>
        </p:txBody>
      </p:sp>
      <p:sp>
        <p:nvSpPr>
          <p:cNvPr id="16" name="Shape 14"/>
          <p:cNvSpPr/>
          <p:nvPr/>
        </p:nvSpPr>
        <p:spPr>
          <a:xfrm>
            <a:off x="548640" y="5486400"/>
            <a:ext cx="11064240" cy="960120"/>
          </a:xfrm>
          <a:prstGeom prst="roundRect">
            <a:avLst>
              <a:gd name="adj" fmla="val 7619"/>
            </a:avLst>
          </a:prstGeom>
          <a:solidFill>
            <a:srgbClr val="FBF1E4"/>
          </a:solidFill>
          <a:ln/>
        </p:spPr>
        <p:txBody>
          <a:bodyPr/>
          <a:p/>
        </p:txBody>
      </p:sp>
      <p:sp>
        <p:nvSpPr>
          <p:cNvPr id="17" name="Text 15"/>
          <p:cNvSpPr/>
          <p:nvPr/>
        </p:nvSpPr>
        <p:spPr>
          <a:xfrm>
            <a:off x="685800" y="557784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18" name="Text 16"/>
          <p:cNvSpPr/>
          <p:nvPr/>
        </p:nvSpPr>
        <p:spPr>
          <a:xfrm>
            <a:off x="1143000" y="55778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ポイント</a:t>
            </a:r>
            <a:endParaRPr lang="en-US" sz="1300" dirty="0"/>
          </a:p>
        </p:txBody>
      </p:sp>
      <p:sp>
        <p:nvSpPr>
          <p:cNvPr id="19" name="Text 17"/>
          <p:cNvSpPr/>
          <p:nvPr/>
        </p:nvSpPr>
        <p:spPr>
          <a:xfrm>
            <a:off x="1143000" y="587044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「なぜチャットの会話みたいに文章で答えさせないのか?」→ 文章だと表現がバラつき、プログラムが正確に値を取り出せないから。JSONのような決まった型で出力させることで、後続の処理(保存・表示・判定)を自動化できる。</a:t>
            </a:r>
            <a:endParaRPr lang="en-US" sz="1200" dirty="0"/>
          </a:p>
        </p:txBody>
      </p:sp>
      <p:sp>
        <p:nvSpPr>
          <p:cNvPr id="20" name="Text 1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21" name="Text 1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試験の基本情報(2026年7月時点)</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766560" cy="914400"/>
        </p:xfrm>
        <a:graphic>
          <a:graphicData uri="http://schemas.openxmlformats.org/drawingml/2006/table">
            <a:tbl>
              <a:tblPr/>
              <a:tblGrid>
                <a:gridCol w="2286000"/>
                <a:gridCol w="448056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問題数</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60問(6シナリオ中4つ×各15問)</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出題形式</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シナリオベース 4択(正解1つ)</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試験時間</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120分(着席135分)</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受験言語</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英語のみ</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試験形式</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Pearson VUE(オンライン監督 or テストセンター)</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受験料</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$125(2026年6月30日改定・旧$99から値上げ)</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合格点</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1000点満点中 720点以上(スケールスコア)</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無回答の扱い</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不正解扱い → 必ず1つ選ぶ(消去法推奨)</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認定の有効期限</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取得日から12ヶ月(新設。期限内は無料の再認定で更新可)</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再受験</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不合格でも12ヶ月で最大4回可(14/30/90日の待機制)</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受験の前提</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Claude Partner Network参加(企業単位・無料)</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5532120"/>
            <a:ext cx="6766560" cy="502920"/>
          </a:xfrm>
          <a:prstGeom prst="rect">
            <a:avLst/>
          </a:prstGeom>
          <a:noFill/>
          <a:ln/>
        </p:spPr>
        <p:txBody>
          <a:bodyPr wrap="square" rtlCol="0" anchor="ctr"/>
          <a:lstStyle/>
          <a:p>
            <a:pPr indent="0" marL="0">
              <a:buNone/>
            </a:pPr>
            <a:r>
              <a:rPr lang="en-US" sz="1000" i="1" dirty="0">
                <a:solidFill>
                  <a:srgbClr val="5B6472"/>
                </a:solidFill>
                <a:latin typeface="Meiryo" pitchFamily="34" charset="0"/>
                <a:ea typeface="Meiryo" pitchFamily="34" charset="-122"/>
                <a:cs typeface="Meiryo" pitchFamily="34" charset="-120"/>
              </a:rPr>
              <a:t>※2026年6月30日にProctorFree→Pearson VUEへ移行し、料金・再受験・有効期限のルールが刷新された。公式模擬試験は廃止され、Exam GuidePDFのサンプル問題が唯一の演習材料に</a:t>
            </a:r>
            <a:endParaRPr lang="en-US" sz="1000" dirty="0"/>
          </a:p>
        </p:txBody>
      </p:sp>
      <p:sp>
        <p:nvSpPr>
          <p:cNvPr id="8" name="Shape 4"/>
          <p:cNvSpPr/>
          <p:nvPr/>
        </p:nvSpPr>
        <p:spPr>
          <a:xfrm>
            <a:off x="7589520" y="1188720"/>
            <a:ext cx="4114800" cy="4754880"/>
          </a:xfrm>
          <a:prstGeom prst="roundRect">
            <a:avLst>
              <a:gd name="adj" fmla="val 2222"/>
            </a:avLst>
          </a:prstGeom>
          <a:solidFill>
            <a:srgbClr val="1E2761"/>
          </a:solidFill>
          <a:ln/>
          <a:effectLst>
            <a:outerShdw sx="100000" sy="100000" kx="0" ky="0" algn="bl" rotWithShape="0" blurRad="101600" dist="38100" dir="2700000">
              <a:srgbClr val="000000">
                <a:alpha val="15000"/>
              </a:srgbClr>
            </a:outerShdw>
          </a:effectLst>
        </p:spPr>
        <p:txBody>
          <a:bodyPr/>
          <a:p/>
        </p:txBody>
      </p:sp>
      <p:sp>
        <p:nvSpPr>
          <p:cNvPr id="9" name="Text 5"/>
          <p:cNvSpPr/>
          <p:nvPr/>
        </p:nvSpPr>
        <p:spPr>
          <a:xfrm>
            <a:off x="7863840" y="1371600"/>
            <a:ext cx="3657600" cy="365760"/>
          </a:xfrm>
          <a:prstGeom prst="rect">
            <a:avLst/>
          </a:prstGeom>
          <a:noFill/>
          <a:ln/>
        </p:spPr>
        <p:txBody>
          <a:bodyPr wrap="square" rtlCol="0" anchor="ctr"/>
          <a:lstStyle/>
          <a:p>
            <a:pPr indent="0" marL="0">
              <a:buNone/>
            </a:pPr>
            <a:r>
              <a:rPr lang="en-US" sz="1400" b="1" dirty="0">
                <a:solidFill>
                  <a:srgbClr val="FFFFFF"/>
                </a:solidFill>
                <a:latin typeface="Meiryo" pitchFamily="34" charset="0"/>
                <a:ea typeface="Meiryo" pitchFamily="34" charset="-122"/>
                <a:cs typeface="Meiryo" pitchFamily="34" charset="-120"/>
              </a:rPr>
              <a:t>試験は6シナリオ中4つが出題</a:t>
            </a:r>
            <a:endParaRPr lang="en-US" sz="1400" dirty="0"/>
          </a:p>
        </p:txBody>
      </p:sp>
      <p:sp>
        <p:nvSpPr>
          <p:cNvPr id="10" name="Text 6"/>
          <p:cNvSpPr/>
          <p:nvPr/>
        </p:nvSpPr>
        <p:spPr>
          <a:xfrm>
            <a:off x="7863840" y="182880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CADCFC"/>
                </a:solidFill>
                <a:latin typeface="Meiryo" pitchFamily="34" charset="0"/>
                <a:ea typeface="Meiryo" pitchFamily="34" charset="-122"/>
                <a:cs typeface="Meiryo" pitchFamily="34" charset="-120"/>
              </a:rPr>
              <a:t>カスタマーサポートエージェント</a:t>
            </a:r>
            <a:endParaRPr lang="en-US" sz="1300" dirty="0"/>
          </a:p>
          <a:p>
            <a:pPr marL="342900" indent="-342900">
              <a:spcAft>
                <a:spcPts val="800"/>
              </a:spcAft>
              <a:buSzPct val="100000"/>
              <a:buChar char="•"/>
            </a:pPr>
            <a:r>
              <a:rPr lang="en-US" sz="1300" dirty="0">
                <a:solidFill>
                  <a:srgbClr val="CADCFC"/>
                </a:solidFill>
                <a:latin typeface="Meiryo" pitchFamily="34" charset="0"/>
                <a:ea typeface="Meiryo" pitchFamily="34" charset="-122"/>
                <a:cs typeface="Meiryo" pitchFamily="34" charset="-120"/>
              </a:rPr>
              <a:t>Claude Codeによるコード生成</a:t>
            </a:r>
            <a:endParaRPr lang="en-US" sz="1300" dirty="0"/>
          </a:p>
          <a:p>
            <a:pPr marL="342900" indent="-342900">
              <a:spcAft>
                <a:spcPts val="800"/>
              </a:spcAft>
              <a:buSzPct val="100000"/>
              <a:buChar char="•"/>
            </a:pPr>
            <a:r>
              <a:rPr lang="en-US" sz="1300" dirty="0">
                <a:solidFill>
                  <a:srgbClr val="CADCFC"/>
                </a:solidFill>
                <a:latin typeface="Meiryo" pitchFamily="34" charset="0"/>
                <a:ea typeface="Meiryo" pitchFamily="34" charset="-122"/>
                <a:cs typeface="Meiryo" pitchFamily="34" charset="-120"/>
              </a:rPr>
              <a:t>マルチエージェント・リサーチシステム</a:t>
            </a:r>
            <a:endParaRPr lang="en-US" sz="1300" dirty="0"/>
          </a:p>
          <a:p>
            <a:pPr marL="342900" indent="-342900">
              <a:spcAft>
                <a:spcPts val="800"/>
              </a:spcAft>
              <a:buSzPct val="100000"/>
              <a:buChar char="•"/>
            </a:pPr>
            <a:r>
              <a:rPr lang="en-US" sz="1300" dirty="0">
                <a:solidFill>
                  <a:srgbClr val="CADCFC"/>
                </a:solidFill>
                <a:latin typeface="Meiryo" pitchFamily="34" charset="0"/>
                <a:ea typeface="Meiryo" pitchFamily="34" charset="-122"/>
                <a:cs typeface="Meiryo" pitchFamily="34" charset="-120"/>
              </a:rPr>
              <a:t>開発者の生産性向上</a:t>
            </a:r>
            <a:endParaRPr lang="en-US" sz="1300" dirty="0"/>
          </a:p>
          <a:p>
            <a:pPr marL="342900" indent="-342900">
              <a:spcAft>
                <a:spcPts val="800"/>
              </a:spcAft>
              <a:buSzPct val="100000"/>
              <a:buChar char="•"/>
            </a:pPr>
            <a:r>
              <a:rPr lang="en-US" sz="1300" dirty="0">
                <a:solidFill>
                  <a:srgbClr val="CADCFC"/>
                </a:solidFill>
                <a:latin typeface="Meiryo" pitchFamily="34" charset="0"/>
                <a:ea typeface="Meiryo" pitchFamily="34" charset="-122"/>
                <a:cs typeface="Meiryo" pitchFamily="34" charset="-120"/>
              </a:rPr>
              <a:t>Claude CodeによるCI/CD(→次ページ)</a:t>
            </a:r>
            <a:endParaRPr lang="en-US" sz="1300" dirty="0"/>
          </a:p>
          <a:p>
            <a:pPr marL="342900" indent="-342900">
              <a:spcAft>
                <a:spcPts val="800"/>
              </a:spcAft>
              <a:buSzPct val="100000"/>
              <a:buChar char="•"/>
            </a:pPr>
            <a:r>
              <a:rPr lang="en-US" sz="1300" dirty="0">
                <a:solidFill>
                  <a:srgbClr val="CADCFC"/>
                </a:solidFill>
                <a:latin typeface="Meiryo" pitchFamily="34" charset="0"/>
                <a:ea typeface="Meiryo" pitchFamily="34" charset="-122"/>
                <a:cs typeface="Meiryo" pitchFamily="34" charset="-120"/>
              </a:rPr>
              <a:t>構造化データ抽出</a:t>
            </a:r>
            <a:endParaRPr lang="en-US" sz="1300" dirty="0"/>
          </a:p>
        </p:txBody>
      </p:sp>
      <p:sp>
        <p:nvSpPr>
          <p:cNvPr id="11" name="Text 7"/>
          <p:cNvSpPr/>
          <p:nvPr/>
        </p:nvSpPr>
        <p:spPr>
          <a:xfrm>
            <a:off x="7863840" y="4709160"/>
            <a:ext cx="3657600" cy="502920"/>
          </a:xfrm>
          <a:prstGeom prst="rect">
            <a:avLst/>
          </a:prstGeom>
          <a:noFill/>
          <a:ln/>
        </p:spPr>
        <p:txBody>
          <a:bodyPr wrap="square" rtlCol="0" anchor="ctr"/>
          <a:lstStyle/>
          <a:p>
            <a:pPr indent="0" marL="0">
              <a:buNone/>
            </a:pPr>
            <a:r>
              <a:rPr lang="en-US" sz="1050" i="1" dirty="0">
                <a:solidFill>
                  <a:srgbClr val="8FA3D9"/>
                </a:solidFill>
                <a:latin typeface="Meiryo" pitchFamily="34" charset="0"/>
                <a:ea typeface="Meiryo" pitchFamily="34" charset="-122"/>
                <a:cs typeface="Meiryo" pitchFamily="34" charset="-120"/>
              </a:rPr>
              <a:t>公式模擬試験は4シナリオ固定で提供されていたが2026年7月に廃止</a:t>
            </a:r>
            <a:endParaRPr lang="en-US" sz="1050" dirty="0"/>
          </a:p>
        </p:txBody>
      </p:sp>
      <p:sp>
        <p:nvSpPr>
          <p:cNvPr id="12" name="Text 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3" name="Text 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a:t>
            </a:r>
            <a:endParaRPr lang="en-US" sz="10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CI</a:t>
            </a:r>
            <a:endParaRPr lang="en-US" sz="14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300" b="1" dirty="0">
                <a:solidFill>
                  <a:srgbClr val="1F2430"/>
                </a:solidFill>
                <a:latin typeface="Meiryo" pitchFamily="34" charset="0"/>
                <a:ea typeface="Meiryo" pitchFamily="34" charset="-122"/>
                <a:cs typeface="Meiryo" pitchFamily="34" charset="-120"/>
              </a:rPr>
              <a:t>そもそも「CI/CD」とは何か</a:t>
            </a:r>
            <a:endParaRPr lang="en-US" sz="2300" dirty="0"/>
          </a:p>
        </p:txBody>
      </p:sp>
      <p:sp>
        <p:nvSpPr>
          <p:cNvPr id="5" name="Shape 3"/>
          <p:cNvSpPr/>
          <p:nvPr/>
        </p:nvSpPr>
        <p:spPr>
          <a:xfrm>
            <a:off x="8686800" y="384048"/>
            <a:ext cx="2926080" cy="411480"/>
          </a:xfrm>
          <a:prstGeom prst="roundRect">
            <a:avLst>
              <a:gd name="adj" fmla="val 48889"/>
            </a:avLst>
          </a:prstGeom>
          <a:solidFill>
            <a:srgbClr val="F3E8F7"/>
          </a:solidFill>
          <a:ln/>
        </p:spPr>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8B3FA0"/>
                </a:solidFill>
                <a:latin typeface="Meiryo" pitchFamily="34" charset="0"/>
                <a:ea typeface="Meiryo" pitchFamily="34" charset="-122"/>
                <a:cs typeface="Meiryo" pitchFamily="34" charset="-120"/>
              </a:rPr>
              <a:t>超基礎編</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sp>
      <p:sp>
        <p:nvSpPr>
          <p:cNvPr id="8" name="Shape 6"/>
          <p:cNvSpPr/>
          <p:nvPr/>
        </p:nvSpPr>
        <p:spPr>
          <a:xfrm>
            <a:off x="548640" y="1188720"/>
            <a:ext cx="5394960" cy="1828800"/>
          </a:xfrm>
          <a:prstGeom prst="roundRect">
            <a:avLst>
              <a:gd name="adj" fmla="val 4000"/>
            </a:avLst>
          </a:prstGeom>
          <a:solidFill>
            <a:srgbClr val="F4F7FD"/>
          </a:solidFill>
          <a:ln/>
        </p:spPr>
      </p:sp>
      <p:sp>
        <p:nvSpPr>
          <p:cNvPr id="9" name="Text 7"/>
          <p:cNvSpPr/>
          <p:nvPr/>
        </p:nvSpPr>
        <p:spPr>
          <a:xfrm>
            <a:off x="777240" y="1325880"/>
            <a:ext cx="4937760" cy="548640"/>
          </a:xfrm>
          <a:prstGeom prst="rect">
            <a:avLst/>
          </a:prstGeom>
          <a:noFill/>
          <a:ln/>
        </p:spPr>
        <p:txBody>
          <a:bodyPr wrap="square" rtlCol="0" anchor="t"/>
          <a:lstStyle/>
          <a:p>
            <a:pPr indent="0" marL="0">
              <a:buNone/>
            </a:pPr>
            <a:r>
              <a:rPr lang="en-US" sz="1300" b="1" dirty="0">
                <a:solidFill>
                  <a:srgbClr val="1E2761"/>
                </a:solidFill>
                <a:latin typeface="Meiryo" pitchFamily="34" charset="0"/>
                <a:ea typeface="Meiryo" pitchFamily="34" charset="-122"/>
                <a:cs typeface="Meiryo" pitchFamily="34" charset="-120"/>
              </a:rPr>
              <a:t>CI = Continuous Integration(継続的インテグレーション)</a:t>
            </a:r>
            <a:endParaRPr lang="en-US" sz="1300" dirty="0"/>
          </a:p>
        </p:txBody>
      </p:sp>
      <p:sp>
        <p:nvSpPr>
          <p:cNvPr id="10" name="Text 8"/>
          <p:cNvSpPr/>
          <p:nvPr/>
        </p:nvSpPr>
        <p:spPr>
          <a:xfrm>
            <a:off x="777240" y="1874520"/>
            <a:ext cx="4937760" cy="1051560"/>
          </a:xfrm>
          <a:prstGeom prst="rect">
            <a:avLst/>
          </a:prstGeom>
          <a:noFill/>
          <a:ln/>
        </p:spPr>
        <p:txBody>
          <a:bodyPr wrap="square" rtlCol="0" anchor="t"/>
          <a:lstStyle/>
          <a:p>
            <a:pPr indent="0" marL="0">
              <a:buNone/>
            </a:pPr>
            <a:r>
              <a:rPr lang="en-US" sz="1150" dirty="0">
                <a:solidFill>
                  <a:srgbClr val="1F2430"/>
                </a:solidFill>
                <a:latin typeface="Meiryo" pitchFamily="34" charset="0"/>
                <a:ea typeface="Meiryo" pitchFamily="34" charset="-122"/>
                <a:cs typeface="Meiryo" pitchFamily="34" charset="-120"/>
              </a:rPr>
              <a:t>開発者がコードを書いて「変更を提出」するたびに、自動でテスト・チェックが走る仕組みのこと。人が毎回手動でテストしなくても、コードに問題がないか機械的に検証してくれる</a:t>
            </a:r>
            <a:endParaRPr lang="en-US" sz="1150" dirty="0"/>
          </a:p>
        </p:txBody>
      </p:sp>
      <p:sp>
        <p:nvSpPr>
          <p:cNvPr id="11" name="Shape 9"/>
          <p:cNvSpPr/>
          <p:nvPr/>
        </p:nvSpPr>
        <p:spPr>
          <a:xfrm>
            <a:off x="6172200" y="1188720"/>
            <a:ext cx="5394960" cy="1828800"/>
          </a:xfrm>
          <a:prstGeom prst="roundRect">
            <a:avLst>
              <a:gd name="adj" fmla="val 4000"/>
            </a:avLst>
          </a:prstGeom>
          <a:solidFill>
            <a:srgbClr val="F4F7FD"/>
          </a:solidFill>
          <a:ln/>
        </p:spPr>
      </p:sp>
      <p:sp>
        <p:nvSpPr>
          <p:cNvPr id="12" name="Text 10"/>
          <p:cNvSpPr/>
          <p:nvPr/>
        </p:nvSpPr>
        <p:spPr>
          <a:xfrm>
            <a:off x="6400800" y="1325880"/>
            <a:ext cx="4937760" cy="548640"/>
          </a:xfrm>
          <a:prstGeom prst="rect">
            <a:avLst/>
          </a:prstGeom>
          <a:noFill/>
          <a:ln/>
        </p:spPr>
        <p:txBody>
          <a:bodyPr wrap="square" rtlCol="0" anchor="t"/>
          <a:lstStyle/>
          <a:p>
            <a:pPr indent="0" marL="0">
              <a:buNone/>
            </a:pPr>
            <a:r>
              <a:rPr lang="en-US" sz="1300" b="1" dirty="0">
                <a:solidFill>
                  <a:srgbClr val="1E2761"/>
                </a:solidFill>
                <a:latin typeface="Meiryo" pitchFamily="34" charset="0"/>
                <a:ea typeface="Meiryo" pitchFamily="34" charset="-122"/>
                <a:cs typeface="Meiryo" pitchFamily="34" charset="-120"/>
              </a:rPr>
              <a:t>CD = Continuous Deployment/Delivery(継続的デプロイ/デリバリー)</a:t>
            </a:r>
            <a:endParaRPr lang="en-US" sz="1300" dirty="0"/>
          </a:p>
        </p:txBody>
      </p:sp>
      <p:sp>
        <p:nvSpPr>
          <p:cNvPr id="13" name="Text 11"/>
          <p:cNvSpPr/>
          <p:nvPr/>
        </p:nvSpPr>
        <p:spPr>
          <a:xfrm>
            <a:off x="6400800" y="1874520"/>
            <a:ext cx="4937760" cy="1051560"/>
          </a:xfrm>
          <a:prstGeom prst="rect">
            <a:avLst/>
          </a:prstGeom>
          <a:noFill/>
          <a:ln/>
        </p:spPr>
        <p:txBody>
          <a:bodyPr wrap="square" rtlCol="0" anchor="t"/>
          <a:lstStyle/>
          <a:p>
            <a:pPr indent="0" marL="0">
              <a:buNone/>
            </a:pPr>
            <a:r>
              <a:rPr lang="en-US" sz="1150" dirty="0">
                <a:solidFill>
                  <a:srgbClr val="1F2430"/>
                </a:solidFill>
                <a:latin typeface="Meiryo" pitchFamily="34" charset="0"/>
                <a:ea typeface="Meiryo" pitchFamily="34" charset="-122"/>
                <a:cs typeface="Meiryo" pitchFamily="34" charset="-120"/>
              </a:rPr>
              <a:t>テストを通過したコードを、自動で本番環境に反映(リリース)する仕組みのこと</a:t>
            </a:r>
            <a:endParaRPr lang="en-US" sz="1150" dirty="0"/>
          </a:p>
        </p:txBody>
      </p:sp>
      <p:sp>
        <p:nvSpPr>
          <p:cNvPr id="14" name="Shape 12"/>
          <p:cNvSpPr/>
          <p:nvPr/>
        </p:nvSpPr>
        <p:spPr>
          <a:xfrm>
            <a:off x="548640" y="3246120"/>
            <a:ext cx="11064240" cy="1371600"/>
          </a:xfrm>
          <a:prstGeom prst="roundRect">
            <a:avLst>
              <a:gd name="adj" fmla="val 5333"/>
            </a:avLst>
          </a:prstGeom>
          <a:solidFill>
            <a:srgbClr val="1E2761"/>
          </a:solidFill>
          <a:ln/>
        </p:spPr>
      </p:sp>
      <p:sp>
        <p:nvSpPr>
          <p:cNvPr id="15" name="Text 13"/>
          <p:cNvSpPr/>
          <p:nvPr/>
        </p:nvSpPr>
        <p:spPr>
          <a:xfrm>
            <a:off x="777240" y="3364992"/>
            <a:ext cx="10607040" cy="320040"/>
          </a:xfrm>
          <a:prstGeom prst="rect">
            <a:avLst/>
          </a:prstGeom>
          <a:noFill/>
          <a:ln/>
        </p:spPr>
        <p:txBody>
          <a:bodyPr wrap="square" rtlCol="0" anchor="ctr"/>
          <a:lstStyle/>
          <a:p>
            <a:pPr indent="0" marL="0">
              <a:buNone/>
            </a:pPr>
            <a:r>
              <a:rPr lang="en-US" sz="1200" b="1" dirty="0">
                <a:solidFill>
                  <a:srgbClr val="9FC3FF"/>
                </a:solidFill>
                <a:latin typeface="Meiryo" pitchFamily="34" charset="0"/>
                <a:ea typeface="Meiryo" pitchFamily="34" charset="-122"/>
                <a:cs typeface="Meiryo" pitchFamily="34" charset="-120"/>
              </a:rPr>
              <a:t>まとめると</a:t>
            </a:r>
            <a:endParaRPr lang="en-US" sz="1200" dirty="0"/>
          </a:p>
        </p:txBody>
      </p:sp>
      <p:sp>
        <p:nvSpPr>
          <p:cNvPr id="16" name="Text 14"/>
          <p:cNvSpPr/>
          <p:nvPr/>
        </p:nvSpPr>
        <p:spPr>
          <a:xfrm>
            <a:off x="777240" y="3675888"/>
            <a:ext cx="10607040" cy="457200"/>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「コードの変更を、自動的にチェックして、自動的に世に出す一連の仕組み」が CI/CD です。</a:t>
            </a:r>
            <a:endParaRPr lang="en-US" sz="1500" dirty="0"/>
          </a:p>
        </p:txBody>
      </p:sp>
      <p:sp>
        <p:nvSpPr>
          <p:cNvPr id="17" name="Text 15"/>
          <p:cNvSpPr/>
          <p:nvPr/>
        </p:nvSpPr>
        <p:spPr>
          <a:xfrm>
            <a:off x="777240" y="4160520"/>
            <a:ext cx="10607040" cy="411480"/>
          </a:xfrm>
          <a:prstGeom prst="rect">
            <a:avLst/>
          </a:prstGeom>
          <a:noFill/>
          <a:ln/>
        </p:spPr>
        <p:txBody>
          <a:bodyPr wrap="square" rtlCol="0" anchor="ctr"/>
          <a:lstStyle/>
          <a:p>
            <a:pPr indent="0" marL="0">
              <a:buNone/>
            </a:pPr>
            <a:r>
              <a:rPr lang="en-US" sz="1200" dirty="0">
                <a:solidFill>
                  <a:srgbClr val="D8E2FF"/>
                </a:solidFill>
                <a:latin typeface="Meiryo" pitchFamily="34" charset="0"/>
                <a:ea typeface="Meiryo" pitchFamily="34" charset="-122"/>
                <a:cs typeface="Meiryo" pitchFamily="34" charset="-120"/>
              </a:rPr>
              <a:t>従来は「コードを書く→人が手動でテスト→人が手動でサーバーに反映」だったところを、機械的なパイプライン(流れ作業のライン)に置き換えたもの、とイメージしてください。</a:t>
            </a:r>
            <a:endParaRPr lang="en-US" sz="1200" dirty="0"/>
          </a:p>
        </p:txBody>
      </p:sp>
      <p:sp>
        <p:nvSpPr>
          <p:cNvPr id="18" name="Shape 16"/>
          <p:cNvSpPr/>
          <p:nvPr/>
        </p:nvSpPr>
        <p:spPr>
          <a:xfrm>
            <a:off x="548640" y="4800600"/>
            <a:ext cx="11064240" cy="1234440"/>
          </a:xfrm>
          <a:prstGeom prst="roundRect">
            <a:avLst>
              <a:gd name="adj" fmla="val 5926"/>
            </a:avLst>
          </a:prstGeom>
          <a:solidFill>
            <a:srgbClr val="FBF1E4"/>
          </a:solidFill>
          <a:ln/>
        </p:spPr>
      </p:sp>
      <p:sp>
        <p:nvSpPr>
          <p:cNvPr id="19" name="Text 17"/>
          <p:cNvSpPr/>
          <p:nvPr/>
        </p:nvSpPr>
        <p:spPr>
          <a:xfrm>
            <a:off x="685800" y="489204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20" name="Text 18"/>
          <p:cNvSpPr/>
          <p:nvPr/>
        </p:nvSpPr>
        <p:spPr>
          <a:xfrm>
            <a:off x="1097280" y="4892040"/>
            <a:ext cx="10332720" cy="274320"/>
          </a:xfrm>
          <a:prstGeom prst="rect">
            <a:avLst/>
          </a:prstGeom>
          <a:noFill/>
          <a:ln/>
        </p:spPr>
        <p:txBody>
          <a:bodyPr wrap="square" rtlCol="0" anchor="ctr"/>
          <a:lstStyle/>
          <a:p>
            <a:pPr indent="0" marL="0">
              <a:buNone/>
            </a:pPr>
            <a:r>
              <a:rPr lang="en-US" sz="1250" b="1" dirty="0">
                <a:solidFill>
                  <a:srgbClr val="C97A1A"/>
                </a:solidFill>
                <a:latin typeface="Meiryo" pitchFamily="34" charset="0"/>
                <a:ea typeface="Meiryo" pitchFamily="34" charset="-122"/>
                <a:cs typeface="Meiryo" pitchFamily="34" charset="-120"/>
              </a:rPr>
              <a:t>「Claude CodeによるCI/CD」が意味すること</a:t>
            </a:r>
            <a:endParaRPr lang="en-US" sz="1250" dirty="0"/>
          </a:p>
        </p:txBody>
      </p:sp>
      <p:sp>
        <p:nvSpPr>
          <p:cNvPr id="21" name="Text 19"/>
          <p:cNvSpPr/>
          <p:nvPr/>
        </p:nvSpPr>
        <p:spPr>
          <a:xfrm>
            <a:off x="1097280" y="5193792"/>
            <a:ext cx="10332720" cy="777240"/>
          </a:xfrm>
          <a:prstGeom prst="rect">
            <a:avLst/>
          </a:prstGeom>
          <a:noFill/>
          <a:ln/>
        </p:spPr>
        <p:txBody>
          <a:bodyPr wrap="square" rtlCol="0" anchor="t"/>
          <a:lstStyle/>
          <a:p>
            <a:pPr indent="0" marL="0">
              <a:buNone/>
            </a:pPr>
            <a:r>
              <a:rPr lang="en-US" sz="1100" dirty="0">
                <a:solidFill>
                  <a:srgbClr val="1F2430"/>
                </a:solidFill>
                <a:latin typeface="Meiryo" pitchFamily="34" charset="0"/>
                <a:ea typeface="Meiryo" pitchFamily="34" charset="-122"/>
                <a:cs typeface="Meiryo" pitchFamily="34" charset="-120"/>
              </a:rPr>
              <a:t>この自動化パイプラインの中にClaude Codeを組み込んで使うケースを指す。具体的には、コードが提出されるたびにClaude Codeが自動でコードレビューをする、テスト不足の箇所を検出して自動でテストコードを生成する、非対話モード(-pフラグ)でスクリプトから呼び出す、といった使い方をドメイン3で扱う</a:t>
            </a:r>
            <a:endParaRPr lang="en-US" sz="1100" dirty="0"/>
          </a:p>
        </p:txBody>
      </p:sp>
      <p:sp>
        <p:nvSpPr>
          <p:cNvPr id="22" name="Text 20"/>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23" name="Text 21"/>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重要: 2026年7月時点の制度変更まとめ</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資格ファミリーの拡大</a:t>
            </a:r>
            <a:endParaRPr lang="en-US" sz="1450" dirty="0"/>
          </a:p>
        </p:txBody>
      </p:sp>
      <p:sp>
        <p:nvSpPr>
          <p:cNvPr id="8" name="Text 5"/>
          <p:cNvSpPr/>
          <p:nvPr/>
        </p:nvSpPr>
        <p:spPr>
          <a:xfrm>
            <a:off x="731520" y="166420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CCA-Fに加え、Associate-Foundations($99)・Developer-Foundations($125)・Architect-Professional($175)の計4資格に拡大。CCA-Fはエージェント設計とClaude Code構成管理が主戦場(Agentic Architecture 27%が最大)</a:t>
            </a:r>
            <a:endParaRPr lang="en-US" sz="1150" dirty="0"/>
          </a:p>
        </p:txBody>
      </p:sp>
      <p:sp>
        <p:nvSpPr>
          <p:cNvPr id="9" name="Shape 6"/>
          <p:cNvSpPr/>
          <p:nvPr/>
        </p:nvSpPr>
        <p:spPr>
          <a:xfrm>
            <a:off x="6195060" y="118872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公式模擬試験が廃止</a:t>
            </a:r>
            <a:endParaRPr lang="en-US" sz="1450" dirty="0"/>
          </a:p>
        </p:txBody>
      </p:sp>
      <p:sp>
        <p:nvSpPr>
          <p:cNvPr id="11" name="Text 8"/>
          <p:cNvSpPr/>
          <p:nvPr/>
        </p:nvSpPr>
        <p:spPr>
          <a:xfrm>
            <a:off x="6377940" y="166420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以前は6シナリオ中4本・60問の固定模試が提供されていたが2026年7月に廃止。現在はExam GuidePDF内のサンプル12問が公式に確認できる唯一の演習材料</a:t>
            </a:r>
            <a:endParaRPr lang="en-US" sz="1150" dirty="0"/>
          </a:p>
        </p:txBody>
      </p:sp>
      <p:sp>
        <p:nvSpPr>
          <p:cNvPr id="12" name="Shape 9"/>
          <p:cNvSpPr/>
          <p:nvPr/>
        </p:nvSpPr>
        <p:spPr>
          <a:xfrm>
            <a:off x="548640" y="310896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23697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出題形式の変更(要確認)</a:t>
            </a:r>
            <a:endParaRPr lang="en-US" sz="1450" dirty="0"/>
          </a:p>
        </p:txBody>
      </p:sp>
      <p:sp>
        <p:nvSpPr>
          <p:cNvPr id="14" name="Text 11"/>
          <p:cNvSpPr/>
          <p:nvPr/>
        </p:nvSpPr>
        <p:spPr>
          <a:xfrm>
            <a:off x="731520" y="358444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情報源により「4択のみ」と「4択+複数選択(multiple response)」で記載が割れている。直前に公式試験ガイドで最新の出題形式を必ず確認すること</a:t>
            </a:r>
            <a:endParaRPr lang="en-US" sz="1150" dirty="0"/>
          </a:p>
        </p:txBody>
      </p:sp>
      <p:sp>
        <p:nvSpPr>
          <p:cNvPr id="15" name="Shape 12"/>
          <p:cNvSpPr/>
          <p:nvPr/>
        </p:nvSpPr>
        <p:spPr>
          <a:xfrm>
            <a:off x="6195060" y="310896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23697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出題対象外(Out-of-Scope)の明記</a:t>
            </a:r>
            <a:endParaRPr lang="en-US" sz="1450" dirty="0"/>
          </a:p>
        </p:txBody>
      </p:sp>
      <p:sp>
        <p:nvSpPr>
          <p:cNvPr id="17" name="Text 14"/>
          <p:cNvSpPr/>
          <p:nvPr/>
        </p:nvSpPr>
        <p:spPr>
          <a:xfrm>
            <a:off x="6377940" y="358444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モデルのファインチューニング、API課金計算の詳細、OAuthの詳細実装、は出題範囲外と試験ガイドに明記。学習の優先度を下げてよい領域</a:t>
            </a:r>
            <a:endParaRPr lang="en-US" sz="1150" dirty="0"/>
          </a:p>
        </p:txBody>
      </p:sp>
      <p:sp>
        <p:nvSpPr>
          <p:cNvPr id="18" name="Shape 15"/>
          <p:cNvSpPr/>
          <p:nvPr/>
        </p:nvSpPr>
        <p:spPr>
          <a:xfrm>
            <a:off x="548640" y="489204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5056632"/>
            <a:ext cx="310896" cy="310896"/>
          </a:xfrm>
          <a:prstGeom prst="rect">
            <a:avLst/>
          </a:prstGeom>
        </p:spPr>
      </p:pic>
      <p:sp>
        <p:nvSpPr>
          <p:cNvPr id="20" name="Text 16"/>
          <p:cNvSpPr/>
          <p:nvPr/>
        </p:nvSpPr>
        <p:spPr>
          <a:xfrm>
            <a:off x="1143000" y="498348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527608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最重要リソースはAnthropic Academyのコースではなく「公式Certification Exam Guide PDF」。各ドメインのTask StatementごとにKnowledge(知識)・Skills(スキル)が明記され、正解の根拠がそのまま載っているケースが多い。</a:t>
            </a:r>
            <a:endParaRPr lang="en-US" sz="1200" dirty="0"/>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a:t>
            </a:r>
            <a:endParaRPr lang="en-US" sz="10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重要: 2026年8〜9月のプラットフォーム最新動向</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モデルラインアップの更新</a:t>
            </a:r>
            <a:endParaRPr lang="en-US" sz="1450" dirty="0"/>
          </a:p>
        </p:txBody>
      </p:sp>
      <p:sp>
        <p:nvSpPr>
          <p:cNvPr id="8" name="Text 5"/>
          <p:cNvSpPr/>
          <p:nvPr/>
        </p:nvSpPr>
        <p:spPr>
          <a:xfrm>
            <a:off x="731520" y="166420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2026年9月、最上位モデルにClaude Fable 5.1・Claude Mythos 5.1が加わった(Project Glasswing系統)。8月にはClaude Opus 5が複雑なエージェント型コーディング/エンタープライズ用途の新デフォルトに。本教材の主対象Claude Sonnet 5は引き続き汎用モデルとして現役</a:t>
            </a:r>
            <a:endParaRPr lang="en-US" sz="1150" dirty="0"/>
          </a:p>
        </p:txBody>
      </p:sp>
      <p:sp>
        <p:nvSpPr>
          <p:cNvPr id="9" name="Shape 6"/>
          <p:cNvSpPr/>
          <p:nvPr/>
        </p:nvSpPr>
        <p:spPr>
          <a:xfrm>
            <a:off x="6195060" y="118872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サブエージェント関連ツールの名称変更</a:t>
            </a:r>
            <a:endParaRPr lang="en-US" sz="1450" dirty="0"/>
          </a:p>
        </p:txBody>
      </p:sp>
      <p:sp>
        <p:nvSpPr>
          <p:cNvPr id="11" name="Text 8"/>
          <p:cNvSpPr/>
          <p:nvPr/>
        </p:nvSpPr>
        <p:spPr>
          <a:xfrm>
            <a:off x="6377940" y="166420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サブエージェントを起動するツールがTaskからAgentへ改称(2026年8月)。.claude/agents/*.mdのfrontmatterでカスタムサブエージェントを定義する方式に統一。試験問題文で「Agentツール」と出てきても、これまで学んだTask相当の概念だと理解すればよい</a:t>
            </a:r>
            <a:endParaRPr lang="en-US" sz="1150" dirty="0"/>
          </a:p>
        </p:txBody>
      </p:sp>
      <p:sp>
        <p:nvSpPr>
          <p:cNvPr id="12" name="Shape 9"/>
          <p:cNvSpPr/>
          <p:nvPr/>
        </p:nvSpPr>
        <p:spPr>
          <a:xfrm>
            <a:off x="548640" y="310896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23697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Hooksとツール検索(Tool Search)の拡張</a:t>
            </a:r>
            <a:endParaRPr lang="en-US" sz="1450" dirty="0"/>
          </a:p>
        </p:txBody>
      </p:sp>
      <p:sp>
        <p:nvSpPr>
          <p:cNvPr id="14" name="Text 11"/>
          <p:cNvSpPr/>
          <p:nvPr/>
        </p:nvSpPr>
        <p:spPr>
          <a:xfrm>
            <a:off x="731520" y="358444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HooksイベントカタログがGAで33種類に拡大し、PreModelSwitch/PostModelSwitchが新設。ツール検索(Tool search)は2026年8月にGAとなり既定でON、ツール数30〜50個あたりから劣化に対応するdefer_loading方式が標準化</a:t>
            </a:r>
            <a:endParaRPr lang="en-US" sz="1150" dirty="0"/>
          </a:p>
        </p:txBody>
      </p:sp>
      <p:sp>
        <p:nvSpPr>
          <p:cNvPr id="15" name="Shape 12"/>
          <p:cNvSpPr/>
          <p:nvPr/>
        </p:nvSpPr>
        <p:spPr>
          <a:xfrm>
            <a:off x="6195060" y="310896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23697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コンテキスト管理機能の成熟</a:t>
            </a:r>
            <a:endParaRPr lang="en-US" sz="1450" dirty="0"/>
          </a:p>
        </p:txBody>
      </p:sp>
      <p:sp>
        <p:nvSpPr>
          <p:cNvPr id="17" name="Text 14"/>
          <p:cNvSpPr/>
          <p:nvPr/>
        </p:nvSpPr>
        <p:spPr>
          <a:xfrm>
            <a:off x="6377940" y="358444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サーバー側のコンテキスト編集(context editing)・自動コンパクション(compaction)・memory toolが実運用レベルに成熟。Task budgets(ベータ)も登場。ドメイン5「コンテキスト管理と信頼性」の設計原則自体は不変</a:t>
            </a:r>
            <a:endParaRPr lang="en-US" sz="1150" dirty="0"/>
          </a:p>
        </p:txBody>
      </p:sp>
      <p:sp>
        <p:nvSpPr>
          <p:cNvPr id="18" name="Shape 15"/>
          <p:cNvSpPr/>
          <p:nvPr/>
        </p:nvSpPr>
        <p:spPr>
          <a:xfrm>
            <a:off x="548640" y="489204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5056632"/>
            <a:ext cx="310896" cy="310896"/>
          </a:xfrm>
          <a:prstGeom prst="rect">
            <a:avLst/>
          </a:prstGeom>
        </p:spPr>
      </p:pic>
      <p:sp>
        <p:nvSpPr>
          <p:cNvPr id="20" name="Text 16"/>
          <p:cNvSpPr/>
          <p:nvPr/>
        </p:nvSpPr>
        <p:spPr>
          <a:xfrm>
            <a:off x="1143000" y="498348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527608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公式Exam Guideはv1.0のまま更新されていない(2026年7月版)。上記はあくまで「出題範囲を超える最新の周辺知識」であり、用語のリネーム(Task→Agent等)に惑わされず、根底にある設計原則(プログラム的強制・stop_reason判定・独立レビュー等)を優先して押さえること</a:t>
            </a:r>
            <a:endParaRPr lang="en-US" sz="1200" dirty="0"/>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合格者の声から見る攻略法</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566928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出題の核心的な考え方</a:t>
            </a:r>
            <a:endParaRPr lang="en-US" sz="1400" dirty="0"/>
          </a:p>
        </p:txBody>
      </p:sp>
      <p:sp>
        <p:nvSpPr>
          <p:cNvPr id="7" name="Text 4"/>
          <p:cNvSpPr/>
          <p:nvPr/>
        </p:nvSpPr>
        <p:spPr>
          <a:xfrm>
            <a:off x="548640" y="1554480"/>
            <a:ext cx="5669280" cy="30175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問われる設計原則は多様ではなく、ソフトウェア設計の基本(最小権限・単一責任・やりすぎない)をAIエージェントの文脈で問い直すパターンがほとんど</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「1つのツールに複数の責任を詰め込む」「1つのサブエージェントに何でもやらせる」「不要な機能まで作り込む」は典型的なアンチパターンとして消去法で切れる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設問が長く複雑でも、頭の中で「結局何を問われているか」を一文に圧縮すると、だいたい最小権限・単一責任・必要最小限のどれかに収束する</a:t>
            </a:r>
            <a:endParaRPr lang="en-US" sz="1250" dirty="0"/>
          </a:p>
        </p:txBody>
      </p:sp>
      <p:sp>
        <p:nvSpPr>
          <p:cNvPr id="8" name="Text 5"/>
          <p:cNvSpPr/>
          <p:nvPr/>
        </p:nvSpPr>
        <p:spPr>
          <a:xfrm>
            <a:off x="6492240" y="1188720"/>
            <a:ext cx="51206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受験当日の実践Tips</a:t>
            </a:r>
            <a:endParaRPr lang="en-US" sz="1400" dirty="0"/>
          </a:p>
        </p:txBody>
      </p:sp>
      <p:sp>
        <p:nvSpPr>
          <p:cNvPr id="9" name="Text 6"/>
          <p:cNvSpPr/>
          <p:nvPr/>
        </p:nvSpPr>
        <p:spPr>
          <a:xfrm>
            <a:off x="6492240" y="1554480"/>
            <a:ext cx="5120640" cy="30175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試験中は翻訳ツール一切使用不可。設問・選択肢は完全英語</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時間配分の目安: 1問あたり解答3分・見直し1分。120分中110分で解き終え10分を見直しに充てるペースが安全</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単語が分からなければ、明らかに設計が筋悪な選択肢(責務の混在・過剰実装)から消していく</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模擬試験がないため、Exam GuideのTask Statement(Knowledge/Skills)を読み込み、知らない専門用語・熟語を一つも残さないことが得点に直結する</a:t>
            </a:r>
            <a:endParaRPr lang="en-US" sz="1250" dirty="0"/>
          </a:p>
        </p:txBody>
      </p:sp>
      <p:sp>
        <p:nvSpPr>
          <p:cNvPr id="10" name="Shape 7"/>
          <p:cNvSpPr/>
          <p:nvPr/>
        </p:nvSpPr>
        <p:spPr>
          <a:xfrm>
            <a:off x="548640" y="4663440"/>
            <a:ext cx="11064240" cy="960120"/>
          </a:xfrm>
          <a:prstGeom prst="roundRect">
            <a:avLst>
              <a:gd name="adj" fmla="val 7619"/>
            </a:avLst>
          </a:prstGeom>
          <a:solidFill>
            <a:srgbClr val="FBF1E4"/>
          </a:solidFill>
          <a:ln/>
        </p:spPr>
        <p:txBody>
          <a:bodyPr/>
          <a:p/>
        </p:txBody>
      </p:sp>
      <p:pic>
        <p:nvPicPr>
          <p:cNvPr id="11" name="Image 1" descr="preencoded.png">    </p:cNvPr>
          <p:cNvPicPr>
            <a:picLocks noChangeAspect="1"/>
          </p:cNvPicPr>
          <p:nvPr/>
        </p:nvPicPr>
        <p:blipFill>
          <a:blip r:embed="rId2"/>
          <a:stretch>
            <a:fillRect/>
          </a:stretch>
        </p:blipFill>
        <p:spPr>
          <a:xfrm>
            <a:off x="713232" y="4828032"/>
            <a:ext cx="310896" cy="310896"/>
          </a:xfrm>
          <a:prstGeom prst="rect">
            <a:avLst/>
          </a:prstGeom>
        </p:spPr>
      </p:pic>
      <p:sp>
        <p:nvSpPr>
          <p:cNvPr id="12" name="Text 8"/>
          <p:cNvSpPr/>
          <p:nvPr/>
        </p:nvSpPr>
        <p:spPr>
          <a:xfrm>
            <a:off x="1143000" y="475488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3" name="Text 9"/>
          <p:cNvSpPr/>
          <p:nvPr/>
        </p:nvSpPr>
        <p:spPr>
          <a:xfrm>
            <a:off x="1143000" y="504748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本番未出題の2シナリオ(Developer Productivity / Structured Data Extraction)は旧模擬試験で触れられなかった領域。廃止された今、この2シナリオはExam Guideのサンプル問題と本参考書で重点的に補強するのが得策。</a:t>
            </a:r>
            <a:endParaRPr lang="en-US" sz="1200" dirty="0"/>
          </a:p>
        </p:txBody>
      </p:sp>
      <p:sp>
        <p:nvSpPr>
          <p:cNvPr id="14" name="Text 1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5" name="Text 11"/>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10</a:t>
            </a:r>
            <a:endParaRPr lang="en-US" sz="10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300" b="1" dirty="0">
                <a:solidFill>
                  <a:srgbClr val="1F2430"/>
                </a:solidFill>
                <a:latin typeface="Meiryo" pitchFamily="34" charset="0"/>
                <a:ea typeface="Meiryo" pitchFamily="34" charset="-122"/>
                <a:cs typeface="Meiryo" pitchFamily="34" charset="-120"/>
              </a:rPr>
              <a:t>試験の考え方(メタ戦略)</a:t>
            </a:r>
            <a:endParaRPr lang="en-US" sz="2300" dirty="0"/>
          </a:p>
        </p:txBody>
      </p:sp>
      <p:sp>
        <p:nvSpPr>
          <p:cNvPr id="5" name="Shape 3"/>
          <p:cNvSpPr/>
          <p:nvPr/>
        </p:nvSpPr>
        <p:spPr>
          <a:xfrm>
            <a:off x="8686800" y="384048"/>
            <a:ext cx="2926080" cy="411480"/>
          </a:xfrm>
          <a:prstGeom prst="roundRect">
            <a:avLst>
              <a:gd name="adj" fmla="val 48889"/>
            </a:avLst>
          </a:prstGeom>
          <a:solidFill>
            <a:srgbClr val="FBF1E4"/>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8A5A00"/>
                </a:solidFill>
                <a:latin typeface="Meiryo" pitchFamily="34" charset="0"/>
                <a:ea typeface="Meiryo" pitchFamily="34" charset="-122"/>
                <a:cs typeface="Meiryo" pitchFamily="34" charset="-120"/>
              </a:rPr>
              <a:t>知識・雑学編</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Shape 6"/>
          <p:cNvSpPr/>
          <p:nvPr/>
        </p:nvSpPr>
        <p:spPr>
          <a:xfrm>
            <a:off x="548640" y="1188720"/>
            <a:ext cx="5417820" cy="1691640"/>
          </a:xfrm>
          <a:prstGeom prst="roundRect">
            <a:avLst>
              <a:gd name="adj" fmla="val 4324"/>
            </a:avLst>
          </a:prstGeom>
          <a:solidFill>
            <a:srgbClr val="F4F7FD"/>
          </a:solidFill>
          <a:ln/>
        </p:spPr>
        <p:txBody>
          <a:bodyPr/>
          <a:p/>
        </p:txBody>
      </p:sp>
      <p:sp>
        <p:nvSpPr>
          <p:cNvPr id="9" name="Text 7"/>
          <p:cNvSpPr/>
          <p:nvPr/>
        </p:nvSpPr>
        <p:spPr>
          <a:xfrm>
            <a:off x="731520" y="1316736"/>
            <a:ext cx="5052060" cy="320040"/>
          </a:xfrm>
          <a:prstGeom prst="rect">
            <a:avLst/>
          </a:prstGeom>
          <a:noFill/>
          <a:ln/>
        </p:spPr>
        <p:txBody>
          <a:bodyPr wrap="square" rtlCol="0" anchor="ctr"/>
          <a:lstStyle/>
          <a:p>
            <a:pPr indent="0" marL="0">
              <a:buNone/>
            </a:pPr>
            <a:r>
              <a:rPr lang="en-US" sz="1350" b="1" dirty="0">
                <a:solidFill>
                  <a:srgbClr val="1E2761"/>
                </a:solidFill>
                <a:latin typeface="Meiryo" pitchFamily="34" charset="0"/>
                <a:ea typeface="Meiryo" pitchFamily="34" charset="-122"/>
                <a:cs typeface="Meiryo" pitchFamily="34" charset="-120"/>
              </a:rPr>
              <a:t>① 引っかけ選択肢の正体</a:t>
            </a:r>
            <a:endParaRPr lang="en-US" sz="1350" dirty="0"/>
          </a:p>
        </p:txBody>
      </p:sp>
      <p:sp>
        <p:nvSpPr>
          <p:cNvPr id="10" name="Text 8"/>
          <p:cNvSpPr/>
          <p:nvPr/>
        </p:nvSpPr>
        <p:spPr>
          <a:xfrm>
            <a:off x="731520" y="1664208"/>
            <a:ext cx="5052060" cy="1078992"/>
          </a:xfrm>
          <a:prstGeom prst="rect">
            <a:avLst/>
          </a:prstGeom>
          <a:noFill/>
          <a:ln/>
        </p:spPr>
        <p:txBody>
          <a:bodyPr wrap="square" rtlCol="0" anchor="t"/>
          <a:lstStyle/>
          <a:p>
            <a:pPr indent="0" marL="0">
              <a:lnSpc>
                <a:spcPct val="112000"/>
              </a:lnSpc>
              <a:buNone/>
            </a:pPr>
            <a:r>
              <a:rPr lang="en-US" sz="1100" dirty="0">
                <a:solidFill>
                  <a:srgbClr val="1F2430"/>
                </a:solidFill>
                <a:latin typeface="Meiryo" pitchFamily="34" charset="0"/>
                <a:ea typeface="Meiryo" pitchFamily="34" charset="-122"/>
                <a:cs typeface="Meiryo" pitchFamily="34" charset="-120"/>
              </a:rPr>
              <a:t>「概念は知っているが実務判断力がない人」を狙って作られている。部分的な知識だけでは誤答に誘導される設計。用語を暗記しただけでは通用しない</a:t>
            </a:r>
            <a:endParaRPr lang="en-US" sz="1100" dirty="0"/>
          </a:p>
        </p:txBody>
      </p:sp>
      <p:sp>
        <p:nvSpPr>
          <p:cNvPr id="11" name="Shape 9"/>
          <p:cNvSpPr/>
          <p:nvPr/>
        </p:nvSpPr>
        <p:spPr>
          <a:xfrm>
            <a:off x="6195060" y="1188720"/>
            <a:ext cx="5417820" cy="1691640"/>
          </a:xfrm>
          <a:prstGeom prst="roundRect">
            <a:avLst>
              <a:gd name="adj" fmla="val 4324"/>
            </a:avLst>
          </a:prstGeom>
          <a:solidFill>
            <a:srgbClr val="F4F7FD"/>
          </a:solidFill>
          <a:ln/>
        </p:spPr>
        <p:txBody>
          <a:bodyPr/>
          <a:p/>
        </p:txBody>
      </p:sp>
      <p:sp>
        <p:nvSpPr>
          <p:cNvPr id="12" name="Text 10"/>
          <p:cNvSpPr/>
          <p:nvPr/>
        </p:nvSpPr>
        <p:spPr>
          <a:xfrm>
            <a:off x="6377940" y="1316736"/>
            <a:ext cx="5052060" cy="320040"/>
          </a:xfrm>
          <a:prstGeom prst="rect">
            <a:avLst/>
          </a:prstGeom>
          <a:noFill/>
          <a:ln/>
        </p:spPr>
        <p:txBody>
          <a:bodyPr wrap="square" rtlCol="0" anchor="ctr"/>
          <a:lstStyle/>
          <a:p>
            <a:pPr indent="0" marL="0">
              <a:buNone/>
            </a:pPr>
            <a:r>
              <a:rPr lang="en-US" sz="1350" b="1" dirty="0">
                <a:solidFill>
                  <a:srgbClr val="1E2761"/>
                </a:solidFill>
                <a:latin typeface="Meiryo" pitchFamily="34" charset="0"/>
                <a:ea typeface="Meiryo" pitchFamily="34" charset="-122"/>
                <a:cs typeface="Meiryo" pitchFamily="34" charset="-120"/>
              </a:rPr>
              <a:t>② Task Statementで分類する</a:t>
            </a:r>
            <a:endParaRPr lang="en-US" sz="1350" dirty="0"/>
          </a:p>
        </p:txBody>
      </p:sp>
      <p:sp>
        <p:nvSpPr>
          <p:cNvPr id="13" name="Text 11"/>
          <p:cNvSpPr/>
          <p:nvPr/>
        </p:nvSpPr>
        <p:spPr>
          <a:xfrm>
            <a:off x="6377940" y="1664208"/>
            <a:ext cx="5052060" cy="1078992"/>
          </a:xfrm>
          <a:prstGeom prst="rect">
            <a:avLst/>
          </a:prstGeom>
          <a:noFill/>
          <a:ln/>
        </p:spPr>
        <p:txBody>
          <a:bodyPr wrap="square" rtlCol="0" anchor="t"/>
          <a:lstStyle/>
          <a:p>
            <a:pPr indent="0" marL="0">
              <a:lnSpc>
                <a:spcPct val="112000"/>
              </a:lnSpc>
              <a:buNone/>
            </a:pPr>
            <a:r>
              <a:rPr lang="en-US" sz="1100" dirty="0">
                <a:solidFill>
                  <a:srgbClr val="1F2430"/>
                </a:solidFill>
                <a:latin typeface="Meiryo" pitchFamily="34" charset="0"/>
                <a:ea typeface="Meiryo" pitchFamily="34" charset="-122"/>
                <a:cs typeface="Meiryo" pitchFamily="34" charset="-120"/>
              </a:rPr>
              <a:t>設問を読んだら、まず「これはどのTask Statementの話か」を特定する。特定できれば、選択肢を見る前に答えの方向性がほぼ決まる</a:t>
            </a:r>
            <a:endParaRPr lang="en-US" sz="1100" dirty="0"/>
          </a:p>
        </p:txBody>
      </p:sp>
      <p:sp>
        <p:nvSpPr>
          <p:cNvPr id="14" name="Shape 12"/>
          <p:cNvSpPr/>
          <p:nvPr/>
        </p:nvSpPr>
        <p:spPr>
          <a:xfrm>
            <a:off x="548640" y="3108960"/>
            <a:ext cx="5417820" cy="1691640"/>
          </a:xfrm>
          <a:prstGeom prst="roundRect">
            <a:avLst>
              <a:gd name="adj" fmla="val 4324"/>
            </a:avLst>
          </a:prstGeom>
          <a:solidFill>
            <a:srgbClr val="F4F7FD"/>
          </a:solidFill>
          <a:ln/>
        </p:spPr>
        <p:txBody>
          <a:bodyPr/>
          <a:p/>
        </p:txBody>
      </p:sp>
      <p:sp>
        <p:nvSpPr>
          <p:cNvPr id="15" name="Text 13"/>
          <p:cNvSpPr/>
          <p:nvPr/>
        </p:nvSpPr>
        <p:spPr>
          <a:xfrm>
            <a:off x="731520" y="3236976"/>
            <a:ext cx="5052060" cy="320040"/>
          </a:xfrm>
          <a:prstGeom prst="rect">
            <a:avLst/>
          </a:prstGeom>
          <a:noFill/>
          <a:ln/>
        </p:spPr>
        <p:txBody>
          <a:bodyPr wrap="square" rtlCol="0" anchor="ctr"/>
          <a:lstStyle/>
          <a:p>
            <a:pPr indent="0" marL="0">
              <a:buNone/>
            </a:pPr>
            <a:r>
              <a:rPr lang="en-US" sz="1350" b="1" dirty="0">
                <a:solidFill>
                  <a:srgbClr val="1E2761"/>
                </a:solidFill>
                <a:latin typeface="Meiryo" pitchFamily="34" charset="0"/>
                <a:ea typeface="Meiryo" pitchFamily="34" charset="-122"/>
                <a:cs typeface="Meiryo" pitchFamily="34" charset="-120"/>
              </a:rPr>
              <a:t>③ ドメイン1の概念は全体に波及</a:t>
            </a:r>
            <a:endParaRPr lang="en-US" sz="1350" dirty="0"/>
          </a:p>
        </p:txBody>
      </p:sp>
      <p:sp>
        <p:nvSpPr>
          <p:cNvPr id="16" name="Text 14"/>
          <p:cNvSpPr/>
          <p:nvPr/>
        </p:nvSpPr>
        <p:spPr>
          <a:xfrm>
            <a:off x="731520" y="3584448"/>
            <a:ext cx="5052060" cy="1078992"/>
          </a:xfrm>
          <a:prstGeom prst="rect">
            <a:avLst/>
          </a:prstGeom>
          <a:noFill/>
          <a:ln/>
        </p:spPr>
        <p:txBody>
          <a:bodyPr wrap="square" rtlCol="0" anchor="t"/>
          <a:lstStyle/>
          <a:p>
            <a:pPr indent="0" marL="0">
              <a:lnSpc>
                <a:spcPct val="112000"/>
              </a:lnSpc>
              <a:buNone/>
            </a:pPr>
            <a:r>
              <a:rPr lang="en-US" sz="1100" dirty="0">
                <a:solidFill>
                  <a:srgbClr val="1F2430"/>
                </a:solidFill>
                <a:latin typeface="Meiryo" pitchFamily="34" charset="0"/>
                <a:ea typeface="Meiryo" pitchFamily="34" charset="-122"/>
                <a:cs typeface="Meiryo" pitchFamily="34" charset="-120"/>
              </a:rPr>
              <a:t>ドメイン1・3だけで試験の約47%を占め、ドメイン1の概念(stop_reason・Hooks・サブエージェント分離)は他ドメインの引っかけ選択肢としても頻出する</a:t>
            </a:r>
            <a:endParaRPr lang="en-US" sz="1100" dirty="0"/>
          </a:p>
        </p:txBody>
      </p:sp>
      <p:sp>
        <p:nvSpPr>
          <p:cNvPr id="17" name="Shape 15"/>
          <p:cNvSpPr/>
          <p:nvPr/>
        </p:nvSpPr>
        <p:spPr>
          <a:xfrm>
            <a:off x="6195060" y="3108960"/>
            <a:ext cx="5417820" cy="1691640"/>
          </a:xfrm>
          <a:prstGeom prst="roundRect">
            <a:avLst>
              <a:gd name="adj" fmla="val 4324"/>
            </a:avLst>
          </a:prstGeom>
          <a:solidFill>
            <a:srgbClr val="F4F7FD"/>
          </a:solidFill>
          <a:ln/>
        </p:spPr>
        <p:txBody>
          <a:bodyPr/>
          <a:p/>
        </p:txBody>
      </p:sp>
      <p:sp>
        <p:nvSpPr>
          <p:cNvPr id="18" name="Text 16"/>
          <p:cNvSpPr/>
          <p:nvPr/>
        </p:nvSpPr>
        <p:spPr>
          <a:xfrm>
            <a:off x="6377940" y="3236976"/>
            <a:ext cx="5052060" cy="320040"/>
          </a:xfrm>
          <a:prstGeom prst="rect">
            <a:avLst/>
          </a:prstGeom>
          <a:noFill/>
          <a:ln/>
        </p:spPr>
        <p:txBody>
          <a:bodyPr wrap="square" rtlCol="0" anchor="ctr"/>
          <a:lstStyle/>
          <a:p>
            <a:pPr indent="0" marL="0">
              <a:buNone/>
            </a:pPr>
            <a:r>
              <a:rPr lang="en-US" sz="1350" b="1" dirty="0">
                <a:solidFill>
                  <a:srgbClr val="1E2761"/>
                </a:solidFill>
                <a:latin typeface="Meiryo" pitchFamily="34" charset="0"/>
                <a:ea typeface="Meiryo" pitchFamily="34" charset="-122"/>
                <a:cs typeface="Meiryo" pitchFamily="34" charset="-120"/>
              </a:rPr>
              <a:t>④ 最もシンプルな解決策を選ぶ</a:t>
            </a:r>
            <a:endParaRPr lang="en-US" sz="1350" dirty="0"/>
          </a:p>
        </p:txBody>
      </p:sp>
      <p:sp>
        <p:nvSpPr>
          <p:cNvPr id="19" name="Text 17"/>
          <p:cNvSpPr/>
          <p:nvPr/>
        </p:nvSpPr>
        <p:spPr>
          <a:xfrm>
            <a:off x="6377940" y="3584448"/>
            <a:ext cx="5052060" cy="1078992"/>
          </a:xfrm>
          <a:prstGeom prst="rect">
            <a:avLst/>
          </a:prstGeom>
          <a:noFill/>
          <a:ln/>
        </p:spPr>
        <p:txBody>
          <a:bodyPr wrap="square" rtlCol="0" anchor="t"/>
          <a:lstStyle/>
          <a:p>
            <a:pPr indent="0" marL="0">
              <a:lnSpc>
                <a:spcPct val="112000"/>
              </a:lnSpc>
              <a:buNone/>
            </a:pPr>
            <a:r>
              <a:rPr lang="en-US" sz="1100" dirty="0">
                <a:solidFill>
                  <a:srgbClr val="1F2430"/>
                </a:solidFill>
                <a:latin typeface="Meiryo" pitchFamily="34" charset="0"/>
                <a:ea typeface="Meiryo" pitchFamily="34" charset="-122"/>
                <a:cs typeface="Meiryo" pitchFamily="34" charset="-120"/>
              </a:rPr>
              <a:t>選択肢が複数とも「動きそうに見える」時、過剰実装(2段階LLM呼び出し・別モデル訓練・複雑な分類器)より、最もシンプルで直接的な解決策が正解になりやすい</a:t>
            </a:r>
            <a:endParaRPr lang="en-US" sz="1100" dirty="0"/>
          </a:p>
        </p:txBody>
      </p:sp>
      <p:sp>
        <p:nvSpPr>
          <p:cNvPr id="20" name="Shape 18"/>
          <p:cNvSpPr/>
          <p:nvPr/>
        </p:nvSpPr>
        <p:spPr>
          <a:xfrm>
            <a:off x="548640" y="4846320"/>
            <a:ext cx="11064240" cy="960120"/>
          </a:xfrm>
          <a:prstGeom prst="roundRect">
            <a:avLst>
              <a:gd name="adj" fmla="val 7619"/>
            </a:avLst>
          </a:prstGeom>
          <a:solidFill>
            <a:srgbClr val="FBF1E4"/>
          </a:solidFill>
          <a:ln/>
        </p:spPr>
        <p:txBody>
          <a:bodyPr/>
          <a:p/>
        </p:txBody>
      </p:sp>
      <p:sp>
        <p:nvSpPr>
          <p:cNvPr id="21" name="Text 19"/>
          <p:cNvSpPr/>
          <p:nvPr/>
        </p:nvSpPr>
        <p:spPr>
          <a:xfrm>
            <a:off x="685800" y="493776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22" name="Text 20"/>
          <p:cNvSpPr/>
          <p:nvPr/>
        </p:nvSpPr>
        <p:spPr>
          <a:xfrm>
            <a:off x="1097280" y="4937760"/>
            <a:ext cx="10332720" cy="274320"/>
          </a:xfrm>
          <a:prstGeom prst="rect">
            <a:avLst/>
          </a:prstGeom>
          <a:noFill/>
          <a:ln/>
        </p:spPr>
        <p:txBody>
          <a:bodyPr wrap="square" rtlCol="0" anchor="ctr"/>
          <a:lstStyle/>
          <a:p>
            <a:pPr indent="0" marL="0">
              <a:buNone/>
            </a:pPr>
            <a:r>
              <a:rPr lang="en-US" sz="1250" b="1" dirty="0">
                <a:solidFill>
                  <a:srgbClr val="C97A1A"/>
                </a:solidFill>
                <a:latin typeface="Meiryo" pitchFamily="34" charset="0"/>
                <a:ea typeface="Meiryo" pitchFamily="34" charset="-122"/>
                <a:cs typeface="Meiryo" pitchFamily="34" charset="-120"/>
              </a:rPr>
              <a:t>補足: セッション再開の判断軸(より精密な理解)</a:t>
            </a:r>
            <a:endParaRPr lang="en-US" sz="1250" dirty="0"/>
          </a:p>
        </p:txBody>
      </p:sp>
      <p:sp>
        <p:nvSpPr>
          <p:cNvPr id="23" name="Text 21"/>
          <p:cNvSpPr/>
          <p:nvPr/>
        </p:nvSpPr>
        <p:spPr>
          <a:xfrm>
            <a:off x="1097280" y="5239512"/>
            <a:ext cx="10332720" cy="548640"/>
          </a:xfrm>
          <a:prstGeom prst="rect">
            <a:avLst/>
          </a:prstGeom>
          <a:noFill/>
          <a:ln/>
        </p:spPr>
        <p:txBody>
          <a:bodyPr wrap="square" rtlCol="0" anchor="t"/>
          <a:lstStyle/>
          <a:p>
            <a:pPr indent="0" marL="0">
              <a:buNone/>
            </a:pPr>
            <a:r>
              <a:rPr lang="en-US" sz="1100" dirty="0">
                <a:solidFill>
                  <a:srgbClr val="1F2430"/>
                </a:solidFill>
                <a:latin typeface="Meiryo" pitchFamily="34" charset="0"/>
                <a:ea typeface="Meiryo" pitchFamily="34" charset="-122"/>
                <a:cs typeface="Meiryo" pitchFamily="34" charset="-120"/>
              </a:rPr>
              <a:t>「クリーンな新規セッション+的確な要約」は、しばしば「古い文脈を引きずった再開」より高品質。--resumeは前提が変わっていない時のみ有効、文脈が劣化・陳腐化していたら要約を注入した新規セッションを選ぶ</a:t>
            </a:r>
            <a:endParaRPr lang="en-US" sz="1100" dirty="0"/>
          </a:p>
        </p:txBody>
      </p:sp>
      <p:sp>
        <p:nvSpPr>
          <p:cNvPr id="24" name="Text 2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25" name="Text 23"/>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5ドメインと出題配点</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6" name="Chart 0" descr=""/>
          <p:cNvGraphicFramePr/>
          <p:nvPr/>
        </p:nvGraphicFramePr>
        <p:xfrm>
          <a:off x="457200" y="1143000"/>
          <a:ext cx="5760720" cy="493776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6583680" y="1280160"/>
            <a:ext cx="457200" cy="457200"/>
          </a:xfrm>
          <a:prstGeom prst="ellipse">
            <a:avLst/>
          </a:prstGeom>
          <a:solidFill>
            <a:srgbClr val="1E2761"/>
          </a:solidFill>
          <a:ln/>
        </p:spPr>
        <p:txBody>
          <a:bodyPr/>
          <a:p/>
        </p:txBody>
      </p:sp>
      <p:sp>
        <p:nvSpPr>
          <p:cNvPr id="8" name="Text 4"/>
          <p:cNvSpPr/>
          <p:nvPr/>
        </p:nvSpPr>
        <p:spPr>
          <a:xfrm>
            <a:off x="6583680" y="1280160"/>
            <a:ext cx="457200" cy="457200"/>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9" name="Text 5"/>
          <p:cNvSpPr/>
          <p:nvPr/>
        </p:nvSpPr>
        <p:spPr>
          <a:xfrm>
            <a:off x="7178040" y="1298448"/>
            <a:ext cx="3931920" cy="457200"/>
          </a:xfrm>
          <a:prstGeom prst="rect">
            <a:avLst/>
          </a:prstGeom>
          <a:noFill/>
          <a:ln/>
        </p:spPr>
        <p:txBody>
          <a:bodyPr wrap="square" rtlCol="0" anchor="ctr"/>
          <a:lstStyle/>
          <a:p>
            <a:pPr indent="0" marL="0">
              <a:buNone/>
            </a:pPr>
            <a:r>
              <a:rPr lang="en-US" sz="1400" dirty="0">
                <a:solidFill>
                  <a:srgbClr val="1F2430"/>
                </a:solidFill>
                <a:latin typeface="Meiryo" pitchFamily="34" charset="0"/>
                <a:ea typeface="Meiryo" pitchFamily="34" charset="-122"/>
                <a:cs typeface="Meiryo" pitchFamily="34" charset="-120"/>
              </a:rPr>
              <a:t>Agentic Architecture &amp; Orchestration</a:t>
            </a:r>
            <a:endParaRPr lang="en-US" sz="1400" dirty="0"/>
          </a:p>
        </p:txBody>
      </p:sp>
      <p:sp>
        <p:nvSpPr>
          <p:cNvPr id="10" name="Text 6"/>
          <p:cNvSpPr/>
          <p:nvPr/>
        </p:nvSpPr>
        <p:spPr>
          <a:xfrm>
            <a:off x="11064240" y="1298448"/>
            <a:ext cx="731520" cy="457200"/>
          </a:xfrm>
          <a:prstGeom prst="rect">
            <a:avLst/>
          </a:prstGeom>
          <a:noFill/>
          <a:ln/>
        </p:spPr>
        <p:txBody>
          <a:bodyPr wrap="square" rtlCol="0" anchor="ctr"/>
          <a:lstStyle/>
          <a:p>
            <a:pPr indent="0" marL="0">
              <a:buNone/>
            </a:pPr>
            <a:r>
              <a:rPr lang="en-US" sz="1600" b="1" dirty="0">
                <a:solidFill>
                  <a:srgbClr val="1E2761"/>
                </a:solidFill>
                <a:latin typeface="Meiryo" pitchFamily="34" charset="0"/>
                <a:ea typeface="Meiryo" pitchFamily="34" charset="-122"/>
                <a:cs typeface="Meiryo" pitchFamily="34" charset="-120"/>
              </a:rPr>
              <a:t>27%</a:t>
            </a:r>
            <a:endParaRPr lang="en-US" sz="1600" dirty="0"/>
          </a:p>
        </p:txBody>
      </p:sp>
      <p:sp>
        <p:nvSpPr>
          <p:cNvPr id="11" name="Shape 7"/>
          <p:cNvSpPr/>
          <p:nvPr/>
        </p:nvSpPr>
        <p:spPr>
          <a:xfrm>
            <a:off x="6583680" y="2148840"/>
            <a:ext cx="457200" cy="457200"/>
          </a:xfrm>
          <a:prstGeom prst="ellipse">
            <a:avLst/>
          </a:prstGeom>
          <a:solidFill>
            <a:srgbClr val="1E2761"/>
          </a:solidFill>
          <a:ln/>
        </p:spPr>
        <p:txBody>
          <a:bodyPr/>
          <a:p/>
        </p:txBody>
      </p:sp>
      <p:sp>
        <p:nvSpPr>
          <p:cNvPr id="12" name="Text 8"/>
          <p:cNvSpPr/>
          <p:nvPr/>
        </p:nvSpPr>
        <p:spPr>
          <a:xfrm>
            <a:off x="6583680" y="2148840"/>
            <a:ext cx="457200" cy="457200"/>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13" name="Text 9"/>
          <p:cNvSpPr/>
          <p:nvPr/>
        </p:nvSpPr>
        <p:spPr>
          <a:xfrm>
            <a:off x="7178040" y="2167128"/>
            <a:ext cx="3931920" cy="457200"/>
          </a:xfrm>
          <a:prstGeom prst="rect">
            <a:avLst/>
          </a:prstGeom>
          <a:noFill/>
          <a:ln/>
        </p:spPr>
        <p:txBody>
          <a:bodyPr wrap="square" rtlCol="0" anchor="ctr"/>
          <a:lstStyle/>
          <a:p>
            <a:pPr indent="0" marL="0">
              <a:buNone/>
            </a:pPr>
            <a:r>
              <a:rPr lang="en-US" sz="1400" dirty="0">
                <a:solidFill>
                  <a:srgbClr val="1F2430"/>
                </a:solidFill>
                <a:latin typeface="Meiryo" pitchFamily="34" charset="0"/>
                <a:ea typeface="Meiryo" pitchFamily="34" charset="-122"/>
                <a:cs typeface="Meiryo" pitchFamily="34" charset="-120"/>
              </a:rPr>
              <a:t>Tool Design &amp; MCP Integration</a:t>
            </a:r>
            <a:endParaRPr lang="en-US" sz="1400" dirty="0"/>
          </a:p>
        </p:txBody>
      </p:sp>
      <p:sp>
        <p:nvSpPr>
          <p:cNvPr id="14" name="Text 10"/>
          <p:cNvSpPr/>
          <p:nvPr/>
        </p:nvSpPr>
        <p:spPr>
          <a:xfrm>
            <a:off x="11064240" y="2167128"/>
            <a:ext cx="731520" cy="457200"/>
          </a:xfrm>
          <a:prstGeom prst="rect">
            <a:avLst/>
          </a:prstGeom>
          <a:noFill/>
          <a:ln/>
        </p:spPr>
        <p:txBody>
          <a:bodyPr wrap="square" rtlCol="0" anchor="ctr"/>
          <a:lstStyle/>
          <a:p>
            <a:pPr indent="0" marL="0">
              <a:buNone/>
            </a:pPr>
            <a:r>
              <a:rPr lang="en-US" sz="1600" b="1" dirty="0">
                <a:solidFill>
                  <a:srgbClr val="1E2761"/>
                </a:solidFill>
                <a:latin typeface="Meiryo" pitchFamily="34" charset="0"/>
                <a:ea typeface="Meiryo" pitchFamily="34" charset="-122"/>
                <a:cs typeface="Meiryo" pitchFamily="34" charset="-120"/>
              </a:rPr>
              <a:t>18%</a:t>
            </a:r>
            <a:endParaRPr lang="en-US" sz="1600" dirty="0"/>
          </a:p>
        </p:txBody>
      </p:sp>
      <p:sp>
        <p:nvSpPr>
          <p:cNvPr id="15" name="Shape 11"/>
          <p:cNvSpPr/>
          <p:nvPr/>
        </p:nvSpPr>
        <p:spPr>
          <a:xfrm>
            <a:off x="6583680" y="3017520"/>
            <a:ext cx="457200" cy="457200"/>
          </a:xfrm>
          <a:prstGeom prst="ellipse">
            <a:avLst/>
          </a:prstGeom>
          <a:solidFill>
            <a:srgbClr val="1E2761"/>
          </a:solidFill>
          <a:ln/>
        </p:spPr>
        <p:txBody>
          <a:bodyPr/>
          <a:p/>
        </p:txBody>
      </p:sp>
      <p:sp>
        <p:nvSpPr>
          <p:cNvPr id="16" name="Text 12"/>
          <p:cNvSpPr/>
          <p:nvPr/>
        </p:nvSpPr>
        <p:spPr>
          <a:xfrm>
            <a:off x="6583680" y="3017520"/>
            <a:ext cx="457200" cy="457200"/>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3</a:t>
            </a:r>
            <a:endParaRPr lang="en-US" sz="1500" dirty="0"/>
          </a:p>
        </p:txBody>
      </p:sp>
      <p:sp>
        <p:nvSpPr>
          <p:cNvPr id="17" name="Text 13"/>
          <p:cNvSpPr/>
          <p:nvPr/>
        </p:nvSpPr>
        <p:spPr>
          <a:xfrm>
            <a:off x="7178040" y="3035808"/>
            <a:ext cx="3931920" cy="457200"/>
          </a:xfrm>
          <a:prstGeom prst="rect">
            <a:avLst/>
          </a:prstGeom>
          <a:noFill/>
          <a:ln/>
        </p:spPr>
        <p:txBody>
          <a:bodyPr wrap="square" rtlCol="0" anchor="ctr"/>
          <a:lstStyle/>
          <a:p>
            <a:pPr indent="0" marL="0">
              <a:buNone/>
            </a:pPr>
            <a:r>
              <a:rPr lang="en-US" sz="1400" dirty="0">
                <a:solidFill>
                  <a:srgbClr val="1F2430"/>
                </a:solidFill>
                <a:latin typeface="Meiryo" pitchFamily="34" charset="0"/>
                <a:ea typeface="Meiryo" pitchFamily="34" charset="-122"/>
                <a:cs typeface="Meiryo" pitchFamily="34" charset="-120"/>
              </a:rPr>
              <a:t>Claude Code Configuration &amp; Workflows</a:t>
            </a:r>
            <a:endParaRPr lang="en-US" sz="1400" dirty="0"/>
          </a:p>
        </p:txBody>
      </p:sp>
      <p:sp>
        <p:nvSpPr>
          <p:cNvPr id="18" name="Text 14"/>
          <p:cNvSpPr/>
          <p:nvPr/>
        </p:nvSpPr>
        <p:spPr>
          <a:xfrm>
            <a:off x="11064240" y="3035808"/>
            <a:ext cx="731520" cy="457200"/>
          </a:xfrm>
          <a:prstGeom prst="rect">
            <a:avLst/>
          </a:prstGeom>
          <a:noFill/>
          <a:ln/>
        </p:spPr>
        <p:txBody>
          <a:bodyPr wrap="square" rtlCol="0" anchor="ctr"/>
          <a:lstStyle/>
          <a:p>
            <a:pPr indent="0" marL="0">
              <a:buNone/>
            </a:pPr>
            <a:r>
              <a:rPr lang="en-US" sz="1600" b="1" dirty="0">
                <a:solidFill>
                  <a:srgbClr val="1E2761"/>
                </a:solidFill>
                <a:latin typeface="Meiryo" pitchFamily="34" charset="0"/>
                <a:ea typeface="Meiryo" pitchFamily="34" charset="-122"/>
                <a:cs typeface="Meiryo" pitchFamily="34" charset="-120"/>
              </a:rPr>
              <a:t>20%</a:t>
            </a:r>
            <a:endParaRPr lang="en-US" sz="1600" dirty="0"/>
          </a:p>
        </p:txBody>
      </p:sp>
      <p:sp>
        <p:nvSpPr>
          <p:cNvPr id="19" name="Shape 15"/>
          <p:cNvSpPr/>
          <p:nvPr/>
        </p:nvSpPr>
        <p:spPr>
          <a:xfrm>
            <a:off x="6583680" y="3886200"/>
            <a:ext cx="457200" cy="457200"/>
          </a:xfrm>
          <a:prstGeom prst="ellipse">
            <a:avLst/>
          </a:prstGeom>
          <a:solidFill>
            <a:srgbClr val="1E2761"/>
          </a:solidFill>
          <a:ln/>
        </p:spPr>
        <p:txBody>
          <a:bodyPr/>
          <a:p/>
        </p:txBody>
      </p:sp>
      <p:sp>
        <p:nvSpPr>
          <p:cNvPr id="20" name="Text 16"/>
          <p:cNvSpPr/>
          <p:nvPr/>
        </p:nvSpPr>
        <p:spPr>
          <a:xfrm>
            <a:off x="6583680" y="3886200"/>
            <a:ext cx="457200" cy="457200"/>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4</a:t>
            </a:r>
            <a:endParaRPr lang="en-US" sz="1500" dirty="0"/>
          </a:p>
        </p:txBody>
      </p:sp>
      <p:sp>
        <p:nvSpPr>
          <p:cNvPr id="21" name="Text 17"/>
          <p:cNvSpPr/>
          <p:nvPr/>
        </p:nvSpPr>
        <p:spPr>
          <a:xfrm>
            <a:off x="7178040" y="3904488"/>
            <a:ext cx="3931920" cy="457200"/>
          </a:xfrm>
          <a:prstGeom prst="rect">
            <a:avLst/>
          </a:prstGeom>
          <a:noFill/>
          <a:ln/>
        </p:spPr>
        <p:txBody>
          <a:bodyPr wrap="square" rtlCol="0" anchor="ctr"/>
          <a:lstStyle/>
          <a:p>
            <a:pPr indent="0" marL="0">
              <a:buNone/>
            </a:pPr>
            <a:r>
              <a:rPr lang="en-US" sz="1400" dirty="0">
                <a:solidFill>
                  <a:srgbClr val="1F2430"/>
                </a:solidFill>
                <a:latin typeface="Meiryo" pitchFamily="34" charset="0"/>
                <a:ea typeface="Meiryo" pitchFamily="34" charset="-122"/>
                <a:cs typeface="Meiryo" pitchFamily="34" charset="-120"/>
              </a:rPr>
              <a:t>Prompt Engineering &amp; Structured Output</a:t>
            </a:r>
            <a:endParaRPr lang="en-US" sz="1400" dirty="0"/>
          </a:p>
        </p:txBody>
      </p:sp>
      <p:sp>
        <p:nvSpPr>
          <p:cNvPr id="22" name="Text 18"/>
          <p:cNvSpPr/>
          <p:nvPr/>
        </p:nvSpPr>
        <p:spPr>
          <a:xfrm>
            <a:off x="11064240" y="3904488"/>
            <a:ext cx="731520" cy="457200"/>
          </a:xfrm>
          <a:prstGeom prst="rect">
            <a:avLst/>
          </a:prstGeom>
          <a:noFill/>
          <a:ln/>
        </p:spPr>
        <p:txBody>
          <a:bodyPr wrap="square" rtlCol="0" anchor="ctr"/>
          <a:lstStyle/>
          <a:p>
            <a:pPr indent="0" marL="0">
              <a:buNone/>
            </a:pPr>
            <a:r>
              <a:rPr lang="en-US" sz="1600" b="1" dirty="0">
                <a:solidFill>
                  <a:srgbClr val="1E2761"/>
                </a:solidFill>
                <a:latin typeface="Meiryo" pitchFamily="34" charset="0"/>
                <a:ea typeface="Meiryo" pitchFamily="34" charset="-122"/>
                <a:cs typeface="Meiryo" pitchFamily="34" charset="-120"/>
              </a:rPr>
              <a:t>20%</a:t>
            </a:r>
            <a:endParaRPr lang="en-US" sz="1600" dirty="0"/>
          </a:p>
        </p:txBody>
      </p:sp>
      <p:sp>
        <p:nvSpPr>
          <p:cNvPr id="23" name="Shape 19"/>
          <p:cNvSpPr/>
          <p:nvPr/>
        </p:nvSpPr>
        <p:spPr>
          <a:xfrm>
            <a:off x="6583680" y="4754880"/>
            <a:ext cx="457200" cy="457200"/>
          </a:xfrm>
          <a:prstGeom prst="ellipse">
            <a:avLst/>
          </a:prstGeom>
          <a:solidFill>
            <a:srgbClr val="1E2761"/>
          </a:solidFill>
          <a:ln/>
        </p:spPr>
        <p:txBody>
          <a:bodyPr/>
          <a:p/>
        </p:txBody>
      </p:sp>
      <p:sp>
        <p:nvSpPr>
          <p:cNvPr id="24" name="Text 20"/>
          <p:cNvSpPr/>
          <p:nvPr/>
        </p:nvSpPr>
        <p:spPr>
          <a:xfrm>
            <a:off x="6583680" y="4754880"/>
            <a:ext cx="457200" cy="457200"/>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5</a:t>
            </a:r>
            <a:endParaRPr lang="en-US" sz="1500" dirty="0"/>
          </a:p>
        </p:txBody>
      </p:sp>
      <p:sp>
        <p:nvSpPr>
          <p:cNvPr id="25" name="Text 21"/>
          <p:cNvSpPr/>
          <p:nvPr/>
        </p:nvSpPr>
        <p:spPr>
          <a:xfrm>
            <a:off x="7178040" y="4773168"/>
            <a:ext cx="3931920" cy="457200"/>
          </a:xfrm>
          <a:prstGeom prst="rect">
            <a:avLst/>
          </a:prstGeom>
          <a:noFill/>
          <a:ln/>
        </p:spPr>
        <p:txBody>
          <a:bodyPr wrap="square" rtlCol="0" anchor="ctr"/>
          <a:lstStyle/>
          <a:p>
            <a:pPr indent="0" marL="0">
              <a:buNone/>
            </a:pPr>
            <a:r>
              <a:rPr lang="en-US" sz="1400" dirty="0">
                <a:solidFill>
                  <a:srgbClr val="1F2430"/>
                </a:solidFill>
                <a:latin typeface="Meiryo" pitchFamily="34" charset="0"/>
                <a:ea typeface="Meiryo" pitchFamily="34" charset="-122"/>
                <a:cs typeface="Meiryo" pitchFamily="34" charset="-120"/>
              </a:rPr>
              <a:t>Context Management &amp; Reliability</a:t>
            </a:r>
            <a:endParaRPr lang="en-US" sz="1400" dirty="0"/>
          </a:p>
        </p:txBody>
      </p:sp>
      <p:sp>
        <p:nvSpPr>
          <p:cNvPr id="26" name="Text 22"/>
          <p:cNvSpPr/>
          <p:nvPr/>
        </p:nvSpPr>
        <p:spPr>
          <a:xfrm>
            <a:off x="11064240" y="4773168"/>
            <a:ext cx="731520" cy="457200"/>
          </a:xfrm>
          <a:prstGeom prst="rect">
            <a:avLst/>
          </a:prstGeom>
          <a:noFill/>
          <a:ln/>
        </p:spPr>
        <p:txBody>
          <a:bodyPr wrap="square" rtlCol="0" anchor="ctr"/>
          <a:lstStyle/>
          <a:p>
            <a:pPr indent="0" marL="0">
              <a:buNone/>
            </a:pPr>
            <a:r>
              <a:rPr lang="en-US" sz="1600" b="1" dirty="0">
                <a:solidFill>
                  <a:srgbClr val="1E2761"/>
                </a:solidFill>
                <a:latin typeface="Meiryo" pitchFamily="34" charset="0"/>
                <a:ea typeface="Meiryo" pitchFamily="34" charset="-122"/>
                <a:cs typeface="Meiryo" pitchFamily="34" charset="-120"/>
              </a:rPr>
              <a:t>15%</a:t>
            </a:r>
            <a:endParaRPr lang="en-US" sz="1600" dirty="0"/>
          </a:p>
        </p:txBody>
      </p:sp>
      <p:sp>
        <p:nvSpPr>
          <p:cNvPr id="27" name="Text 23"/>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8" name="Text 24"/>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この参考書の読み方: 2種類のスライド</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43000"/>
            <a:ext cx="11064240" cy="365760"/>
          </a:xfrm>
          <a:prstGeom prst="rect">
            <a:avLst/>
          </a:prstGeom>
          <a:noFill/>
          <a:ln/>
        </p:spPr>
        <p:txBody>
          <a:bodyPr wrap="square" rtlCol="0" anchor="ctr"/>
          <a:lstStyle/>
          <a:p>
            <a:pPr indent="0" marL="0">
              <a:buNone/>
            </a:pPr>
            <a:r>
              <a:rPr lang="en-US" sz="1300" dirty="0">
                <a:solidFill>
                  <a:srgbClr val="1F2430"/>
                </a:solidFill>
                <a:latin typeface="Meiryo" pitchFamily="34" charset="0"/>
                <a:ea typeface="Meiryo" pitchFamily="34" charset="-122"/>
                <a:cs typeface="Meiryo" pitchFamily="34" charset="-120"/>
              </a:rPr>
              <a:t>スライドの右上に、内容の性質を示すバッジを付けています</a:t>
            </a:r>
            <a:endParaRPr lang="en-US" sz="1300" dirty="0"/>
          </a:p>
        </p:txBody>
      </p:sp>
      <p:sp>
        <p:nvSpPr>
          <p:cNvPr id="7" name="Shape 4"/>
          <p:cNvSpPr/>
          <p:nvPr/>
        </p:nvSpPr>
        <p:spPr>
          <a:xfrm>
            <a:off x="548640" y="1691640"/>
            <a:ext cx="5394960" cy="3566160"/>
          </a:xfrm>
          <a:prstGeom prst="roundRect">
            <a:avLst>
              <a:gd name="adj" fmla="val 2564"/>
            </a:avLst>
          </a:prstGeom>
          <a:solidFill>
            <a:srgbClr val="E3F4EA"/>
          </a:solidFill>
          <a:ln/>
        </p:spPr>
        <p:txBody>
          <a:bodyPr/>
          <a:p/>
        </p:txBody>
      </p:sp>
      <p:sp>
        <p:nvSpPr>
          <p:cNvPr id="8" name="Shape 5"/>
          <p:cNvSpPr/>
          <p:nvPr/>
        </p:nvSpPr>
        <p:spPr>
          <a:xfrm>
            <a:off x="822960" y="1920240"/>
            <a:ext cx="2103120" cy="411480"/>
          </a:xfrm>
          <a:prstGeom prst="roundRect">
            <a:avLst>
              <a:gd name="adj" fmla="val 48889"/>
            </a:avLst>
          </a:prstGeom>
          <a:solidFill>
            <a:srgbClr val="FFFFFF"/>
          </a:solidFill>
          <a:ln/>
        </p:spPr>
        <p:txBody>
          <a:bodyPr/>
          <a:p/>
        </p:txBody>
      </p:sp>
      <p:sp>
        <p:nvSpPr>
          <p:cNvPr id="9" name="Text 6"/>
          <p:cNvSpPr/>
          <p:nvPr/>
        </p:nvSpPr>
        <p:spPr>
          <a:xfrm>
            <a:off x="822960" y="1920240"/>
            <a:ext cx="2103120" cy="411480"/>
          </a:xfrm>
          <a:prstGeom prst="rect">
            <a:avLst/>
          </a:prstGeom>
          <a:noFill/>
          <a:ln/>
        </p:spPr>
        <p:txBody>
          <a:bodyPr wrap="square" rtlCol="0" anchor="ctr"/>
          <a:lstStyle/>
          <a:p>
            <a:pPr algn="ctr" indent="0" marL="0">
              <a:buNone/>
            </a:pPr>
            <a:r>
              <a:rPr lang="en-US" sz="1250" b="1" dirty="0">
                <a:solidFill>
                  <a:srgbClr val="1E7A4C"/>
                </a:solidFill>
                <a:latin typeface="Meiryo" pitchFamily="34" charset="0"/>
                <a:ea typeface="Meiryo" pitchFamily="34" charset="-122"/>
                <a:cs typeface="Meiryo" pitchFamily="34" charset="-120"/>
              </a:rPr>
              <a:t>🔧 実践・操作編</a:t>
            </a:r>
            <a:endParaRPr lang="en-US" sz="1250" dirty="0"/>
          </a:p>
        </p:txBody>
      </p:sp>
      <p:sp>
        <p:nvSpPr>
          <p:cNvPr id="10" name="Text 7"/>
          <p:cNvSpPr/>
          <p:nvPr/>
        </p:nvSpPr>
        <p:spPr>
          <a:xfrm>
            <a:off x="822960" y="2468880"/>
            <a:ext cx="4846320" cy="26517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E5C3A"/>
                </a:solidFill>
                <a:latin typeface="Meiryo" pitchFamily="34" charset="0"/>
                <a:ea typeface="Meiryo" pitchFamily="34" charset="-122"/>
                <a:cs typeface="Meiryo" pitchFamily="34" charset="-120"/>
              </a:rPr>
              <a:t>実際にClaude Code・Agent SDK・APIを使う時に、自分で組み立てる/実行する内容</a:t>
            </a:r>
            <a:endParaRPr lang="en-US" sz="1150" dirty="0"/>
          </a:p>
          <a:p>
            <a:pPr marL="342900" indent="-342900">
              <a:spcAft>
                <a:spcPts val="800"/>
              </a:spcAft>
              <a:buSzPct val="100000"/>
              <a:buChar char="•"/>
            </a:pPr>
            <a:r>
              <a:rPr lang="en-US" sz="1150" dirty="0">
                <a:solidFill>
                  <a:srgbClr val="1E5C3A"/>
                </a:solidFill>
                <a:latin typeface="Meiryo" pitchFamily="34" charset="0"/>
                <a:ea typeface="Meiryo" pitchFamily="34" charset="-122"/>
                <a:cs typeface="Meiryo" pitchFamily="34" charset="-120"/>
              </a:rPr>
              <a:t>「どう実装するか」「画面や設定のどこを触るか」が中心</a:t>
            </a:r>
            <a:endParaRPr lang="en-US" sz="1150" dirty="0"/>
          </a:p>
          <a:p>
            <a:pPr marL="342900" indent="-342900">
              <a:spcAft>
                <a:spcPts val="800"/>
              </a:spcAft>
              <a:buSzPct val="100000"/>
              <a:buChar char="•"/>
            </a:pPr>
            <a:r>
              <a:rPr lang="en-US" sz="1150" dirty="0">
                <a:solidFill>
                  <a:srgbClr val="1E5C3A"/>
                </a:solidFill>
                <a:latin typeface="Meiryo" pitchFamily="34" charset="0"/>
                <a:ea typeface="Meiryo" pitchFamily="34" charset="-122"/>
                <a:cs typeface="Meiryo" pitchFamily="34" charset="-120"/>
              </a:rPr>
              <a:t>試験でも「この状況でどう実装すべきか」という設計判断問題として出やすい</a:t>
            </a:r>
            <a:endParaRPr lang="en-US" sz="1150" dirty="0"/>
          </a:p>
          <a:p>
            <a:pPr marL="342900" indent="-342900">
              <a:spcAft>
                <a:spcPts val="800"/>
              </a:spcAft>
              <a:buSzPct val="100000"/>
              <a:buChar char="•"/>
            </a:pPr>
            <a:r>
              <a:rPr lang="en-US" sz="1150" dirty="0">
                <a:solidFill>
                  <a:srgbClr val="1E5C3A"/>
                </a:solidFill>
                <a:latin typeface="Meiryo" pitchFamily="34" charset="0"/>
                <a:ea typeface="Meiryo" pitchFamily="34" charset="-122"/>
                <a:cs typeface="Meiryo" pitchFamily="34" charset="-120"/>
              </a:rPr>
              <a:t>例: エージェント的ループの実装、サブエージェントの起動画面、Claude Codeの操作</a:t>
            </a:r>
            <a:endParaRPr lang="en-US" sz="1150" dirty="0"/>
          </a:p>
        </p:txBody>
      </p:sp>
      <p:sp>
        <p:nvSpPr>
          <p:cNvPr id="11" name="Shape 8"/>
          <p:cNvSpPr/>
          <p:nvPr/>
        </p:nvSpPr>
        <p:spPr>
          <a:xfrm>
            <a:off x="6172200" y="1691640"/>
            <a:ext cx="5394960" cy="3566160"/>
          </a:xfrm>
          <a:prstGeom prst="roundRect">
            <a:avLst>
              <a:gd name="adj" fmla="val 2564"/>
            </a:avLst>
          </a:prstGeom>
          <a:solidFill>
            <a:srgbClr val="FBF1E4"/>
          </a:solidFill>
          <a:ln/>
        </p:spPr>
        <p:txBody>
          <a:bodyPr/>
          <a:p/>
        </p:txBody>
      </p:sp>
      <p:sp>
        <p:nvSpPr>
          <p:cNvPr id="12" name="Shape 9"/>
          <p:cNvSpPr/>
          <p:nvPr/>
        </p:nvSpPr>
        <p:spPr>
          <a:xfrm>
            <a:off x="6446520" y="1920240"/>
            <a:ext cx="2103120" cy="411480"/>
          </a:xfrm>
          <a:prstGeom prst="roundRect">
            <a:avLst>
              <a:gd name="adj" fmla="val 48889"/>
            </a:avLst>
          </a:prstGeom>
          <a:solidFill>
            <a:srgbClr val="FFFFFF"/>
          </a:solidFill>
          <a:ln/>
        </p:spPr>
        <p:txBody>
          <a:bodyPr/>
          <a:p/>
        </p:txBody>
      </p:sp>
      <p:sp>
        <p:nvSpPr>
          <p:cNvPr id="13" name="Text 10"/>
          <p:cNvSpPr/>
          <p:nvPr/>
        </p:nvSpPr>
        <p:spPr>
          <a:xfrm>
            <a:off x="6446520" y="1920240"/>
            <a:ext cx="2103120" cy="411480"/>
          </a:xfrm>
          <a:prstGeom prst="rect">
            <a:avLst/>
          </a:prstGeom>
          <a:noFill/>
          <a:ln/>
        </p:spPr>
        <p:txBody>
          <a:bodyPr wrap="square" rtlCol="0" anchor="ctr"/>
          <a:lstStyle/>
          <a:p>
            <a:pPr algn="ctr" indent="0" marL="0">
              <a:buNone/>
            </a:pPr>
            <a:r>
              <a:rPr lang="en-US" sz="1250" b="1" dirty="0">
                <a:solidFill>
                  <a:srgbClr val="8A5A00"/>
                </a:solidFill>
                <a:latin typeface="Meiryo" pitchFamily="34" charset="0"/>
                <a:ea typeface="Meiryo" pitchFamily="34" charset="-122"/>
                <a:cs typeface="Meiryo" pitchFamily="34" charset="-120"/>
              </a:rPr>
              <a:t>📚 知識・雑学編</a:t>
            </a:r>
            <a:endParaRPr lang="en-US" sz="1250" dirty="0"/>
          </a:p>
        </p:txBody>
      </p:sp>
      <p:sp>
        <p:nvSpPr>
          <p:cNvPr id="14" name="Text 11"/>
          <p:cNvSpPr/>
          <p:nvPr/>
        </p:nvSpPr>
        <p:spPr>
          <a:xfrm>
            <a:off x="6446520" y="2468880"/>
            <a:ext cx="4846320" cy="26517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6B4A00"/>
                </a:solidFill>
                <a:latin typeface="Meiryo" pitchFamily="34" charset="0"/>
                <a:ea typeface="Meiryo" pitchFamily="34" charset="-122"/>
                <a:cs typeface="Meiryo" pitchFamily="34" charset="-120"/>
              </a:rPr>
              <a:t>自分で操作するというより、「そもそも何なのか」「なぜそうなっているか」を理解するための背景知識</a:t>
            </a:r>
            <a:endParaRPr lang="en-US" sz="1150" dirty="0"/>
          </a:p>
          <a:p>
            <a:pPr marL="342900" indent="-342900">
              <a:spcAft>
                <a:spcPts val="800"/>
              </a:spcAft>
              <a:buSzPct val="100000"/>
              <a:buChar char="•"/>
            </a:pPr>
            <a:r>
              <a:rPr lang="en-US" sz="1150" dirty="0">
                <a:solidFill>
                  <a:srgbClr val="6B4A00"/>
                </a:solidFill>
                <a:latin typeface="Meiryo" pitchFamily="34" charset="0"/>
                <a:ea typeface="Meiryo" pitchFamily="34" charset="-122"/>
                <a:cs typeface="Meiryo" pitchFamily="34" charset="-120"/>
              </a:rPr>
              <a:t>LLM・エージェントという概念そのものの説明、用語の正確な定義、海外の受験者データ・体験談など</a:t>
            </a:r>
            <a:endParaRPr lang="en-US" sz="1150" dirty="0"/>
          </a:p>
          <a:p>
            <a:pPr marL="342900" indent="-342900">
              <a:spcAft>
                <a:spcPts val="800"/>
              </a:spcAft>
              <a:buSzPct val="100000"/>
              <a:buChar char="•"/>
            </a:pPr>
            <a:r>
              <a:rPr lang="en-US" sz="1150" dirty="0">
                <a:solidFill>
                  <a:srgbClr val="6B4A00"/>
                </a:solidFill>
                <a:latin typeface="Meiryo" pitchFamily="34" charset="0"/>
                <a:ea typeface="Meiryo" pitchFamily="34" charset="-122"/>
                <a:cs typeface="Meiryo" pitchFamily="34" charset="-120"/>
              </a:rPr>
              <a:t>直接手を動かすものではないが、設計判断の「理由」を理解する土台になる</a:t>
            </a:r>
            <a:endParaRPr lang="en-US" sz="1150" dirty="0"/>
          </a:p>
          <a:p>
            <a:pPr marL="342900" indent="-342900">
              <a:spcAft>
                <a:spcPts val="800"/>
              </a:spcAft>
              <a:buSzPct val="100000"/>
              <a:buChar char="•"/>
            </a:pPr>
            <a:r>
              <a:rPr lang="en-US" sz="1150" dirty="0">
                <a:solidFill>
                  <a:srgbClr val="6B4A00"/>
                </a:solidFill>
                <a:latin typeface="Meiryo" pitchFamily="34" charset="0"/>
                <a:ea typeface="Meiryo" pitchFamily="34" charset="-122"/>
                <a:cs typeface="Meiryo" pitchFamily="34" charset="-120"/>
              </a:rPr>
              <a:t>例: LLMとは何か、stop_reasonの6種類の値、公式模擬試験と本番のギャップ</a:t>
            </a:r>
            <a:endParaRPr lang="en-US" sz="1150" dirty="0"/>
          </a:p>
        </p:txBody>
      </p:sp>
      <p:sp>
        <p:nvSpPr>
          <p:cNvPr id="15" name="Text 12"/>
          <p:cNvSpPr/>
          <p:nvPr/>
        </p:nvSpPr>
        <p:spPr>
          <a:xfrm>
            <a:off x="548640" y="5394960"/>
            <a:ext cx="11064240" cy="365760"/>
          </a:xfrm>
          <a:prstGeom prst="rect">
            <a:avLst/>
          </a:prstGeom>
          <a:noFill/>
          <a:ln/>
        </p:spPr>
        <p:txBody>
          <a:bodyPr wrap="square" rtlCol="0" anchor="ctr"/>
          <a:lstStyle/>
          <a:p>
            <a:pPr indent="0" marL="0">
              <a:buNone/>
            </a:pPr>
            <a:r>
              <a:rPr lang="en-US" sz="1000" i="1" dirty="0">
                <a:solidFill>
                  <a:srgbClr val="5B6472"/>
                </a:solidFill>
                <a:latin typeface="Meiryo" pitchFamily="34" charset="0"/>
                <a:ea typeface="Meiryo" pitchFamily="34" charset="-122"/>
                <a:cs typeface="Meiryo" pitchFamily="34" charset="-120"/>
              </a:rPr>
              <a:t>※現時点では主要な概念スライドのみにバッジを付けています。読んでいて分類が分かりにくい箇所があれば教えてください</a:t>
            </a:r>
            <a:endParaRPr lang="en-US" sz="1000" dirty="0"/>
          </a:p>
        </p:txBody>
      </p:sp>
      <p:sp>
        <p:nvSpPr>
          <p:cNvPr id="16" name="Text 13"/>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4"/>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【超重要】海外の受験者データが示す罠</a:t>
            </a:r>
            <a:endParaRPr lang="en-US" sz="2500" dirty="0"/>
          </a:p>
        </p:txBody>
      </p:sp>
      <p:sp>
        <p:nvSpPr>
          <p:cNvPr id="5" name="Shape 2"/>
          <p:cNvSpPr/>
          <p:nvPr/>
        </p:nvSpPr>
        <p:spPr>
          <a:xfrm>
            <a:off x="8686800" y="384048"/>
            <a:ext cx="2926080" cy="411480"/>
          </a:xfrm>
          <a:prstGeom prst="roundRect">
            <a:avLst>
              <a:gd name="adj" fmla="val 48889"/>
            </a:avLst>
          </a:prstGeom>
          <a:solidFill>
            <a:srgbClr val="FBF1E4"/>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A5A00"/>
                </a:solidFill>
                <a:latin typeface="Meiryo" pitchFamily="34" charset="0"/>
                <a:ea typeface="Meiryo" pitchFamily="34" charset="-122"/>
                <a:cs typeface="Meiryo" pitchFamily="34" charset="-120"/>
              </a:rPr>
              <a:t>📚 知識・雑学編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Shape 5"/>
          <p:cNvSpPr/>
          <p:nvPr/>
        </p:nvSpPr>
        <p:spPr>
          <a:xfrm>
            <a:off x="548640" y="1188720"/>
            <a:ext cx="11064240" cy="1051560"/>
          </a:xfrm>
          <a:prstGeom prst="roundRect">
            <a:avLst>
              <a:gd name="adj" fmla="val 6957"/>
            </a:avLst>
          </a:prstGeom>
          <a:solidFill>
            <a:srgbClr val="FBEAEA"/>
          </a:solidFill>
          <a:ln/>
        </p:spPr>
        <p:txBody>
          <a:bodyPr/>
          <a:p/>
        </p:txBody>
      </p:sp>
      <p:sp>
        <p:nvSpPr>
          <p:cNvPr id="9" name="Text 6"/>
          <p:cNvSpPr/>
          <p:nvPr/>
        </p:nvSpPr>
        <p:spPr>
          <a:xfrm>
            <a:off x="777240" y="1298448"/>
            <a:ext cx="10607040" cy="868680"/>
          </a:xfrm>
          <a:prstGeom prst="rect">
            <a:avLst/>
          </a:prstGeom>
          <a:noFill/>
          <a:ln/>
        </p:spPr>
        <p:txBody>
          <a:bodyPr wrap="square" rtlCol="0" anchor="t"/>
          <a:lstStyle/>
          <a:p>
            <a:pPr indent="0" marL="0">
              <a:buNone/>
            </a:pPr>
            <a:r>
              <a:rPr lang="en-US" sz="1350" b="1" dirty="0">
                <a:solidFill>
                  <a:srgbClr val="8A2020"/>
                </a:solidFill>
                <a:latin typeface="Meiryo" pitchFamily="34" charset="0"/>
                <a:ea typeface="Meiryo" pitchFamily="34" charset="-122"/>
                <a:cs typeface="Meiryo" pitchFamily="34" charset="-120"/>
              </a:rPr>
              <a:t>ある受験者は公式模擬試験(25問)で3回連続1000/1000点(満点)を取ってから本番に臨んだが、本番はスコア590/1000で不合格だった。逆に、事前学習なしで臨んだ別の受験者が890/1000で合格した例もある。</a:t>
            </a:r>
            <a:endParaRPr lang="en-US" sz="1350" dirty="0"/>
          </a:p>
        </p:txBody>
      </p:sp>
      <p:sp>
        <p:nvSpPr>
          <p:cNvPr id="10" name="Text 7"/>
          <p:cNvSpPr/>
          <p:nvPr/>
        </p:nvSpPr>
        <p:spPr>
          <a:xfrm>
            <a:off x="548640" y="2423160"/>
            <a:ext cx="110642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なぜこの逆転が起きるのか(LLMに詳しくなくても分かる説明)</a:t>
            </a:r>
            <a:endParaRPr lang="en-US" sz="1400" dirty="0"/>
          </a:p>
        </p:txBody>
      </p:sp>
      <p:sp>
        <p:nvSpPr>
          <p:cNvPr id="11" name="Text 8"/>
          <p:cNvSpPr/>
          <p:nvPr/>
        </p:nvSpPr>
        <p:spPr>
          <a:xfrm>
            <a:off x="548640" y="2788920"/>
            <a:ext cx="11064240" cy="16459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430"/>
                </a:solidFill>
                <a:latin typeface="Meiryo" pitchFamily="34" charset="0"/>
                <a:ea typeface="Meiryo" pitchFamily="34" charset="-122"/>
                <a:cs typeface="Meiryo" pitchFamily="34" charset="-120"/>
              </a:rPr>
              <a:t>公式模擬試験(25問)は「〇〇とは何か?」を問う暗記型・定義確認スタイル</a:t>
            </a:r>
            <a:endParaRPr lang="en-US" sz="1350" dirty="0"/>
          </a:p>
          <a:p>
            <a:pPr marL="342900" indent="-342900">
              <a:spcAft>
                <a:spcPts val="800"/>
              </a:spcAft>
              <a:buSzPct val="100000"/>
              <a:buChar char="•"/>
            </a:pPr>
            <a:r>
              <a:rPr lang="en-US" sz="1350" dirty="0">
                <a:solidFill>
                  <a:srgbClr val="1F2430"/>
                </a:solidFill>
                <a:latin typeface="Meiryo" pitchFamily="34" charset="0"/>
                <a:ea typeface="Meiryo" pitchFamily="34" charset="-122"/>
                <a:cs typeface="Meiryo" pitchFamily="34" charset="-120"/>
              </a:rPr>
              <a:t>本番試験は「あるシステムがこう壊れている。原因と直し方は?」を問う診断型・応用スタイルで、同じ知識でも要求される思考の質が全く違う</a:t>
            </a:r>
            <a:endParaRPr lang="en-US" sz="1350" dirty="0"/>
          </a:p>
          <a:p>
            <a:pPr marL="342900" indent="-342900">
              <a:spcAft>
                <a:spcPts val="800"/>
              </a:spcAft>
              <a:buSzPct val="100000"/>
              <a:buChar char="•"/>
            </a:pPr>
            <a:r>
              <a:rPr lang="en-US" sz="1350" dirty="0">
                <a:solidFill>
                  <a:srgbClr val="1F2430"/>
                </a:solidFill>
                <a:latin typeface="Meiryo" pitchFamily="34" charset="0"/>
                <a:ea typeface="Meiryo" pitchFamily="34" charset="-122"/>
                <a:cs typeface="Meiryo" pitchFamily="34" charset="-120"/>
              </a:rPr>
              <a:t>つまり「用語を覚える」勉強法では本番に対応できない。「架空のシステムが壊れた時、自分ならどう直すか」を毎回具体的に考える練習が必要</a:t>
            </a:r>
            <a:endParaRPr lang="en-US" sz="1350" dirty="0"/>
          </a:p>
        </p:txBody>
      </p:sp>
      <p:sp>
        <p:nvSpPr>
          <p:cNvPr id="12" name="Shape 9"/>
          <p:cNvSpPr/>
          <p:nvPr/>
        </p:nvSpPr>
        <p:spPr>
          <a:xfrm>
            <a:off x="548640" y="4572000"/>
            <a:ext cx="11064240" cy="960120"/>
          </a:xfrm>
          <a:prstGeom prst="roundRect">
            <a:avLst>
              <a:gd name="adj" fmla="val 7619"/>
            </a:avLst>
          </a:prstGeom>
          <a:solidFill>
            <a:srgbClr val="FBF1E4"/>
          </a:solidFill>
          <a:ln/>
        </p:spPr>
        <p:txBody>
          <a:bodyPr/>
          <a:p/>
        </p:txBody>
      </p:sp>
      <p:pic>
        <p:nvPicPr>
          <p:cNvPr id="13" name="Image 1" descr="preencoded.png">    </p:cNvPr>
          <p:cNvPicPr>
            <a:picLocks noChangeAspect="1"/>
          </p:cNvPicPr>
          <p:nvPr/>
        </p:nvPicPr>
        <p:blipFill>
          <a:blip r:embed="rId2"/>
          <a:stretch>
            <a:fillRect/>
          </a:stretch>
        </p:blipFill>
        <p:spPr>
          <a:xfrm>
            <a:off x="713232" y="4736592"/>
            <a:ext cx="310896" cy="310896"/>
          </a:xfrm>
          <a:prstGeom prst="rect">
            <a:avLst/>
          </a:prstGeom>
        </p:spPr>
      </p:pic>
      <p:sp>
        <p:nvSpPr>
          <p:cNvPr id="14" name="Text 10"/>
          <p:cNvSpPr/>
          <p:nvPr/>
        </p:nvSpPr>
        <p:spPr>
          <a:xfrm>
            <a:off x="1143000" y="46634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11"/>
          <p:cNvSpPr/>
          <p:nvPr/>
        </p:nvSpPr>
        <p:spPr>
          <a:xfrm>
            <a:off x="1143000" y="495604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試験で最も繰り返し問われる考え方(FAQより): 「そのルールは“必ず守られなければならない”か、それとも“大抵は守られればよい”か」→ 前者はコード(ツールスキーマ・Hook・権限設定)で強制、後者はプロンプトで指示する。この判断軸が全ドメインを貫く出題の背骨。</a:t>
            </a:r>
            <a:endParaRPr lang="en-US" sz="1200" dirty="0"/>
          </a:p>
        </p:txBody>
      </p:sp>
      <p:sp>
        <p:nvSpPr>
          <p:cNvPr id="16" name="Text 12"/>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3"/>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海外情報が指摘する5つの落とし穴(Trap)</a:t>
            </a:r>
            <a:endParaRPr lang="en-US" sz="2500" dirty="0"/>
          </a:p>
        </p:txBody>
      </p:sp>
      <p:sp>
        <p:nvSpPr>
          <p:cNvPr id="5" name="Shape 2"/>
          <p:cNvSpPr/>
          <p:nvPr/>
        </p:nvSpPr>
        <p:spPr>
          <a:xfrm>
            <a:off x="8686800" y="384048"/>
            <a:ext cx="2926080" cy="411480"/>
          </a:xfrm>
          <a:prstGeom prst="roundRect">
            <a:avLst>
              <a:gd name="adj" fmla="val 48889"/>
            </a:avLst>
          </a:prstGeom>
          <a:solidFill>
            <a:srgbClr val="FBF1E4"/>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A5A00"/>
                </a:solidFill>
                <a:latin typeface="Meiryo" pitchFamily="34" charset="0"/>
                <a:ea typeface="Meiryo" pitchFamily="34" charset="-122"/>
                <a:cs typeface="Meiryo" pitchFamily="34" charset="-120"/>
              </a:rPr>
              <a:t>📚 知識・雑学編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05840"/>
            <a:ext cx="11064240" cy="36576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※ここに出てくる用語(サブエージェント・CLAUDE.md・MCP等)は本編の各ドメインで詳しく解説します。ここでは「後でこういう話が出てくる」という予告として読んでください</a:t>
            </a:r>
            <a:endParaRPr lang="en-US" sz="1050" dirty="0"/>
          </a:p>
        </p:txBody>
      </p:sp>
      <p:sp>
        <p:nvSpPr>
          <p:cNvPr id="9" name="Shape 6"/>
          <p:cNvSpPr/>
          <p:nvPr/>
        </p:nvSpPr>
        <p:spPr>
          <a:xfrm>
            <a:off x="548640" y="1417320"/>
            <a:ext cx="11064240" cy="768096"/>
          </a:xfrm>
          <a:prstGeom prst="roundRect">
            <a:avLst>
              <a:gd name="adj" fmla="val 7143"/>
            </a:avLst>
          </a:prstGeom>
          <a:solidFill>
            <a:srgbClr val="F4F7FD"/>
          </a:solidFill>
          <a:ln/>
        </p:spPr>
        <p:txBody>
          <a:bodyPr/>
          <a:p/>
        </p:txBody>
      </p:sp>
      <p:sp>
        <p:nvSpPr>
          <p:cNvPr id="10" name="Shape 7"/>
          <p:cNvSpPr/>
          <p:nvPr/>
        </p:nvSpPr>
        <p:spPr>
          <a:xfrm>
            <a:off x="685800" y="1600200"/>
            <a:ext cx="402336" cy="402336"/>
          </a:xfrm>
          <a:prstGeom prst="ellipse">
            <a:avLst/>
          </a:prstGeom>
          <a:solidFill>
            <a:srgbClr val="1E2761"/>
          </a:solidFill>
          <a:ln/>
        </p:spPr>
        <p:txBody>
          <a:bodyPr/>
          <a:p/>
        </p:txBody>
      </p:sp>
      <p:sp>
        <p:nvSpPr>
          <p:cNvPr id="11" name="Text 8"/>
          <p:cNvSpPr/>
          <p:nvPr/>
        </p:nvSpPr>
        <p:spPr>
          <a:xfrm>
            <a:off x="685800" y="1600200"/>
            <a:ext cx="402336" cy="402336"/>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12" name="Text 9"/>
          <p:cNvSpPr/>
          <p:nvPr/>
        </p:nvSpPr>
        <p:spPr>
          <a:xfrm>
            <a:off x="1234440" y="1417320"/>
            <a:ext cx="2194560" cy="768096"/>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サブエージェント分離</a:t>
            </a:r>
            <a:endParaRPr lang="en-US" sz="1300" dirty="0"/>
          </a:p>
        </p:txBody>
      </p:sp>
      <p:sp>
        <p:nvSpPr>
          <p:cNvPr id="13" name="Text 10"/>
          <p:cNvSpPr/>
          <p:nvPr/>
        </p:nvSpPr>
        <p:spPr>
          <a:xfrm>
            <a:off x="3566160" y="1463040"/>
            <a:ext cx="7863840" cy="676656"/>
          </a:xfrm>
          <a:prstGeom prst="rect">
            <a:avLst/>
          </a:prstGeom>
          <a:noFill/>
          <a:ln/>
        </p:spPr>
        <p:txBody>
          <a:bodyPr wrap="square" rtlCol="0" anchor="ctr"/>
          <a:lstStyle/>
          <a:p>
            <a:pPr indent="0" marL="0">
              <a:lnSpc>
                <a:spcPct val="110000"/>
              </a:lnSpc>
              <a:buNone/>
            </a:pPr>
            <a:r>
              <a:rPr lang="en-US" sz="1050" dirty="0">
                <a:solidFill>
                  <a:srgbClr val="1F2430"/>
                </a:solidFill>
                <a:latin typeface="Meiryo" pitchFamily="34" charset="0"/>
                <a:ea typeface="Meiryo" pitchFamily="34" charset="-122"/>
                <a:cs typeface="Meiryo" pitchFamily="34" charset="-120"/>
              </a:rPr>
              <a:t>サブエージェント(親から独立して動く分身のようなAI)は親エージェントと文脈を共有しない。「サブエージェントが親の情報を自動的に見られる」という前提の選択肢は罠。正解は共有ファイル・構造化メッセージ・ツール結果など、明示的な引き渡し方法を選ぶもの</a:t>
            </a:r>
            <a:endParaRPr lang="en-US" sz="1050" dirty="0"/>
          </a:p>
        </p:txBody>
      </p:sp>
      <p:sp>
        <p:nvSpPr>
          <p:cNvPr id="14" name="Shape 11"/>
          <p:cNvSpPr/>
          <p:nvPr/>
        </p:nvSpPr>
        <p:spPr>
          <a:xfrm>
            <a:off x="548640" y="2258568"/>
            <a:ext cx="11064240" cy="768096"/>
          </a:xfrm>
          <a:prstGeom prst="roundRect">
            <a:avLst>
              <a:gd name="adj" fmla="val 7143"/>
            </a:avLst>
          </a:prstGeom>
          <a:solidFill>
            <a:srgbClr val="F4F7FD"/>
          </a:solidFill>
          <a:ln/>
        </p:spPr>
        <p:txBody>
          <a:bodyPr/>
          <a:p/>
        </p:txBody>
      </p:sp>
      <p:sp>
        <p:nvSpPr>
          <p:cNvPr id="15" name="Shape 12"/>
          <p:cNvSpPr/>
          <p:nvPr/>
        </p:nvSpPr>
        <p:spPr>
          <a:xfrm>
            <a:off x="685800" y="2441448"/>
            <a:ext cx="402336" cy="402336"/>
          </a:xfrm>
          <a:prstGeom prst="ellipse">
            <a:avLst/>
          </a:prstGeom>
          <a:solidFill>
            <a:srgbClr val="1E2761"/>
          </a:solidFill>
          <a:ln/>
        </p:spPr>
        <p:txBody>
          <a:bodyPr/>
          <a:p/>
        </p:txBody>
      </p:sp>
      <p:sp>
        <p:nvSpPr>
          <p:cNvPr id="16" name="Text 13"/>
          <p:cNvSpPr/>
          <p:nvPr/>
        </p:nvSpPr>
        <p:spPr>
          <a:xfrm>
            <a:off x="685800" y="2441448"/>
            <a:ext cx="402336" cy="402336"/>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17" name="Text 14"/>
          <p:cNvSpPr/>
          <p:nvPr/>
        </p:nvSpPr>
        <p:spPr>
          <a:xfrm>
            <a:off x="1234440" y="2258568"/>
            <a:ext cx="2194560" cy="768096"/>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CLAUDE.md階層</a:t>
            </a:r>
            <a:endParaRPr lang="en-US" sz="1300" dirty="0"/>
          </a:p>
        </p:txBody>
      </p:sp>
      <p:sp>
        <p:nvSpPr>
          <p:cNvPr id="18" name="Text 15"/>
          <p:cNvSpPr/>
          <p:nvPr/>
        </p:nvSpPr>
        <p:spPr>
          <a:xfrm>
            <a:off x="3566160" y="2304288"/>
            <a:ext cx="7863840" cy="676656"/>
          </a:xfrm>
          <a:prstGeom prst="rect">
            <a:avLst/>
          </a:prstGeom>
          <a:noFill/>
          <a:ln/>
        </p:spPr>
        <p:txBody>
          <a:bodyPr wrap="square" rtlCol="0" anchor="ctr"/>
          <a:lstStyle/>
          <a:p>
            <a:pPr indent="0" marL="0">
              <a:lnSpc>
                <a:spcPct val="110000"/>
              </a:lnSpc>
              <a:buNone/>
            </a:pPr>
            <a:r>
              <a:rPr lang="en-US" sz="1050" dirty="0">
                <a:solidFill>
                  <a:srgbClr val="1F2430"/>
                </a:solidFill>
                <a:latin typeface="Meiryo" pitchFamily="34" charset="0"/>
                <a:ea typeface="Meiryo" pitchFamily="34" charset="-122"/>
                <a:cs typeface="Meiryo" pitchFamily="34" charset="-120"/>
              </a:rPr>
              <a:t>CLAUDE.md(Claude Codeにプロジェクトのルールを教える設定ファイル)はproject-root(プロジェクト)・user-global(個人)・enterprise(組織)の3階層があり、特定の順序でマージされる。優先順位の対立を突く設問が頻出</a:t>
            </a:r>
            <a:endParaRPr lang="en-US" sz="1050" dirty="0"/>
          </a:p>
        </p:txBody>
      </p:sp>
      <p:sp>
        <p:nvSpPr>
          <p:cNvPr id="19" name="Shape 16"/>
          <p:cNvSpPr/>
          <p:nvPr/>
        </p:nvSpPr>
        <p:spPr>
          <a:xfrm>
            <a:off x="548640" y="3099816"/>
            <a:ext cx="11064240" cy="768096"/>
          </a:xfrm>
          <a:prstGeom prst="roundRect">
            <a:avLst>
              <a:gd name="adj" fmla="val 7143"/>
            </a:avLst>
          </a:prstGeom>
          <a:solidFill>
            <a:srgbClr val="F4F7FD"/>
          </a:solidFill>
          <a:ln/>
        </p:spPr>
        <p:txBody>
          <a:bodyPr/>
          <a:p/>
        </p:txBody>
      </p:sp>
      <p:sp>
        <p:nvSpPr>
          <p:cNvPr id="20" name="Shape 17"/>
          <p:cNvSpPr/>
          <p:nvPr/>
        </p:nvSpPr>
        <p:spPr>
          <a:xfrm>
            <a:off x="685800" y="3282696"/>
            <a:ext cx="402336" cy="402336"/>
          </a:xfrm>
          <a:prstGeom prst="ellipse">
            <a:avLst/>
          </a:prstGeom>
          <a:solidFill>
            <a:srgbClr val="1E2761"/>
          </a:solidFill>
          <a:ln/>
        </p:spPr>
        <p:txBody>
          <a:bodyPr/>
          <a:p/>
        </p:txBody>
      </p:sp>
      <p:sp>
        <p:nvSpPr>
          <p:cNvPr id="21" name="Text 18"/>
          <p:cNvSpPr/>
          <p:nvPr/>
        </p:nvSpPr>
        <p:spPr>
          <a:xfrm>
            <a:off x="685800" y="3282696"/>
            <a:ext cx="402336" cy="402336"/>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3</a:t>
            </a:r>
            <a:endParaRPr lang="en-US" sz="1500" dirty="0"/>
          </a:p>
        </p:txBody>
      </p:sp>
      <p:sp>
        <p:nvSpPr>
          <p:cNvPr id="22" name="Text 19"/>
          <p:cNvSpPr/>
          <p:nvPr/>
        </p:nvSpPr>
        <p:spPr>
          <a:xfrm>
            <a:off x="1234440" y="3099816"/>
            <a:ext cx="2194560" cy="768096"/>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ツール説明の情報漏れ</a:t>
            </a:r>
            <a:endParaRPr lang="en-US" sz="1300" dirty="0"/>
          </a:p>
        </p:txBody>
      </p:sp>
      <p:sp>
        <p:nvSpPr>
          <p:cNvPr id="23" name="Text 20"/>
          <p:cNvSpPr/>
          <p:nvPr/>
        </p:nvSpPr>
        <p:spPr>
          <a:xfrm>
            <a:off x="3566160" y="3145536"/>
            <a:ext cx="7863840" cy="676656"/>
          </a:xfrm>
          <a:prstGeom prst="rect">
            <a:avLst/>
          </a:prstGeom>
          <a:noFill/>
          <a:ln/>
        </p:spPr>
        <p:txBody>
          <a:bodyPr wrap="square" rtlCol="0" anchor="ctr"/>
          <a:lstStyle/>
          <a:p>
            <a:pPr indent="0" marL="0">
              <a:lnSpc>
                <a:spcPct val="110000"/>
              </a:lnSpc>
              <a:buNone/>
            </a:pPr>
            <a:r>
              <a:rPr lang="en-US" sz="1050" dirty="0">
                <a:solidFill>
                  <a:srgbClr val="1F2430"/>
                </a:solidFill>
                <a:latin typeface="Meiryo" pitchFamily="34" charset="0"/>
                <a:ea typeface="Meiryo" pitchFamily="34" charset="-122"/>
                <a:cs typeface="Meiryo" pitchFamily="34" charset="-120"/>
              </a:rPr>
              <a:t>ツール(Claudeが呼び出せる外部機能)の説明文(description)もプロンプトの一部としてモデルの判断に影響する。「Postgresバックエンドを使用」のような実装の詳細を書くのは誤り。正解は「ユーザーから見て何をするツールか」を説明すること</a:t>
            </a:r>
            <a:endParaRPr lang="en-US" sz="1050" dirty="0"/>
          </a:p>
        </p:txBody>
      </p:sp>
      <p:sp>
        <p:nvSpPr>
          <p:cNvPr id="24" name="Shape 21"/>
          <p:cNvSpPr/>
          <p:nvPr/>
        </p:nvSpPr>
        <p:spPr>
          <a:xfrm>
            <a:off x="548640" y="3941064"/>
            <a:ext cx="11064240" cy="768096"/>
          </a:xfrm>
          <a:prstGeom prst="roundRect">
            <a:avLst>
              <a:gd name="adj" fmla="val 7143"/>
            </a:avLst>
          </a:prstGeom>
          <a:solidFill>
            <a:srgbClr val="F4F7FD"/>
          </a:solidFill>
          <a:ln/>
        </p:spPr>
        <p:txBody>
          <a:bodyPr/>
          <a:p/>
        </p:txBody>
      </p:sp>
      <p:sp>
        <p:nvSpPr>
          <p:cNvPr id="25" name="Shape 22"/>
          <p:cNvSpPr/>
          <p:nvPr/>
        </p:nvSpPr>
        <p:spPr>
          <a:xfrm>
            <a:off x="685800" y="4123944"/>
            <a:ext cx="402336" cy="402336"/>
          </a:xfrm>
          <a:prstGeom prst="ellipse">
            <a:avLst/>
          </a:prstGeom>
          <a:solidFill>
            <a:srgbClr val="1E2761"/>
          </a:solidFill>
          <a:ln/>
        </p:spPr>
        <p:txBody>
          <a:bodyPr/>
          <a:p/>
        </p:txBody>
      </p:sp>
      <p:sp>
        <p:nvSpPr>
          <p:cNvPr id="26" name="Text 23"/>
          <p:cNvSpPr/>
          <p:nvPr/>
        </p:nvSpPr>
        <p:spPr>
          <a:xfrm>
            <a:off x="685800" y="4123944"/>
            <a:ext cx="402336" cy="402336"/>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4</a:t>
            </a:r>
            <a:endParaRPr lang="en-US" sz="1500" dirty="0"/>
          </a:p>
        </p:txBody>
      </p:sp>
      <p:sp>
        <p:nvSpPr>
          <p:cNvPr id="27" name="Text 24"/>
          <p:cNvSpPr/>
          <p:nvPr/>
        </p:nvSpPr>
        <p:spPr>
          <a:xfrm>
            <a:off x="1234440" y="3941064"/>
            <a:ext cx="2194560" cy="768096"/>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MCPのエラー設計</a:t>
            </a:r>
            <a:endParaRPr lang="en-US" sz="1300" dirty="0"/>
          </a:p>
        </p:txBody>
      </p:sp>
      <p:sp>
        <p:nvSpPr>
          <p:cNvPr id="28" name="Text 25"/>
          <p:cNvSpPr/>
          <p:nvPr/>
        </p:nvSpPr>
        <p:spPr>
          <a:xfrm>
            <a:off x="3566160" y="3986784"/>
            <a:ext cx="7863840" cy="676656"/>
          </a:xfrm>
          <a:prstGeom prst="rect">
            <a:avLst/>
          </a:prstGeom>
          <a:noFill/>
          <a:ln/>
        </p:spPr>
        <p:txBody>
          <a:bodyPr wrap="square" rtlCol="0" anchor="ctr"/>
          <a:lstStyle/>
          <a:p>
            <a:pPr indent="0" marL="0">
              <a:lnSpc>
                <a:spcPct val="110000"/>
              </a:lnSpc>
              <a:buNone/>
            </a:pPr>
            <a:r>
              <a:rPr lang="en-US" sz="1050" dirty="0">
                <a:solidFill>
                  <a:srgbClr val="1F2430"/>
                </a:solidFill>
                <a:latin typeface="Meiryo" pitchFamily="34" charset="0"/>
                <a:ea typeface="Meiryo" pitchFamily="34" charset="-122"/>
                <a:cs typeface="Meiryo" pitchFamily="34" charset="-120"/>
              </a:rPr>
              <a:t>MCP(外部システムにClaudeを接続する標準規格)のエラーメッセージ自体が次の行動を導くプロンプトの一部になる。生の例外をそのまま返すのは誤り。正解はrecoverable(回復可能か)フラグとヒントを含む構造化エラーオブジェクト</a:t>
            </a:r>
            <a:endParaRPr lang="en-US" sz="1050" dirty="0"/>
          </a:p>
        </p:txBody>
      </p:sp>
      <p:sp>
        <p:nvSpPr>
          <p:cNvPr id="29" name="Shape 26"/>
          <p:cNvSpPr/>
          <p:nvPr/>
        </p:nvSpPr>
        <p:spPr>
          <a:xfrm>
            <a:off x="548640" y="4782312"/>
            <a:ext cx="11064240" cy="768096"/>
          </a:xfrm>
          <a:prstGeom prst="roundRect">
            <a:avLst>
              <a:gd name="adj" fmla="val 7143"/>
            </a:avLst>
          </a:prstGeom>
          <a:solidFill>
            <a:srgbClr val="F4F7FD"/>
          </a:solidFill>
          <a:ln/>
        </p:spPr>
        <p:txBody>
          <a:bodyPr/>
          <a:p/>
        </p:txBody>
      </p:sp>
      <p:sp>
        <p:nvSpPr>
          <p:cNvPr id="30" name="Shape 27"/>
          <p:cNvSpPr/>
          <p:nvPr/>
        </p:nvSpPr>
        <p:spPr>
          <a:xfrm>
            <a:off x="685800" y="4965192"/>
            <a:ext cx="402336" cy="402336"/>
          </a:xfrm>
          <a:prstGeom prst="ellipse">
            <a:avLst/>
          </a:prstGeom>
          <a:solidFill>
            <a:srgbClr val="1E2761"/>
          </a:solidFill>
          <a:ln/>
        </p:spPr>
        <p:txBody>
          <a:bodyPr/>
          <a:p/>
        </p:txBody>
      </p:sp>
      <p:sp>
        <p:nvSpPr>
          <p:cNvPr id="31" name="Text 28"/>
          <p:cNvSpPr/>
          <p:nvPr/>
        </p:nvSpPr>
        <p:spPr>
          <a:xfrm>
            <a:off x="685800" y="4965192"/>
            <a:ext cx="402336" cy="402336"/>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5</a:t>
            </a:r>
            <a:endParaRPr lang="en-US" sz="1500" dirty="0"/>
          </a:p>
        </p:txBody>
      </p:sp>
      <p:sp>
        <p:nvSpPr>
          <p:cNvPr id="32" name="Text 29"/>
          <p:cNvSpPr/>
          <p:nvPr/>
        </p:nvSpPr>
        <p:spPr>
          <a:xfrm>
            <a:off x="1234440" y="4782312"/>
            <a:ext cx="2194560" cy="768096"/>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ローリングウィンドウ・コンテキスト</a:t>
            </a:r>
            <a:endParaRPr lang="en-US" sz="1300" dirty="0"/>
          </a:p>
        </p:txBody>
      </p:sp>
      <p:sp>
        <p:nvSpPr>
          <p:cNvPr id="33" name="Text 30"/>
          <p:cNvSpPr/>
          <p:nvPr/>
        </p:nvSpPr>
        <p:spPr>
          <a:xfrm>
            <a:off x="3566160" y="4828032"/>
            <a:ext cx="7863840" cy="676656"/>
          </a:xfrm>
          <a:prstGeom prst="rect">
            <a:avLst/>
          </a:prstGeom>
          <a:noFill/>
          <a:ln/>
        </p:spPr>
        <p:txBody>
          <a:bodyPr wrap="square" rtlCol="0" anchor="ctr"/>
          <a:lstStyle/>
          <a:p>
            <a:pPr indent="0" marL="0">
              <a:lnSpc>
                <a:spcPct val="110000"/>
              </a:lnSpc>
              <a:buNone/>
            </a:pPr>
            <a:r>
              <a:rPr lang="en-US" sz="1050" dirty="0">
                <a:solidFill>
                  <a:srgbClr val="1F2430"/>
                </a:solidFill>
                <a:latin typeface="Meiryo" pitchFamily="34" charset="0"/>
                <a:ea typeface="Meiryo" pitchFamily="34" charset="-122"/>
                <a:cs typeface="Meiryo" pitchFamily="34" charset="-120"/>
              </a:rPr>
              <a:t>会話が長くなりAIが一度に読める情報量(コンテキスト)を超えると、古いターンは要約される・時には失われる。多くの合格者が「試験で初めて聞いた」と振り返るほど見落とされがちな用語</a:t>
            </a:r>
            <a:endParaRPr lang="en-US" sz="1050" dirty="0"/>
          </a:p>
        </p:txBody>
      </p:sp>
      <p:sp>
        <p:nvSpPr>
          <p:cNvPr id="34" name="Text 3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5" name="Text 3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stop_reasonの正確な値(海外資料による補足)</a:t>
            </a:r>
            <a:endParaRPr lang="en-US" sz="2500" dirty="0"/>
          </a:p>
        </p:txBody>
      </p:sp>
      <p:sp>
        <p:nvSpPr>
          <p:cNvPr id="5" name="Shape 2"/>
          <p:cNvSpPr/>
          <p:nvPr/>
        </p:nvSpPr>
        <p:spPr>
          <a:xfrm>
            <a:off x="8686800" y="384048"/>
            <a:ext cx="2926080" cy="411480"/>
          </a:xfrm>
          <a:prstGeom prst="roundRect">
            <a:avLst>
              <a:gd name="adj" fmla="val 48889"/>
            </a:avLst>
          </a:prstGeom>
          <a:solidFill>
            <a:srgbClr val="FBF1E4"/>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A5A00"/>
                </a:solidFill>
                <a:latin typeface="Meiryo" pitchFamily="34" charset="0"/>
                <a:ea typeface="Meiryo" pitchFamily="34" charset="-122"/>
                <a:cs typeface="Meiryo" pitchFamily="34" charset="-120"/>
              </a:rPr>
              <a:t>📚 知識・雑学編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Shape 5"/>
          <p:cNvSpPr/>
          <p:nvPr/>
        </p:nvSpPr>
        <p:spPr>
          <a:xfrm>
            <a:off x="548640" y="1143000"/>
            <a:ext cx="11064240" cy="777240"/>
          </a:xfrm>
          <a:prstGeom prst="roundRect">
            <a:avLst>
              <a:gd name="adj" fmla="val 9412"/>
            </a:avLst>
          </a:prstGeom>
          <a:solidFill>
            <a:srgbClr val="F4F7FD"/>
          </a:solidFill>
          <a:ln/>
        </p:spPr>
        <p:txBody>
          <a:bodyPr/>
          <a:p/>
        </p:txBody>
      </p:sp>
      <p:sp>
        <p:nvSpPr>
          <p:cNvPr id="9" name="Text 6"/>
          <p:cNvSpPr/>
          <p:nvPr/>
        </p:nvSpPr>
        <p:spPr>
          <a:xfrm>
            <a:off x="731520" y="1207008"/>
            <a:ext cx="10698480" cy="658368"/>
          </a:xfrm>
          <a:prstGeom prst="rect">
            <a:avLst/>
          </a:prstGeom>
          <a:noFill/>
          <a:ln/>
        </p:spPr>
        <p:txBody>
          <a:bodyPr wrap="square" rtlCol="0" anchor="ctr"/>
          <a:lstStyle/>
          <a:p>
            <a:pPr indent="0" marL="0">
              <a:buNone/>
            </a:pPr>
            <a:r>
              <a:rPr lang="en-US" sz="1200" dirty="0">
                <a:solidFill>
                  <a:srgbClr val="1F2430"/>
                </a:solidFill>
                <a:latin typeface="Meiryo" pitchFamily="34" charset="0"/>
                <a:ea typeface="Meiryo" pitchFamily="34" charset="-122"/>
                <a:cs typeface="Meiryo" pitchFamily="34" charset="-120"/>
              </a:rPr>
              <a:t>そもそもstop_reasonとは: Claudeの応答に自動的に付く「なぜここで止めたか」を示すタグ。プログラム側はこのタグだけ見れば、次に何をすべきか機械的に判断できる(詳しくはドメイン1「エージェント的ループ」で解説)</a:t>
            </a:r>
            <a:endParaRPr lang="en-US" sz="1200" dirty="0"/>
          </a:p>
        </p:txBody>
      </p:sp>
      <p:sp>
        <p:nvSpPr>
          <p:cNvPr id="10" name="Text 7"/>
          <p:cNvSpPr/>
          <p:nvPr/>
        </p:nvSpPr>
        <p:spPr>
          <a:xfrm>
            <a:off x="548640" y="2011680"/>
            <a:ext cx="11064240" cy="320040"/>
          </a:xfrm>
          <a:prstGeom prst="rect">
            <a:avLst/>
          </a:prstGeom>
          <a:noFill/>
          <a:ln/>
        </p:spPr>
        <p:txBody>
          <a:bodyPr wrap="square" rtlCol="0" anchor="ctr"/>
          <a:lstStyle/>
          <a:p>
            <a:pPr indent="0" marL="0">
              <a:buNone/>
            </a:pPr>
            <a:r>
              <a:rPr lang="en-US" sz="1350" dirty="0">
                <a:solidFill>
                  <a:srgbClr val="1F2430"/>
                </a:solidFill>
                <a:latin typeface="Meiryo" pitchFamily="34" charset="0"/>
                <a:ea typeface="Meiryo" pitchFamily="34" charset="-122"/>
                <a:cs typeface="Meiryo" pitchFamily="34" charset="-120"/>
              </a:rPr>
              <a:t>これまで end_turn / tool_use の2値中心に説明してきましたが、実際には7種類の値があります。</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64240" cy="914400"/>
        </p:xfrm>
        <a:graphic>
          <a:graphicData uri="http://schemas.openxmlformats.org/drawingml/2006/table">
            <a:tbl>
              <a:tblPr/>
              <a:tblGrid>
                <a:gridCol w="2286000"/>
                <a:gridCol w="877824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値</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意味</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tool_use</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ツールを呼び出す必要がある → ループ継続</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end_turn</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応答が完了した → ループ終了</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max_tokens</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トークン上限に達して打ち切られた(応答が不完全な可能性)</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stop_sequence</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指定した停止文字列に到達した(該当文字列自体は出力に含まれない)</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pause_turn</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長時間タスクの途中経過。次のリクエストで会話を再開できる(レジューム可能な区切り)</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refusal</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安全性の理由でモデルが応答を拒否した</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r>
                        <a:rPr sz="1150">
                          <a:latin typeface="Meiryo"/>
                        </a:rPr>
                        <a:t>model_context_window_exceeded</a:t>
                      </a: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r>
                        <a:rPr sz="1150">
                          <a:latin typeface="Meiryo"/>
                        </a:rPr>
                        <a:t>コンテキストウィンドウの上限に達した(max_tokensと同様に打ち切り扱いで処理する)</a:t>
                      </a: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5440680"/>
            <a:ext cx="11064240" cy="960120"/>
          </a:xfrm>
          <a:prstGeom prst="roundRect">
            <a:avLst>
              <a:gd name="adj" fmla="val 7619"/>
            </a:avLst>
          </a:prstGeom>
          <a:solidFill>
            <a:srgbClr val="FBF1E4"/>
          </a:solidFill>
          <a:ln/>
        </p:spPr>
        <p:txBody>
          <a:bodyPr/>
          <a:p/>
        </p:txBody>
      </p:sp>
      <p:pic>
        <p:nvPicPr>
          <p:cNvPr id="13" name="Image 1" descr="preencoded.png">    </p:cNvPr>
          <p:cNvPicPr>
            <a:picLocks noChangeAspect="1"/>
          </p:cNvPicPr>
          <p:nvPr/>
        </p:nvPicPr>
        <p:blipFill>
          <a:blip r:embed="rId2"/>
          <a:stretch>
            <a:fillRect/>
          </a:stretch>
        </p:blipFill>
        <p:spPr>
          <a:xfrm>
            <a:off x="713232" y="5605272"/>
            <a:ext cx="310896" cy="310896"/>
          </a:xfrm>
          <a:prstGeom prst="rect">
            <a:avLst/>
          </a:prstGeom>
        </p:spPr>
      </p:pic>
      <p:sp>
        <p:nvSpPr>
          <p:cNvPr id="14" name="Text 9"/>
          <p:cNvSpPr/>
          <p:nvPr/>
        </p:nvSpPr>
        <p:spPr>
          <a:xfrm>
            <a:off x="1143000" y="58064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10"/>
          <p:cNvSpPr/>
          <p:nvPr/>
        </p:nvSpPr>
        <p:spPr>
          <a:xfrm>
            <a:off x="1143000" y="6099048"/>
            <a:ext cx="10287000" cy="301752"/>
          </a:xfrm>
          <a:prstGeom prst="rect">
            <a:avLst/>
          </a:prstGeom>
          <a:noFill/>
          <a:ln/>
        </p:spPr>
        <p:txBody>
          <a:bodyPr wrap="square" rtlCol="0" anchor="t"/>
          <a:lstStyle/>
          <a:p>
            <a:pPr indent="0" marL="0">
              <a:buNone/>
            </a:pPr>
            <a:r>
              <a:rPr lang="en-US" sz="1150" dirty="0">
                <a:solidFill>
                  <a:srgbClr val="1F2430"/>
                </a:solidFill>
                <a:latin typeface="Meiryo" pitchFamily="34" charset="0"/>
                <a:ea typeface="Meiryo" pitchFamily="34" charset="-122"/>
                <a:cs typeface="Meiryo" pitchFamily="34" charset="-120"/>
              </a:rPr>
              <a:t>max_tokensでのレジュームは実装上重要。refusal(Opus 4.7以降)にはstop_details.category(cyber/bio等)が付隨し、安全カテゴリ別のルーティングに使える。</a:t>
            </a:r>
            <a:endParaRPr lang="en-US" sz="1200" dirty="0"/>
          </a:p>
        </p:txBody>
      </p:sp>
      <p:sp>
        <p:nvSpPr>
          <p:cNvPr id="16" name="Text 1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具体例: 自己修正が誘惑に負けるケース</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11064240" cy="548640"/>
          </a:xfrm>
          <a:prstGeom prst="rect">
            <a:avLst/>
          </a:prstGeom>
          <a:noFill/>
          <a:ln/>
        </p:spPr>
        <p:txBody>
          <a:bodyPr wrap="square" rtlCol="0" anchor="ctr"/>
          <a:lstStyle/>
          <a:p>
            <a:pPr indent="0" marL="0">
              <a:buNone/>
            </a:pPr>
            <a:r>
              <a:rPr lang="en-US" sz="1300" i="1" dirty="0">
                <a:solidFill>
                  <a:srgbClr val="5B6472"/>
                </a:solidFill>
                <a:latin typeface="Meiryo" pitchFamily="34" charset="0"/>
                <a:ea typeface="Meiryo" pitchFamily="34" charset="-122"/>
                <a:cs typeface="Meiryo" pitchFamily="34" charset="-120"/>
              </a:rPr>
              <a:t>シナリオ: 請求書からJSONで金額データを抽出するパイプラインで、明細(line items)の合計が請求書の合計金額(total)と一致しないことがある</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1371600"/>
                <a:gridCol w="6035040"/>
                <a:gridCol w="3657600"/>
              </a:tblGrid>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選択肢</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内容</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判定</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A(正解)</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calculated_total(明細から計算した合計)を別フィールドとして抽出し、stated_total(書類記載の合計)と比較。不一致なら人間レビューへ</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 構造的な検証。データを捏造しない</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B</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明細の値を自動的に書き換えて合計と辻褄を合わせる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 書類にない値を捏造しデータの正確性を損なう</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C</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2つ目のLLM呼び出しで計算ミスを修正させる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 決定的に検証できる問題に確率的な処理を追加するのは過剰設計</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D</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正しい計算のFew-shot例をプロンプトに追加する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 算数の一貫性はFew-shotでは保証できない</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297680"/>
            <a:ext cx="11064240" cy="960120"/>
          </a:xfrm>
          <a:prstGeom prst="roundRect">
            <a:avLst>
              <a:gd name="adj" fmla="val 7619"/>
            </a:avLst>
          </a:prstGeom>
          <a:solidFill>
            <a:srgbClr val="FBF1E4"/>
          </a:solidFill>
          <a:ln/>
        </p:spPr>
        <p:txBody>
          <a:bodyPr/>
          <a:p/>
        </p:txBody>
      </p:sp>
      <p:pic>
        <p:nvPicPr>
          <p:cNvPr id="9" name="Image 1" descr="preencoded.png">    </p:cNvPr>
          <p:cNvPicPr>
            <a:picLocks noChangeAspect="1"/>
          </p:cNvPicPr>
          <p:nvPr/>
        </p:nvPicPr>
        <p:blipFill>
          <a:blip r:embed="rId2"/>
          <a:stretch>
            <a:fillRect/>
          </a:stretch>
        </p:blipFill>
        <p:spPr>
          <a:xfrm>
            <a:off x="713232" y="4462272"/>
            <a:ext cx="310896" cy="310896"/>
          </a:xfrm>
          <a:prstGeom prst="rect">
            <a:avLst/>
          </a:prstGeom>
        </p:spPr>
      </p:pic>
      <p:sp>
        <p:nvSpPr>
          <p:cNvPr id="10" name="Text 5"/>
          <p:cNvSpPr/>
          <p:nvPr/>
        </p:nvSpPr>
        <p:spPr>
          <a:xfrm>
            <a:off x="1143000" y="438912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1" name="Text 6"/>
          <p:cNvSpPr/>
          <p:nvPr/>
        </p:nvSpPr>
        <p:spPr>
          <a:xfrm>
            <a:off x="1143000" y="468172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この設問の教訓: 「書類が実際に述べている値」と「そこから計算される値」を両方抽出し、不一致を検出したら人間レビューに回す。それが自己修正フローの正しい設計であり、モデルに“それらしく”辻褄を合わせさせてはいけない。深掘り13の「必須フィールドは捏造を誘発する」とも同じ思想。</a:t>
            </a:r>
            <a:endParaRPr lang="en-US" sz="1200" dirty="0"/>
          </a:p>
        </p:txBody>
      </p:sp>
      <p:sp>
        <p:nvSpPr>
          <p:cNvPr id="12" name="Text 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3" name="Text 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おすすめの海外情報源(英語)</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783080"/>
          </a:xfrm>
          <a:prstGeom prst="roundRect">
            <a:avLst>
              <a:gd name="adj" fmla="val 4103"/>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Anthropic Academy(公式・無料)</a:t>
            </a:r>
            <a:endParaRPr lang="en-US" sz="1450" dirty="0"/>
          </a:p>
        </p:txBody>
      </p:sp>
      <p:sp>
        <p:nvSpPr>
          <p:cNvPr id="8" name="Text 5"/>
          <p:cNvSpPr/>
          <p:nvPr/>
        </p:nvSpPr>
        <p:spPr>
          <a:xfrm>
            <a:off x="731520" y="1664208"/>
            <a:ext cx="5052060" cy="914400"/>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13コース全てが試験に直結。特に「Tool Use」「Agents」トラックは最も費用対効果が高い。</a:t>
            </a:r>
            <a:endParaRPr lang="en-US" sz="1150" dirty="0"/>
          </a:p>
        </p:txBody>
      </p:sp>
      <p:sp>
        <p:nvSpPr>
          <p:cNvPr id="9" name="Text 6">
            <a:hlinkClick r:id="rId2" tooltip=""/>
          </p:cNvPr>
          <p:cNvSpPr/>
          <p:nvPr/>
        </p:nvSpPr>
        <p:spPr>
          <a:xfrm>
            <a:off x="731520" y="2679192"/>
            <a:ext cx="5052060" cy="237744"/>
          </a:xfrm>
          <a:prstGeom prst="rect">
            <a:avLst/>
          </a:prstGeom>
          <a:noFill/>
          <a:ln/>
        </p:spPr>
        <p:txBody>
          <a:bodyPr wrap="square" rtlCol="0" anchor="ctr"/>
          <a:lstStyle/>
          <a:p>
            <a:pPr indent="0" marL="0">
              <a:buNone/>
            </a:pPr>
            <a:r>
              <a:rPr lang="en-US" sz="1050" u="sng" dirty="0">
                <a:solidFill>
                  <a:srgbClr val="3A5FCD"/>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anthropic.skilljar.com</a:t>
            </a:r>
            <a:endParaRPr lang="en-US" sz="1050" dirty="0"/>
          </a:p>
        </p:txBody>
      </p:sp>
      <p:sp>
        <p:nvSpPr>
          <p:cNvPr id="10" name="Shape 7"/>
          <p:cNvSpPr/>
          <p:nvPr/>
        </p:nvSpPr>
        <p:spPr>
          <a:xfrm>
            <a:off x="6195060" y="1188720"/>
            <a:ext cx="5417820" cy="1783080"/>
          </a:xfrm>
          <a:prstGeom prst="roundRect">
            <a:avLst>
              <a:gd name="adj" fmla="val 4103"/>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1" name="Text 8"/>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公式Exam Guide PDF + サンプル問題</a:t>
            </a:r>
            <a:endParaRPr lang="en-US" sz="1450" dirty="0"/>
          </a:p>
        </p:txBody>
      </p:sp>
      <p:sp>
        <p:nvSpPr>
          <p:cNvPr id="12" name="Text 9"/>
          <p:cNvSpPr/>
          <p:nvPr/>
        </p:nvSpPr>
        <p:spPr>
          <a:xfrm>
            <a:off x="6377940" y="1664208"/>
            <a:ext cx="5052060" cy="914400"/>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必読。ただし公式の練習問題は本番より簡単なので、3回満点=準備万端ではない点に注意(前ページ参照)。試験ページ内「Download the exam guide」から入手</a:t>
            </a:r>
            <a:endParaRPr lang="en-US" sz="1150" dirty="0"/>
          </a:p>
        </p:txBody>
      </p:sp>
      <p:sp>
        <p:nvSpPr>
          <p:cNvPr id="13" name="Text 10">
            <a:hlinkClick r:id="rId3" tooltip=""/>
          </p:cNvPr>
          <p:cNvSpPr/>
          <p:nvPr/>
        </p:nvSpPr>
        <p:spPr>
          <a:xfrm>
            <a:off x="6377940" y="2679192"/>
            <a:ext cx="5052060" cy="237744"/>
          </a:xfrm>
          <a:prstGeom prst="rect">
            <a:avLst/>
          </a:prstGeom>
          <a:noFill/>
          <a:ln/>
        </p:spPr>
        <p:txBody>
          <a:bodyPr wrap="square" rtlCol="0" anchor="ctr"/>
          <a:lstStyle/>
          <a:p>
            <a:pPr indent="0" marL="0">
              <a:buNone/>
            </a:pPr>
            <a:r>
              <a:rPr lang="en-US" sz="1050" u="sng" dirty="0">
                <a:solidFill>
                  <a:srgbClr val="3A5FCD"/>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CCA-F公式試験ページ(要Partner Network)</a:t>
            </a:r>
            <a:endParaRPr lang="en-US" sz="1050" dirty="0"/>
          </a:p>
        </p:txBody>
      </p:sp>
      <p:sp>
        <p:nvSpPr>
          <p:cNvPr id="14" name="Shape 11"/>
          <p:cNvSpPr/>
          <p:nvPr/>
        </p:nvSpPr>
        <p:spPr>
          <a:xfrm>
            <a:off x="548640" y="3200400"/>
            <a:ext cx="5417820" cy="1783080"/>
          </a:xfrm>
          <a:prstGeom prst="roundRect">
            <a:avLst>
              <a:gd name="adj" fmla="val 4103"/>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5" name="Text 12"/>
          <p:cNvSpPr/>
          <p:nvPr/>
        </p:nvSpPr>
        <p:spPr>
          <a:xfrm>
            <a:off x="731520" y="332841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コミュニティ製study guide(GitHub)</a:t>
            </a:r>
            <a:endParaRPr lang="en-US" sz="1450" dirty="0"/>
          </a:p>
        </p:txBody>
      </p:sp>
      <p:sp>
        <p:nvSpPr>
          <p:cNvPr id="16" name="Text 13"/>
          <p:cNvSpPr/>
          <p:nvPr/>
        </p:nvSpPr>
        <p:spPr>
          <a:xfrm>
            <a:off x="731520" y="3675888"/>
            <a:ext cx="5052060" cy="914400"/>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Paul Larionovのリポジトリ(4ヶ国語対応)、Daron Yondemのexam guideが定評あり。無料で実際の出題傾向を反映</a:t>
            </a:r>
            <a:endParaRPr lang="en-US" sz="1150" dirty="0"/>
          </a:p>
        </p:txBody>
      </p:sp>
      <p:sp>
        <p:nvSpPr>
          <p:cNvPr id="17" name="Text 14">
            <a:hlinkClick r:id="rId4" tooltip=""/>
          </p:cNvPr>
          <p:cNvSpPr/>
          <p:nvPr/>
        </p:nvSpPr>
        <p:spPr>
          <a:xfrm>
            <a:off x="731520" y="4690872"/>
            <a:ext cx="5052060" cy="237744"/>
          </a:xfrm>
          <a:prstGeom prst="rect">
            <a:avLst/>
          </a:prstGeom>
          <a:noFill/>
          <a:ln/>
        </p:spPr>
        <p:txBody>
          <a:bodyPr wrap="square" rtlCol="0" anchor="ctr"/>
          <a:lstStyle/>
          <a:p>
            <a:pPr indent="0" marL="0">
              <a:buNone/>
            </a:pPr>
            <a:r>
              <a:rPr lang="en-US" sz="1050" u="sng" dirty="0">
                <a:solidFill>
                  <a:srgbClr val="3A5FCD"/>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github.com/paullarionov/claude-certified-architect</a:t>
            </a:r>
            <a:endParaRPr lang="en-US" sz="1050" dirty="0"/>
          </a:p>
        </p:txBody>
      </p:sp>
      <p:sp>
        <p:nvSpPr>
          <p:cNvPr id="18" name="Shape 15"/>
          <p:cNvSpPr/>
          <p:nvPr/>
        </p:nvSpPr>
        <p:spPr>
          <a:xfrm>
            <a:off x="6195060" y="3200400"/>
            <a:ext cx="5417820" cy="1783080"/>
          </a:xfrm>
          <a:prstGeom prst="roundRect">
            <a:avLst>
              <a:gd name="adj" fmla="val 4103"/>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9" name="Text 16"/>
          <p:cNvSpPr/>
          <p:nvPr/>
        </p:nvSpPr>
        <p:spPr>
          <a:xfrm>
            <a:off x="6377940" y="332841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Reddit r/ClaudeAI</a:t>
            </a:r>
            <a:endParaRPr lang="en-US" sz="1450" dirty="0"/>
          </a:p>
        </p:txBody>
      </p:sp>
      <p:sp>
        <p:nvSpPr>
          <p:cNvPr id="20" name="Text 17"/>
          <p:cNvSpPr/>
          <p:nvPr/>
        </p:nvSpPr>
        <p:spPr>
          <a:xfrm>
            <a:off x="6377940" y="3675888"/>
            <a:ext cx="5052060" cy="914400"/>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"CCA-F"で検索すると合格者・不合格者の体験談が多数。特に不合格者のスレッドは「何でつまずいたか」の実例が豊富で有用</a:t>
            </a:r>
            <a:endParaRPr lang="en-US" sz="1150" dirty="0"/>
          </a:p>
        </p:txBody>
      </p:sp>
      <p:sp>
        <p:nvSpPr>
          <p:cNvPr id="21" name="Text 18">
            <a:hlinkClick r:id="rId5" tooltip=""/>
          </p:cNvPr>
          <p:cNvSpPr/>
          <p:nvPr/>
        </p:nvSpPr>
        <p:spPr>
          <a:xfrm>
            <a:off x="6377940" y="4690872"/>
            <a:ext cx="5052060" cy="237744"/>
          </a:xfrm>
          <a:prstGeom prst="rect">
            <a:avLst/>
          </a:prstGeom>
          <a:noFill/>
          <a:ln/>
        </p:spPr>
        <p:txBody>
          <a:bodyPr wrap="square" rtlCol="0" anchor="ctr"/>
          <a:lstStyle/>
          <a:p>
            <a:pPr indent="0" marL="0">
              <a:buNone/>
            </a:pPr>
            <a:r>
              <a:rPr lang="en-US" sz="1050" u="sng" dirty="0">
                <a:solidFill>
                  <a:srgbClr val="3A5FCD"/>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reddit.com/r/ClaudeAI</a:t>
            </a:r>
            <a:endParaRPr lang="en-US" sz="1050" dirty="0"/>
          </a:p>
        </p:txBody>
      </p:sp>
      <p:sp>
        <p:nvSpPr>
          <p:cNvPr id="22" name="Text 19"/>
          <p:cNvSpPr/>
          <p:nvPr/>
        </p:nvSpPr>
        <p:spPr>
          <a:xfrm>
            <a:off x="548640" y="525780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初心者向けの補足: 「LLM(大規模言語モデル)」はClaudeのような、大量のテキストから学習し会話や指示への応答を生成するAIモデルの総称です。「エージェント」は、そのLLMが単独で応答するだけでなく、ツールを使い複数ステップの作業を自律的にこなす仕組みを指します</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学習の型として推奨されているのは「先に何か1つ実際に作ってみる(例: サブエージェント2〜3体を使うClaude Codeプロジェクト)→ Academyコースを一通り読む→ 各ドメインにつき10個の「システムが壊れている」想定問答を自分で書き出す」という順番</a:t>
            </a:r>
            <a:endParaRPr lang="en-US" sz="1200" dirty="0"/>
          </a:p>
        </p:txBody>
      </p:sp>
      <p:sp>
        <p:nvSpPr>
          <p:cNvPr id="23" name="Text 20"/>
          <p:cNvSpPr/>
          <p:nvPr/>
        </p:nvSpPr>
        <p:spPr>
          <a:xfrm>
            <a:off x="548640" y="6355080"/>
            <a:ext cx="11064240" cy="274320"/>
          </a:xfrm>
          <a:prstGeom prst="rect">
            <a:avLst/>
          </a:prstGeom>
          <a:noFill/>
          <a:ln/>
        </p:spPr>
        <p:txBody>
          <a:bodyPr wrap="square" rtlCol="0" anchor="ctr"/>
          <a:lstStyle/>
          <a:p>
            <a:pPr indent="0" marL="0">
              <a:buNone/>
            </a:pPr>
            <a:r>
              <a:rPr lang="en-US" sz="900" i="1" dirty="0">
                <a:solidFill>
                  <a:srgbClr val="5B6472"/>
                </a:solidFill>
                <a:latin typeface="Meiryo" pitchFamily="34" charset="0"/>
                <a:ea typeface="Meiryo" pitchFamily="34" charset="-122"/>
                <a:cs typeface="Meiryo" pitchFamily="34" charset="-120"/>
              </a:rPr>
              <a:t>※GitHubリンクは非公式のコミュニティ製教材です。内容の正確性はAnthropic公式情報で必ず裏取りしてください</a:t>
            </a:r>
            <a:endParaRPr lang="en-US" sz="900" dirty="0"/>
          </a:p>
        </p:txBody>
      </p:sp>
      <p:sp>
        <p:nvSpPr>
          <p:cNvPr id="24" name="Text 2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5" name="Text 2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18</a:t>
            </a:r>
            <a:endParaRPr lang="en-US" sz="1000" dirty="0"/>
          </a:p>
        </p:txBody>
      </p:sp>
      <p:sp>
        <p:nvSpPr>
          <p:cNvPr id="26" name="Rectangle 25"/>
          <p:cNvSpPr/>
          <p:nvPr/>
        </p:nvSpPr>
        <p:spPr>
          <a:xfrm>
            <a:off x="548640" y="5029200"/>
            <a:ext cx="11064240" cy="480060"/>
          </a:xfrm>
          <a:prstGeom prst="rect">
            <a:avLst/>
          </a:prstGeom>
          <a:solidFill>
            <a:srgbClr val="F4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074920"/>
            <a:ext cx="10500000" cy="388620"/>
          </a:xfrm>
          <a:prstGeom prst="rect">
            <a:avLst/>
          </a:prstGeom>
          <a:noFill/>
        </p:spPr>
        <p:txBody>
          <a:bodyPr wrap="square">
            <a:spAutoFit/>
          </a:bodyPr>
          <a:lstStyle/>
          <a:p>
            <a:r>
              <a:rPr sz="1100" b="1">
                <a:solidFill>
                  <a:srgbClr val="1E2761"/>
                </a:solidFill>
                <a:latin typeface="Meiryo"/>
              </a:rPr>
              <a:t>Claude Certification Guide — 30レッスン・250問以上の無料演習(mock exam / glossary / quick reference)</a:t>
            </a:r>
          </a:p>
          <a:p>
            <a:r>
              <a:rPr sz="1050" u="sng">
                <a:solidFill>
                  <a:srgbClr val="3A5FCD"/>
                </a:solidFill>
                <a:latin typeface="Meiryo"/>
                <a:hlinkClick r:id="rId8"/>
              </a:rPr>
              <a:t>claudecertificationguide.com/learn/2-tool-design-mcp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そもそも「エージェント」とは何か(基礎編)</a:t>
            </a:r>
            <a:endParaRPr lang="en-US" sz="2500" dirty="0"/>
          </a:p>
        </p:txBody>
      </p:sp>
      <p:sp>
        <p:nvSpPr>
          <p:cNvPr id="5" name="Shape 2"/>
          <p:cNvSpPr/>
          <p:nvPr/>
        </p:nvSpPr>
        <p:spPr>
          <a:xfrm>
            <a:off x="8686800" y="384048"/>
            <a:ext cx="2926080" cy="411480"/>
          </a:xfrm>
          <a:prstGeom prst="roundRect">
            <a:avLst>
              <a:gd name="adj" fmla="val 48889"/>
            </a:avLst>
          </a:prstGeom>
          <a:solidFill>
            <a:srgbClr val="FBF1E4"/>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A5A00"/>
                </a:solidFill>
                <a:latin typeface="Meiryo" pitchFamily="34" charset="0"/>
                <a:ea typeface="Meiryo" pitchFamily="34" charset="-122"/>
                <a:cs typeface="Meiryo" pitchFamily="34" charset="-120"/>
              </a:rPr>
              <a:t>📚 知識・雑学編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188720"/>
            <a:ext cx="110642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普通のチャットAIとエージェントの違い</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011680"/>
                <a:gridCol w="4114800"/>
                <a:gridCol w="4937760"/>
              </a:tblGrid>
              <a:tr h="0">
                <a:tc>
                  <a:txBody>
                    <a:bodyPr/>
                    <a:lstStyle/>
                    <a:p>
                      <a:pPr indent="0" marL="0">
                        <a:buNone/>
                      </a:pP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普通のチャットAI</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エージェント(Claude Code等)</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できること</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テキストで会話するだけ</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ファイルを読む・書く・コマンドを実行する</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動き方</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1回質問→1回回答で終わり</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目標達成まで複数ステップを自律的に繰り返す</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外の世界への影響</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なし(テキストを返すだけ)</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実際にファイルが変更される・コマンドが実行される</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途中の判断</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人間が毎回指示する</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AI自身が「次に何をすべきか」を都度判断する</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6"/>
          <p:cNvSpPr/>
          <p:nvPr/>
        </p:nvSpPr>
        <p:spPr>
          <a:xfrm>
            <a:off x="548640" y="3566160"/>
            <a:ext cx="110642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「エージェント」を構成する3つの要素</a:t>
            </a:r>
            <a:endParaRPr lang="en-US" sz="1400" dirty="0"/>
          </a:p>
        </p:txBody>
      </p:sp>
      <p:sp>
        <p:nvSpPr>
          <p:cNvPr id="11" name="Text 7"/>
          <p:cNvSpPr/>
          <p:nvPr/>
        </p:nvSpPr>
        <p:spPr>
          <a:xfrm>
            <a:off x="548640" y="393192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430"/>
                </a:solidFill>
                <a:latin typeface="Meiryo" pitchFamily="34" charset="0"/>
                <a:ea typeface="Meiryo" pitchFamily="34" charset="-122"/>
                <a:cs typeface="Meiryo" pitchFamily="34" charset="-120"/>
              </a:rPr>
              <a:t>頭脳: Claude本体(何をすべきか判断する部分)</a:t>
            </a:r>
            <a:endParaRPr lang="en-US" sz="1350" dirty="0"/>
          </a:p>
          <a:p>
            <a:pPr marL="342900" indent="-342900">
              <a:spcAft>
                <a:spcPts val="800"/>
              </a:spcAft>
              <a:buSzPct val="100000"/>
              <a:buChar char="•"/>
            </a:pPr>
            <a:r>
              <a:rPr lang="en-US" sz="1350" dirty="0">
                <a:solidFill>
                  <a:srgbClr val="1F2430"/>
                </a:solidFill>
                <a:latin typeface="Meiryo" pitchFamily="34" charset="0"/>
                <a:ea typeface="Meiryo" pitchFamily="34" charset="-122"/>
                <a:cs typeface="Meiryo" pitchFamily="34" charset="-120"/>
              </a:rPr>
              <a:t>手足: ツール(Read/Write/Bash/Grep等。実際にファイル操作やコマンド実行を行う部分)</a:t>
            </a:r>
            <a:endParaRPr lang="en-US" sz="1350" dirty="0"/>
          </a:p>
          <a:p>
            <a:pPr marL="342900" indent="-342900">
              <a:spcAft>
                <a:spcPts val="800"/>
              </a:spcAft>
              <a:buSzPct val="100000"/>
              <a:buChar char="•"/>
            </a:pPr>
            <a:r>
              <a:rPr lang="en-US" sz="1350" dirty="0">
                <a:solidFill>
                  <a:srgbClr val="1F2430"/>
                </a:solidFill>
                <a:latin typeface="Meiryo" pitchFamily="34" charset="0"/>
                <a:ea typeface="Meiryo" pitchFamily="34" charset="-122"/>
                <a:cs typeface="Meiryo" pitchFamily="34" charset="-120"/>
              </a:rPr>
              <a:t>ループ: 「判断→ツール実行→結果を見てまた判断」を目標達成まで繰り返す仕組み(このループが止まる条件がstop_reason)</a:t>
            </a:r>
            <a:endParaRPr lang="en-US" sz="1350" dirty="0"/>
          </a:p>
        </p:txBody>
      </p:sp>
      <p:sp>
        <p:nvSpPr>
          <p:cNvPr id="12" name="Shape 8"/>
          <p:cNvSpPr/>
          <p:nvPr/>
        </p:nvSpPr>
        <p:spPr>
          <a:xfrm>
            <a:off x="548640" y="5440680"/>
            <a:ext cx="11064240" cy="960120"/>
          </a:xfrm>
          <a:prstGeom prst="roundRect">
            <a:avLst>
              <a:gd name="adj" fmla="val 7619"/>
            </a:avLst>
          </a:prstGeom>
          <a:solidFill>
            <a:srgbClr val="FBF1E4"/>
          </a:solidFill>
          <a:ln/>
        </p:spPr>
        <p:txBody>
          <a:bodyPr/>
          <a:p/>
        </p:txBody>
      </p:sp>
      <p:pic>
        <p:nvPicPr>
          <p:cNvPr id="13" name="Image 1" descr="preencoded.png">    </p:cNvPr>
          <p:cNvPicPr>
            <a:picLocks noChangeAspect="1"/>
          </p:cNvPicPr>
          <p:nvPr/>
        </p:nvPicPr>
        <p:blipFill>
          <a:blip r:embed="rId2"/>
          <a:stretch>
            <a:fillRect/>
          </a:stretch>
        </p:blipFill>
        <p:spPr>
          <a:xfrm>
            <a:off x="713232" y="5605272"/>
            <a:ext cx="310896" cy="310896"/>
          </a:xfrm>
          <a:prstGeom prst="rect">
            <a:avLst/>
          </a:prstGeom>
        </p:spPr>
      </p:pic>
      <p:sp>
        <p:nvSpPr>
          <p:cNvPr id="14" name="Text 9"/>
          <p:cNvSpPr/>
          <p:nvPr/>
        </p:nvSpPr>
        <p:spPr>
          <a:xfrm>
            <a:off x="1143000" y="553212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10"/>
          <p:cNvSpPr/>
          <p:nvPr/>
        </p:nvSpPr>
        <p:spPr>
          <a:xfrm>
            <a:off x="1143000" y="582472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Claude Codeは、この「エージェントとしての動き方」を開発作業(コーディング)に特化させた製品、という位置づけ。この基礎理解がドメイン1(27%)・ドメイン3(20%)の土台になる。</a:t>
            </a:r>
            <a:endParaRPr lang="en-US" sz="1200" dirty="0"/>
          </a:p>
        </p:txBody>
      </p:sp>
      <p:sp>
        <p:nvSpPr>
          <p:cNvPr id="16" name="Text 1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この参考書が扱っているのは「どの画面」の話か</a:t>
            </a:r>
            <a:endParaRPr lang="en-US" sz="2500" dirty="0"/>
          </a:p>
        </p:txBody>
      </p:sp>
      <p:sp>
        <p:nvSpPr>
          <p:cNvPr id="5" name="Shape 2"/>
          <p:cNvSpPr/>
          <p:nvPr/>
        </p:nvSpPr>
        <p:spPr>
          <a:xfrm>
            <a:off x="8686800" y="384048"/>
            <a:ext cx="2926080" cy="411480"/>
          </a:xfrm>
          <a:prstGeom prst="roundRect">
            <a:avLst>
              <a:gd name="adj" fmla="val 48889"/>
            </a:avLst>
          </a:prstGeom>
          <a:solidFill>
            <a:srgbClr val="FBF1E4"/>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A5A00"/>
                </a:solidFill>
                <a:latin typeface="Meiryo" pitchFamily="34" charset="0"/>
                <a:ea typeface="Meiryo" pitchFamily="34" charset="-122"/>
                <a:cs typeface="Meiryo" pitchFamily="34" charset="-120"/>
              </a:rPr>
              <a:t>📚 知識・雑学編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Shape 5"/>
          <p:cNvSpPr/>
          <p:nvPr/>
        </p:nvSpPr>
        <p:spPr>
          <a:xfrm>
            <a:off x="548640" y="1143000"/>
            <a:ext cx="11064240" cy="594360"/>
          </a:xfrm>
          <a:prstGeom prst="roundRect">
            <a:avLst>
              <a:gd name="adj" fmla="val 12308"/>
            </a:avLst>
          </a:prstGeom>
          <a:solidFill>
            <a:srgbClr val="FBF1E4"/>
          </a:solidFill>
          <a:ln/>
        </p:spPr>
        <p:txBody>
          <a:bodyPr/>
          <a:p/>
        </p:txBody>
      </p:sp>
      <p:sp>
        <p:nvSpPr>
          <p:cNvPr id="9" name="Text 6"/>
          <p:cNvSpPr/>
          <p:nvPr/>
        </p:nvSpPr>
        <p:spPr>
          <a:xfrm>
            <a:off x="777240" y="1143000"/>
            <a:ext cx="10607040" cy="594360"/>
          </a:xfrm>
          <a:prstGeom prst="rect">
            <a:avLst/>
          </a:prstGeom>
          <a:noFill/>
          <a:ln/>
        </p:spPr>
        <p:txBody>
          <a:bodyPr wrap="square" rtlCol="0" anchor="ctr"/>
          <a:lstStyle/>
          <a:p>
            <a:pPr indent="0" marL="0">
              <a:buNone/>
            </a:pPr>
            <a:r>
              <a:rPr lang="en-US" sz="1200" b="1" dirty="0">
                <a:solidFill>
                  <a:srgbClr val="8A5A00"/>
                </a:solidFill>
                <a:latin typeface="Meiryo" pitchFamily="34" charset="0"/>
                <a:ea typeface="Meiryo" pitchFamily="34" charset="-122"/>
                <a:cs typeface="Meiryo" pitchFamily="34" charset="-120"/>
              </a:rPr>
              <a:t>よくある混乱: 「サブエージェントとかHooksとか、claude.aiの画面のどこを見ればいいの?」→ 実は普段のclaude.aiチャット画面(Projects/Artifacts等)には出てこない機能がほとんど</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2743200"/>
                <a:gridCol w="5486400"/>
                <a:gridCol w="2834640"/>
              </a:tblGrid>
              <a:tr h="0">
                <a:tc>
                  <a:txBody>
                    <a:bodyPr/>
                    <a:lstStyle/>
                    <a:p>
                      <a:pPr indent="0" marL="0">
                        <a:buNone/>
                      </a:pPr>
                      <a:r>
                        <a:rPr lang="en-US" sz="1050" dirty="0">
                          <a:solidFill>
                            <a:srgbClr val="1F2430"/>
                          </a:solidFill>
                          <a:latin typeface="Meiryo" pitchFamily="34" charset="0"/>
                          <a:ea typeface="Meiryo" pitchFamily="34" charset="-122"/>
                          <a:cs typeface="Meiryo" pitchFamily="34" charset="-120"/>
                        </a:rPr>
                        <a:t>製品/画面</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何をするところか</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CCA-Fの出題対象か</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430"/>
                          </a:solidFill>
                          <a:latin typeface="Meiryo" pitchFamily="34" charset="0"/>
                          <a:ea typeface="Meiryo" pitchFamily="34" charset="-122"/>
                          <a:cs typeface="Meiryo" pitchFamily="34" charset="-120"/>
                        </a:rPr>
                        <a:t>claude.ai(通常のチャット画面)</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会話・Projects・Artifacts等、普段使うチャットUI</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 ほぼ対象外(基本操作の理解は前提程度)</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430"/>
                          </a:solidFill>
                          <a:latin typeface="Meiryo" pitchFamily="34" charset="0"/>
                          <a:ea typeface="Meiryo" pitchFamily="34" charset="-122"/>
                          <a:cs typeface="Meiryo" pitchFamily="34" charset="-120"/>
                        </a:rPr>
                        <a:t>Claude Code(ターミナルツール)</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コマンドラインで動くコーディング用エージェント。サブエージェント・Hooks・CLAUDE.md・Skillsはここで使う</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 ドメイン1・3の中心</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430"/>
                          </a:solidFill>
                          <a:latin typeface="Meiryo" pitchFamily="34" charset="0"/>
                          <a:ea typeface="Meiryo" pitchFamily="34" charset="-122"/>
                          <a:cs typeface="Meiryo" pitchFamily="34" charset="-120"/>
                        </a:rPr>
                        <a:t>Claude Agent SDK(開発者向け)</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プログラムからClaudeをエージェントとして組み込むためのライブラリ</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 ドメイン1の中心</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430"/>
                          </a:solidFill>
                          <a:latin typeface="Meiryo" pitchFamily="34" charset="0"/>
                          <a:ea typeface="Meiryo" pitchFamily="34" charset="-122"/>
                          <a:cs typeface="Meiryo" pitchFamily="34" charset="-120"/>
                        </a:rPr>
                        <a:t>Claude API(開発者向け)</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Claudeに直接リクエストを送る土台となる仕組み。tool use・MCP連携もここが基盤</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Meiryo" pitchFamily="34" charset="0"/>
                          <a:ea typeface="Meiryo" pitchFamily="34" charset="-122"/>
                          <a:cs typeface="Meiryo" pitchFamily="34" charset="-120"/>
                        </a:rPr>
                        <a:t>◎ ドメイン2・4の中心</a:t>
                      </a:r>
                      <a:endParaRPr lang="en-US" sz="10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1" name="Text 7"/>
          <p:cNvSpPr/>
          <p:nvPr/>
        </p:nvSpPr>
        <p:spPr>
          <a:xfrm>
            <a:off x="548640" y="4206240"/>
            <a:ext cx="11064240" cy="548640"/>
          </a:xfrm>
          <a:prstGeom prst="rect">
            <a:avLst/>
          </a:prstGeom>
          <a:noFill/>
          <a:ln/>
        </p:spPr>
        <p:txBody>
          <a:bodyPr wrap="square" rtlCol="0" anchor="t"/>
          <a:lstStyle/>
          <a:p>
            <a:pPr indent="0" marL="0">
              <a:buNone/>
            </a:pPr>
            <a:r>
              <a:rPr lang="en-US" sz="1200" i="1" dirty="0">
                <a:solidFill>
                  <a:srgbClr val="5B6472"/>
                </a:solidFill>
                <a:latin typeface="Meiryo" pitchFamily="34" charset="0"/>
                <a:ea typeface="Meiryo" pitchFamily="34" charset="-122"/>
                <a:cs typeface="Meiryo" pitchFamily="34" charset="-120"/>
              </a:rPr>
              <a:t>つまりCCA-Fが問うのは「claude.aiの操作方法」ではなく「Claude Code・Agent SDK・APIを使ってエージェントシステムをどう設計するか」という開発者・アーキテクト向けの試験</a:t>
            </a:r>
            <a:endParaRPr lang="en-US" sz="1200" dirty="0"/>
          </a:p>
        </p:txBody>
      </p:sp>
      <p:sp>
        <p:nvSpPr>
          <p:cNvPr id="12" name="Shape 8"/>
          <p:cNvSpPr/>
          <p:nvPr/>
        </p:nvSpPr>
        <p:spPr>
          <a:xfrm>
            <a:off x="548640" y="5029200"/>
            <a:ext cx="11064240" cy="960120"/>
          </a:xfrm>
          <a:prstGeom prst="roundRect">
            <a:avLst>
              <a:gd name="adj" fmla="val 7619"/>
            </a:avLst>
          </a:prstGeom>
          <a:solidFill>
            <a:srgbClr val="FBF1E4"/>
          </a:solidFill>
          <a:ln/>
        </p:spPr>
        <p:txBody>
          <a:bodyPr/>
          <a:p/>
        </p:txBody>
      </p:sp>
      <p:pic>
        <p:nvPicPr>
          <p:cNvPr id="13" name="Image 1" descr="preencoded.png">    </p:cNvPr>
          <p:cNvPicPr>
            <a:picLocks noChangeAspect="1"/>
          </p:cNvPicPr>
          <p:nvPr/>
        </p:nvPicPr>
        <p:blipFill>
          <a:blip r:embed="rId2"/>
          <a:stretch>
            <a:fillRect/>
          </a:stretch>
        </p:blipFill>
        <p:spPr>
          <a:xfrm>
            <a:off x="713232" y="5193792"/>
            <a:ext cx="310896" cy="310896"/>
          </a:xfrm>
          <a:prstGeom prst="rect">
            <a:avLst/>
          </a:prstGeom>
        </p:spPr>
      </p:pic>
      <p:sp>
        <p:nvSpPr>
          <p:cNvPr id="14" name="Text 9"/>
          <p:cNvSpPr/>
          <p:nvPr/>
        </p:nvSpPr>
        <p:spPr>
          <a:xfrm>
            <a:off x="1143000" y="51206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10"/>
          <p:cNvSpPr/>
          <p:nvPr/>
        </p:nvSpPr>
        <p:spPr>
          <a:xfrm>
            <a:off x="1143000" y="541324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本資料で「サブエージェント」「Hooks」「Skills」等を説明する際は、特に断りがない限りClaude CodeまたはAgent SDKの話。claude.aiのチャット画面を操作しても出てこない機能なので、実際に触って確認したい場合はClaude Codeのインストールが必要。</a:t>
            </a:r>
            <a:endParaRPr lang="en-US" sz="1200" dirty="0"/>
          </a:p>
        </p:txBody>
      </p:sp>
      <p:sp>
        <p:nvSpPr>
          <p:cNvPr id="16" name="Text 1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822960"/>
            <a:ext cx="1188720" cy="1188720"/>
          </a:xfrm>
          <a:prstGeom prst="ellipse">
            <a:avLst/>
          </a:prstGeom>
          <a:solidFill>
            <a:srgbClr val="141B44"/>
          </a:solidFill>
          <a:ln/>
        </p:spPr>
        <p:txBody>
          <a:bodyPr/>
          <a:p/>
        </p:txBody>
      </p:sp>
      <p:pic>
        <p:nvPicPr>
          <p:cNvPr id="3" name="Image 0" descr="preencoded.png">    </p:cNvPr>
          <p:cNvPicPr>
            <a:picLocks noChangeAspect="1"/>
          </p:cNvPicPr>
          <p:nvPr/>
        </p:nvPicPr>
        <p:blipFill>
          <a:blip r:embed="rId1"/>
          <a:stretch>
            <a:fillRect/>
          </a:stretch>
        </p:blipFill>
        <p:spPr>
          <a:xfrm>
            <a:off x="925373" y="1108253"/>
            <a:ext cx="618134" cy="618134"/>
          </a:xfrm>
          <a:prstGeom prst="rect">
            <a:avLst/>
          </a:prstGeom>
        </p:spPr>
      </p:pic>
      <p:sp>
        <p:nvSpPr>
          <p:cNvPr id="4" name="Text 1"/>
          <p:cNvSpPr/>
          <p:nvPr/>
        </p:nvSpPr>
        <p:spPr>
          <a:xfrm>
            <a:off x="2103120" y="868680"/>
            <a:ext cx="5486400" cy="457200"/>
          </a:xfrm>
          <a:prstGeom prst="rect">
            <a:avLst/>
          </a:prstGeom>
          <a:noFill/>
          <a:ln/>
        </p:spPr>
        <p:txBody>
          <a:bodyPr wrap="square" rtlCol="0" anchor="ctr"/>
          <a:lstStyle/>
          <a:p>
            <a:pPr indent="0" marL="0">
              <a:buNone/>
            </a:pPr>
            <a:r>
              <a:rPr lang="en-US" sz="1700" b="1" spc="200" kern="0" dirty="0">
                <a:solidFill>
                  <a:srgbClr val="CADCFC"/>
                </a:solidFill>
                <a:latin typeface="Meiryo" pitchFamily="34" charset="0"/>
                <a:ea typeface="Meiryo" pitchFamily="34" charset="-122"/>
                <a:cs typeface="Meiryo" pitchFamily="34" charset="-120"/>
              </a:rPr>
              <a:t>DOMAIN 1</a:t>
            </a:r>
            <a:endParaRPr lang="en-US" sz="1700" dirty="0"/>
          </a:p>
        </p:txBody>
      </p:sp>
      <p:sp>
        <p:nvSpPr>
          <p:cNvPr id="5" name="Text 2"/>
          <p:cNvSpPr/>
          <p:nvPr/>
        </p:nvSpPr>
        <p:spPr>
          <a:xfrm>
            <a:off x="2103120" y="1280160"/>
            <a:ext cx="8686800" cy="1005840"/>
          </a:xfrm>
          <a:prstGeom prst="rect">
            <a:avLst/>
          </a:prstGeom>
          <a:noFill/>
          <a:ln/>
        </p:spPr>
        <p:txBody>
          <a:bodyPr wrap="square" rtlCol="0" anchor="ctr"/>
          <a:lstStyle/>
          <a:p>
            <a:pPr indent="0" marL="0">
              <a:buNone/>
            </a:pPr>
            <a:r>
              <a:rPr lang="en-US" sz="3300" b="1" dirty="0">
                <a:solidFill>
                  <a:srgbClr val="FFFFFF"/>
                </a:solidFill>
                <a:latin typeface="Meiryo" pitchFamily="34" charset="0"/>
                <a:ea typeface="Meiryo" pitchFamily="34" charset="-122"/>
                <a:cs typeface="Meiryo" pitchFamily="34" charset="-120"/>
              </a:rPr>
              <a:t>Agentic Architecture &amp; Orchestration</a:t>
            </a:r>
            <a:endParaRPr lang="en-US" sz="3300" dirty="0"/>
          </a:p>
        </p:txBody>
      </p:sp>
      <p:sp>
        <p:nvSpPr>
          <p:cNvPr id="6" name="Text 3"/>
          <p:cNvSpPr/>
          <p:nvPr/>
        </p:nvSpPr>
        <p:spPr>
          <a:xfrm>
            <a:off x="2103120" y="2148840"/>
            <a:ext cx="8686800" cy="548640"/>
          </a:xfrm>
          <a:prstGeom prst="rect">
            <a:avLst/>
          </a:prstGeom>
          <a:noFill/>
          <a:ln/>
        </p:spPr>
        <p:txBody>
          <a:bodyPr wrap="square" rtlCol="0" anchor="ctr"/>
          <a:lstStyle/>
          <a:p>
            <a:pPr indent="0" marL="0">
              <a:buNone/>
            </a:pPr>
            <a:r>
              <a:rPr lang="en-US" sz="1600" dirty="0">
                <a:solidFill>
                  <a:srgbClr val="CADCFC"/>
                </a:solidFill>
                <a:latin typeface="Meiryo" pitchFamily="34" charset="0"/>
                <a:ea typeface="Meiryo" pitchFamily="34" charset="-122"/>
                <a:cs typeface="Meiryo" pitchFamily="34" charset="-120"/>
              </a:rPr>
              <a:t>エージェント的アーキテクチャとオーケストレーション設計</a:t>
            </a:r>
            <a:endParaRPr lang="en-US" sz="1600" dirty="0"/>
          </a:p>
        </p:txBody>
      </p:sp>
      <p:sp>
        <p:nvSpPr>
          <p:cNvPr id="7" name="Shape 4"/>
          <p:cNvSpPr/>
          <p:nvPr/>
        </p:nvSpPr>
        <p:spPr>
          <a:xfrm>
            <a:off x="9692640" y="777240"/>
            <a:ext cx="1828800" cy="1234440"/>
          </a:xfrm>
          <a:prstGeom prst="roundRect">
            <a:avLst>
              <a:gd name="adj" fmla="val 8889"/>
            </a:avLst>
          </a:prstGeom>
          <a:solidFill>
            <a:srgbClr val="141B44"/>
          </a:solidFill>
          <a:ln/>
          <a:effectLst>
            <a:outerShdw sx="100000" sy="100000" kx="0" ky="0" algn="bl" rotWithShape="0" blurRad="101600" dist="38100" dir="2700000">
              <a:srgbClr val="000000">
                <a:alpha val="15000"/>
              </a:srgbClr>
            </a:outerShdw>
          </a:effectLst>
        </p:spPr>
        <p:txBody>
          <a:bodyPr/>
          <a:p/>
        </p:txBody>
      </p:sp>
      <p:sp>
        <p:nvSpPr>
          <p:cNvPr id="8" name="Text 5"/>
          <p:cNvSpPr/>
          <p:nvPr/>
        </p:nvSpPr>
        <p:spPr>
          <a:xfrm>
            <a:off x="9692640" y="868680"/>
            <a:ext cx="1828800" cy="731520"/>
          </a:xfrm>
          <a:prstGeom prst="rect">
            <a:avLst/>
          </a:prstGeom>
          <a:noFill/>
          <a:ln/>
        </p:spPr>
        <p:txBody>
          <a:bodyPr wrap="square" rtlCol="0" anchor="ctr"/>
          <a:lstStyle/>
          <a:p>
            <a:pPr algn="ctr" indent="0" marL="0">
              <a:buNone/>
            </a:pPr>
            <a:r>
              <a:rPr lang="en-US" sz="3600" b="1" dirty="0">
                <a:solidFill>
                  <a:srgbClr val="FFFFFF"/>
                </a:solidFill>
                <a:latin typeface="Meiryo" pitchFamily="34" charset="0"/>
                <a:ea typeface="Meiryo" pitchFamily="34" charset="-122"/>
                <a:cs typeface="Meiryo" pitchFamily="34" charset="-120"/>
              </a:rPr>
              <a:t>27%</a:t>
            </a:r>
            <a:endParaRPr lang="en-US" sz="3600" dirty="0"/>
          </a:p>
        </p:txBody>
      </p:sp>
      <p:sp>
        <p:nvSpPr>
          <p:cNvPr id="9" name="Text 6"/>
          <p:cNvSpPr/>
          <p:nvPr/>
        </p:nvSpPr>
        <p:spPr>
          <a:xfrm>
            <a:off x="9692640" y="1572768"/>
            <a:ext cx="1828800" cy="365760"/>
          </a:xfrm>
          <a:prstGeom prst="rect">
            <a:avLst/>
          </a:prstGeom>
          <a:noFill/>
          <a:ln/>
        </p:spPr>
        <p:txBody>
          <a:bodyPr wrap="square" rtlCol="0" anchor="ctr"/>
          <a:lstStyle/>
          <a:p>
            <a:pPr algn="ctr" indent="0" marL="0">
              <a:buNone/>
            </a:pPr>
            <a:r>
              <a:rPr lang="en-US" sz="1200" dirty="0">
                <a:solidFill>
                  <a:srgbClr val="CADCFC"/>
                </a:solidFill>
                <a:latin typeface="Meiryo" pitchFamily="34" charset="0"/>
                <a:ea typeface="Meiryo" pitchFamily="34" charset="-122"/>
                <a:cs typeface="Meiryo" pitchFamily="34" charset="-120"/>
              </a:rPr>
              <a:t>出題配点</a:t>
            </a:r>
            <a:endParaRPr lang="en-US" sz="1200" dirty="0"/>
          </a:p>
        </p:txBody>
      </p:sp>
      <p:sp>
        <p:nvSpPr>
          <p:cNvPr id="10" name="Shape 7"/>
          <p:cNvSpPr/>
          <p:nvPr/>
        </p:nvSpPr>
        <p:spPr>
          <a:xfrm>
            <a:off x="2103120" y="2697480"/>
            <a:ext cx="9418320" cy="0"/>
          </a:xfrm>
          <a:prstGeom prst="line">
            <a:avLst/>
          </a:prstGeom>
          <a:noFill/>
          <a:ln w="12700">
            <a:solidFill>
              <a:srgbClr val="3A4380"/>
            </a:solidFill>
            <a:prstDash val="solid"/>
          </a:ln>
        </p:spPr>
        <p:txBody>
          <a:bodyPr/>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エージェント的ループ(Agentic Loop)</a:t>
            </a:r>
            <a:endParaRPr lang="en-US" sz="2500" dirty="0"/>
          </a:p>
        </p:txBody>
      </p:sp>
      <p:sp>
        <p:nvSpPr>
          <p:cNvPr id="5" name="Shape 2"/>
          <p:cNvSpPr/>
          <p:nvPr/>
        </p:nvSpPr>
        <p:spPr>
          <a:xfrm>
            <a:off x="8686800" y="384048"/>
            <a:ext cx="2926080" cy="411480"/>
          </a:xfrm>
          <a:prstGeom prst="roundRect">
            <a:avLst>
              <a:gd name="adj" fmla="val 48889"/>
            </a:avLst>
          </a:prstGeom>
          <a:solidFill>
            <a:srgbClr val="E3F4EA"/>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7A4C"/>
                </a:solidFill>
                <a:latin typeface="Meiryo" pitchFamily="34" charset="0"/>
                <a:ea typeface="Meiryo" pitchFamily="34" charset="-122"/>
                <a:cs typeface="Meiryo" pitchFamily="34" charset="-120"/>
              </a:rPr>
              <a:t>🔧 実践・操作編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Shape 5"/>
          <p:cNvSpPr/>
          <p:nvPr/>
        </p:nvSpPr>
        <p:spPr>
          <a:xfrm>
            <a:off x="548640" y="1234440"/>
            <a:ext cx="6400800" cy="566928"/>
          </a:xfrm>
          <a:prstGeom prst="roundRect">
            <a:avLst>
              <a:gd name="adj" fmla="val 12903"/>
            </a:avLst>
          </a:prstGeom>
          <a:solidFill>
            <a:srgbClr val="F4F7FD"/>
          </a:solidFill>
          <a:ln/>
        </p:spPr>
        <p:txBody>
          <a:bodyPr/>
          <a:p/>
        </p:txBody>
      </p:sp>
      <p:sp>
        <p:nvSpPr>
          <p:cNvPr id="9" name="Text 6"/>
          <p:cNvSpPr/>
          <p:nvPr/>
        </p:nvSpPr>
        <p:spPr>
          <a:xfrm>
            <a:off x="777240" y="1234440"/>
            <a:ext cx="6035040" cy="566928"/>
          </a:xfrm>
          <a:prstGeom prst="rect">
            <a:avLst/>
          </a:prstGeom>
          <a:noFill/>
          <a:ln/>
        </p:spPr>
        <p:txBody>
          <a:bodyPr wrap="square" rtlCol="0" anchor="ctr"/>
          <a:lstStyle/>
          <a:p>
            <a:pPr indent="0" marL="0">
              <a:buNone/>
            </a:pPr>
            <a:r>
              <a:rPr lang="en-US" sz="1400" dirty="0">
                <a:solidFill>
                  <a:srgbClr val="1F2430"/>
                </a:solidFill>
                <a:latin typeface="Meiryo" pitchFamily="34" charset="0"/>
                <a:ea typeface="Meiryo" pitchFamily="34" charset="-122"/>
                <a:cs typeface="Meiryo" pitchFamily="34" charset="-120"/>
              </a:rPr>
              <a:t>① プロンプト受信</a:t>
            </a:r>
            <a:endParaRPr lang="en-US" sz="1400" dirty="0"/>
          </a:p>
        </p:txBody>
      </p:sp>
      <p:sp>
        <p:nvSpPr>
          <p:cNvPr id="10" name="Shape 7"/>
          <p:cNvSpPr/>
          <p:nvPr/>
        </p:nvSpPr>
        <p:spPr>
          <a:xfrm>
            <a:off x="548640" y="1947672"/>
            <a:ext cx="6400800" cy="566928"/>
          </a:xfrm>
          <a:prstGeom prst="roundRect">
            <a:avLst>
              <a:gd name="adj" fmla="val 12903"/>
            </a:avLst>
          </a:prstGeom>
          <a:solidFill>
            <a:srgbClr val="F4F7FD"/>
          </a:solidFill>
          <a:ln/>
        </p:spPr>
        <p:txBody>
          <a:bodyPr/>
          <a:p/>
        </p:txBody>
      </p:sp>
      <p:sp>
        <p:nvSpPr>
          <p:cNvPr id="11" name="Text 8"/>
          <p:cNvSpPr/>
          <p:nvPr/>
        </p:nvSpPr>
        <p:spPr>
          <a:xfrm>
            <a:off x="777240" y="1947672"/>
            <a:ext cx="6035040" cy="566928"/>
          </a:xfrm>
          <a:prstGeom prst="rect">
            <a:avLst/>
          </a:prstGeom>
          <a:noFill/>
          <a:ln/>
        </p:spPr>
        <p:txBody>
          <a:bodyPr wrap="square" rtlCol="0" anchor="ctr"/>
          <a:lstStyle/>
          <a:p>
            <a:pPr indent="0" marL="0">
              <a:buNone/>
            </a:pPr>
            <a:r>
              <a:rPr lang="en-US" sz="1400" dirty="0">
                <a:solidFill>
                  <a:srgbClr val="1F2430"/>
                </a:solidFill>
                <a:latin typeface="Meiryo" pitchFamily="34" charset="0"/>
                <a:ea typeface="Meiryo" pitchFamily="34" charset="-122"/>
                <a:cs typeface="Meiryo" pitchFamily="34" charset="-120"/>
              </a:rPr>
              <a:t>② 評価・応答(テキスト or ツール呼び出し)</a:t>
            </a:r>
            <a:endParaRPr lang="en-US" sz="1400" dirty="0"/>
          </a:p>
        </p:txBody>
      </p:sp>
      <p:sp>
        <p:nvSpPr>
          <p:cNvPr id="12" name="Shape 9"/>
          <p:cNvSpPr/>
          <p:nvPr/>
        </p:nvSpPr>
        <p:spPr>
          <a:xfrm>
            <a:off x="548640" y="2660904"/>
            <a:ext cx="6400800" cy="566928"/>
          </a:xfrm>
          <a:prstGeom prst="roundRect">
            <a:avLst>
              <a:gd name="adj" fmla="val 12903"/>
            </a:avLst>
          </a:prstGeom>
          <a:solidFill>
            <a:srgbClr val="F4F7FD"/>
          </a:solidFill>
          <a:ln/>
        </p:spPr>
        <p:txBody>
          <a:bodyPr/>
          <a:p/>
        </p:txBody>
      </p:sp>
      <p:sp>
        <p:nvSpPr>
          <p:cNvPr id="13" name="Text 10"/>
          <p:cNvSpPr/>
          <p:nvPr/>
        </p:nvSpPr>
        <p:spPr>
          <a:xfrm>
            <a:off x="777240" y="2660904"/>
            <a:ext cx="6035040" cy="566928"/>
          </a:xfrm>
          <a:prstGeom prst="rect">
            <a:avLst/>
          </a:prstGeom>
          <a:noFill/>
          <a:ln/>
        </p:spPr>
        <p:txBody>
          <a:bodyPr wrap="square" rtlCol="0" anchor="ctr"/>
          <a:lstStyle/>
          <a:p>
            <a:pPr indent="0" marL="0">
              <a:buNone/>
            </a:pPr>
            <a:r>
              <a:rPr lang="en-US" sz="1400" dirty="0">
                <a:solidFill>
                  <a:srgbClr val="1F2430"/>
                </a:solidFill>
                <a:latin typeface="Meiryo" pitchFamily="34" charset="0"/>
                <a:ea typeface="Meiryo" pitchFamily="34" charset="-122"/>
                <a:cs typeface="Meiryo" pitchFamily="34" charset="-120"/>
              </a:rPr>
              <a:t>③ ツール実行 → 結果をフィードバック</a:t>
            </a:r>
            <a:endParaRPr lang="en-US" sz="1400" dirty="0"/>
          </a:p>
        </p:txBody>
      </p:sp>
      <p:sp>
        <p:nvSpPr>
          <p:cNvPr id="14" name="Shape 11"/>
          <p:cNvSpPr/>
          <p:nvPr/>
        </p:nvSpPr>
        <p:spPr>
          <a:xfrm>
            <a:off x="548640" y="3374136"/>
            <a:ext cx="6400800" cy="566928"/>
          </a:xfrm>
          <a:prstGeom prst="roundRect">
            <a:avLst>
              <a:gd name="adj" fmla="val 12903"/>
            </a:avLst>
          </a:prstGeom>
          <a:solidFill>
            <a:srgbClr val="F4F7FD"/>
          </a:solidFill>
          <a:ln/>
        </p:spPr>
        <p:txBody>
          <a:bodyPr/>
          <a:p/>
        </p:txBody>
      </p:sp>
      <p:sp>
        <p:nvSpPr>
          <p:cNvPr id="15" name="Text 12"/>
          <p:cNvSpPr/>
          <p:nvPr/>
        </p:nvSpPr>
        <p:spPr>
          <a:xfrm>
            <a:off x="777240" y="3374136"/>
            <a:ext cx="6035040" cy="566928"/>
          </a:xfrm>
          <a:prstGeom prst="rect">
            <a:avLst/>
          </a:prstGeom>
          <a:noFill/>
          <a:ln/>
        </p:spPr>
        <p:txBody>
          <a:bodyPr wrap="square" rtlCol="0" anchor="ctr"/>
          <a:lstStyle/>
          <a:p>
            <a:pPr indent="0" marL="0">
              <a:buNone/>
            </a:pPr>
            <a:r>
              <a:rPr lang="en-US" sz="1400" dirty="0">
                <a:solidFill>
                  <a:srgbClr val="1F2430"/>
                </a:solidFill>
                <a:latin typeface="Meiryo" pitchFamily="34" charset="0"/>
                <a:ea typeface="Meiryo" pitchFamily="34" charset="-122"/>
                <a:cs typeface="Meiryo" pitchFamily="34" charset="-120"/>
              </a:rPr>
              <a:t>④ ツール呼び出しがなくなるまで②③を繰り返す</a:t>
            </a:r>
            <a:endParaRPr lang="en-US" sz="1400" dirty="0"/>
          </a:p>
        </p:txBody>
      </p:sp>
      <p:sp>
        <p:nvSpPr>
          <p:cNvPr id="16" name="Text 13"/>
          <p:cNvSpPr/>
          <p:nvPr/>
        </p:nvSpPr>
        <p:spPr>
          <a:xfrm>
            <a:off x="548640" y="4133088"/>
            <a:ext cx="5486400" cy="36576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重要な判定基準</a:t>
            </a:r>
            <a:endParaRPr lang="en-US" sz="1400" dirty="0"/>
          </a:p>
        </p:txBody>
      </p:sp>
      <p:sp>
        <p:nvSpPr>
          <p:cNvPr id="17" name="Text 14"/>
          <p:cNvSpPr/>
          <p:nvPr/>
        </p:nvSpPr>
        <p:spPr>
          <a:xfrm>
            <a:off x="548640" y="4471416"/>
            <a:ext cx="6400800" cy="502920"/>
          </a:xfrm>
          <a:prstGeom prst="rect">
            <a:avLst/>
          </a:prstGeom>
          <a:noFill/>
          <a:ln/>
        </p:spPr>
        <p:txBody>
          <a:bodyPr wrap="square" rtlCol="0" anchor="t"/>
          <a:lstStyle/>
          <a:p>
            <a:pPr indent="0" marL="0">
              <a:buNone/>
            </a:pPr>
            <a:r>
              <a:rPr lang="en-US" sz="1050" i="1" dirty="0">
                <a:solidFill>
                  <a:srgbClr val="5B6472"/>
                </a:solidFill>
                <a:latin typeface="Meiryo" pitchFamily="34" charset="0"/>
                <a:ea typeface="Meiryo" pitchFamily="34" charset="-122"/>
                <a:cs typeface="Meiryo" pitchFamily="34" charset="-120"/>
              </a:rPr>
              <a:t>stop_reasonとは: Claudeの応答に自動的に付く「なぜここで止めたか」のタグ。プログラム側はこのタグだけ見れば次の動作を機械的に判断できる</a:t>
            </a:r>
            <a:endParaRPr lang="en-US" sz="1050" dirty="0"/>
          </a:p>
        </p:txBody>
      </p:sp>
      <p:sp>
        <p:nvSpPr>
          <p:cNvPr id="18" name="Text 15"/>
          <p:cNvSpPr/>
          <p:nvPr/>
        </p:nvSpPr>
        <p:spPr>
          <a:xfrm>
            <a:off x="548640" y="5001768"/>
            <a:ext cx="6400800" cy="13716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tool_use(ツール呼び出し要求)→ ループ継続</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end_turn(応答完了)→ ループ終了</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テキスト内容の正規表現解析や固定回数の上限判定はアンチパターン</a:t>
            </a:r>
            <a:endParaRPr lang="en-US" sz="1250" dirty="0"/>
          </a:p>
        </p:txBody>
      </p:sp>
      <p:sp>
        <p:nvSpPr>
          <p:cNvPr id="19" name="Shape 16"/>
          <p:cNvSpPr/>
          <p:nvPr/>
        </p:nvSpPr>
        <p:spPr>
          <a:xfrm>
            <a:off x="7315200" y="1234440"/>
            <a:ext cx="4480560" cy="960120"/>
          </a:xfrm>
          <a:prstGeom prst="roundRect">
            <a:avLst>
              <a:gd name="adj" fmla="val 7619"/>
            </a:avLst>
          </a:prstGeom>
          <a:solidFill>
            <a:srgbClr val="FBF1E4"/>
          </a:solidFill>
          <a:ln/>
        </p:spPr>
        <p:txBody>
          <a:bodyPr/>
          <a:p/>
        </p:txBody>
      </p:sp>
      <p:pic>
        <p:nvPicPr>
          <p:cNvPr id="20" name="Image 1" descr="preencoded.png">    </p:cNvPr>
          <p:cNvPicPr>
            <a:picLocks noChangeAspect="1"/>
          </p:cNvPicPr>
          <p:nvPr/>
        </p:nvPicPr>
        <p:blipFill>
          <a:blip r:embed="rId2"/>
          <a:stretch>
            <a:fillRect/>
          </a:stretch>
        </p:blipFill>
        <p:spPr>
          <a:xfrm>
            <a:off x="7479792" y="1399032"/>
            <a:ext cx="310896" cy="310896"/>
          </a:xfrm>
          <a:prstGeom prst="rect">
            <a:avLst/>
          </a:prstGeom>
        </p:spPr>
      </p:pic>
      <p:sp>
        <p:nvSpPr>
          <p:cNvPr id="21" name="Text 17"/>
          <p:cNvSpPr/>
          <p:nvPr/>
        </p:nvSpPr>
        <p:spPr>
          <a:xfrm>
            <a:off x="7909560" y="1325880"/>
            <a:ext cx="374904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2" name="Text 18"/>
          <p:cNvSpPr/>
          <p:nvPr/>
        </p:nvSpPr>
        <p:spPr>
          <a:xfrm>
            <a:off x="7909560" y="1618488"/>
            <a:ext cx="370332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「ループを正しく終了させる実装は?」→ stop_reasonの確認が正解。テキストに'done'が含まれるかの正規表現チェックや固定回数打ち切りは誤り選択肢の定番。</a:t>
            </a:r>
            <a:endParaRPr lang="en-US" sz="1200" dirty="0"/>
          </a:p>
        </p:txBody>
      </p:sp>
      <p:sp>
        <p:nvSpPr>
          <p:cNvPr id="23" name="Text 19"/>
          <p:cNvSpPr/>
          <p:nvPr/>
        </p:nvSpPr>
        <p:spPr>
          <a:xfrm>
            <a:off x="7315200" y="2514600"/>
            <a:ext cx="448056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モデル駆動 vs 決定木</a:t>
            </a:r>
            <a:endParaRPr lang="en-US" sz="1400" dirty="0"/>
          </a:p>
        </p:txBody>
      </p:sp>
      <p:sp>
        <p:nvSpPr>
          <p:cNvPr id="24" name="Text 20"/>
          <p:cNvSpPr/>
          <p:nvPr/>
        </p:nvSpPr>
        <p:spPr>
          <a:xfrm>
            <a:off x="7315200" y="2880360"/>
            <a:ext cx="4480560" cy="30175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モデル駆動: 状況に応じClaudeが都度判断(柔軟・エージェント的)</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決定木: 事前定義順序に従う(シンプルだが柔軟性に欠ける)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分岐が少なく決定的なタスク→ワークフロー、探索的判断が必要→エージェント</a:t>
            </a:r>
            <a:endParaRPr lang="en-US" sz="1250" dirty="0"/>
          </a:p>
        </p:txBody>
      </p:sp>
      <p:sp>
        <p:nvSpPr>
          <p:cNvPr id="25" name="Text 2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6" name="Text 2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具体例: 「認証周りのバグを直して」</a:t>
            </a:r>
            <a:endParaRPr lang="en-US" sz="2500" dirty="0"/>
          </a:p>
        </p:txBody>
      </p:sp>
      <p:sp>
        <p:nvSpPr>
          <p:cNvPr id="5" name="Shape 2"/>
          <p:cNvSpPr/>
          <p:nvPr/>
        </p:nvSpPr>
        <p:spPr>
          <a:xfrm>
            <a:off x="8686800" y="384048"/>
            <a:ext cx="2926080" cy="411480"/>
          </a:xfrm>
          <a:prstGeom prst="roundRect">
            <a:avLst>
              <a:gd name="adj" fmla="val 48889"/>
            </a:avLst>
          </a:prstGeom>
          <a:solidFill>
            <a:srgbClr val="E3F4EA"/>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7A4C"/>
                </a:solidFill>
                <a:latin typeface="Meiryo" pitchFamily="34" charset="0"/>
                <a:ea typeface="Meiryo" pitchFamily="34" charset="-122"/>
                <a:cs typeface="Meiryo" pitchFamily="34" charset="-120"/>
              </a:rPr>
              <a:t>🔧 実践・操作編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05840"/>
            <a:ext cx="11064240" cy="320040"/>
          </a:xfrm>
          <a:prstGeom prst="rect">
            <a:avLst/>
          </a:prstGeom>
          <a:noFill/>
          <a:ln/>
        </p:spPr>
        <p:txBody>
          <a:bodyPr wrap="square" rtlCol="0" anchor="ctr"/>
          <a:lstStyle/>
          <a:p>
            <a:pPr indent="0" marL="0">
              <a:buNone/>
            </a:pPr>
            <a:r>
              <a:rPr lang="en-US" sz="1300" i="1" dirty="0">
                <a:solidFill>
                  <a:srgbClr val="5B6472"/>
                </a:solidFill>
                <a:latin typeface="Meiryo" pitchFamily="34" charset="0"/>
                <a:ea typeface="Meiryo" pitchFamily="34" charset="-122"/>
                <a:cs typeface="Meiryo" pitchFamily="34" charset="-120"/>
              </a:rPr>
              <a:t>1ターンずつ追うと、判断(評価)とツール実行(道具を使う)の役割分担が見えてきます</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822960"/>
                <a:gridCol w="3017520"/>
                <a:gridCol w="3017520"/>
                <a:gridCol w="420624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ターン</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Claudeの判断(評価)</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呼び出すツール(実行)</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返ってくる結果(フィードバック)</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1</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現状把握が必要</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Grepで"login"を検索</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auth.py の23/47行目がヒット</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2</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該当ファイルを詳しく見たい</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Readでauth.pyを開く</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ファイル全文(検証処理コード)</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3</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47行目の演算子ミスが原因と判断</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Editで該当行を書き換え</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「編集完了」</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4</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修正が正しいか確認したい</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Bashでpytestを実行</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テスト結果(全件パス)</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5</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追加のツールは不要と判断</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(呼び出しなし)</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stop_reason: end_turn → 終了</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6"/>
          <p:cNvSpPr/>
          <p:nvPr/>
        </p:nvSpPr>
        <p:spPr>
          <a:xfrm>
            <a:off x="548640" y="4206240"/>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「判断」は常にClaude自身(モデル)が行う。「ツール実行」はあらかじめ用意された機能(道具)を呼び出す行為であり、Claudeが直接ファイルを書き換えているわけではない</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Read(読む)・Write(新規作成)・Edit(書き換え)・Bash(コマンド実行)・Grep(検索)は、それぞれ役割の決まった別々の道具</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「ツールで何かを作る」(Write/Edit)も数あるツールの1種類にすぎず、検索・読み取り・実行と同列に扱われる</a:t>
            </a:r>
            <a:endParaRPr lang="en-US" sz="1300" dirty="0"/>
          </a:p>
        </p:txBody>
      </p:sp>
      <p:sp>
        <p:nvSpPr>
          <p:cNvPr id="11" name="Text 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23</a:t>
            </a:r>
            <a:endParaRPr lang="en-US" sz="10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300" b="1" dirty="0">
                <a:solidFill>
                  <a:srgbClr val="1F2430"/>
                </a:solidFill>
                <a:latin typeface="Meiryo" pitchFamily="34" charset="0"/>
                <a:ea typeface="Meiryo" pitchFamily="34" charset="-122"/>
                <a:cs typeface="Meiryo" pitchFamily="34" charset="-120"/>
              </a:rPr>
              <a:t>エージェントループ: 見落としがちな3つ目の罠</a:t>
            </a:r>
            <a:endParaRPr lang="en-US" sz="23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公式Exam Guide</a:t>
            </a:r>
            <a:endParaRPr lang="en-US" sz="11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97280"/>
            <a:ext cx="11064240" cy="54864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これまで①テキスト解析での完了判定 ②固定回数での打ち切り、の2つの誤りパターンを見てきましたが、もう1つ非常に見落としやすい罠があります。</a:t>
            </a:r>
            <a:endParaRPr lang="en-US" sz="1250" dirty="0"/>
          </a:p>
        </p:txBody>
      </p:sp>
      <p:sp>
        <p:nvSpPr>
          <p:cNvPr id="9" name="Shape 7"/>
          <p:cNvSpPr/>
          <p:nvPr/>
        </p:nvSpPr>
        <p:spPr>
          <a:xfrm>
            <a:off x="548640" y="1783080"/>
            <a:ext cx="11064240" cy="1554480"/>
          </a:xfrm>
          <a:prstGeom prst="roundRect">
            <a:avLst>
              <a:gd name="adj" fmla="val 4706"/>
            </a:avLst>
          </a:prstGeom>
          <a:solidFill>
            <a:srgbClr val="FBEAEA"/>
          </a:solidFill>
          <a:ln/>
        </p:spPr>
        <p:txBody>
          <a:bodyPr/>
          <a:p/>
        </p:txBody>
      </p:sp>
      <p:sp>
        <p:nvSpPr>
          <p:cNvPr id="10" name="Text 8"/>
          <p:cNvSpPr/>
          <p:nvPr/>
        </p:nvSpPr>
        <p:spPr>
          <a:xfrm>
            <a:off x="777240" y="1920240"/>
            <a:ext cx="10607040" cy="365760"/>
          </a:xfrm>
          <a:prstGeom prst="rect">
            <a:avLst/>
          </a:prstGeom>
          <a:noFill/>
          <a:ln/>
        </p:spPr>
        <p:txBody>
          <a:bodyPr wrap="square" rtlCol="0" anchor="ctr"/>
          <a:lstStyle/>
          <a:p>
            <a:pPr indent="0" marL="0">
              <a:buNone/>
            </a:pPr>
            <a:r>
              <a:rPr lang="en-US" sz="1300" b="1" dirty="0">
                <a:solidFill>
                  <a:srgbClr val="8A2020"/>
                </a:solidFill>
                <a:latin typeface="Meiryo" pitchFamily="34" charset="0"/>
                <a:ea typeface="Meiryo" pitchFamily="34" charset="-122"/>
                <a:cs typeface="Meiryo" pitchFamily="34" charset="-120"/>
              </a:rPr>
              <a:t>誤り: response.content[0].type == "text" を見て「完了した」と判定する</a:t>
            </a:r>
            <a:endParaRPr lang="en-US" sz="1300" dirty="0"/>
          </a:p>
        </p:txBody>
      </p:sp>
      <p:sp>
        <p:nvSpPr>
          <p:cNvPr id="11" name="Text 9"/>
          <p:cNvSpPr/>
          <p:nvPr/>
        </p:nvSpPr>
        <p:spPr>
          <a:xfrm>
            <a:off x="777240" y="2286000"/>
            <a:ext cx="10607040" cy="960120"/>
          </a:xfrm>
          <a:prstGeom prst="rect">
            <a:avLst/>
          </a:prstGeom>
          <a:noFill/>
          <a:ln/>
        </p:spPr>
        <p:txBody>
          <a:bodyPr wrap="square" rtlCol="0" anchor="t"/>
          <a:lstStyle/>
          <a:p>
            <a:pPr indent="0" marL="0">
              <a:buNone/>
            </a:pPr>
            <a:r>
              <a:rPr lang="en-US" sz="1200" dirty="0">
                <a:solidFill>
                  <a:srgbClr val="8A2020"/>
                </a:solidFill>
                <a:latin typeface="Meiryo" pitchFamily="34" charset="0"/>
                <a:ea typeface="Meiryo" pitchFamily="34" charset="-122"/>
                <a:cs typeface="Meiryo" pitchFamily="34" charset="-120"/>
              </a:rPr>
              <a:t>なぜ間違いか: Claudeの応答は、tool_useブロックと同時にtextブロックを含むことがある(「まずこのファイルを確認します」といった説明テキスト+ツール呼び出し、が1つの応答に同居する)。最初のブロックがtextだからといって、ツール呼び出しが無い(=完了した)とは限らない。</a:t>
            </a:r>
            <a:endParaRPr lang="en-US" sz="1200" dirty="0"/>
          </a:p>
        </p:txBody>
      </p:sp>
      <p:sp>
        <p:nvSpPr>
          <p:cNvPr id="12" name="Text 10"/>
          <p:cNvSpPr/>
          <p:nvPr/>
        </p:nvSpPr>
        <p:spPr>
          <a:xfrm>
            <a:off x="548640" y="3520440"/>
            <a:ext cx="11064240" cy="32004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正しいループ終了判定の3原則(まとめ)</a:t>
            </a:r>
            <a:endParaRPr lang="en-US" sz="1300" dirty="0"/>
          </a:p>
        </p:txBody>
      </p:sp>
      <p:sp>
        <p:nvSpPr>
          <p:cNvPr id="13" name="Text 11"/>
          <p:cNvSpPr/>
          <p:nvPr/>
        </p:nvSpPr>
        <p:spPr>
          <a:xfrm>
            <a:off x="548640" y="3886200"/>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① 自然言語の解析で完了を判定しない(「完了しました」という文言の有無をチェックしない)</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② 固定のイテレーション回数を主たる終了条件にしない(安全上限としては可、主判定には不適切)</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③ response.content[0].typeがtextかどうかで判定しない(tool_useと同居しうるため)</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 信頼できるのは stop_reason フィールドただ1つ。end_turnになるまでは、たとえtextブロックが含まれていてもループを継続する</a:t>
            </a:r>
            <a:endParaRPr lang="en-US" sz="1200" dirty="0"/>
          </a:p>
        </p:txBody>
      </p:sp>
      <p:sp>
        <p:nvSpPr>
          <p:cNvPr id="14" name="Shape 12"/>
          <p:cNvSpPr/>
          <p:nvPr/>
        </p:nvSpPr>
        <p:spPr>
          <a:xfrm>
            <a:off x="548640" y="5532120"/>
            <a:ext cx="11064240" cy="960120"/>
          </a:xfrm>
          <a:prstGeom prst="roundRect">
            <a:avLst>
              <a:gd name="adj" fmla="val 7619"/>
            </a:avLst>
          </a:prstGeom>
          <a:solidFill>
            <a:srgbClr val="FBF1E4"/>
          </a:solidFill>
          <a:ln/>
        </p:spPr>
        <p:txBody>
          <a:bodyPr/>
          <a:p/>
        </p:txBody>
      </p:sp>
      <p:sp>
        <p:nvSpPr>
          <p:cNvPr id="15" name="Text 13"/>
          <p:cNvSpPr/>
          <p:nvPr/>
        </p:nvSpPr>
        <p:spPr>
          <a:xfrm>
            <a:off x="685800" y="562356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16" name="Text 14"/>
          <p:cNvSpPr/>
          <p:nvPr/>
        </p:nvSpPr>
        <p:spPr>
          <a:xfrm>
            <a:off x="1143000" y="56235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7" name="Text 15"/>
          <p:cNvSpPr/>
          <p:nvPr/>
        </p:nvSpPr>
        <p:spPr>
          <a:xfrm>
            <a:off x="1143000" y="59161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「Claudeの応答内容の最初のブロックがtextだったのでループを終了した」→誤り。textとtool_useが同一応答に混在することがあるため、判定は必ずstop_reasonで行う。</a:t>
            </a:r>
            <a:endParaRPr lang="en-US" sz="1200" dirty="0"/>
          </a:p>
        </p:txBody>
      </p:sp>
      <p:sp>
        <p:nvSpPr>
          <p:cNvPr id="18" name="Text 1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19" name="Text 17"/>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サブエージェント(Subagents)</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417320"/>
          </a:xfrm>
          <a:prstGeom prst="roundRect">
            <a:avLst>
              <a:gd name="adj" fmla="val 516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コンテキスト分離</a:t>
            </a:r>
            <a:endParaRPr lang="en-US" sz="1450" dirty="0"/>
          </a:p>
        </p:txBody>
      </p:sp>
      <p:sp>
        <p:nvSpPr>
          <p:cNvPr id="8" name="Text 5"/>
          <p:cNvSpPr/>
          <p:nvPr/>
        </p:nvSpPr>
        <p:spPr>
          <a:xfrm>
            <a:off x="731520" y="1664208"/>
            <a:ext cx="5052060" cy="80467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新しい会話として開始。中間のツール呼び出し・結果は自身に留まり、親には最終メッセージのみ返る</a:t>
            </a:r>
            <a:endParaRPr lang="en-US" sz="1150" dirty="0"/>
          </a:p>
        </p:txBody>
      </p:sp>
      <p:sp>
        <p:nvSpPr>
          <p:cNvPr id="9" name="Shape 6"/>
          <p:cNvSpPr/>
          <p:nvPr/>
        </p:nvSpPr>
        <p:spPr>
          <a:xfrm>
            <a:off x="6195060" y="1188720"/>
            <a:ext cx="5417820" cy="1417320"/>
          </a:xfrm>
          <a:prstGeom prst="roundRect">
            <a:avLst>
              <a:gd name="adj" fmla="val 516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並列化</a:t>
            </a:r>
            <a:endParaRPr lang="en-US" sz="1450" dirty="0"/>
          </a:p>
        </p:txBody>
      </p:sp>
      <p:sp>
        <p:nvSpPr>
          <p:cNvPr id="11" name="Text 8"/>
          <p:cNvSpPr/>
          <p:nvPr/>
        </p:nvSpPr>
        <p:spPr>
          <a:xfrm>
            <a:off x="6377940" y="1664208"/>
            <a:ext cx="5052060" cy="80467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複数のサブエージェントを同時実行可能(例: style-checker / security-scanner / test-coverageを並列)</a:t>
            </a:r>
            <a:endParaRPr lang="en-US" sz="1150" dirty="0"/>
          </a:p>
        </p:txBody>
      </p:sp>
      <p:sp>
        <p:nvSpPr>
          <p:cNvPr id="12" name="Shape 9"/>
          <p:cNvSpPr/>
          <p:nvPr/>
        </p:nvSpPr>
        <p:spPr>
          <a:xfrm>
            <a:off x="548640" y="2834640"/>
            <a:ext cx="5417820" cy="1417320"/>
          </a:xfrm>
          <a:prstGeom prst="roundRect">
            <a:avLst>
              <a:gd name="adj" fmla="val 516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296265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専門的指示</a:t>
            </a:r>
            <a:endParaRPr lang="en-US" sz="1450" dirty="0"/>
          </a:p>
        </p:txBody>
      </p:sp>
      <p:sp>
        <p:nvSpPr>
          <p:cNvPr id="14" name="Text 11"/>
          <p:cNvSpPr/>
          <p:nvPr/>
        </p:nvSpPr>
        <p:spPr>
          <a:xfrm>
            <a:off x="731520" y="3310128"/>
            <a:ext cx="5052060" cy="80467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各サブエージェントに専用のシステムプロンプト・専門知識を付与できる</a:t>
            </a:r>
            <a:endParaRPr lang="en-US" sz="1150" dirty="0"/>
          </a:p>
        </p:txBody>
      </p:sp>
      <p:sp>
        <p:nvSpPr>
          <p:cNvPr id="15" name="Shape 12"/>
          <p:cNvSpPr/>
          <p:nvPr/>
        </p:nvSpPr>
        <p:spPr>
          <a:xfrm>
            <a:off x="6195060" y="2834640"/>
            <a:ext cx="5417820" cy="1417320"/>
          </a:xfrm>
          <a:prstGeom prst="roundRect">
            <a:avLst>
              <a:gd name="adj" fmla="val 516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296265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ツール制限</a:t>
            </a:r>
            <a:endParaRPr lang="en-US" sz="1450" dirty="0"/>
          </a:p>
        </p:txBody>
      </p:sp>
      <p:sp>
        <p:nvSpPr>
          <p:cNvPr id="17" name="Text 14"/>
          <p:cNvSpPr/>
          <p:nvPr/>
        </p:nvSpPr>
        <p:spPr>
          <a:xfrm>
            <a:off x="6377940" y="3310128"/>
            <a:ext cx="5052060" cy="80467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特定ツールのみに制限可能(例: レビュー専用にRead/Grepのみ許可)</a:t>
            </a:r>
            <a:endParaRPr lang="en-US" sz="1150" dirty="0"/>
          </a:p>
        </p:txBody>
      </p:sp>
      <p:sp>
        <p:nvSpPr>
          <p:cNvPr id="18" name="Text 15"/>
          <p:cNvSpPr/>
          <p:nvPr/>
        </p:nvSpPr>
        <p:spPr>
          <a:xfrm>
            <a:off x="548640" y="4251960"/>
            <a:ext cx="548640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継承する / しないもの</a:t>
            </a:r>
            <a:endParaRPr lang="en-US" sz="1400" dirty="0"/>
          </a:p>
        </p:txBody>
      </p:sp>
      <p:sp>
        <p:nvSpPr>
          <p:cNvPr id="19" name="Text 16"/>
          <p:cNvSpPr/>
          <p:nvPr/>
        </p:nvSpPr>
        <p:spPr>
          <a:xfrm>
            <a:off x="548640" y="4617720"/>
            <a:ext cx="5486400" cy="16459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継承する: 自身のシステムプロンプト、CLAUDE.md、ツール定義</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継承しない: 親の会話履歴・システムプロンプト・Skills(明示指定除く)</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 サブエージェントはさらにサブエージェントを生成できない(ネスト不可)</a:t>
            </a:r>
            <a:endParaRPr lang="en-US" sz="1300" dirty="0"/>
          </a:p>
        </p:txBody>
      </p:sp>
      <p:sp>
        <p:nvSpPr>
          <p:cNvPr id="20" name="Text 17"/>
          <p:cNvSpPr/>
          <p:nvPr/>
        </p:nvSpPr>
        <p:spPr>
          <a:xfrm>
            <a:off x="6400800" y="4251960"/>
            <a:ext cx="521208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トポロジーパターン</a:t>
            </a:r>
            <a:endParaRPr lang="en-US" sz="1400" dirty="0"/>
          </a:p>
        </p:txBody>
      </p:sp>
      <p:sp>
        <p:nvSpPr>
          <p:cNvPr id="21" name="Text 18"/>
          <p:cNvSpPr/>
          <p:nvPr/>
        </p:nvSpPr>
        <p:spPr>
          <a:xfrm>
            <a:off x="6400800" y="4617720"/>
            <a:ext cx="5394960" cy="18288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Hub-and-spoke: 中央オーケストレーターが分配・統合(最も一般的)</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Pipeline: A→B→Cと直列に連携</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Peer-to-peer: エージェント同士が直接連携</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Best of N: 同じタスクを複数エージェントに独立並行実行させ、最良の結果を選ぶ/統合する(コストは増えるが精度が上がる)</a:t>
            </a:r>
            <a:endParaRPr lang="en-US" sz="1250" dirty="0"/>
          </a:p>
        </p:txBody>
      </p:sp>
      <p:sp>
        <p:nvSpPr>
          <p:cNvPr id="22" name="Text 19"/>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20"/>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サブエージェントは実際どこで見えるのか</a:t>
            </a:r>
            <a:endParaRPr lang="en-US" sz="2500" dirty="0"/>
          </a:p>
        </p:txBody>
      </p:sp>
      <p:sp>
        <p:nvSpPr>
          <p:cNvPr id="5" name="Shape 2"/>
          <p:cNvSpPr/>
          <p:nvPr/>
        </p:nvSpPr>
        <p:spPr>
          <a:xfrm>
            <a:off x="8686800" y="384048"/>
            <a:ext cx="2926080" cy="411480"/>
          </a:xfrm>
          <a:prstGeom prst="roundRect">
            <a:avLst>
              <a:gd name="adj" fmla="val 48889"/>
            </a:avLst>
          </a:prstGeom>
          <a:solidFill>
            <a:srgbClr val="E3F4EA"/>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7A4C"/>
                </a:solidFill>
                <a:latin typeface="Meiryo" pitchFamily="34" charset="0"/>
                <a:ea typeface="Meiryo" pitchFamily="34" charset="-122"/>
                <a:cs typeface="Meiryo" pitchFamily="34" charset="-120"/>
              </a:rPr>
              <a:t>🔧 実践・操作編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188720"/>
            <a:ext cx="11064240" cy="36576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claude.aiの画面には出てこない。Claude Codeをターミナルで動かした時に、こういう表示として現れる</a:t>
            </a:r>
            <a:endParaRPr lang="en-US" sz="1250" dirty="0"/>
          </a:p>
        </p:txBody>
      </p:sp>
      <p:sp>
        <p:nvSpPr>
          <p:cNvPr id="9" name="Shape 6"/>
          <p:cNvSpPr/>
          <p:nvPr/>
        </p:nvSpPr>
        <p:spPr>
          <a:xfrm>
            <a:off x="548640" y="1645920"/>
            <a:ext cx="11064240" cy="2880360"/>
          </a:xfrm>
          <a:prstGeom prst="roundRect">
            <a:avLst>
              <a:gd name="adj" fmla="val 2540"/>
            </a:avLst>
          </a:prstGeom>
          <a:solidFill>
            <a:srgbClr val="141B44"/>
          </a:solidFill>
          <a:ln/>
        </p:spPr>
        <p:txBody>
          <a:bodyPr/>
          <a:p/>
        </p:txBody>
      </p:sp>
      <p:sp>
        <p:nvSpPr>
          <p:cNvPr id="10" name="Text 7"/>
          <p:cNvSpPr/>
          <p:nvPr/>
        </p:nvSpPr>
        <p:spPr>
          <a:xfrm>
            <a:off x="822960" y="1783080"/>
            <a:ext cx="10515600" cy="2651760"/>
          </a:xfrm>
          <a:prstGeom prst="rect">
            <a:avLst/>
          </a:prstGeom>
          <a:noFill/>
          <a:ln/>
        </p:spPr>
        <p:txBody>
          <a:bodyPr wrap="square" rtlCol="0" anchor="t"/>
          <a:lstStyle/>
          <a:p>
            <a:pPr indent="0" marL="0">
              <a:lnSpc>
                <a:spcPct val="120000"/>
              </a:lnSpc>
              <a:buNone/>
            </a:pPr>
            <a:r>
              <a:rPr lang="en-US" sz="1250" dirty="0">
                <a:solidFill>
                  <a:srgbClr val="D8E2FF"/>
                </a:solidFill>
                <a:latin typeface="Consolas" pitchFamily="34" charset="0"/>
                <a:ea typeface="Consolas" pitchFamily="34" charset="-122"/>
                <a:cs typeface="Consolas" pitchFamily="34" charset="-120"/>
              </a:rPr>
              <a:t>あなた: 「このPRをレビューして」</a:t>
            </a:r>
            <a:endParaRPr lang="en-US" sz="1250" dirty="0"/>
          </a:p>
          <a:p>
            <a:pPr indent="0" marL="0">
              <a:lnSpc>
                <a:spcPct val="120000"/>
              </a:lnSpc>
              <a:buNone/>
            </a:pPr>
            <a:endParaRPr lang="en-US" sz="1250" dirty="0"/>
          </a:p>
          <a:p>
            <a:pPr indent="0" marL="0">
              <a:lnSpc>
                <a:spcPct val="120000"/>
              </a:lnSpc>
              <a:buNone/>
            </a:pPr>
            <a:r>
              <a:rPr lang="en-US" sz="1250" dirty="0">
                <a:solidFill>
                  <a:srgbClr val="D8E2FF"/>
                </a:solidFill>
                <a:latin typeface="Consolas" pitchFamily="34" charset="0"/>
                <a:ea typeface="Consolas" pitchFamily="34" charset="-122"/>
                <a:cs typeface="Consolas" pitchFamily="34" charset="-120"/>
              </a:rPr>
              <a:t>Claude Code: レビューのため3つのサブエージェントを起動します</a:t>
            </a:r>
            <a:endParaRPr lang="en-US" sz="1250" dirty="0"/>
          </a:p>
          <a:p>
            <a:pPr indent="0" marL="0">
              <a:lnSpc>
                <a:spcPct val="120000"/>
              </a:lnSpc>
              <a:buNone/>
            </a:pPr>
            <a:r>
              <a:rPr lang="en-US" sz="1250" dirty="0">
                <a:solidFill>
                  <a:srgbClr val="D8E2FF"/>
                </a:solidFill>
                <a:latin typeface="Consolas" pitchFamily="34" charset="0"/>
                <a:ea typeface="Consolas" pitchFamily="34" charset="-122"/>
                <a:cs typeface="Consolas" pitchFamily="34" charset="-120"/>
              </a:rPr>
              <a:t>  ├─ security-reviewer を起動中...(セキュリティ観点でチェック)</a:t>
            </a:r>
            <a:endParaRPr lang="en-US" sz="1250" dirty="0"/>
          </a:p>
          <a:p>
            <a:pPr indent="0" marL="0">
              <a:lnSpc>
                <a:spcPct val="120000"/>
              </a:lnSpc>
              <a:buNone/>
            </a:pPr>
            <a:r>
              <a:rPr lang="en-US" sz="1250" dirty="0">
                <a:solidFill>
                  <a:srgbClr val="D8E2FF"/>
                </a:solidFill>
                <a:latin typeface="Consolas" pitchFamily="34" charset="0"/>
                <a:ea typeface="Consolas" pitchFamily="34" charset="-122"/>
                <a:cs typeface="Consolas" pitchFamily="34" charset="-120"/>
              </a:rPr>
              <a:t>  ├─ style-checker を起動中...(コーディング規約をチェック)</a:t>
            </a:r>
            <a:endParaRPr lang="en-US" sz="1250" dirty="0"/>
          </a:p>
          <a:p>
            <a:pPr indent="0" marL="0">
              <a:lnSpc>
                <a:spcPct val="120000"/>
              </a:lnSpc>
              <a:buNone/>
            </a:pPr>
            <a:r>
              <a:rPr lang="en-US" sz="1250" dirty="0">
                <a:solidFill>
                  <a:srgbClr val="D8E2FF"/>
                </a:solidFill>
                <a:latin typeface="Consolas" pitchFamily="34" charset="0"/>
                <a:ea typeface="Consolas" pitchFamily="34" charset="-122"/>
                <a:cs typeface="Consolas" pitchFamily="34" charset="-120"/>
              </a:rPr>
              <a:t>  └─ test-coverage を起動中...(テスト網羅性をチェック)</a:t>
            </a:r>
            <a:endParaRPr lang="en-US" sz="1250" dirty="0"/>
          </a:p>
          <a:p>
            <a:pPr indent="0" marL="0">
              <a:lnSpc>
                <a:spcPct val="120000"/>
              </a:lnSpc>
              <a:buNone/>
            </a:pPr>
            <a:endParaRPr lang="en-US" sz="1250" dirty="0"/>
          </a:p>
          <a:p>
            <a:pPr indent="0" marL="0">
              <a:lnSpc>
                <a:spcPct val="120000"/>
              </a:lnSpc>
              <a:buNone/>
            </a:pPr>
            <a:r>
              <a:rPr lang="en-US" sz="1250" dirty="0">
                <a:solidFill>
                  <a:srgbClr val="D8E2FF"/>
                </a:solidFill>
                <a:latin typeface="Consolas" pitchFamily="34" charset="0"/>
                <a:ea typeface="Consolas" pitchFamily="34" charset="-122"/>
                <a:cs typeface="Consolas" pitchFamily="34" charset="-120"/>
              </a:rPr>
              <a:t>  [3つとも完了、結果を統合中]</a:t>
            </a:r>
            <a:endParaRPr lang="en-US" sz="1250" dirty="0"/>
          </a:p>
          <a:p>
            <a:pPr indent="0" marL="0">
              <a:lnSpc>
                <a:spcPct val="120000"/>
              </a:lnSpc>
              <a:buNone/>
            </a:pPr>
            <a:endParaRPr lang="en-US" sz="1250" dirty="0"/>
          </a:p>
          <a:p>
            <a:pPr indent="0" marL="0">
              <a:lnSpc>
                <a:spcPct val="120000"/>
              </a:lnSpc>
              <a:buNone/>
            </a:pPr>
            <a:r>
              <a:rPr lang="en-US" sz="1250" dirty="0">
                <a:solidFill>
                  <a:srgbClr val="D8E2FF"/>
                </a:solidFill>
                <a:latin typeface="Consolas" pitchFamily="34" charset="0"/>
                <a:ea typeface="Consolas" pitchFamily="34" charset="-122"/>
                <a:cs typeface="Consolas" pitchFamily="34" charset="-120"/>
              </a:rPr>
              <a:t>最終レビュー結果: ...</a:t>
            </a:r>
            <a:endParaRPr lang="en-US" sz="1250" dirty="0"/>
          </a:p>
        </p:txBody>
      </p:sp>
      <p:sp>
        <p:nvSpPr>
          <p:cNvPr id="11" name="Text 8"/>
          <p:cNvSpPr/>
          <p:nvPr/>
        </p:nvSpPr>
        <p:spPr>
          <a:xfrm>
            <a:off x="548640" y="4709160"/>
            <a:ext cx="11064240" cy="17373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この「サブエージェントを起動中」という表示が、サブエージェント分離が実際に動いている瞬間</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確認方法: Claude Codeを操作しているターミナル画面に直接表示される。また .claude/agents/ フォルダにサブエージェントの定義ファイル(Markdown)を置くことで、独自のサブエージェントを自作できる</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claude.aiのチャット画面(Projects/Artifacts等)を操作しても、この仕組みには一切触れられない</a:t>
            </a:r>
            <a:endParaRPr lang="en-US" sz="1200" dirty="0"/>
          </a:p>
        </p:txBody>
      </p:sp>
      <p:sp>
        <p:nvSpPr>
          <p:cNvPr id="12" name="Text 9"/>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3" name="Text 10"/>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コーディネーター/サブエージェント連携の5原則</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005840"/>
          </a:xfrm>
          <a:prstGeom prst="roundRect">
            <a:avLst>
              <a:gd name="adj" fmla="val 7273"/>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① One Hub, Many Spokes</a:t>
            </a:r>
            <a:endParaRPr lang="en-US" sz="1450" dirty="0"/>
          </a:p>
        </p:txBody>
      </p:sp>
      <p:sp>
        <p:nvSpPr>
          <p:cNvPr id="8" name="Text 5"/>
          <p:cNvSpPr/>
          <p:nvPr/>
        </p:nvSpPr>
        <p:spPr>
          <a:xfrm>
            <a:off x="731520" y="1664208"/>
            <a:ext cx="5052060" cy="3931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サブエージェント同士は直接会話させず、必ずコーディネーター経由でやり取りする。1つのハブに集約することでログ・デバッグ・復旧が容易になる</a:t>
            </a:r>
            <a:endParaRPr lang="en-US" sz="1150" dirty="0"/>
          </a:p>
        </p:txBody>
      </p:sp>
      <p:sp>
        <p:nvSpPr>
          <p:cNvPr id="9" name="Shape 6"/>
          <p:cNvSpPr/>
          <p:nvPr/>
        </p:nvSpPr>
        <p:spPr>
          <a:xfrm>
            <a:off x="6195060" y="1188720"/>
            <a:ext cx="5417820" cy="1005840"/>
          </a:xfrm>
          <a:prstGeom prst="roundRect">
            <a:avLst>
              <a:gd name="adj" fmla="val 7273"/>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② Subagents Start Fresh</a:t>
            </a:r>
            <a:endParaRPr lang="en-US" sz="1450" dirty="0"/>
          </a:p>
        </p:txBody>
      </p:sp>
      <p:sp>
        <p:nvSpPr>
          <p:cNvPr id="11" name="Text 8"/>
          <p:cNvSpPr/>
          <p:nvPr/>
        </p:nvSpPr>
        <p:spPr>
          <a:xfrm>
            <a:off x="6377940" y="1664208"/>
            <a:ext cx="5052060" cy="3931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サブエージェントはコーディネーターの会話履歴を見られない。必要な情報(トピック・既存の調査結果・目的)は全てプロンプトに詰め込んで渡す</a:t>
            </a:r>
            <a:endParaRPr lang="en-US" sz="1150" dirty="0"/>
          </a:p>
        </p:txBody>
      </p:sp>
      <p:sp>
        <p:nvSpPr>
          <p:cNvPr id="12" name="Shape 9"/>
          <p:cNvSpPr/>
          <p:nvPr/>
        </p:nvSpPr>
        <p:spPr>
          <a:xfrm>
            <a:off x="548640" y="2423160"/>
            <a:ext cx="5417820" cy="1005840"/>
          </a:xfrm>
          <a:prstGeom prst="roundRect">
            <a:avLst>
              <a:gd name="adj" fmla="val 7273"/>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255117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③ Pick the Right Helpers</a:t>
            </a:r>
            <a:endParaRPr lang="en-US" sz="1450" dirty="0"/>
          </a:p>
        </p:txBody>
      </p:sp>
      <p:sp>
        <p:nvSpPr>
          <p:cNvPr id="14" name="Text 11"/>
          <p:cNvSpPr/>
          <p:nvPr/>
        </p:nvSpPr>
        <p:spPr>
          <a:xfrm>
            <a:off x="731520" y="2898648"/>
            <a:ext cx="5052060" cy="3931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クエリを読んでから本当に必要なサブエージェントだけを判断して呼ぶ。全エージェントを毎回起動するのは無駄でコストもかかる</a:t>
            </a:r>
            <a:endParaRPr lang="en-US" sz="1150" dirty="0"/>
          </a:p>
        </p:txBody>
      </p:sp>
      <p:sp>
        <p:nvSpPr>
          <p:cNvPr id="15" name="Shape 12"/>
          <p:cNvSpPr/>
          <p:nvPr/>
        </p:nvSpPr>
        <p:spPr>
          <a:xfrm>
            <a:off x="6195060" y="2423160"/>
            <a:ext cx="5417820" cy="1005840"/>
          </a:xfrm>
          <a:prstGeom prst="roundRect">
            <a:avLst>
              <a:gd name="adj" fmla="val 7273"/>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255117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④ Split Without Gaps</a:t>
            </a:r>
            <a:endParaRPr lang="en-US" sz="1450" dirty="0"/>
          </a:p>
        </p:txBody>
      </p:sp>
      <p:sp>
        <p:nvSpPr>
          <p:cNvPr id="17" name="Text 14"/>
          <p:cNvSpPr/>
          <p:nvPr/>
        </p:nvSpPr>
        <p:spPr>
          <a:xfrm>
            <a:off x="6377940" y="2898648"/>
            <a:ext cx="5052060" cy="3931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作業分担は重複なく・抜け漏れなく分割する(似た範囲を2体に任せて肝心の項目が誰も担当していない、という失敗を避ける)</a:t>
            </a:r>
            <a:endParaRPr lang="en-US" sz="1150" dirty="0"/>
          </a:p>
        </p:txBody>
      </p:sp>
      <p:sp>
        <p:nvSpPr>
          <p:cNvPr id="18" name="Shape 15"/>
          <p:cNvSpPr/>
          <p:nvPr/>
        </p:nvSpPr>
        <p:spPr>
          <a:xfrm>
            <a:off x="548640" y="3657600"/>
            <a:ext cx="5417820" cy="1005840"/>
          </a:xfrm>
          <a:prstGeom prst="roundRect">
            <a:avLst>
              <a:gd name="adj" fmla="val 7273"/>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9" name="Text 16"/>
          <p:cNvSpPr/>
          <p:nvPr/>
        </p:nvSpPr>
        <p:spPr>
          <a:xfrm>
            <a:off x="731520" y="378561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⑤ Check, Refill, Repeat</a:t>
            </a:r>
            <a:endParaRPr lang="en-US" sz="1450" dirty="0"/>
          </a:p>
        </p:txBody>
      </p:sp>
      <p:sp>
        <p:nvSpPr>
          <p:cNvPr id="20" name="Text 17"/>
          <p:cNvSpPr/>
          <p:nvPr/>
        </p:nvSpPr>
        <p:spPr>
          <a:xfrm>
            <a:off x="731520" y="4133088"/>
            <a:ext cx="5052060" cy="3931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最初の結果を一度チェックして終わりにせず、欠けている部分を検出したら追加タスクとして再委任し、完成まで繰り返す</a:t>
            </a:r>
            <a:endParaRPr lang="en-US" sz="1150" dirty="0"/>
          </a:p>
        </p:txBody>
      </p:sp>
      <p:sp>
        <p:nvSpPr>
          <p:cNvPr id="21" name="Shape 18"/>
          <p:cNvSpPr/>
          <p:nvPr/>
        </p:nvSpPr>
        <p:spPr>
          <a:xfrm>
            <a:off x="548640" y="4846320"/>
            <a:ext cx="11064240" cy="960120"/>
          </a:xfrm>
          <a:prstGeom prst="roundRect">
            <a:avLst>
              <a:gd name="adj" fmla="val 7619"/>
            </a:avLst>
          </a:prstGeom>
          <a:solidFill>
            <a:srgbClr val="FBF1E4"/>
          </a:solidFill>
          <a:ln/>
        </p:spPr>
        <p:txBody>
          <a:bodyPr/>
          <a:p/>
        </p:txBody>
      </p:sp>
      <p:pic>
        <p:nvPicPr>
          <p:cNvPr id="22" name="Image 1" descr="preencoded.png">    </p:cNvPr>
          <p:cNvPicPr>
            <a:picLocks noChangeAspect="1"/>
          </p:cNvPicPr>
          <p:nvPr/>
        </p:nvPicPr>
        <p:blipFill>
          <a:blip r:embed="rId2"/>
          <a:stretch>
            <a:fillRect/>
          </a:stretch>
        </p:blipFill>
        <p:spPr>
          <a:xfrm>
            <a:off x="713232" y="5010912"/>
            <a:ext cx="310896" cy="310896"/>
          </a:xfrm>
          <a:prstGeom prst="rect">
            <a:avLst/>
          </a:prstGeom>
        </p:spPr>
      </p:pic>
      <p:sp>
        <p:nvSpPr>
          <p:cNvPr id="23" name="Text 19"/>
          <p:cNvSpPr/>
          <p:nvPr/>
        </p:nvSpPr>
        <p:spPr>
          <a:xfrm>
            <a:off x="1143000" y="49377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4" name="Text 20"/>
          <p:cNvSpPr/>
          <p:nvPr/>
        </p:nvSpPr>
        <p:spPr>
          <a:xfrm>
            <a:off x="1143000" y="52303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「サブエージェントは親の会話履歴を自動的に見れるか」→NO(Subagents Start Fresh)。「結果を1回集めたら即座に最終レポートにすべきか」→NO、欠落箇所を検出し追加委任してから統合するのが正解(Check, Refill, Repeat)。</a:t>
            </a:r>
            <a:endParaRPr lang="en-US" sz="1200" dirty="0"/>
          </a:p>
        </p:txBody>
      </p:sp>
      <p:sp>
        <p:nvSpPr>
          <p:cNvPr id="25" name="Text 2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6" name="Text 2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サブエージェント生成(Spawning)の7原則</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457200"/>
                <a:gridCol w="2377440"/>
                <a:gridCol w="822960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原則</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内容</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1</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Task toolの有効化</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allowedToolsに"Task"がなければ、そもそもサブエージェントを生成できない</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2</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コンテキストを詰める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サブエージェントは記憶ゼロで開始するため、トピック・既存の調査結果・目的をプロンプトに含める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3</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役割の明確な定義</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AgentDefinition = 説明(description) + システムプロンプト + 使用可能ツール、を明示する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4</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Fork(分岐)して選択肢を探る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共通のベースライン(analyze()等)を1回だけ作り、そこから複数の戦略を分岐させて比較する。同じ分析を何度もやり直さない</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5</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情報源を必ず添付する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調査結果には出典(URL・文書名・ページ)を必ず構造化データとして残し、後で検証できるようにする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6</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並列に生成する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複数のTask呼び出しを同一ターンでまとめて実行し、逐次実行より高速化する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7</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手順でなくゴールを渡す</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固定の実行手順ではなく、「目標」と「品質基準」を渡すことで、検索が失敗した場合などにエージェント自身が適応できる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5029200"/>
            <a:ext cx="11064240" cy="960120"/>
          </a:xfrm>
          <a:prstGeom prst="roundRect">
            <a:avLst>
              <a:gd name="adj" fmla="val 7619"/>
            </a:avLst>
          </a:prstGeom>
          <a:solidFill>
            <a:srgbClr val="FBF1E4"/>
          </a:solidFill>
          <a:ln/>
        </p:spPr>
        <p:txBody>
          <a:bodyPr/>
          <a:p/>
        </p:txBody>
      </p:sp>
      <p:pic>
        <p:nvPicPr>
          <p:cNvPr id="8" name="Image 1" descr="preencoded.png">    </p:cNvPr>
          <p:cNvPicPr>
            <a:picLocks noChangeAspect="1"/>
          </p:cNvPicPr>
          <p:nvPr/>
        </p:nvPicPr>
        <p:blipFill>
          <a:blip r:embed="rId2"/>
          <a:stretch>
            <a:fillRect/>
          </a:stretch>
        </p:blipFill>
        <p:spPr>
          <a:xfrm>
            <a:off x="713232" y="5193792"/>
            <a:ext cx="310896" cy="310896"/>
          </a:xfrm>
          <a:prstGeom prst="rect">
            <a:avLst/>
          </a:prstGeom>
        </p:spPr>
      </p:pic>
      <p:sp>
        <p:nvSpPr>
          <p:cNvPr id="9" name="Text 4"/>
          <p:cNvSpPr/>
          <p:nvPr/>
        </p:nvSpPr>
        <p:spPr>
          <a:xfrm>
            <a:off x="1143000" y="51206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0" name="Text 5"/>
          <p:cNvSpPr/>
          <p:nvPr/>
        </p:nvSpPr>
        <p:spPr>
          <a:xfrm>
            <a:off x="1143000" y="541324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「複数のサブエージェントで異なる戦略を比較検討したいが、同じ前処理を2回やるのは無駄」→ 共通のベースラインをfork(分岐)して使う、が正解パターン。</a:t>
            </a:r>
            <a:endParaRPr lang="en-US" sz="1200" dirty="0"/>
          </a:p>
        </p:txBody>
      </p:sp>
      <p:sp>
        <p:nvSpPr>
          <p:cNvPr id="11" name="Text 6"/>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7"/>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ワークフロー統制とHandoffパターン(4原則)</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① Code Beats Prompts</a:t>
            </a:r>
            <a:endParaRPr lang="en-US" sz="1450" dirty="0"/>
          </a:p>
        </p:txBody>
      </p:sp>
      <p:sp>
        <p:nvSpPr>
          <p:cNvPr id="8" name="Text 5"/>
          <p:cNvSpPr/>
          <p:nvPr/>
        </p:nvSpPr>
        <p:spPr>
          <a:xfrm>
            <a:off x="73152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「〇〇を確認してから返金して」という指示はプロンプトに書くだけでは守られないことがある。重要なルールはコード(Hook等)で強制する。プロンプトは「お願い」、コードは「拒否」できる</a:t>
            </a:r>
            <a:endParaRPr lang="en-US" sz="1150" dirty="0"/>
          </a:p>
        </p:txBody>
      </p:sp>
      <p:sp>
        <p:nvSpPr>
          <p:cNvPr id="9" name="Shape 6"/>
          <p:cNvSpPr/>
          <p:nvPr/>
        </p:nvSpPr>
        <p:spPr>
          <a:xfrm>
            <a:off x="619506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② Gate the Critical Step</a:t>
            </a:r>
            <a:endParaRPr lang="en-US" sz="1450" dirty="0"/>
          </a:p>
        </p:txBody>
      </p:sp>
      <p:sp>
        <p:nvSpPr>
          <p:cNvPr id="11" name="Text 8"/>
          <p:cNvSpPr/>
          <p:nvPr/>
        </p:nvSpPr>
        <p:spPr>
          <a:xfrm>
            <a:off x="637794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前提条件(例: 本人確認)が満たされるまで、重要なツール(例: 返金)自体が実行を拒否するように設計する</a:t>
            </a:r>
            <a:endParaRPr lang="en-US" sz="1150" dirty="0"/>
          </a:p>
        </p:txBody>
      </p:sp>
      <p:sp>
        <p:nvSpPr>
          <p:cNvPr id="12" name="Shape 9"/>
          <p:cNvSpPr/>
          <p:nvPr/>
        </p:nvSpPr>
        <p:spPr>
          <a:xfrm>
            <a:off x="54864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③ One Request, Many Concerns</a:t>
            </a:r>
            <a:endParaRPr lang="en-US" sz="1450" dirty="0"/>
          </a:p>
        </p:txBody>
      </p:sp>
      <p:sp>
        <p:nvSpPr>
          <p:cNvPr id="14" name="Text 11"/>
          <p:cNvSpPr/>
          <p:nvPr/>
        </p:nvSpPr>
        <p:spPr>
          <a:xfrm>
            <a:off x="73152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1つの依頼に複数の論点(オイル交換・ブレーキ・エアコン)が混在する場合、分解してそれぞれ並列に処理し、まとめて解決する</a:t>
            </a:r>
            <a:endParaRPr lang="en-US" sz="1150" dirty="0"/>
          </a:p>
        </p:txBody>
      </p:sp>
      <p:sp>
        <p:nvSpPr>
          <p:cNvPr id="15" name="Shape 12"/>
          <p:cNvSpPr/>
          <p:nvPr/>
        </p:nvSpPr>
        <p:spPr>
          <a:xfrm>
            <a:off x="619506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④ Hand Off the Whole Story</a:t>
            </a:r>
            <a:endParaRPr lang="en-US" sz="1450" dirty="0"/>
          </a:p>
        </p:txBody>
      </p:sp>
      <p:sp>
        <p:nvSpPr>
          <p:cNvPr id="17" name="Text 14"/>
          <p:cNvSpPr/>
          <p:nvPr/>
        </p:nvSpPr>
        <p:spPr>
          <a:xfrm>
            <a:off x="637794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人間や他エージェントに引き継ぐ際は、要約された構造化データで文脈全体を渡す。「お客様の問題」だけでなく症状・経緯・試したことまで含め、相手が聞き直さずに済むようにする</a:t>
            </a:r>
            <a:endParaRPr lang="en-US" sz="1150" dirty="0"/>
          </a:p>
        </p:txBody>
      </p:sp>
      <p:sp>
        <p:nvSpPr>
          <p:cNvPr id="18" name="Shape 15"/>
          <p:cNvSpPr/>
          <p:nvPr/>
        </p:nvSpPr>
        <p:spPr>
          <a:xfrm>
            <a:off x="548640" y="484632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5010912"/>
            <a:ext cx="310896" cy="310896"/>
          </a:xfrm>
          <a:prstGeom prst="rect">
            <a:avLst/>
          </a:prstGeom>
        </p:spPr>
      </p:pic>
      <p:sp>
        <p:nvSpPr>
          <p:cNvPr id="20" name="Text 16"/>
          <p:cNvSpPr/>
          <p:nvPr/>
        </p:nvSpPr>
        <p:spPr>
          <a:xfrm>
            <a:off x="1143000" y="49377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52303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「返金など重要なアクションを、プロンプトの指示だけで確実に制御できるか」→NO。Hookによるコード側の強制(PreToolUseでの拒否など)が必要、という点がドメイン1・3共通の頻出論点。</a:t>
            </a:r>
            <a:endParaRPr lang="en-US" sz="1200" dirty="0"/>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Hooksによる介入とデータ正規化(4原則)</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① Clean Before Reading(PostToolUse)</a:t>
            </a:r>
            <a:endParaRPr lang="en-US" sz="1450" dirty="0"/>
          </a:p>
        </p:txBody>
      </p:sp>
      <p:sp>
        <p:nvSpPr>
          <p:cNvPr id="8" name="Text 5"/>
          <p:cNvSpPr/>
          <p:nvPr/>
        </p:nvSpPr>
        <p:spPr>
          <a:xfrm>
            <a:off x="73152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ツールの出力(日付形式など)をAIに渡す前に標準形式へ正規化する。表記ゆれ(01/05/2025・May 1・1-5-25)を統一しておくとAIの理解が安定する</a:t>
            </a:r>
            <a:endParaRPr lang="en-US" sz="1150" dirty="0"/>
          </a:p>
        </p:txBody>
      </p:sp>
      <p:sp>
        <p:nvSpPr>
          <p:cNvPr id="9" name="Shape 6"/>
          <p:cNvSpPr/>
          <p:nvPr/>
        </p:nvSpPr>
        <p:spPr>
          <a:xfrm>
            <a:off x="619506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② Catch the Call Mid-Air(PreToolUse)</a:t>
            </a:r>
            <a:endParaRPr lang="en-US" sz="1450" dirty="0"/>
          </a:p>
        </p:txBody>
      </p:sp>
      <p:sp>
        <p:nvSpPr>
          <p:cNvPr id="11" name="Text 8"/>
          <p:cNvSpPr/>
          <p:nvPr/>
        </p:nvSpPr>
        <p:spPr>
          <a:xfrm>
            <a:off x="637794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ツール呼び出しを実行前にチェックし、ルール違反(例: 上限を超えた返金額)を事前に止める</a:t>
            </a:r>
            <a:endParaRPr lang="en-US" sz="1150" dirty="0"/>
          </a:p>
        </p:txBody>
      </p:sp>
      <p:sp>
        <p:nvSpPr>
          <p:cNvPr id="12" name="Shape 9"/>
          <p:cNvSpPr/>
          <p:nvPr/>
        </p:nvSpPr>
        <p:spPr>
          <a:xfrm>
            <a:off x="54864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③ Block Then Redirect</a:t>
            </a:r>
            <a:endParaRPr lang="en-US" sz="1450" dirty="0"/>
          </a:p>
        </p:txBody>
      </p:sp>
      <p:sp>
        <p:nvSpPr>
          <p:cNvPr id="14" name="Text 11"/>
          <p:cNvSpPr/>
          <p:nvPr/>
        </p:nvSpPr>
        <p:spPr>
          <a:xfrm>
            <a:off x="73152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リクエストをただ拒否するだけでなく、適切な代替ワークフロー(例: 上長承認への転送)へ誘導する</a:t>
            </a:r>
            <a:endParaRPr lang="en-US" sz="1150" dirty="0"/>
          </a:p>
        </p:txBody>
      </p:sp>
      <p:sp>
        <p:nvSpPr>
          <p:cNvPr id="15" name="Shape 12"/>
          <p:cNvSpPr/>
          <p:nvPr/>
        </p:nvSpPr>
        <p:spPr>
          <a:xfrm>
            <a:off x="619506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④ Hooks Hold the Line</a:t>
            </a:r>
            <a:endParaRPr lang="en-US" sz="1450" dirty="0"/>
          </a:p>
        </p:txBody>
      </p:sp>
      <p:sp>
        <p:nvSpPr>
          <p:cNvPr id="17" name="Text 14"/>
          <p:cNvSpPr/>
          <p:nvPr/>
        </p:nvSpPr>
        <p:spPr>
          <a:xfrm>
            <a:off x="637794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「削除前に承認を得て」等、絶対に破られてはいけないルールはHooksで保証する。プロンプトは確率的、Hooksは決定的</a:t>
            </a:r>
            <a:endParaRPr lang="en-US" sz="1150" dirty="0"/>
          </a:p>
        </p:txBody>
      </p:sp>
      <p:sp>
        <p:nvSpPr>
          <p:cNvPr id="18" name="Shape 15"/>
          <p:cNvSpPr/>
          <p:nvPr/>
        </p:nvSpPr>
        <p:spPr>
          <a:xfrm>
            <a:off x="548640" y="484632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5010912"/>
            <a:ext cx="310896" cy="310896"/>
          </a:xfrm>
          <a:prstGeom prst="rect">
            <a:avLst/>
          </a:prstGeom>
        </p:spPr>
      </p:pic>
      <p:sp>
        <p:nvSpPr>
          <p:cNvPr id="20" name="Text 16"/>
          <p:cNvSpPr/>
          <p:nvPr/>
        </p:nvSpPr>
        <p:spPr>
          <a:xfrm>
            <a:off x="1143000" y="49377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5230368"/>
            <a:ext cx="10287000" cy="82296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PostToolUseはツール実行後の出力の正規化・クリーンアップ、PreToolUseは実行前の検証・ブロックという役割分担が明確に問われる。「ブロックするだけでなく次の適切な処理へ誘導する」設計(Block Then Redirect)も頻出。</a:t>
            </a:r>
            <a:endParaRPr lang="en-US" sz="1200" dirty="0"/>
          </a:p>
          <a:p>
            <a:r>
              <a:rPr sz="950">
                <a:solidFill>
                  <a:srgbClr val="1F2430"/>
                </a:solidFill>
                <a:latin typeface="Meiryo"/>
              </a:rPr>
              <a:t>（2026年の拡張）Hooksは30イベント・command/http/mcp_tool/prompt/agentの5方式に拡張。設定は~/.claude/settings.json(個人)、.claude/settings.json(プロジェクト共有)、.claude/settings.local.json(個人・このマシン)、組織管理ポリシー、の4階層で保持される</a:t>
            </a:r>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タスク分解の4原則: Chain vs Adapt</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097280"/>
            <a:ext cx="11064240" cy="36576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① Match Strategy to Workflow: タスクの性質に応じて戦略そのものを選ぶ(以下の②〜④はその具体的な使い分け)</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468880"/>
                <a:gridCol w="3291840"/>
                <a:gridCol w="530352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タイプ</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適した状況</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具体例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② Chain(連鎖)When Path Is Known</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手順が既知・予測可能なタスク</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セキュリティチェック→テスト→ドキュメント確認、を順番に実行</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Adapt(適応)</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未知・探索的なタスク</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賃貸物件探しのように、情報を得るたびに計画を調整する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4"/>
          <p:cNvSpPr/>
          <p:nvPr/>
        </p:nvSpPr>
        <p:spPr>
          <a:xfrm>
            <a:off x="548640" y="3246120"/>
            <a:ext cx="1106424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③ Per-File First, Cross-File Last: 複数ファイルのレビューでは、まず各ファイルを個別にレビューし、その後にファイル横断的な整合性チェックを行う(同時にやると注意力が分散し見落としが増える)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④ Adapt as You Discover: 探索的タスクでは、最初から完全な計画を立てず「探索→優先順位付け→計画を調整」というサイクルを回す</a:t>
            </a:r>
            <a:endParaRPr lang="en-US" sz="1250" dirty="0"/>
          </a:p>
        </p:txBody>
      </p:sp>
      <p:sp>
        <p:nvSpPr>
          <p:cNvPr id="9" name="Shape 5"/>
          <p:cNvSpPr/>
          <p:nvPr/>
        </p:nvSpPr>
        <p:spPr>
          <a:xfrm>
            <a:off x="548640" y="5074920"/>
            <a:ext cx="11064240" cy="960120"/>
          </a:xfrm>
          <a:prstGeom prst="roundRect">
            <a:avLst>
              <a:gd name="adj" fmla="val 7619"/>
            </a:avLst>
          </a:prstGeom>
          <a:solidFill>
            <a:srgbClr val="FBF1E4"/>
          </a:solidFill>
          <a:ln/>
        </p:spPr>
        <p:txBody>
          <a:bodyPr/>
          <a:p/>
        </p:txBody>
      </p:sp>
      <p:pic>
        <p:nvPicPr>
          <p:cNvPr id="10" name="Image 1" descr="preencoded.png">    </p:cNvPr>
          <p:cNvPicPr>
            <a:picLocks noChangeAspect="1"/>
          </p:cNvPicPr>
          <p:nvPr/>
        </p:nvPicPr>
        <p:blipFill>
          <a:blip r:embed="rId2"/>
          <a:stretch>
            <a:fillRect/>
          </a:stretch>
        </p:blipFill>
        <p:spPr>
          <a:xfrm>
            <a:off x="713232" y="5239512"/>
            <a:ext cx="310896" cy="310896"/>
          </a:xfrm>
          <a:prstGeom prst="rect">
            <a:avLst/>
          </a:prstGeom>
        </p:spPr>
      </p:pic>
      <p:sp>
        <p:nvSpPr>
          <p:cNvPr id="11" name="Text 6"/>
          <p:cNvSpPr/>
          <p:nvPr/>
        </p:nvSpPr>
        <p:spPr>
          <a:xfrm>
            <a:off x="1143000" y="51663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2" name="Text 7"/>
          <p:cNvSpPr/>
          <p:nvPr/>
        </p:nvSpPr>
        <p:spPr>
          <a:xfrm>
            <a:off x="1143000" y="54589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「既知の手順のタスクと未知の探索的タスクで、どちらも同じ固定ワークフローを適用すべきか」→NO。既知タスクはChain(連鎖)、未知タスクはAdapt(適応的計画)を使い分けるのが正解。</a:t>
            </a:r>
            <a:endParaRPr lang="en-US" sz="1200" dirty="0"/>
          </a:p>
        </p:txBody>
      </p:sp>
      <p:sp>
        <p:nvSpPr>
          <p:cNvPr id="13" name="Text 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4" name="Text 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セッション状態の管理(4原則): 再開・Fork</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① Name It, Then Resume It</a:t>
            </a:r>
            <a:endParaRPr lang="en-US" sz="1450" dirty="0"/>
          </a:p>
        </p:txBody>
      </p:sp>
      <p:sp>
        <p:nvSpPr>
          <p:cNvPr id="8" name="Text 5"/>
          <p:cNvSpPr/>
          <p:nvPr/>
        </p:nvSpPr>
        <p:spPr>
          <a:xfrm>
            <a:off x="73152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重要なセッションには名前を付けておき、後から--resume &lt;名前&gt;で文脈を失わずに再開できるようにする</a:t>
            </a:r>
            <a:endParaRPr lang="en-US" sz="1150" dirty="0"/>
          </a:p>
        </p:txBody>
      </p:sp>
      <p:sp>
        <p:nvSpPr>
          <p:cNvPr id="9" name="Shape 6"/>
          <p:cNvSpPr/>
          <p:nvPr/>
        </p:nvSpPr>
        <p:spPr>
          <a:xfrm>
            <a:off x="619506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② Fork to Compare Paths</a:t>
            </a:r>
            <a:endParaRPr lang="en-US" sz="1450" dirty="0"/>
          </a:p>
        </p:txBody>
      </p:sp>
      <p:sp>
        <p:nvSpPr>
          <p:cNvPr id="11" name="Text 8"/>
          <p:cNvSpPr/>
          <p:nvPr/>
        </p:nvSpPr>
        <p:spPr>
          <a:xfrm>
            <a:off x="637794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fork_sessionで共通の分析結果(ベースライン)から複数の独立した分岐を作り、別々の戦略を再分析なしで比較する</a:t>
            </a:r>
            <a:endParaRPr lang="en-US" sz="1150" dirty="0"/>
          </a:p>
        </p:txBody>
      </p:sp>
      <p:sp>
        <p:nvSpPr>
          <p:cNvPr id="12" name="Shape 9"/>
          <p:cNvSpPr/>
          <p:nvPr/>
        </p:nvSpPr>
        <p:spPr>
          <a:xfrm>
            <a:off x="54864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③ Tell the Agent What Changed</a:t>
            </a:r>
            <a:endParaRPr lang="en-US" sz="1450" dirty="0"/>
          </a:p>
        </p:txBody>
      </p:sp>
      <p:sp>
        <p:nvSpPr>
          <p:cNvPr id="14" name="Text 11"/>
          <p:cNvSpPr/>
          <p:nvPr/>
        </p:nvSpPr>
        <p:spPr>
          <a:xfrm>
            <a:off x="73152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コード変更後にセッションを再開する際は「authファイルが変わった」等、変更箇所を具体的に伝える。全体を再調査させるより、変更差分だけの再分析の方が効率的</a:t>
            </a:r>
            <a:endParaRPr lang="en-US" sz="1150" dirty="0"/>
          </a:p>
        </p:txBody>
      </p:sp>
      <p:sp>
        <p:nvSpPr>
          <p:cNvPr id="15" name="Shape 12"/>
          <p:cNvSpPr/>
          <p:nvPr/>
        </p:nvSpPr>
        <p:spPr>
          <a:xfrm>
            <a:off x="619506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④ Stale? Start Fresh Instead</a:t>
            </a:r>
            <a:endParaRPr lang="en-US" sz="1450" dirty="0"/>
          </a:p>
        </p:txBody>
      </p:sp>
      <p:sp>
        <p:nvSpPr>
          <p:cNvPr id="17" name="Text 14"/>
          <p:cNvSpPr/>
          <p:nvPr/>
        </p:nvSpPr>
        <p:spPr>
          <a:xfrm>
            <a:off x="637794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古い情報が実態と合わなくなっている場合は、無理に再開せず新しいセッションを開始し、要約だけを引き継ぐ方が正確</a:t>
            </a:r>
            <a:endParaRPr lang="en-US" sz="1150" dirty="0"/>
          </a:p>
        </p:txBody>
      </p:sp>
      <p:sp>
        <p:nvSpPr>
          <p:cNvPr id="18" name="Shape 15"/>
          <p:cNvSpPr/>
          <p:nvPr/>
        </p:nvSpPr>
        <p:spPr>
          <a:xfrm>
            <a:off x="548640" y="484632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5010912"/>
            <a:ext cx="310896" cy="310896"/>
          </a:xfrm>
          <a:prstGeom prst="rect">
            <a:avLst/>
          </a:prstGeom>
        </p:spPr>
      </p:pic>
      <p:sp>
        <p:nvSpPr>
          <p:cNvPr id="20" name="Text 16"/>
          <p:cNvSpPr/>
          <p:nvPr/>
        </p:nvSpPr>
        <p:spPr>
          <a:xfrm>
            <a:off x="1143000" y="49377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52303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「コード変更後にセッションを再開する際、最も効率的な指示は?」→ 変更されたファイル名を具体的に伝え、差分だけの再分析をさせる(全体の再探索はさせない)、が正解パターン。</a:t>
            </a:r>
            <a:endParaRPr lang="en-US" sz="1200" dirty="0"/>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822960"/>
            <a:ext cx="1188720" cy="1188720"/>
          </a:xfrm>
          <a:prstGeom prst="ellipse">
            <a:avLst/>
          </a:prstGeom>
          <a:solidFill>
            <a:srgbClr val="141B44"/>
          </a:solidFill>
          <a:ln/>
        </p:spPr>
        <p:txBody>
          <a:bodyPr/>
          <a:p/>
        </p:txBody>
      </p:sp>
      <p:pic>
        <p:nvPicPr>
          <p:cNvPr id="3" name="Image 0" descr="preencoded.png">    </p:cNvPr>
          <p:cNvPicPr>
            <a:picLocks noChangeAspect="1"/>
          </p:cNvPicPr>
          <p:nvPr/>
        </p:nvPicPr>
        <p:blipFill>
          <a:blip r:embed="rId1"/>
          <a:stretch>
            <a:fillRect/>
          </a:stretch>
        </p:blipFill>
        <p:spPr>
          <a:xfrm>
            <a:off x="925373" y="1108253"/>
            <a:ext cx="618134" cy="618134"/>
          </a:xfrm>
          <a:prstGeom prst="rect">
            <a:avLst/>
          </a:prstGeom>
        </p:spPr>
      </p:pic>
      <p:sp>
        <p:nvSpPr>
          <p:cNvPr id="4" name="Text 1"/>
          <p:cNvSpPr/>
          <p:nvPr/>
        </p:nvSpPr>
        <p:spPr>
          <a:xfrm>
            <a:off x="2103120" y="868680"/>
            <a:ext cx="5486400" cy="457200"/>
          </a:xfrm>
          <a:prstGeom prst="rect">
            <a:avLst/>
          </a:prstGeom>
          <a:noFill/>
          <a:ln/>
        </p:spPr>
        <p:txBody>
          <a:bodyPr wrap="square" rtlCol="0" anchor="ctr"/>
          <a:lstStyle/>
          <a:p>
            <a:pPr indent="0" marL="0">
              <a:buNone/>
            </a:pPr>
            <a:r>
              <a:rPr lang="en-US" sz="1700" b="1" spc="200" kern="0" dirty="0">
                <a:solidFill>
                  <a:srgbClr val="CADCFC"/>
                </a:solidFill>
                <a:latin typeface="Meiryo" pitchFamily="34" charset="0"/>
                <a:ea typeface="Meiryo" pitchFamily="34" charset="-122"/>
                <a:cs typeface="Meiryo" pitchFamily="34" charset="-120"/>
              </a:rPr>
              <a:t>DOMAIN 2</a:t>
            </a:r>
            <a:endParaRPr lang="en-US" sz="1700" dirty="0"/>
          </a:p>
        </p:txBody>
      </p:sp>
      <p:sp>
        <p:nvSpPr>
          <p:cNvPr id="5" name="Text 2"/>
          <p:cNvSpPr/>
          <p:nvPr/>
        </p:nvSpPr>
        <p:spPr>
          <a:xfrm>
            <a:off x="2103120" y="1280160"/>
            <a:ext cx="8686800" cy="1005840"/>
          </a:xfrm>
          <a:prstGeom prst="rect">
            <a:avLst/>
          </a:prstGeom>
          <a:noFill/>
          <a:ln/>
        </p:spPr>
        <p:txBody>
          <a:bodyPr wrap="square" rtlCol="0" anchor="ctr"/>
          <a:lstStyle/>
          <a:p>
            <a:pPr indent="0" marL="0">
              <a:buNone/>
            </a:pPr>
            <a:r>
              <a:rPr lang="en-US" sz="3300" b="1" dirty="0">
                <a:solidFill>
                  <a:srgbClr val="FFFFFF"/>
                </a:solidFill>
                <a:latin typeface="Meiryo" pitchFamily="34" charset="0"/>
                <a:ea typeface="Meiryo" pitchFamily="34" charset="-122"/>
                <a:cs typeface="Meiryo" pitchFamily="34" charset="-120"/>
              </a:rPr>
              <a:t>Tool Design &amp; MCP Integration</a:t>
            </a:r>
            <a:endParaRPr lang="en-US" sz="3300" dirty="0"/>
          </a:p>
        </p:txBody>
      </p:sp>
      <p:sp>
        <p:nvSpPr>
          <p:cNvPr id="6" name="Text 3"/>
          <p:cNvSpPr/>
          <p:nvPr/>
        </p:nvSpPr>
        <p:spPr>
          <a:xfrm>
            <a:off x="2103120" y="2148840"/>
            <a:ext cx="8686800" cy="548640"/>
          </a:xfrm>
          <a:prstGeom prst="rect">
            <a:avLst/>
          </a:prstGeom>
          <a:noFill/>
          <a:ln/>
        </p:spPr>
        <p:txBody>
          <a:bodyPr wrap="square" rtlCol="0" anchor="ctr"/>
          <a:lstStyle/>
          <a:p>
            <a:pPr indent="0" marL="0">
              <a:buNone/>
            </a:pPr>
            <a:r>
              <a:rPr lang="en-US" sz="1600" dirty="0">
                <a:solidFill>
                  <a:srgbClr val="CADCFC"/>
                </a:solidFill>
                <a:latin typeface="Meiryo" pitchFamily="34" charset="0"/>
                <a:ea typeface="Meiryo" pitchFamily="34" charset="-122"/>
                <a:cs typeface="Meiryo" pitchFamily="34" charset="-120"/>
              </a:rPr>
              <a:t>ツール設計とModel Context Protocol連携</a:t>
            </a:r>
            <a:endParaRPr lang="en-US" sz="1600" dirty="0"/>
          </a:p>
        </p:txBody>
      </p:sp>
      <p:sp>
        <p:nvSpPr>
          <p:cNvPr id="7" name="Shape 4"/>
          <p:cNvSpPr/>
          <p:nvPr/>
        </p:nvSpPr>
        <p:spPr>
          <a:xfrm>
            <a:off x="9692640" y="777240"/>
            <a:ext cx="1828800" cy="1234440"/>
          </a:xfrm>
          <a:prstGeom prst="roundRect">
            <a:avLst>
              <a:gd name="adj" fmla="val 8889"/>
            </a:avLst>
          </a:prstGeom>
          <a:solidFill>
            <a:srgbClr val="141B44"/>
          </a:solidFill>
          <a:ln/>
          <a:effectLst>
            <a:outerShdw sx="100000" sy="100000" kx="0" ky="0" algn="bl" rotWithShape="0" blurRad="101600" dist="38100" dir="2700000">
              <a:srgbClr val="000000">
                <a:alpha val="15000"/>
              </a:srgbClr>
            </a:outerShdw>
          </a:effectLst>
        </p:spPr>
        <p:txBody>
          <a:bodyPr/>
          <a:p/>
        </p:txBody>
      </p:sp>
      <p:sp>
        <p:nvSpPr>
          <p:cNvPr id="8" name="Text 5"/>
          <p:cNvSpPr/>
          <p:nvPr/>
        </p:nvSpPr>
        <p:spPr>
          <a:xfrm>
            <a:off x="9692640" y="868680"/>
            <a:ext cx="1828800" cy="731520"/>
          </a:xfrm>
          <a:prstGeom prst="rect">
            <a:avLst/>
          </a:prstGeom>
          <a:noFill/>
          <a:ln/>
        </p:spPr>
        <p:txBody>
          <a:bodyPr wrap="square" rtlCol="0" anchor="ctr"/>
          <a:lstStyle/>
          <a:p>
            <a:pPr algn="ctr" indent="0" marL="0">
              <a:buNone/>
            </a:pPr>
            <a:r>
              <a:rPr lang="en-US" sz="3600" b="1" dirty="0">
                <a:solidFill>
                  <a:srgbClr val="FFFFFF"/>
                </a:solidFill>
                <a:latin typeface="Meiryo" pitchFamily="34" charset="0"/>
                <a:ea typeface="Meiryo" pitchFamily="34" charset="-122"/>
                <a:cs typeface="Meiryo" pitchFamily="34" charset="-120"/>
              </a:rPr>
              <a:t>18%</a:t>
            </a:r>
            <a:endParaRPr lang="en-US" sz="3600" dirty="0"/>
          </a:p>
        </p:txBody>
      </p:sp>
      <p:sp>
        <p:nvSpPr>
          <p:cNvPr id="9" name="Text 6"/>
          <p:cNvSpPr/>
          <p:nvPr/>
        </p:nvSpPr>
        <p:spPr>
          <a:xfrm>
            <a:off x="9692640" y="1572768"/>
            <a:ext cx="1828800" cy="365760"/>
          </a:xfrm>
          <a:prstGeom prst="rect">
            <a:avLst/>
          </a:prstGeom>
          <a:noFill/>
          <a:ln/>
        </p:spPr>
        <p:txBody>
          <a:bodyPr wrap="square" rtlCol="0" anchor="ctr"/>
          <a:lstStyle/>
          <a:p>
            <a:pPr algn="ctr" indent="0" marL="0">
              <a:buNone/>
            </a:pPr>
            <a:r>
              <a:rPr lang="en-US" sz="1200" dirty="0">
                <a:solidFill>
                  <a:srgbClr val="CADCFC"/>
                </a:solidFill>
                <a:latin typeface="Meiryo" pitchFamily="34" charset="0"/>
                <a:ea typeface="Meiryo" pitchFamily="34" charset="-122"/>
                <a:cs typeface="Meiryo" pitchFamily="34" charset="-120"/>
              </a:rPr>
              <a:t>出題配点</a:t>
            </a:r>
            <a:endParaRPr lang="en-US" sz="1200" dirty="0"/>
          </a:p>
        </p:txBody>
      </p:sp>
      <p:sp>
        <p:nvSpPr>
          <p:cNvPr id="10" name="Shape 7"/>
          <p:cNvSpPr/>
          <p:nvPr/>
        </p:nvSpPr>
        <p:spPr>
          <a:xfrm>
            <a:off x="2103120" y="2697480"/>
            <a:ext cx="9418320" cy="0"/>
          </a:xfrm>
          <a:prstGeom prst="line">
            <a:avLst/>
          </a:prstGeom>
          <a:noFill/>
          <a:ln w="12700">
            <a:solidFill>
              <a:srgbClr val="3A4380"/>
            </a:solidFill>
            <a:prstDash val="solid"/>
          </a:ln>
        </p:spPr>
        <p:txBody>
          <a:bodyPr/>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そもそもMCPは何がうれしいのか(基礎編)</a:t>
            </a:r>
            <a:endParaRPr lang="en-US" sz="2500" dirty="0"/>
          </a:p>
        </p:txBody>
      </p:sp>
      <p:sp>
        <p:nvSpPr>
          <p:cNvPr id="5" name="Shape 2"/>
          <p:cNvSpPr/>
          <p:nvPr/>
        </p:nvSpPr>
        <p:spPr>
          <a:xfrm>
            <a:off x="8686800" y="384048"/>
            <a:ext cx="2926080" cy="411480"/>
          </a:xfrm>
          <a:prstGeom prst="roundRect">
            <a:avLst>
              <a:gd name="adj" fmla="val 48889"/>
            </a:avLst>
          </a:prstGeom>
          <a:solidFill>
            <a:srgbClr val="FBF1E4"/>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A5A00"/>
                </a:solidFill>
                <a:latin typeface="Meiryo" pitchFamily="34" charset="0"/>
                <a:ea typeface="Meiryo" pitchFamily="34" charset="-122"/>
                <a:cs typeface="Meiryo" pitchFamily="34" charset="-120"/>
              </a:rPr>
              <a:t>📚 知識・雑学編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Shape 5"/>
          <p:cNvSpPr/>
          <p:nvPr/>
        </p:nvSpPr>
        <p:spPr>
          <a:xfrm>
            <a:off x="548640" y="1188720"/>
            <a:ext cx="11064240" cy="640080"/>
          </a:xfrm>
          <a:prstGeom prst="roundRect">
            <a:avLst>
              <a:gd name="adj" fmla="val 11429"/>
            </a:avLst>
          </a:prstGeom>
          <a:solidFill>
            <a:srgbClr val="F4F7FD"/>
          </a:solidFill>
          <a:ln/>
        </p:spPr>
        <p:txBody>
          <a:bodyPr/>
          <a:p/>
        </p:txBody>
      </p:sp>
      <p:sp>
        <p:nvSpPr>
          <p:cNvPr id="9" name="Text 6"/>
          <p:cNvSpPr/>
          <p:nvPr/>
        </p:nvSpPr>
        <p:spPr>
          <a:xfrm>
            <a:off x="777240" y="1188720"/>
            <a:ext cx="10607040" cy="64008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よくある疑問: 「パケットキャプチャとかスクリプトで済むのでは?MCPで作る意味ある?」</a:t>
            </a:r>
            <a:endParaRPr lang="en-US" sz="1300" dirty="0"/>
          </a:p>
        </p:txBody>
      </p:sp>
      <p:sp>
        <p:nvSpPr>
          <p:cNvPr id="10" name="Text 7"/>
          <p:cNvSpPr/>
          <p:nvPr/>
        </p:nvSpPr>
        <p:spPr>
          <a:xfrm>
            <a:off x="548640" y="1965960"/>
            <a:ext cx="11064240" cy="365760"/>
          </a:xfrm>
          <a:prstGeom prst="rect">
            <a:avLst/>
          </a:prstGeom>
          <a:noFill/>
          <a:ln/>
        </p:spPr>
        <p:txBody>
          <a:bodyPr wrap="square" rtlCol="0" anchor="ctr"/>
          <a:lstStyle/>
          <a:p>
            <a:pPr indent="0" marL="0">
              <a:buNone/>
            </a:pPr>
            <a:r>
              <a:rPr lang="en-US" sz="1250" i="1" dirty="0">
                <a:solidFill>
                  <a:srgbClr val="5B6472"/>
                </a:solidFill>
                <a:latin typeface="Meiryo" pitchFamily="34" charset="0"/>
                <a:ea typeface="Meiryo" pitchFamily="34" charset="-122"/>
                <a:cs typeface="Meiryo" pitchFamily="34" charset="-120"/>
              </a:rPr>
              <a:t>結論: 単発作業ならスクリプトで十分。MCPが効くのは「繰り返し・自律的・複数ツール連携」の場面</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64240" cy="914400"/>
        </p:xfrm>
        <a:graphic>
          <a:graphicData uri="http://schemas.openxmlformats.org/drawingml/2006/table">
            <a:tbl>
              <a:tblPr/>
              <a:tblGrid>
                <a:gridCol w="1645920"/>
                <a:gridCol w="4206240"/>
                <a:gridCol w="5212080"/>
              </a:tblGrid>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観点</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スクリプト単体</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MCP経由</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再利用性</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そのスクリプトを知る人しか使えない</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標準化され、Claude Desktop・Claude Code等どこからも同じように呼べる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自律性</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人間が毎回実行し結果を貼り付ける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Claudeが必要と判断したタイミングで自動的に呼ぶ</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組み合わせ</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単体で完結</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「パケット解析→脅威DB照会→ログ検索」のように複数ツールを連鎖できる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安全性</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任意コマンド実行権限を渡すと何でもできてしまう</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機能を限定したツールとして安全に公開できる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4709160"/>
            <a:ext cx="11064240" cy="960120"/>
          </a:xfrm>
          <a:prstGeom prst="roundRect">
            <a:avLst>
              <a:gd name="adj" fmla="val 7619"/>
            </a:avLst>
          </a:prstGeom>
          <a:solidFill>
            <a:srgbClr val="FBF1E4"/>
          </a:solidFill>
          <a:ln/>
        </p:spPr>
        <p:txBody>
          <a:bodyPr/>
          <a:p/>
        </p:txBody>
      </p:sp>
      <p:pic>
        <p:nvPicPr>
          <p:cNvPr id="13" name="Image 1" descr="preencoded.png">    </p:cNvPr>
          <p:cNvPicPr>
            <a:picLocks noChangeAspect="1"/>
          </p:cNvPicPr>
          <p:nvPr/>
        </p:nvPicPr>
        <p:blipFill>
          <a:blip r:embed="rId2"/>
          <a:stretch>
            <a:fillRect/>
          </a:stretch>
        </p:blipFill>
        <p:spPr>
          <a:xfrm>
            <a:off x="713232" y="4873752"/>
            <a:ext cx="310896" cy="310896"/>
          </a:xfrm>
          <a:prstGeom prst="rect">
            <a:avLst/>
          </a:prstGeom>
        </p:spPr>
      </p:pic>
      <p:sp>
        <p:nvSpPr>
          <p:cNvPr id="14" name="Text 9"/>
          <p:cNvSpPr/>
          <p:nvPr/>
        </p:nvSpPr>
        <p:spPr>
          <a:xfrm>
            <a:off x="1143000" y="480060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10"/>
          <p:cNvSpPr/>
          <p:nvPr/>
        </p:nvSpPr>
        <p:spPr>
          <a:xfrm>
            <a:off x="1143000" y="509320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判断軸はドメイン1の「モデル駆動 vs 決定木」と同じ構造。一度きりの決定的な処理ならスクリプト(決定木)、Claudeが継続的に自律判断しながら使う必要があるならMCP(エージェント)、と考えると整理しやすい。</a:t>
            </a:r>
            <a:endParaRPr lang="en-US" sz="1200" dirty="0"/>
          </a:p>
        </p:txBody>
      </p:sp>
      <p:sp>
        <p:nvSpPr>
          <p:cNvPr id="16" name="Text 1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MCP(Model Context Protocol)基礎</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2377440"/>
                <a:gridCol w="4297680"/>
                <a:gridCol w="4389120"/>
              </a:tblGrid>
              <a:tr h="0">
                <a:tc>
                  <a:txBody>
                    <a:bodyPr/>
                    <a:lstStyle/>
                    <a:p>
                      <a:pPr indent="0" marL="0">
                        <a:buNone/>
                      </a:pPr>
                      <a:r>
                        <a:rPr lang="en-US" sz="1300" dirty="0">
                          <a:solidFill>
                            <a:srgbClr val="1F2430"/>
                          </a:solidFill>
                          <a:latin typeface="Meiryo" pitchFamily="34" charset="0"/>
                          <a:ea typeface="Meiryo" pitchFamily="34" charset="-122"/>
                          <a:cs typeface="Meiryo" pitchFamily="34" charset="-120"/>
                        </a:rPr>
                        <a:t>方式</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用途</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判別方法</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F2430"/>
                          </a:solidFill>
                          <a:latin typeface="Meiryo" pitchFamily="34" charset="0"/>
                          <a:ea typeface="Meiryo" pitchFamily="34" charset="-122"/>
                          <a:cs typeface="Meiryo" pitchFamily="34" charset="-120"/>
                        </a:rPr>
                        <a:t>stdio</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ローカルプロセス</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実行コマンド(npx等)がある場合</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F2430"/>
                          </a:solidFill>
                          <a:latin typeface="Meiryo" pitchFamily="34" charset="0"/>
                          <a:ea typeface="Meiryo" pitchFamily="34" charset="-122"/>
                          <a:cs typeface="Meiryo" pitchFamily="34" charset="-120"/>
                        </a:rPr>
                        <a:t>HTTP</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クラウドホスト型リモートAPI</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URLが示されている場合</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F2430"/>
                          </a:solidFill>
                          <a:latin typeface="Meiryo" pitchFamily="34" charset="0"/>
                          <a:ea typeface="Meiryo" pitchFamily="34" charset="-122"/>
                          <a:cs typeface="Meiryo" pitchFamily="34" charset="-120"/>
                        </a:rPr>
                        <a:t>SSE</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HTTPのストリーミング版</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ストリーミングが必要な場合</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F2430"/>
                          </a:solidFill>
                          <a:latin typeface="Meiryo" pitchFamily="34" charset="0"/>
                          <a:ea typeface="Meiryo" pitchFamily="34" charset="-122"/>
                          <a:cs typeface="Meiryo" pitchFamily="34" charset="-120"/>
                        </a:rPr>
                        <a:t>SDK MCPサーバー</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アプリコード内で直接定義</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自分でツールを実装する場合</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3108960"/>
            <a:ext cx="548640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命名規則と認証</a:t>
            </a:r>
            <a:endParaRPr lang="en-US" sz="1400" dirty="0"/>
          </a:p>
        </p:txBody>
      </p:sp>
      <p:sp>
        <p:nvSpPr>
          <p:cNvPr id="8" name="Text 4"/>
          <p:cNvSpPr/>
          <p:nvPr/>
        </p:nvSpPr>
        <p:spPr>
          <a:xfrm>
            <a:off x="548640" y="3474720"/>
            <a:ext cx="548640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ツール名は mcp__&lt;サーバー名&gt;__&lt;ツール名&gt; の形式</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明示的な許可(allowedTools)がなければ呼び出せない</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stdio: 環境変数(env)で認証情報を渡す</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HTTP/SSE: headersでBearerトークン等を渡す</a:t>
            </a:r>
            <a:endParaRPr lang="en-US" sz="1300" dirty="0"/>
          </a:p>
        </p:txBody>
      </p:sp>
      <p:sp>
        <p:nvSpPr>
          <p:cNvPr id="9" name="Shape 5"/>
          <p:cNvSpPr/>
          <p:nvPr/>
        </p:nvSpPr>
        <p:spPr>
          <a:xfrm>
            <a:off x="6400800" y="3108960"/>
            <a:ext cx="5394960" cy="960120"/>
          </a:xfrm>
          <a:prstGeom prst="roundRect">
            <a:avLst>
              <a:gd name="adj" fmla="val 7619"/>
            </a:avLst>
          </a:prstGeom>
          <a:solidFill>
            <a:srgbClr val="FBF1E4"/>
          </a:solidFill>
          <a:ln/>
        </p:spPr>
        <p:txBody>
          <a:bodyPr/>
          <a:p/>
        </p:txBody>
      </p:sp>
      <p:pic>
        <p:nvPicPr>
          <p:cNvPr id="10" name="Image 1" descr="preencoded.png">    </p:cNvPr>
          <p:cNvPicPr>
            <a:picLocks noChangeAspect="1"/>
          </p:cNvPicPr>
          <p:nvPr/>
        </p:nvPicPr>
        <p:blipFill>
          <a:blip r:embed="rId2"/>
          <a:stretch>
            <a:fillRect/>
          </a:stretch>
        </p:blipFill>
        <p:spPr>
          <a:xfrm>
            <a:off x="6565392" y="3273552"/>
            <a:ext cx="310896" cy="310896"/>
          </a:xfrm>
          <a:prstGeom prst="rect">
            <a:avLst/>
          </a:prstGeom>
        </p:spPr>
      </p:pic>
      <p:sp>
        <p:nvSpPr>
          <p:cNvPr id="11" name="Text 6"/>
          <p:cNvSpPr/>
          <p:nvPr/>
        </p:nvSpPr>
        <p:spPr>
          <a:xfrm>
            <a:off x="6995160" y="3200400"/>
            <a:ext cx="466344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2" name="Text 7"/>
          <p:cNvSpPr/>
          <p:nvPr/>
        </p:nvSpPr>
        <p:spPr>
          <a:xfrm>
            <a:off x="6995160" y="3493008"/>
            <a:ext cx="461772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acceptEditsモードにすればMCPツールも自動承認されるか?→NO。MCPツールは対象外。allowedToolsでワイルドカード(mcp__github__*)を許可するのが正解。</a:t>
            </a:r>
            <a:endParaRPr lang="en-US" sz="1200" dirty="0"/>
          </a:p>
        </p:txBody>
      </p:sp>
      <p:sp>
        <p:nvSpPr>
          <p:cNvPr id="13" name="Text 8"/>
          <p:cNvSpPr/>
          <p:nvPr/>
        </p:nvSpPr>
        <p:spPr>
          <a:xfrm>
            <a:off x="6400800" y="4297680"/>
            <a:ext cx="539496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MCP Tool Search</a:t>
            </a:r>
            <a:endParaRPr lang="en-US" sz="1400" dirty="0"/>
          </a:p>
        </p:txBody>
      </p:sp>
      <p:sp>
        <p:nvSpPr>
          <p:cNvPr id="14" name="Text 9"/>
          <p:cNvSpPr/>
          <p:nvPr/>
        </p:nvSpPr>
        <p:spPr>
          <a:xfrm>
            <a:off x="6400800" y="4663440"/>
            <a:ext cx="5394960"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多数のMCPツール接続はコンテキストを圧迫</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Tool Searchは必要なツール定義のみ動的に読み込む(デフォルト有効)</a:t>
            </a:r>
            <a:endParaRPr lang="en-US" sz="1300" dirty="0"/>
          </a:p>
        </p:txBody>
      </p:sp>
      <p:sp>
        <p:nvSpPr>
          <p:cNvPr id="15" name="Text 1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6" name="Text 11"/>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ツール関数(Tool Functions)の基本</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11064240" cy="822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430"/>
                </a:solidFill>
                <a:latin typeface="Meiryo" pitchFamily="34" charset="0"/>
                <a:ea typeface="Meiryo" pitchFamily="34" charset="-122"/>
                <a:cs typeface="Meiryo" pitchFamily="34" charset="-120"/>
              </a:rPr>
              <a:t>ツール関数 = Claudeが必要と判断した時に自動実行される、ただのPython関数</a:t>
            </a:r>
            <a:endParaRPr lang="en-US" sz="1400" dirty="0"/>
          </a:p>
          <a:p>
            <a:pPr marL="342900" indent="-342900">
              <a:spcAft>
                <a:spcPts val="800"/>
              </a:spcAft>
              <a:buSzPct val="100000"/>
              <a:buChar char="•"/>
            </a:pPr>
            <a:r>
              <a:rPr lang="en-US" sz="1400" dirty="0">
                <a:solidFill>
                  <a:srgbClr val="1F2430"/>
                </a:solidFill>
                <a:latin typeface="Meiryo" pitchFamily="34" charset="0"/>
                <a:ea typeface="Meiryo" pitchFamily="34" charset="-122"/>
                <a:cs typeface="Meiryo" pitchFamily="34" charset="-120"/>
              </a:rPr>
              <a:t>例: 「今何時?」→ 日時取得ツール関数が呼ばれる</a:t>
            </a:r>
            <a:endParaRPr lang="en-US" sz="1400" dirty="0"/>
          </a:p>
        </p:txBody>
      </p:sp>
      <p:sp>
        <p:nvSpPr>
          <p:cNvPr id="7" name="Text 4"/>
          <p:cNvSpPr/>
          <p:nvPr/>
        </p:nvSpPr>
        <p:spPr>
          <a:xfrm>
            <a:off x="548640" y="2011680"/>
            <a:ext cx="548640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ベストプラクティス</a:t>
            </a:r>
            <a:endParaRPr lang="en-US" sz="1400" dirty="0"/>
          </a:p>
        </p:txBody>
      </p:sp>
      <p:sp>
        <p:nvSpPr>
          <p:cNvPr id="8" name="Text 5"/>
          <p:cNvSpPr/>
          <p:nvPr/>
        </p:nvSpPr>
        <p:spPr>
          <a:xfrm>
            <a:off x="548640" y="2377440"/>
            <a:ext cx="548640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分かりやすい名前: 関数名・パラメータ名の両方で目的が明確にわかるようにする</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入力を検証する: 必須パラメータが空/不正でないかチェックし、エラーを送出する</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意味のあるエラーメッセージ: Claudeはエラーを見て、修正したパラメータで再試行できる</a:t>
            </a:r>
            <a:endParaRPr lang="en-US" sz="1300" dirty="0"/>
          </a:p>
        </p:txBody>
      </p:sp>
      <p:sp>
        <p:nvSpPr>
          <p:cNvPr id="9" name="Shape 6"/>
          <p:cNvSpPr/>
          <p:nvPr/>
        </p:nvSpPr>
        <p:spPr>
          <a:xfrm>
            <a:off x="6400800" y="1188720"/>
            <a:ext cx="5394960" cy="2743200"/>
          </a:xfrm>
          <a:prstGeom prst="roundRect">
            <a:avLst>
              <a:gd name="adj" fmla="val 2667"/>
            </a:avLst>
          </a:prstGeom>
          <a:solidFill>
            <a:srgbClr val="F4F7FD"/>
          </a:solidFill>
          <a:ln/>
        </p:spPr>
        <p:txBody>
          <a:bodyPr/>
          <a:p/>
        </p:txBody>
      </p:sp>
      <p:sp>
        <p:nvSpPr>
          <p:cNvPr id="10" name="Text 7"/>
          <p:cNvSpPr/>
          <p:nvPr/>
        </p:nvSpPr>
        <p:spPr>
          <a:xfrm>
            <a:off x="6583680" y="1325880"/>
            <a:ext cx="5029200" cy="32004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実装例: 現在日時を取得するツール</a:t>
            </a:r>
            <a:endParaRPr lang="en-US" sz="1300" dirty="0"/>
          </a:p>
        </p:txBody>
      </p:sp>
      <p:sp>
        <p:nvSpPr>
          <p:cNvPr id="11" name="Text 8"/>
          <p:cNvSpPr/>
          <p:nvPr/>
        </p:nvSpPr>
        <p:spPr>
          <a:xfrm>
            <a:off x="6583680" y="1691640"/>
            <a:ext cx="5029200" cy="2103120"/>
          </a:xfrm>
          <a:prstGeom prst="rect">
            <a:avLst/>
          </a:prstGeom>
          <a:noFill/>
          <a:ln/>
        </p:spPr>
        <p:txBody>
          <a:bodyPr wrap="square" rtlCol="0" anchor="t"/>
          <a:lstStyle/>
          <a:p>
            <a:pPr indent="0" marL="0">
              <a:buNone/>
            </a:pPr>
            <a:r>
              <a:rPr lang="en-US" sz="1150" dirty="0">
                <a:solidFill>
                  <a:srgbClr val="1F2430"/>
                </a:solidFill>
                <a:latin typeface="Meiryo" pitchFamily="34" charset="0"/>
                <a:ea typeface="Meiryo" pitchFamily="34" charset="-122"/>
                <a:cs typeface="Meiryo" pitchFamily="34" charset="-120"/>
              </a:rPr>
              <a:t>def get_current_datetime(date_format="%Y-%m-%d %H:%M:%S"):</a:t>
            </a:r>
            <a:endParaRPr lang="en-US" sz="1150" dirty="0"/>
          </a:p>
          <a:p>
            <a:pPr indent="0" marL="0">
              <a:buNone/>
            </a:pPr>
            <a:r>
              <a:rPr lang="en-US" sz="1150" dirty="0">
                <a:solidFill>
                  <a:srgbClr val="1F2430"/>
                </a:solidFill>
                <a:latin typeface="Meiryo" pitchFamily="34" charset="0"/>
                <a:ea typeface="Meiryo" pitchFamily="34" charset="-122"/>
                <a:cs typeface="Meiryo" pitchFamily="34" charset="-120"/>
              </a:rPr>
              <a:t>    # フォーマット未指定はエラーにする(検証)</a:t>
            </a:r>
            <a:endParaRPr lang="en-US" sz="1150" dirty="0"/>
          </a:p>
          <a:p>
            <a:pPr indent="0" marL="0">
              <a:buNone/>
            </a:pPr>
            <a:r>
              <a:rPr lang="en-US" sz="1150" dirty="0">
                <a:solidFill>
                  <a:srgbClr val="1F2430"/>
                </a:solidFill>
                <a:latin typeface="Meiryo" pitchFamily="34" charset="0"/>
                <a:ea typeface="Meiryo" pitchFamily="34" charset="-122"/>
                <a:cs typeface="Meiryo" pitchFamily="34" charset="-120"/>
              </a:rPr>
              <a:t>    if not date_format:</a:t>
            </a:r>
            <a:endParaRPr lang="en-US" sz="1150" dirty="0"/>
          </a:p>
          <a:p>
            <a:pPr indent="0" marL="0">
              <a:buNone/>
            </a:pPr>
            <a:r>
              <a:rPr lang="en-US" sz="1150" dirty="0">
                <a:solidFill>
                  <a:srgbClr val="1F2430"/>
                </a:solidFill>
                <a:latin typeface="Meiryo" pitchFamily="34" charset="0"/>
                <a:ea typeface="Meiryo" pitchFamily="34" charset="-122"/>
                <a:cs typeface="Meiryo" pitchFamily="34" charset="-120"/>
              </a:rPr>
              <a:t>        raise ValueError("date_format cannot be empty")</a:t>
            </a:r>
            <a:endParaRPr lang="en-US" sz="1150" dirty="0"/>
          </a:p>
          <a:p>
            <a:pPr indent="0" marL="0">
              <a:buNone/>
            </a:pPr>
            <a:r>
              <a:rPr lang="en-US" sz="1150" dirty="0">
                <a:solidFill>
                  <a:srgbClr val="1F2430"/>
                </a:solidFill>
                <a:latin typeface="Meiryo" pitchFamily="34" charset="0"/>
                <a:ea typeface="Meiryo" pitchFamily="34" charset="-122"/>
                <a:cs typeface="Meiryo" pitchFamily="34" charset="-120"/>
              </a:rPr>
              <a:t>    return datetime.now().strftime(date_format)</a:t>
            </a:r>
            <a:endParaRPr lang="en-US" sz="1150" dirty="0"/>
          </a:p>
        </p:txBody>
      </p:sp>
      <p:sp>
        <p:nvSpPr>
          <p:cNvPr id="12" name="Shape 9"/>
          <p:cNvSpPr/>
          <p:nvPr/>
        </p:nvSpPr>
        <p:spPr>
          <a:xfrm>
            <a:off x="6400800" y="4114800"/>
            <a:ext cx="5394960" cy="960120"/>
          </a:xfrm>
          <a:prstGeom prst="roundRect">
            <a:avLst>
              <a:gd name="adj" fmla="val 7619"/>
            </a:avLst>
          </a:prstGeom>
          <a:solidFill>
            <a:srgbClr val="FBF1E4"/>
          </a:solidFill>
          <a:ln/>
        </p:spPr>
        <p:txBody>
          <a:bodyPr/>
          <a:p/>
        </p:txBody>
      </p:sp>
      <p:pic>
        <p:nvPicPr>
          <p:cNvPr id="13" name="Image 1" descr="preencoded.png">    </p:cNvPr>
          <p:cNvPicPr>
            <a:picLocks noChangeAspect="1"/>
          </p:cNvPicPr>
          <p:nvPr/>
        </p:nvPicPr>
        <p:blipFill>
          <a:blip r:embed="rId2"/>
          <a:stretch>
            <a:fillRect/>
          </a:stretch>
        </p:blipFill>
        <p:spPr>
          <a:xfrm>
            <a:off x="6565392" y="4279392"/>
            <a:ext cx="310896" cy="310896"/>
          </a:xfrm>
          <a:prstGeom prst="rect">
            <a:avLst/>
          </a:prstGeom>
        </p:spPr>
      </p:pic>
      <p:sp>
        <p:nvSpPr>
          <p:cNvPr id="14" name="Text 10"/>
          <p:cNvSpPr/>
          <p:nvPr/>
        </p:nvSpPr>
        <p:spPr>
          <a:xfrm>
            <a:off x="6995160" y="4206240"/>
            <a:ext cx="466344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11"/>
          <p:cNvSpPr/>
          <p:nvPr/>
        </p:nvSpPr>
        <p:spPr>
          <a:xfrm>
            <a:off x="6995160" y="4498848"/>
            <a:ext cx="461772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「Claudeはエラーから学習して再試行する」という性質を利用し、検証エラーのメッセージは具体的かつ分かりやすく書くことが推奨される。</a:t>
            </a:r>
            <a:endParaRPr lang="en-US" sz="1200" dirty="0"/>
          </a:p>
        </p:txBody>
      </p:sp>
      <p:sp>
        <p:nvSpPr>
          <p:cNvPr id="16" name="Text 12"/>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3"/>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マルチターンでのツール利用ループ</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110642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会話ループの基本パターン</a:t>
            </a:r>
            <a:endParaRPr lang="en-US" sz="1400" dirty="0"/>
          </a:p>
        </p:txBody>
      </p:sp>
      <p:sp>
        <p:nvSpPr>
          <p:cNvPr id="7" name="Shape 4"/>
          <p:cNvSpPr/>
          <p:nvPr/>
        </p:nvSpPr>
        <p:spPr>
          <a:xfrm>
            <a:off x="548640" y="1554480"/>
            <a:ext cx="5760720" cy="548640"/>
          </a:xfrm>
          <a:prstGeom prst="roundRect">
            <a:avLst>
              <a:gd name="adj" fmla="val 10000"/>
            </a:avLst>
          </a:prstGeom>
          <a:solidFill>
            <a:srgbClr val="F4F7FD"/>
          </a:solidFill>
          <a:ln/>
        </p:spPr>
        <p:txBody>
          <a:bodyPr/>
          <a:p/>
        </p:txBody>
      </p:sp>
      <p:sp>
        <p:nvSpPr>
          <p:cNvPr id="8" name="Text 5"/>
          <p:cNvSpPr/>
          <p:nvPr/>
        </p:nvSpPr>
        <p:spPr>
          <a:xfrm>
            <a:off x="731520" y="1554480"/>
            <a:ext cx="5394960" cy="548640"/>
          </a:xfrm>
          <a:prstGeom prst="rect">
            <a:avLst/>
          </a:prstGeom>
          <a:noFill/>
          <a:ln/>
        </p:spPr>
        <p:txBody>
          <a:bodyPr wrap="square" rtlCol="0" anchor="ctr"/>
          <a:lstStyle/>
          <a:p>
            <a:pPr indent="0" marL="0">
              <a:buNone/>
            </a:pPr>
            <a:r>
              <a:rPr lang="en-US" sz="1200" dirty="0">
                <a:solidFill>
                  <a:srgbClr val="1F2430"/>
                </a:solidFill>
                <a:latin typeface="Meiryo" pitchFamily="34" charset="0"/>
                <a:ea typeface="Meiryo" pitchFamily="34" charset="-122"/>
                <a:cs typeface="Meiryo" pitchFamily="34" charset="-120"/>
              </a:rPr>
              <a:t>① ユーザーメッセージ + 利用可能なツール一覧をClaudeに送る</a:t>
            </a:r>
            <a:endParaRPr lang="en-US" sz="1200" dirty="0"/>
          </a:p>
        </p:txBody>
      </p:sp>
      <p:sp>
        <p:nvSpPr>
          <p:cNvPr id="9" name="Shape 6"/>
          <p:cNvSpPr/>
          <p:nvPr/>
        </p:nvSpPr>
        <p:spPr>
          <a:xfrm>
            <a:off x="548640" y="2212848"/>
            <a:ext cx="5760720" cy="548640"/>
          </a:xfrm>
          <a:prstGeom prst="roundRect">
            <a:avLst>
              <a:gd name="adj" fmla="val 10000"/>
            </a:avLst>
          </a:prstGeom>
          <a:solidFill>
            <a:srgbClr val="F4F7FD"/>
          </a:solidFill>
          <a:ln/>
        </p:spPr>
        <p:txBody>
          <a:bodyPr/>
          <a:p/>
        </p:txBody>
      </p:sp>
      <p:sp>
        <p:nvSpPr>
          <p:cNvPr id="10" name="Text 7"/>
          <p:cNvSpPr/>
          <p:nvPr/>
        </p:nvSpPr>
        <p:spPr>
          <a:xfrm>
            <a:off x="731520" y="2212848"/>
            <a:ext cx="5394960" cy="548640"/>
          </a:xfrm>
          <a:prstGeom prst="rect">
            <a:avLst/>
          </a:prstGeom>
          <a:noFill/>
          <a:ln/>
        </p:spPr>
        <p:txBody>
          <a:bodyPr wrap="square" rtlCol="0" anchor="ctr"/>
          <a:lstStyle/>
          <a:p>
            <a:pPr indent="0" marL="0">
              <a:buNone/>
            </a:pPr>
            <a:r>
              <a:rPr lang="en-US" sz="1200" dirty="0">
                <a:solidFill>
                  <a:srgbClr val="1F2430"/>
                </a:solidFill>
                <a:latin typeface="Meiryo" pitchFamily="34" charset="0"/>
                <a:ea typeface="Meiryo" pitchFamily="34" charset="-122"/>
                <a:cs typeface="Meiryo" pitchFamily="34" charset="-120"/>
              </a:rPr>
              <a:t>② Claudeがテキスト・ツール要求(1つ以上)を返す</a:t>
            </a:r>
            <a:endParaRPr lang="en-US" sz="1200" dirty="0"/>
          </a:p>
        </p:txBody>
      </p:sp>
      <p:sp>
        <p:nvSpPr>
          <p:cNvPr id="11" name="Shape 8"/>
          <p:cNvSpPr/>
          <p:nvPr/>
        </p:nvSpPr>
        <p:spPr>
          <a:xfrm>
            <a:off x="548640" y="2871216"/>
            <a:ext cx="5760720" cy="548640"/>
          </a:xfrm>
          <a:prstGeom prst="roundRect">
            <a:avLst>
              <a:gd name="adj" fmla="val 10000"/>
            </a:avLst>
          </a:prstGeom>
          <a:solidFill>
            <a:srgbClr val="F4F7FD"/>
          </a:solidFill>
          <a:ln/>
        </p:spPr>
        <p:txBody>
          <a:bodyPr/>
          <a:p/>
        </p:txBody>
      </p:sp>
      <p:sp>
        <p:nvSpPr>
          <p:cNvPr id="12" name="Text 9"/>
          <p:cNvSpPr/>
          <p:nvPr/>
        </p:nvSpPr>
        <p:spPr>
          <a:xfrm>
            <a:off x="731520" y="2871216"/>
            <a:ext cx="5394960" cy="548640"/>
          </a:xfrm>
          <a:prstGeom prst="rect">
            <a:avLst/>
          </a:prstGeom>
          <a:noFill/>
          <a:ln/>
        </p:spPr>
        <p:txBody>
          <a:bodyPr wrap="square" rtlCol="0" anchor="ctr"/>
          <a:lstStyle/>
          <a:p>
            <a:pPr indent="0" marL="0">
              <a:buNone/>
            </a:pPr>
            <a:r>
              <a:rPr lang="en-US" sz="1200" dirty="0">
                <a:solidFill>
                  <a:srgbClr val="1F2430"/>
                </a:solidFill>
                <a:latin typeface="Meiryo" pitchFamily="34" charset="0"/>
                <a:ea typeface="Meiryo" pitchFamily="34" charset="-122"/>
                <a:cs typeface="Meiryo" pitchFamily="34" charset="-120"/>
              </a:rPr>
              <a:t>③ 要求された全ツールを実行し、結果ブロックを作る</a:t>
            </a:r>
            <a:endParaRPr lang="en-US" sz="1200" dirty="0"/>
          </a:p>
        </p:txBody>
      </p:sp>
      <p:sp>
        <p:nvSpPr>
          <p:cNvPr id="13" name="Shape 10"/>
          <p:cNvSpPr/>
          <p:nvPr/>
        </p:nvSpPr>
        <p:spPr>
          <a:xfrm>
            <a:off x="548640" y="3529584"/>
            <a:ext cx="5760720" cy="548640"/>
          </a:xfrm>
          <a:prstGeom prst="roundRect">
            <a:avLst>
              <a:gd name="adj" fmla="val 10000"/>
            </a:avLst>
          </a:prstGeom>
          <a:solidFill>
            <a:srgbClr val="F4F7FD"/>
          </a:solidFill>
          <a:ln/>
        </p:spPr>
        <p:txBody>
          <a:bodyPr/>
          <a:p/>
        </p:txBody>
      </p:sp>
      <p:sp>
        <p:nvSpPr>
          <p:cNvPr id="14" name="Text 11"/>
          <p:cNvSpPr/>
          <p:nvPr/>
        </p:nvSpPr>
        <p:spPr>
          <a:xfrm>
            <a:off x="731520" y="3529584"/>
            <a:ext cx="5394960" cy="548640"/>
          </a:xfrm>
          <a:prstGeom prst="rect">
            <a:avLst/>
          </a:prstGeom>
          <a:noFill/>
          <a:ln/>
        </p:spPr>
        <p:txBody>
          <a:bodyPr wrap="square" rtlCol="0" anchor="ctr"/>
          <a:lstStyle/>
          <a:p>
            <a:pPr indent="0" marL="0">
              <a:buNone/>
            </a:pPr>
            <a:r>
              <a:rPr lang="en-US" sz="1200" dirty="0">
                <a:solidFill>
                  <a:srgbClr val="1F2430"/>
                </a:solidFill>
                <a:latin typeface="Meiryo" pitchFamily="34" charset="0"/>
                <a:ea typeface="Meiryo" pitchFamily="34" charset="-122"/>
                <a:cs typeface="Meiryo" pitchFamily="34" charset="-120"/>
              </a:rPr>
              <a:t>④ ツール結果をuserメッセージとして送り返す</a:t>
            </a:r>
            <a:endParaRPr lang="en-US" sz="1200" dirty="0"/>
          </a:p>
        </p:txBody>
      </p:sp>
      <p:sp>
        <p:nvSpPr>
          <p:cNvPr id="15" name="Shape 12"/>
          <p:cNvSpPr/>
          <p:nvPr/>
        </p:nvSpPr>
        <p:spPr>
          <a:xfrm>
            <a:off x="548640" y="4187952"/>
            <a:ext cx="5760720" cy="548640"/>
          </a:xfrm>
          <a:prstGeom prst="roundRect">
            <a:avLst>
              <a:gd name="adj" fmla="val 10000"/>
            </a:avLst>
          </a:prstGeom>
          <a:solidFill>
            <a:srgbClr val="F4F7FD"/>
          </a:solidFill>
          <a:ln/>
        </p:spPr>
        <p:txBody>
          <a:bodyPr/>
          <a:p/>
        </p:txBody>
      </p:sp>
      <p:sp>
        <p:nvSpPr>
          <p:cNvPr id="16" name="Text 13"/>
          <p:cNvSpPr/>
          <p:nvPr/>
        </p:nvSpPr>
        <p:spPr>
          <a:xfrm>
            <a:off x="731520" y="4187952"/>
            <a:ext cx="5394960" cy="548640"/>
          </a:xfrm>
          <a:prstGeom prst="rect">
            <a:avLst/>
          </a:prstGeom>
          <a:noFill/>
          <a:ln/>
        </p:spPr>
        <p:txBody>
          <a:bodyPr wrap="square" rtlCol="0" anchor="ctr"/>
          <a:lstStyle/>
          <a:p>
            <a:pPr indent="0" marL="0">
              <a:buNone/>
            </a:pPr>
            <a:r>
              <a:rPr lang="en-US" sz="1200" dirty="0">
                <a:solidFill>
                  <a:srgbClr val="1F2430"/>
                </a:solidFill>
                <a:latin typeface="Meiryo" pitchFamily="34" charset="0"/>
                <a:ea typeface="Meiryo" pitchFamily="34" charset="-122"/>
                <a:cs typeface="Meiryo" pitchFamily="34" charset="-120"/>
              </a:rPr>
              <a:t>⑤ stop_reasonが"tool_use"でなくなるまで②〜④を繰り返す</a:t>
            </a:r>
            <a:endParaRPr lang="en-US" sz="1200" dirty="0"/>
          </a:p>
        </p:txBody>
      </p:sp>
      <p:sp>
        <p:nvSpPr>
          <p:cNvPr id="17" name="Text 14"/>
          <p:cNvSpPr/>
          <p:nvPr/>
        </p:nvSpPr>
        <p:spPr>
          <a:xfrm>
            <a:off x="548640" y="4937760"/>
            <a:ext cx="5760720" cy="27432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ツール結果ブロックの構造</a:t>
            </a:r>
            <a:endParaRPr lang="en-US" sz="1300" dirty="0"/>
          </a:p>
        </p:txBody>
      </p:sp>
      <p:sp>
        <p:nvSpPr>
          <p:cNvPr id="18" name="Text 15"/>
          <p:cNvSpPr/>
          <p:nvPr/>
        </p:nvSpPr>
        <p:spPr>
          <a:xfrm>
            <a:off x="548640" y="5257800"/>
            <a:ext cx="5760720" cy="548640"/>
          </a:xfrm>
          <a:prstGeom prst="rect">
            <a:avLst/>
          </a:prstGeom>
          <a:noFill/>
          <a:ln/>
        </p:spPr>
        <p:txBody>
          <a:bodyPr wrap="square" rtlCol="0" anchor="t"/>
          <a:lstStyle/>
          <a:p>
            <a:pPr indent="0" marL="0">
              <a:buNone/>
            </a:pPr>
            <a:r>
              <a:rPr lang="en-US" sz="1100" dirty="0">
                <a:solidFill>
                  <a:srgbClr val="1F2430"/>
                </a:solidFill>
                <a:latin typeface="Meiryo" pitchFamily="34" charset="0"/>
                <a:ea typeface="Meiryo" pitchFamily="34" charset="-122"/>
                <a:cs typeface="Meiryo" pitchFamily="34" charset="-120"/>
              </a:rPr>
              <a:t>{"type": "tool_result", "tool_use_id": tool_request.id,</a:t>
            </a:r>
            <a:endParaRPr lang="en-US" sz="1100" dirty="0"/>
          </a:p>
          <a:p>
            <a:pPr indent="0" marL="0">
              <a:buNone/>
            </a:pPr>
            <a:r>
              <a:rPr lang="en-US" sz="1100" dirty="0">
                <a:solidFill>
                  <a:srgbClr val="1F2430"/>
                </a:solidFill>
                <a:latin typeface="Meiryo" pitchFamily="34" charset="0"/>
                <a:ea typeface="Meiryo" pitchFamily="34" charset="-122"/>
                <a:cs typeface="Meiryo" pitchFamily="34" charset="-120"/>
              </a:rPr>
              <a:t> "content": json.dumps(tool_output), "is_error": False}</a:t>
            </a:r>
            <a:endParaRPr lang="en-US" sz="1100" dirty="0"/>
          </a:p>
        </p:txBody>
      </p:sp>
      <p:sp>
        <p:nvSpPr>
          <p:cNvPr id="19" name="Shape 16"/>
          <p:cNvSpPr/>
          <p:nvPr/>
        </p:nvSpPr>
        <p:spPr>
          <a:xfrm>
            <a:off x="6583680" y="1188720"/>
            <a:ext cx="5029200" cy="960120"/>
          </a:xfrm>
          <a:prstGeom prst="roundRect">
            <a:avLst>
              <a:gd name="adj" fmla="val 7619"/>
            </a:avLst>
          </a:prstGeom>
          <a:solidFill>
            <a:srgbClr val="FBF1E4"/>
          </a:solidFill>
          <a:ln/>
        </p:spPr>
        <p:txBody>
          <a:bodyPr/>
          <a:p/>
        </p:txBody>
      </p:sp>
      <p:pic>
        <p:nvPicPr>
          <p:cNvPr id="20" name="Image 1" descr="preencoded.png">    </p:cNvPr>
          <p:cNvPicPr>
            <a:picLocks noChangeAspect="1"/>
          </p:cNvPicPr>
          <p:nvPr/>
        </p:nvPicPr>
        <p:blipFill>
          <a:blip r:embed="rId2"/>
          <a:stretch>
            <a:fillRect/>
          </a:stretch>
        </p:blipFill>
        <p:spPr>
          <a:xfrm>
            <a:off x="6748272" y="1353312"/>
            <a:ext cx="310896" cy="310896"/>
          </a:xfrm>
          <a:prstGeom prst="rect">
            <a:avLst/>
          </a:prstGeom>
        </p:spPr>
      </p:pic>
      <p:sp>
        <p:nvSpPr>
          <p:cNvPr id="21" name="Text 17"/>
          <p:cNvSpPr/>
          <p:nvPr/>
        </p:nvSpPr>
        <p:spPr>
          <a:xfrm>
            <a:off x="7178040" y="1280160"/>
            <a:ext cx="429768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2" name="Text 18"/>
          <p:cNvSpPr/>
          <p:nvPr/>
        </p:nvSpPr>
        <p:spPr>
          <a:xfrm>
            <a:off x="7178040" y="1572768"/>
            <a:ext cx="425196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「複数ツールが必要なタスクで、いつ会話ループを終了すべきか」→ stop_reasonが"tool_use"でなくなった時点、が正解パターン(エージェントループの判定基準と同じ考え方)。</a:t>
            </a:r>
            <a:endParaRPr lang="en-US" sz="1200" dirty="0"/>
          </a:p>
        </p:txBody>
      </p:sp>
      <p:sp>
        <p:nvSpPr>
          <p:cNvPr id="23" name="Text 19"/>
          <p:cNvSpPr/>
          <p:nvPr/>
        </p:nvSpPr>
        <p:spPr>
          <a:xfrm>
            <a:off x="6583680" y="2331720"/>
            <a:ext cx="5029200" cy="32004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ツールルーティングの実装パターン</a:t>
            </a:r>
            <a:endParaRPr lang="en-US" sz="1300" dirty="0"/>
          </a:p>
        </p:txBody>
      </p:sp>
      <p:sp>
        <p:nvSpPr>
          <p:cNvPr id="24" name="Text 20"/>
          <p:cNvSpPr/>
          <p:nvPr/>
        </p:nvSpPr>
        <p:spPr>
          <a:xfrm>
            <a:off x="6583680" y="2697480"/>
            <a:ext cx="5029200" cy="27432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ツール名を見て対応する関数を呼び分ける「ルーター関数」を用意する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新しいツールを追加する時は、①関数実装 ②スキーマ定義 ③toolsリストへ追加 ④ルーターにcase追加、の4手順</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エラー発生時もis_error: Trueの結果ブロックを必ず返す(空振りにしない)</a:t>
            </a:r>
            <a:endParaRPr lang="en-US" sz="1250" dirty="0"/>
          </a:p>
        </p:txBody>
      </p:sp>
      <p:sp>
        <p:nvSpPr>
          <p:cNvPr id="25" name="Text 2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6" name="Text 2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組み込みツールとFine-grained tool calling</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テキストエディタツール</a:t>
            </a:r>
            <a:endParaRPr lang="en-US" sz="1450" dirty="0"/>
          </a:p>
        </p:txBody>
      </p:sp>
      <p:sp>
        <p:nvSpPr>
          <p:cNvPr id="8" name="Text 5"/>
          <p:cNvSpPr/>
          <p:nvPr/>
        </p:nvSpPr>
        <p:spPr>
          <a:xfrm>
            <a:off x="731520" y="166420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ファイルの閲覧・特定行の置換・新規作成・挿入・直近編集のUndoが可能。スキーマはClaude組み込みだが、実際の処理(ファイルI/O)は開発者側で実装する必要がある</a:t>
            </a:r>
            <a:endParaRPr lang="en-US" sz="1150" dirty="0"/>
          </a:p>
        </p:txBody>
      </p:sp>
      <p:sp>
        <p:nvSpPr>
          <p:cNvPr id="9" name="Shape 6"/>
          <p:cNvSpPr/>
          <p:nvPr/>
        </p:nvSpPr>
        <p:spPr>
          <a:xfrm>
            <a:off x="6195060" y="118872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Web検索ツール</a:t>
            </a:r>
            <a:endParaRPr lang="en-US" sz="1450" dirty="0"/>
          </a:p>
        </p:txBody>
      </p:sp>
      <p:sp>
        <p:nvSpPr>
          <p:cNvPr id="11" name="Text 8"/>
          <p:cNvSpPr/>
          <p:nvPr/>
        </p:nvSpPr>
        <p:spPr>
          <a:xfrm>
            <a:off x="6377940" y="166420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max_usesで検索回数上限、allowed_domainsで検索対象ドメインを制限可能(例: 医療情報はnih.govのみに限定)。利用には管理コンソールでの事前有効化が必要</a:t>
            </a:r>
            <a:endParaRPr lang="en-US" sz="1150" dirty="0"/>
          </a:p>
        </p:txBody>
      </p:sp>
      <p:sp>
        <p:nvSpPr>
          <p:cNvPr id="12" name="Shape 9"/>
          <p:cNvSpPr/>
          <p:nvPr/>
        </p:nvSpPr>
        <p:spPr>
          <a:xfrm>
            <a:off x="548640" y="301752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1455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Fine-grained tool calling</a:t>
            </a:r>
            <a:endParaRPr lang="en-US" sz="1450" dirty="0"/>
          </a:p>
        </p:txBody>
      </p:sp>
      <p:sp>
        <p:nvSpPr>
          <p:cNvPr id="14" name="Text 11"/>
          <p:cNvSpPr/>
          <p:nvPr/>
        </p:nvSpPr>
        <p:spPr>
          <a:xfrm>
            <a:off x="731520" y="349300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通常はツール引数のJSON検証のためチャンクがバッファされ、キーごとにまとめて届く。fine_grained=Trueにすると検証を無効化し、生成されたそばからチャンクを受け取れる(その分、不正なJSONを自前でハンドリングする必要がある)</a:t>
            </a:r>
            <a:endParaRPr lang="en-US" sz="1150" dirty="0"/>
          </a:p>
        </p:txBody>
      </p:sp>
      <p:sp>
        <p:nvSpPr>
          <p:cNvPr id="15" name="Shape 12"/>
          <p:cNvSpPr/>
          <p:nvPr/>
        </p:nvSpPr>
        <p:spPr>
          <a:xfrm>
            <a:off x="6195060" y="301752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1455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使い分けの目安</a:t>
            </a:r>
            <a:endParaRPr lang="en-US" sz="1450" dirty="0"/>
          </a:p>
        </p:txBody>
      </p:sp>
      <p:sp>
        <p:nvSpPr>
          <p:cNvPr id="17" name="Text 14"/>
          <p:cNvSpPr/>
          <p:nvPr/>
        </p:nvSpPr>
        <p:spPr>
          <a:xfrm>
            <a:off x="6377940" y="349300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リアルタイム進捗表示が必要 → fine-grained有効化。通常のアプリでは標準の検証ありモードで十分</a:t>
            </a:r>
            <a:endParaRPr lang="en-US" sz="1150" dirty="0"/>
          </a:p>
        </p:txBody>
      </p:sp>
      <p:sp>
        <p:nvSpPr>
          <p:cNvPr id="18" name="Shape 15"/>
          <p:cNvSpPr/>
          <p:nvPr/>
        </p:nvSpPr>
        <p:spPr>
          <a:xfrm>
            <a:off x="548640" y="452628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4690872"/>
            <a:ext cx="310896" cy="310896"/>
          </a:xfrm>
          <a:prstGeom prst="rect">
            <a:avLst/>
          </a:prstGeom>
        </p:spPr>
      </p:pic>
      <p:sp>
        <p:nvSpPr>
          <p:cNvPr id="20" name="Text 16"/>
          <p:cNvSpPr/>
          <p:nvPr/>
        </p:nvSpPr>
        <p:spPr>
          <a:xfrm>
            <a:off x="1143000" y="461772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491032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fine_grained=Trueにするとレスポンス性は上がるが、JSON検証が無効化されるため、不正なJSON(例: "word_count": undefined)を自前でtry/exceptハンドリングする必要がある、という点が問われやすい。</a:t>
            </a:r>
            <a:endParaRPr lang="en-US" sz="1200" dirty="0"/>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822960"/>
            <a:ext cx="1188720" cy="1188720"/>
          </a:xfrm>
          <a:prstGeom prst="ellipse">
            <a:avLst/>
          </a:prstGeom>
          <a:solidFill>
            <a:srgbClr val="141B44"/>
          </a:solidFill>
          <a:ln/>
        </p:spPr>
        <p:txBody>
          <a:bodyPr/>
          <a:p/>
        </p:txBody>
      </p:sp>
      <p:pic>
        <p:nvPicPr>
          <p:cNvPr id="3" name="Image 0" descr="preencoded.png">    </p:cNvPr>
          <p:cNvPicPr>
            <a:picLocks noChangeAspect="1"/>
          </p:cNvPicPr>
          <p:nvPr/>
        </p:nvPicPr>
        <p:blipFill>
          <a:blip r:embed="rId1"/>
          <a:stretch>
            <a:fillRect/>
          </a:stretch>
        </p:blipFill>
        <p:spPr>
          <a:xfrm>
            <a:off x="925373" y="1108253"/>
            <a:ext cx="618134" cy="618134"/>
          </a:xfrm>
          <a:prstGeom prst="rect">
            <a:avLst/>
          </a:prstGeom>
        </p:spPr>
      </p:pic>
      <p:sp>
        <p:nvSpPr>
          <p:cNvPr id="4" name="Text 1"/>
          <p:cNvSpPr/>
          <p:nvPr/>
        </p:nvSpPr>
        <p:spPr>
          <a:xfrm>
            <a:off x="2103120" y="868680"/>
            <a:ext cx="5486400" cy="457200"/>
          </a:xfrm>
          <a:prstGeom prst="rect">
            <a:avLst/>
          </a:prstGeom>
          <a:noFill/>
          <a:ln/>
        </p:spPr>
        <p:txBody>
          <a:bodyPr wrap="square" rtlCol="0" anchor="ctr"/>
          <a:lstStyle/>
          <a:p>
            <a:pPr indent="0" marL="0">
              <a:buNone/>
            </a:pPr>
            <a:r>
              <a:rPr lang="en-US" sz="1700" b="1" spc="200" kern="0" dirty="0">
                <a:solidFill>
                  <a:srgbClr val="CADCFC"/>
                </a:solidFill>
                <a:latin typeface="Meiryo" pitchFamily="34" charset="0"/>
                <a:ea typeface="Meiryo" pitchFamily="34" charset="-122"/>
                <a:cs typeface="Meiryo" pitchFamily="34" charset="-120"/>
              </a:rPr>
              <a:t>DOMAIN 3</a:t>
            </a:r>
            <a:endParaRPr lang="en-US" sz="1700" dirty="0"/>
          </a:p>
        </p:txBody>
      </p:sp>
      <p:sp>
        <p:nvSpPr>
          <p:cNvPr id="5" name="Text 2"/>
          <p:cNvSpPr/>
          <p:nvPr/>
        </p:nvSpPr>
        <p:spPr>
          <a:xfrm>
            <a:off x="2103120" y="1280160"/>
            <a:ext cx="8686800" cy="1005840"/>
          </a:xfrm>
          <a:prstGeom prst="rect">
            <a:avLst/>
          </a:prstGeom>
          <a:noFill/>
          <a:ln/>
        </p:spPr>
        <p:txBody>
          <a:bodyPr wrap="square" rtlCol="0" anchor="ctr"/>
          <a:lstStyle/>
          <a:p>
            <a:pPr indent="0" marL="0">
              <a:buNone/>
            </a:pPr>
            <a:r>
              <a:rPr lang="en-US" sz="3300" b="1" dirty="0">
                <a:solidFill>
                  <a:srgbClr val="FFFFFF"/>
                </a:solidFill>
                <a:latin typeface="Meiryo" pitchFamily="34" charset="0"/>
                <a:ea typeface="Meiryo" pitchFamily="34" charset="-122"/>
                <a:cs typeface="Meiryo" pitchFamily="34" charset="-120"/>
              </a:rPr>
              <a:t>Claude Code Configuration &amp; Workflows</a:t>
            </a:r>
            <a:endParaRPr lang="en-US" sz="3300" dirty="0"/>
          </a:p>
        </p:txBody>
      </p:sp>
      <p:sp>
        <p:nvSpPr>
          <p:cNvPr id="6" name="Text 3"/>
          <p:cNvSpPr/>
          <p:nvPr/>
        </p:nvSpPr>
        <p:spPr>
          <a:xfrm>
            <a:off x="2103120" y="2148840"/>
            <a:ext cx="8686800" cy="548640"/>
          </a:xfrm>
          <a:prstGeom prst="rect">
            <a:avLst/>
          </a:prstGeom>
          <a:noFill/>
          <a:ln/>
        </p:spPr>
        <p:txBody>
          <a:bodyPr wrap="square" rtlCol="0" anchor="ctr"/>
          <a:lstStyle/>
          <a:p>
            <a:pPr indent="0" marL="0">
              <a:buNone/>
            </a:pPr>
            <a:r>
              <a:rPr lang="en-US" sz="1600" dirty="0">
                <a:solidFill>
                  <a:srgbClr val="CADCFC"/>
                </a:solidFill>
                <a:latin typeface="Meiryo" pitchFamily="34" charset="0"/>
                <a:ea typeface="Meiryo" pitchFamily="34" charset="-122"/>
                <a:cs typeface="Meiryo" pitchFamily="34" charset="-120"/>
              </a:rPr>
              <a:t>Claude Codeの設定とワークフロー構築</a:t>
            </a:r>
            <a:endParaRPr lang="en-US" sz="1600" dirty="0"/>
          </a:p>
        </p:txBody>
      </p:sp>
      <p:sp>
        <p:nvSpPr>
          <p:cNvPr id="7" name="Shape 4"/>
          <p:cNvSpPr/>
          <p:nvPr/>
        </p:nvSpPr>
        <p:spPr>
          <a:xfrm>
            <a:off x="9692640" y="777240"/>
            <a:ext cx="1828800" cy="1234440"/>
          </a:xfrm>
          <a:prstGeom prst="roundRect">
            <a:avLst>
              <a:gd name="adj" fmla="val 8889"/>
            </a:avLst>
          </a:prstGeom>
          <a:solidFill>
            <a:srgbClr val="141B44"/>
          </a:solidFill>
          <a:ln/>
          <a:effectLst>
            <a:outerShdw sx="100000" sy="100000" kx="0" ky="0" algn="bl" rotWithShape="0" blurRad="101600" dist="38100" dir="2700000">
              <a:srgbClr val="000000">
                <a:alpha val="15000"/>
              </a:srgbClr>
            </a:outerShdw>
          </a:effectLst>
        </p:spPr>
        <p:txBody>
          <a:bodyPr/>
          <a:p/>
        </p:txBody>
      </p:sp>
      <p:sp>
        <p:nvSpPr>
          <p:cNvPr id="8" name="Text 5"/>
          <p:cNvSpPr/>
          <p:nvPr/>
        </p:nvSpPr>
        <p:spPr>
          <a:xfrm>
            <a:off x="9692640" y="868680"/>
            <a:ext cx="1828800" cy="731520"/>
          </a:xfrm>
          <a:prstGeom prst="rect">
            <a:avLst/>
          </a:prstGeom>
          <a:noFill/>
          <a:ln/>
        </p:spPr>
        <p:txBody>
          <a:bodyPr wrap="square" rtlCol="0" anchor="ctr"/>
          <a:lstStyle/>
          <a:p>
            <a:pPr algn="ctr" indent="0" marL="0">
              <a:buNone/>
            </a:pPr>
            <a:r>
              <a:rPr lang="en-US" sz="3600" b="1" dirty="0">
                <a:solidFill>
                  <a:srgbClr val="FFFFFF"/>
                </a:solidFill>
                <a:latin typeface="Meiryo" pitchFamily="34" charset="0"/>
                <a:ea typeface="Meiryo" pitchFamily="34" charset="-122"/>
                <a:cs typeface="Meiryo" pitchFamily="34" charset="-120"/>
              </a:rPr>
              <a:t>20%</a:t>
            </a:r>
            <a:endParaRPr lang="en-US" sz="3600" dirty="0"/>
          </a:p>
        </p:txBody>
      </p:sp>
      <p:sp>
        <p:nvSpPr>
          <p:cNvPr id="9" name="Text 6"/>
          <p:cNvSpPr/>
          <p:nvPr/>
        </p:nvSpPr>
        <p:spPr>
          <a:xfrm>
            <a:off x="9692640" y="1572768"/>
            <a:ext cx="1828800" cy="365760"/>
          </a:xfrm>
          <a:prstGeom prst="rect">
            <a:avLst/>
          </a:prstGeom>
          <a:noFill/>
          <a:ln/>
        </p:spPr>
        <p:txBody>
          <a:bodyPr wrap="square" rtlCol="0" anchor="ctr"/>
          <a:lstStyle/>
          <a:p>
            <a:pPr algn="ctr" indent="0" marL="0">
              <a:buNone/>
            </a:pPr>
            <a:r>
              <a:rPr lang="en-US" sz="1200" dirty="0">
                <a:solidFill>
                  <a:srgbClr val="CADCFC"/>
                </a:solidFill>
                <a:latin typeface="Meiryo" pitchFamily="34" charset="0"/>
                <a:ea typeface="Meiryo" pitchFamily="34" charset="-122"/>
                <a:cs typeface="Meiryo" pitchFamily="34" charset="-120"/>
              </a:rPr>
              <a:t>出題配点</a:t>
            </a:r>
            <a:endParaRPr lang="en-US" sz="1200" dirty="0"/>
          </a:p>
        </p:txBody>
      </p:sp>
      <p:sp>
        <p:nvSpPr>
          <p:cNvPr id="10" name="Shape 7"/>
          <p:cNvSpPr/>
          <p:nvPr/>
        </p:nvSpPr>
        <p:spPr>
          <a:xfrm>
            <a:off x="2103120" y="2697480"/>
            <a:ext cx="9418320" cy="0"/>
          </a:xfrm>
          <a:prstGeom prst="line">
            <a:avLst/>
          </a:prstGeom>
          <a:noFill/>
          <a:ln w="12700">
            <a:solidFill>
              <a:srgbClr val="3A4380"/>
            </a:solidFill>
            <a:prstDash val="solid"/>
          </a:ln>
        </p:spPr>
        <p:txBody>
          <a:bodyPr/>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コーディングアシスタントの仕組み</a:t>
            </a:r>
            <a:endParaRPr lang="en-US" sz="2500" dirty="0"/>
          </a:p>
        </p:txBody>
      </p:sp>
      <p:sp>
        <p:nvSpPr>
          <p:cNvPr id="5" name="Shape 2"/>
          <p:cNvSpPr/>
          <p:nvPr/>
        </p:nvSpPr>
        <p:spPr>
          <a:xfrm>
            <a:off x="8686800" y="384048"/>
            <a:ext cx="2926080" cy="411480"/>
          </a:xfrm>
          <a:prstGeom prst="roundRect">
            <a:avLst>
              <a:gd name="adj" fmla="val 48889"/>
            </a:avLst>
          </a:prstGeom>
          <a:solidFill>
            <a:srgbClr val="E3F4EA"/>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7A4C"/>
                </a:solidFill>
                <a:latin typeface="Meiryo" pitchFamily="34" charset="0"/>
                <a:ea typeface="Meiryo" pitchFamily="34" charset="-122"/>
                <a:cs typeface="Meiryo" pitchFamily="34" charset="-120"/>
              </a:rPr>
              <a:t>🔧 実践・操作編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188720"/>
            <a:ext cx="110642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3ステップのプロセス(人間の開発者と同じ考え方)</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669280" cy="914400"/>
        </p:xfrm>
        <a:graphic>
          <a:graphicData uri="http://schemas.openxmlformats.org/drawingml/2006/table">
            <a:tbl>
              <a:tblPr/>
              <a:tblGrid>
                <a:gridCol w="1645920"/>
                <a:gridCol w="4023360"/>
              </a:tblGrid>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① コンテキスト収集</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エラーが何を指すか、どのファイルが関係するかを把握する</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② 計画の立案</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どう解決するか(コード変更・テスト実行など)を決める</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③ 実行</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実際にファイルを更新し、コマンドを実行する</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6"/>
          <p:cNvSpPr/>
          <p:nvPr/>
        </p:nvSpPr>
        <p:spPr>
          <a:xfrm>
            <a:off x="548640" y="3246120"/>
            <a:ext cx="5669280" cy="28346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①と③は「外部世界とのやり取り」が必要 → 言語モデル単体では実行できない</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そこで「ツール利用」の仕組みを使う: モデルへの指示に「ファイルを読みたい場合は'ReadFile: ファイル名'と応答せよ」等のルールを自動で追加している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モデルは実際にファイルを読んでいるのではなく、正しい形式のテキストを生成しているだけ、という点がポイント</a:t>
            </a:r>
            <a:endParaRPr lang="en-US" sz="1250" dirty="0"/>
          </a:p>
        </p:txBody>
      </p:sp>
      <p:sp>
        <p:nvSpPr>
          <p:cNvPr id="11" name="Text 7"/>
          <p:cNvSpPr/>
          <p:nvPr/>
        </p:nvSpPr>
        <p:spPr>
          <a:xfrm>
            <a:off x="6492240" y="1188720"/>
            <a:ext cx="51206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Claudeのツール利用が強い理由・メリット</a:t>
            </a:r>
            <a:endParaRPr lang="en-US" sz="1400" dirty="0"/>
          </a:p>
        </p:txBody>
      </p:sp>
      <p:sp>
        <p:nvSpPr>
          <p:cNvPr id="12" name="Text 8"/>
          <p:cNvSpPr/>
          <p:nvPr/>
        </p:nvSpPr>
        <p:spPr>
          <a:xfrm>
            <a:off x="6492240" y="1554480"/>
            <a:ext cx="5120640" cy="27432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困難なタスクに対応: 複数ツールを組み合わせ、未知のツールにも適応できる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拡張可能なプラットフォーム: 新しいツールを追加すれば、Claudeはワークフローの変化に合わせて適応する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セキュリティの向上: コードベースの事前インデックス化が不要なため、コードベース全体を外部サーバーに送信せずに済むことが多い</a:t>
            </a:r>
            <a:endParaRPr lang="en-US" sz="1250" dirty="0"/>
          </a:p>
        </p:txBody>
      </p:sp>
      <p:sp>
        <p:nvSpPr>
          <p:cNvPr id="13" name="Shape 9"/>
          <p:cNvSpPr/>
          <p:nvPr/>
        </p:nvSpPr>
        <p:spPr>
          <a:xfrm>
            <a:off x="6492240" y="4434840"/>
            <a:ext cx="5120640" cy="960120"/>
          </a:xfrm>
          <a:prstGeom prst="roundRect">
            <a:avLst>
              <a:gd name="adj" fmla="val 7619"/>
            </a:avLst>
          </a:prstGeom>
          <a:solidFill>
            <a:srgbClr val="FBF1E4"/>
          </a:solidFill>
          <a:ln/>
        </p:spPr>
        <p:txBody>
          <a:bodyPr/>
          <a:p/>
        </p:txBody>
      </p:sp>
      <p:pic>
        <p:nvPicPr>
          <p:cNvPr id="14" name="Image 1" descr="preencoded.png">    </p:cNvPr>
          <p:cNvPicPr>
            <a:picLocks noChangeAspect="1"/>
          </p:cNvPicPr>
          <p:nvPr/>
        </p:nvPicPr>
        <p:blipFill>
          <a:blip r:embed="rId2"/>
          <a:stretch>
            <a:fillRect/>
          </a:stretch>
        </p:blipFill>
        <p:spPr>
          <a:xfrm>
            <a:off x="6656832" y="4599432"/>
            <a:ext cx="310896" cy="310896"/>
          </a:xfrm>
          <a:prstGeom prst="rect">
            <a:avLst/>
          </a:prstGeom>
        </p:spPr>
      </p:pic>
      <p:sp>
        <p:nvSpPr>
          <p:cNvPr id="15" name="Text 10"/>
          <p:cNvSpPr/>
          <p:nvPr/>
        </p:nvSpPr>
        <p:spPr>
          <a:xfrm>
            <a:off x="7086600" y="4526280"/>
            <a:ext cx="43891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6" name="Text 11"/>
          <p:cNvSpPr/>
          <p:nvPr/>
        </p:nvSpPr>
        <p:spPr>
          <a:xfrm>
            <a:off x="7086600" y="4818888"/>
            <a:ext cx="43434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「なぜClaude Codeは大規模なコードベースでも安全に使えるのか」→ 事前インデックス化(全コードの外部送信)が不要な設計であることが理由、という文脈で問われやすい。</a:t>
            </a:r>
            <a:endParaRPr lang="en-US" sz="1200" dirty="0"/>
          </a:p>
        </p:txBody>
      </p:sp>
      <p:sp>
        <p:nvSpPr>
          <p:cNvPr id="17" name="Text 12"/>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8" name="Text 13"/>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CLAUDE.md と Agent Skills</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675120" cy="914400"/>
        </p:xfrm>
        <a:graphic>
          <a:graphicData uri="http://schemas.openxmlformats.org/drawingml/2006/table">
            <a:tbl>
              <a:tblPr/>
              <a:tblGrid>
                <a:gridCol w="1737360"/>
                <a:gridCol w="2468880"/>
                <a:gridCol w="2468880"/>
              </a:tblGrid>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項目</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CLAUDE.md</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Skill(SKILL.md)</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読み込み</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セッション開始時に常時読込</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呼出時のみ本文読込(説明文は常時)</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適した内容</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常に守るべきルール・事実</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手順・チェックリスト・ワークフロー</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コンテキストコスト</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高い(毎回フルロード)</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低い(必要時のみ)</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3246120"/>
            <a:ext cx="640080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SKILL.md 設定フィールド</a:t>
            </a:r>
            <a:endParaRPr lang="en-US" sz="1400" dirty="0"/>
          </a:p>
        </p:txBody>
      </p:sp>
      <p:sp>
        <p:nvSpPr>
          <p:cNvPr id="8" name="Text 4"/>
          <p:cNvSpPr/>
          <p:nvPr/>
        </p:nvSpPr>
        <p:spPr>
          <a:xfrm>
            <a:off x="548640" y="3611880"/>
            <a:ext cx="667512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disable-model-invocation: true → ユーザー明示呼出のみ(副作用ある操作向け)</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user-invocable: false → Claudeのみが文脈判断で呼出</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allowed-tools → 実行中に許可するツールを事前承認</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context: fork → サブエージェントとして独立実行</a:t>
            </a:r>
            <a:endParaRPr lang="en-US" sz="1300" dirty="0"/>
          </a:p>
        </p:txBody>
      </p:sp>
      <p:sp>
        <p:nvSpPr>
          <p:cNvPr id="9" name="Shape 5"/>
          <p:cNvSpPr/>
          <p:nvPr/>
        </p:nvSpPr>
        <p:spPr>
          <a:xfrm>
            <a:off x="7498080" y="1188720"/>
            <a:ext cx="4206240" cy="960120"/>
          </a:xfrm>
          <a:prstGeom prst="roundRect">
            <a:avLst>
              <a:gd name="adj" fmla="val 7619"/>
            </a:avLst>
          </a:prstGeom>
          <a:solidFill>
            <a:srgbClr val="FBF1E4"/>
          </a:solidFill>
          <a:ln/>
        </p:spPr>
        <p:txBody>
          <a:bodyPr/>
          <a:p/>
        </p:txBody>
      </p:sp>
      <p:pic>
        <p:nvPicPr>
          <p:cNvPr id="10" name="Image 1" descr="preencoded.png">    </p:cNvPr>
          <p:cNvPicPr>
            <a:picLocks noChangeAspect="1"/>
          </p:cNvPicPr>
          <p:nvPr/>
        </p:nvPicPr>
        <p:blipFill>
          <a:blip r:embed="rId2"/>
          <a:stretch>
            <a:fillRect/>
          </a:stretch>
        </p:blipFill>
        <p:spPr>
          <a:xfrm>
            <a:off x="7662672" y="1353312"/>
            <a:ext cx="310896" cy="310896"/>
          </a:xfrm>
          <a:prstGeom prst="rect">
            <a:avLst/>
          </a:prstGeom>
        </p:spPr>
      </p:pic>
      <p:sp>
        <p:nvSpPr>
          <p:cNvPr id="11" name="Text 6"/>
          <p:cNvSpPr/>
          <p:nvPr/>
        </p:nvSpPr>
        <p:spPr>
          <a:xfrm>
            <a:off x="8092440" y="1280160"/>
            <a:ext cx="3474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2" name="Text 7"/>
          <p:cNvSpPr/>
          <p:nvPr/>
        </p:nvSpPr>
        <p:spPr>
          <a:xfrm>
            <a:off x="8092440" y="1572768"/>
            <a:ext cx="3429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コンパクション後も失われてほしくない指示はどこに書くべきか?→ CLAUDE.md(毎回再注入されるため)。頻繁に使う手順はCLAUDE.mdでなくSkillに切り出す。</a:t>
            </a:r>
            <a:endParaRPr lang="en-US" sz="1200" dirty="0"/>
          </a:p>
        </p:txBody>
      </p:sp>
      <p:sp>
        <p:nvSpPr>
          <p:cNvPr id="13" name="Text 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4" name="Text 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何のためにMCPを使うか: SKILLとの違い</a:t>
            </a:r>
            <a:endParaRPr lang="en-US" sz="2500" dirty="0"/>
          </a:p>
        </p:txBody>
      </p:sp>
      <p:sp>
        <p:nvSpPr>
          <p:cNvPr id="5" name="Shape 2"/>
          <p:cNvSpPr/>
          <p:nvPr/>
        </p:nvSpPr>
        <p:spPr>
          <a:xfrm>
            <a:off x="8686800" y="384048"/>
            <a:ext cx="2926080" cy="411480"/>
          </a:xfrm>
          <a:prstGeom prst="roundRect">
            <a:avLst>
              <a:gd name="adj" fmla="val 48889"/>
            </a:avLst>
          </a:prstGeom>
          <a:solidFill>
            <a:srgbClr val="FBF1E4"/>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A5A00"/>
                </a:solidFill>
                <a:latin typeface="Meiryo" pitchFamily="34" charset="0"/>
                <a:ea typeface="Meiryo" pitchFamily="34" charset="-122"/>
                <a:cs typeface="Meiryo" pitchFamily="34" charset="-120"/>
              </a:rPr>
              <a:t>📚 知識・雑学編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143000"/>
            <a:ext cx="11064240" cy="32004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一言でいうと: MCP=「外の世界とつながる手足」、Skill=「決まった作業の手順書」</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1645920"/>
                <a:gridCol w="4572000"/>
                <a:gridCol w="4846320"/>
              </a:tblGrid>
              <a:tr h="0">
                <a:tc>
                  <a:txBody>
                    <a:bodyPr/>
                    <a:lstStyle/>
                    <a:p>
                      <a:pPr indent="0" marL="0">
                        <a:buNone/>
                      </a:pPr>
                      <a:r>
                        <a:rPr lang="en-US" sz="1000" dirty="0">
                          <a:solidFill>
                            <a:srgbClr val="1F2430"/>
                          </a:solidFill>
                          <a:latin typeface="Meiryo" pitchFamily="34" charset="0"/>
                          <a:ea typeface="Meiryo" pitchFamily="34" charset="-122"/>
                          <a:cs typeface="Meiryo" pitchFamily="34" charset="-120"/>
                        </a:rPr>
                        <a:t>観点</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MCP</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Skill(SKILL.md)</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Meiryo" pitchFamily="34" charset="0"/>
                          <a:ea typeface="Meiryo" pitchFamily="34" charset="-122"/>
                          <a:cs typeface="Meiryo" pitchFamily="34" charset="-120"/>
                        </a:rPr>
                        <a:t>目的</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外部のシステム・データ・APIにClaudeを接続する</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決まった作業手順・チェックリストをClaudeに教え込む</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Meiryo" pitchFamily="34" charset="0"/>
                          <a:ea typeface="Meiryo" pitchFamily="34" charset="-122"/>
                          <a:cs typeface="Meiryo" pitchFamily="34" charset="-120"/>
                        </a:rPr>
                        <a:t>実体</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外部サーバーが提供する「ツール(関数)」の集まり</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Markdownで書かれた手順書(+補助スクリプト)</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Meiryo" pitchFamily="34" charset="0"/>
                          <a:ea typeface="Meiryo" pitchFamily="34" charset="-122"/>
                          <a:cs typeface="Meiryo" pitchFamily="34" charset="-120"/>
                        </a:rPr>
                        <a:t>何を拡張するか</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Claudeが「できること」を増やす(DB照会・Slack送信・パケット解析等)</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Claudeが「同じ質の作業を再現する」精度を上げる</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Meiryo" pitchFamily="34" charset="0"/>
                          <a:ea typeface="Meiryo" pitchFamily="34" charset="-122"/>
                          <a:cs typeface="Meiryo" pitchFamily="34" charset="-120"/>
                        </a:rPr>
                        <a:t>呼び出され方</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tool_useとして、Claudeが判断した時に関数として呼ばれる</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スラッシュコマンド等で明示的に読み込まれ、指示として実行される</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Meiryo" pitchFamily="34" charset="0"/>
                          <a:ea typeface="Meiryo" pitchFamily="34" charset="-122"/>
                          <a:cs typeface="Meiryo" pitchFamily="34" charset="-120"/>
                        </a:rPr>
                        <a:t>他ツールとの関係</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他のAIクライアント(Claude Desktop等)からも共通利用できる標準規格</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Claude Code固有の仕組み。Skillの中からMCPツールを使うことも可能</a:t>
                      </a:r>
                      <a:endParaRPr lang="en-US" sz="10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6"/>
          <p:cNvSpPr/>
          <p:nvPr/>
        </p:nvSpPr>
        <p:spPr>
          <a:xfrm>
            <a:off x="548640" y="3977640"/>
            <a:ext cx="11064240" cy="27432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具体例で見る使い分け</a:t>
            </a:r>
            <a:endParaRPr lang="en-US" sz="1250" dirty="0"/>
          </a:p>
        </p:txBody>
      </p:sp>
      <p:sp>
        <p:nvSpPr>
          <p:cNvPr id="11" name="Text 7"/>
          <p:cNvSpPr/>
          <p:nvPr/>
        </p:nvSpPr>
        <p:spPr>
          <a:xfrm>
            <a:off x="548640" y="4279392"/>
            <a:ext cx="11064240" cy="128016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1F2430"/>
                </a:solidFill>
                <a:latin typeface="Meiryo" pitchFamily="34" charset="0"/>
                <a:ea typeface="Meiryo" pitchFamily="34" charset="-122"/>
                <a:cs typeface="Meiryo" pitchFamily="34" charset="-120"/>
              </a:rPr>
              <a:t>「社内のSlackに送りたい」「本番DBを検索したい」→ MCP(外部システム接続が必要)</a:t>
            </a:r>
            <a:endParaRPr lang="en-US" sz="1100" dirty="0"/>
          </a:p>
          <a:p>
            <a:pPr marL="342900" indent="-342900">
              <a:spcAft>
                <a:spcPts val="800"/>
              </a:spcAft>
              <a:buSzPct val="100000"/>
              <a:buChar char="•"/>
            </a:pPr>
            <a:r>
              <a:rPr lang="en-US" sz="1100" dirty="0">
                <a:solidFill>
                  <a:srgbClr val="1F2430"/>
                </a:solidFill>
                <a:latin typeface="Meiryo" pitchFamily="34" charset="0"/>
                <a:ea typeface="Meiryo" pitchFamily="34" charset="-122"/>
                <a:cs typeface="Meiryo" pitchFamily="34" charset="-120"/>
              </a:rPr>
              <a:t>「コミットメッセージは必ずこの形式」「PRレビューはこの5項目を必ずチェック」→ Skill(手順・ルールの再現)</a:t>
            </a:r>
            <a:endParaRPr lang="en-US" sz="1100" dirty="0"/>
          </a:p>
          <a:p>
            <a:pPr marL="342900" indent="-342900">
              <a:spcAft>
                <a:spcPts val="800"/>
              </a:spcAft>
              <a:buSzPct val="100000"/>
              <a:buChar char="•"/>
            </a:pPr>
            <a:r>
              <a:rPr lang="en-US" sz="1100" dirty="0">
                <a:solidFill>
                  <a:srgbClr val="1F2430"/>
                </a:solidFill>
                <a:latin typeface="Meiryo" pitchFamily="34" charset="0"/>
                <a:ea typeface="Meiryo" pitchFamily="34" charset="-122"/>
                <a:cs typeface="Meiryo" pitchFamily="34" charset="-120"/>
              </a:rPr>
              <a:t>両者は排他ではなく併用が前提。Skillの手順書の中で「このMCPツールを使ってDBを検索する」と指示するのも一般的</a:t>
            </a:r>
            <a:endParaRPr lang="en-US" sz="1100" dirty="0"/>
          </a:p>
        </p:txBody>
      </p:sp>
      <p:sp>
        <p:nvSpPr>
          <p:cNvPr id="12" name="Shape 8"/>
          <p:cNvSpPr/>
          <p:nvPr/>
        </p:nvSpPr>
        <p:spPr>
          <a:xfrm>
            <a:off x="548640" y="5577840"/>
            <a:ext cx="11064240" cy="960120"/>
          </a:xfrm>
          <a:prstGeom prst="roundRect">
            <a:avLst>
              <a:gd name="adj" fmla="val 7619"/>
            </a:avLst>
          </a:prstGeom>
          <a:solidFill>
            <a:srgbClr val="FBF1E4"/>
          </a:solidFill>
          <a:ln/>
        </p:spPr>
        <p:txBody>
          <a:bodyPr/>
          <a:p/>
        </p:txBody>
      </p:sp>
      <p:pic>
        <p:nvPicPr>
          <p:cNvPr id="13" name="Image 1" descr="preencoded.png">    </p:cNvPr>
          <p:cNvPicPr>
            <a:picLocks noChangeAspect="1"/>
          </p:cNvPicPr>
          <p:nvPr/>
        </p:nvPicPr>
        <p:blipFill>
          <a:blip r:embed="rId2"/>
          <a:stretch>
            <a:fillRect/>
          </a:stretch>
        </p:blipFill>
        <p:spPr>
          <a:xfrm>
            <a:off x="713232" y="5742432"/>
            <a:ext cx="310896" cy="310896"/>
          </a:xfrm>
          <a:prstGeom prst="rect">
            <a:avLst/>
          </a:prstGeom>
        </p:spPr>
      </p:pic>
      <p:sp>
        <p:nvSpPr>
          <p:cNvPr id="14" name="Text 9"/>
          <p:cNvSpPr/>
          <p:nvPr/>
        </p:nvSpPr>
        <p:spPr>
          <a:xfrm>
            <a:off x="1143000" y="566928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10"/>
          <p:cNvSpPr/>
          <p:nvPr/>
        </p:nvSpPr>
        <p:spPr>
          <a:xfrm>
            <a:off x="1143000" y="596188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「パケットキャプチャをスクリプトでなくMCP化する意味は?」→ Claudeが自律的・繰り返し呼び出せる+他クライアントからも共通利用できる標準化がメリット。一方「毎回同じレビュー手順を徹底させたい」ならSkillが適切、という住み分けが試験でも問われやすい。</a:t>
            </a:r>
            <a:endParaRPr lang="en-US" sz="1200" dirty="0"/>
          </a:p>
        </p:txBody>
      </p:sp>
      <p:sp>
        <p:nvSpPr>
          <p:cNvPr id="16" name="Text 1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MCPとSkill、それぞれのメリット</a:t>
            </a:r>
            <a:endParaRPr lang="en-US" sz="2500" dirty="0"/>
          </a:p>
        </p:txBody>
      </p:sp>
      <p:sp>
        <p:nvSpPr>
          <p:cNvPr id="5" name="Shape 2"/>
          <p:cNvSpPr/>
          <p:nvPr/>
        </p:nvSpPr>
        <p:spPr>
          <a:xfrm>
            <a:off x="8686800" y="384048"/>
            <a:ext cx="2926080" cy="411480"/>
          </a:xfrm>
          <a:prstGeom prst="roundRect">
            <a:avLst>
              <a:gd name="adj" fmla="val 48889"/>
            </a:avLst>
          </a:prstGeom>
          <a:solidFill>
            <a:srgbClr val="FBF1E4"/>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A5A00"/>
                </a:solidFill>
                <a:latin typeface="Meiryo" pitchFamily="34" charset="0"/>
                <a:ea typeface="Meiryo" pitchFamily="34" charset="-122"/>
                <a:cs typeface="Meiryo" pitchFamily="34" charset="-120"/>
              </a:rPr>
              <a:t>📚 知識・雑学編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143000"/>
            <a:ext cx="11064240" cy="36576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一言でいうと: MCP=手足(外の世界とやり取りする能力)、Skill=手順書(その能力をどう使うかのルール)</a:t>
            </a:r>
            <a:endParaRPr lang="en-US" sz="1250" dirty="0"/>
          </a:p>
        </p:txBody>
      </p:sp>
      <p:sp>
        <p:nvSpPr>
          <p:cNvPr id="9" name="Text 6"/>
          <p:cNvSpPr/>
          <p:nvPr/>
        </p:nvSpPr>
        <p:spPr>
          <a:xfrm>
            <a:off x="548640" y="1600200"/>
            <a:ext cx="5394960" cy="27432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MCPのメリット</a:t>
            </a:r>
            <a:endParaRPr lang="en-US" sz="1250" dirty="0"/>
          </a:p>
        </p:txBody>
      </p:sp>
      <p:sp>
        <p:nvSpPr>
          <p:cNvPr id="10" name="Shape 7"/>
          <p:cNvSpPr/>
          <p:nvPr/>
        </p:nvSpPr>
        <p:spPr>
          <a:xfrm>
            <a:off x="548640" y="1920240"/>
            <a:ext cx="2583180" cy="1097280"/>
          </a:xfrm>
          <a:prstGeom prst="roundRect">
            <a:avLst>
              <a:gd name="adj" fmla="val 6667"/>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1" name="Text 8"/>
          <p:cNvSpPr/>
          <p:nvPr/>
        </p:nvSpPr>
        <p:spPr>
          <a:xfrm>
            <a:off x="731520" y="2048256"/>
            <a:ext cx="221742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自律的・繰り返し呼び出せる</a:t>
            </a:r>
            <a:endParaRPr lang="en-US" sz="1450" dirty="0"/>
          </a:p>
        </p:txBody>
      </p:sp>
      <p:sp>
        <p:nvSpPr>
          <p:cNvPr id="12" name="Text 9"/>
          <p:cNvSpPr/>
          <p:nvPr/>
        </p:nvSpPr>
        <p:spPr>
          <a:xfrm>
            <a:off x="731520" y="2395728"/>
            <a:ext cx="2217420" cy="4846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人間が結果を貼り付ける必要がなく、Claudeが必要と判断した時に自動的に呼べる</a:t>
            </a:r>
            <a:endParaRPr lang="en-US" sz="1150" dirty="0"/>
          </a:p>
        </p:txBody>
      </p:sp>
      <p:sp>
        <p:nvSpPr>
          <p:cNvPr id="13" name="Shape 10"/>
          <p:cNvSpPr/>
          <p:nvPr/>
        </p:nvSpPr>
        <p:spPr>
          <a:xfrm>
            <a:off x="3360420" y="1920240"/>
            <a:ext cx="2583180" cy="1097280"/>
          </a:xfrm>
          <a:prstGeom prst="roundRect">
            <a:avLst>
              <a:gd name="adj" fmla="val 6667"/>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4" name="Text 11"/>
          <p:cNvSpPr/>
          <p:nvPr/>
        </p:nvSpPr>
        <p:spPr>
          <a:xfrm>
            <a:off x="3543300" y="2048256"/>
            <a:ext cx="221742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複数ツールを連鎖できる</a:t>
            </a:r>
            <a:endParaRPr lang="en-US" sz="1450" dirty="0"/>
          </a:p>
        </p:txBody>
      </p:sp>
      <p:sp>
        <p:nvSpPr>
          <p:cNvPr id="15" name="Text 12"/>
          <p:cNvSpPr/>
          <p:nvPr/>
        </p:nvSpPr>
        <p:spPr>
          <a:xfrm>
            <a:off x="3543300" y="2395728"/>
            <a:ext cx="2217420" cy="4846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「パケット解析→脅威DB照会→ログ検索」のように、ツールをまたいだ自律的な作業ができる</a:t>
            </a:r>
            <a:endParaRPr lang="en-US" sz="1150" dirty="0"/>
          </a:p>
        </p:txBody>
      </p:sp>
      <p:sp>
        <p:nvSpPr>
          <p:cNvPr id="16" name="Shape 13"/>
          <p:cNvSpPr/>
          <p:nvPr/>
        </p:nvSpPr>
        <p:spPr>
          <a:xfrm>
            <a:off x="548640" y="3246120"/>
            <a:ext cx="2583180" cy="1097280"/>
          </a:xfrm>
          <a:prstGeom prst="roundRect">
            <a:avLst>
              <a:gd name="adj" fmla="val 6667"/>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7" name="Text 14"/>
          <p:cNvSpPr/>
          <p:nvPr/>
        </p:nvSpPr>
        <p:spPr>
          <a:xfrm>
            <a:off x="731520" y="3374136"/>
            <a:ext cx="221742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標準化されている</a:t>
            </a:r>
            <a:endParaRPr lang="en-US" sz="1450" dirty="0"/>
          </a:p>
        </p:txBody>
      </p:sp>
      <p:sp>
        <p:nvSpPr>
          <p:cNvPr id="18" name="Text 15"/>
          <p:cNvSpPr/>
          <p:nvPr/>
        </p:nvSpPr>
        <p:spPr>
          <a:xfrm>
            <a:off x="731520" y="3721608"/>
            <a:ext cx="2217420" cy="4846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Claude Desktop・Claude Code等、別のAIクライアントからも同じツールを使い回せる</a:t>
            </a:r>
            <a:endParaRPr lang="en-US" sz="1150" dirty="0"/>
          </a:p>
        </p:txBody>
      </p:sp>
      <p:sp>
        <p:nvSpPr>
          <p:cNvPr id="19" name="Shape 16"/>
          <p:cNvSpPr/>
          <p:nvPr/>
        </p:nvSpPr>
        <p:spPr>
          <a:xfrm>
            <a:off x="3360420" y="3246120"/>
            <a:ext cx="2583180" cy="1097280"/>
          </a:xfrm>
          <a:prstGeom prst="roundRect">
            <a:avLst>
              <a:gd name="adj" fmla="val 6667"/>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20" name="Text 17"/>
          <p:cNvSpPr/>
          <p:nvPr/>
        </p:nvSpPr>
        <p:spPr>
          <a:xfrm>
            <a:off x="3543300" y="3374136"/>
            <a:ext cx="221742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安全に公開できる</a:t>
            </a:r>
            <a:endParaRPr lang="en-US" sz="1450" dirty="0"/>
          </a:p>
        </p:txBody>
      </p:sp>
      <p:sp>
        <p:nvSpPr>
          <p:cNvPr id="21" name="Text 18"/>
          <p:cNvSpPr/>
          <p:nvPr/>
        </p:nvSpPr>
        <p:spPr>
          <a:xfrm>
            <a:off x="3543300" y="3721608"/>
            <a:ext cx="2217420" cy="4846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機能を限定したツールとして公開できるため、任意コマンド実行を許可するより安全</a:t>
            </a:r>
            <a:endParaRPr lang="en-US" sz="1150" dirty="0"/>
          </a:p>
        </p:txBody>
      </p:sp>
      <p:sp>
        <p:nvSpPr>
          <p:cNvPr id="22" name="Text 19"/>
          <p:cNvSpPr/>
          <p:nvPr/>
        </p:nvSpPr>
        <p:spPr>
          <a:xfrm>
            <a:off x="6172200" y="1600200"/>
            <a:ext cx="5394960" cy="27432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Skillのメリット</a:t>
            </a:r>
            <a:endParaRPr lang="en-US" sz="1250" dirty="0"/>
          </a:p>
        </p:txBody>
      </p:sp>
      <p:sp>
        <p:nvSpPr>
          <p:cNvPr id="23" name="Shape 20"/>
          <p:cNvSpPr/>
          <p:nvPr/>
        </p:nvSpPr>
        <p:spPr>
          <a:xfrm>
            <a:off x="6172200" y="1920240"/>
            <a:ext cx="5394960" cy="777240"/>
          </a:xfrm>
          <a:prstGeom prst="roundRect">
            <a:avLst>
              <a:gd name="adj" fmla="val 9412"/>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24" name="Text 21"/>
          <p:cNvSpPr/>
          <p:nvPr/>
        </p:nvSpPr>
        <p:spPr>
          <a:xfrm>
            <a:off x="6355080" y="2048256"/>
            <a:ext cx="502920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再現性を確保できる</a:t>
            </a:r>
            <a:endParaRPr lang="en-US" sz="1450" dirty="0"/>
          </a:p>
        </p:txBody>
      </p:sp>
      <p:sp>
        <p:nvSpPr>
          <p:cNvPr id="25" name="Text 22"/>
          <p:cNvSpPr/>
          <p:nvPr/>
        </p:nvSpPr>
        <p:spPr>
          <a:xfrm>
            <a:off x="6355080" y="2395728"/>
            <a:ext cx="5029200" cy="1645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「毎回このルールを守ってほしい」という手順・規約(コミットメッセージ規約、レビュー手順等)を徹底できる</a:t>
            </a:r>
            <a:endParaRPr lang="en-US" sz="1150" dirty="0"/>
          </a:p>
        </p:txBody>
      </p:sp>
      <p:sp>
        <p:nvSpPr>
          <p:cNvPr id="26" name="Shape 23"/>
          <p:cNvSpPr/>
          <p:nvPr/>
        </p:nvSpPr>
        <p:spPr>
          <a:xfrm>
            <a:off x="6172200" y="2926080"/>
            <a:ext cx="5394960" cy="777240"/>
          </a:xfrm>
          <a:prstGeom prst="roundRect">
            <a:avLst>
              <a:gd name="adj" fmla="val 9412"/>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27" name="Text 24"/>
          <p:cNvSpPr/>
          <p:nvPr/>
        </p:nvSpPr>
        <p:spPr>
          <a:xfrm>
            <a:off x="6355080" y="3054096"/>
            <a:ext cx="502920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コンテキストコストが低い</a:t>
            </a:r>
            <a:endParaRPr lang="en-US" sz="1450" dirty="0"/>
          </a:p>
        </p:txBody>
      </p:sp>
      <p:sp>
        <p:nvSpPr>
          <p:cNvPr id="28" name="Text 25"/>
          <p:cNvSpPr/>
          <p:nvPr/>
        </p:nvSpPr>
        <p:spPr>
          <a:xfrm>
            <a:off x="6355080" y="3401568"/>
            <a:ext cx="5029200" cy="1645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CLAUDE.mdと違い、呼び出された時だけ本文を読み込むため常時コンテキストを圧迫しない</a:t>
            </a:r>
            <a:endParaRPr lang="en-US" sz="1150" dirty="0"/>
          </a:p>
        </p:txBody>
      </p:sp>
      <p:sp>
        <p:nvSpPr>
          <p:cNvPr id="29" name="Shape 26"/>
          <p:cNvSpPr/>
          <p:nvPr/>
        </p:nvSpPr>
        <p:spPr>
          <a:xfrm>
            <a:off x="6172200" y="3931920"/>
            <a:ext cx="5394960" cy="777240"/>
          </a:xfrm>
          <a:prstGeom prst="roundRect">
            <a:avLst>
              <a:gd name="adj" fmla="val 9412"/>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30" name="Text 27"/>
          <p:cNvSpPr/>
          <p:nvPr/>
        </p:nvSpPr>
        <p:spPr>
          <a:xfrm>
            <a:off x="6355080" y="4059936"/>
            <a:ext cx="502920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MCPと組み合わせられる</a:t>
            </a:r>
            <a:endParaRPr lang="en-US" sz="1450" dirty="0"/>
          </a:p>
        </p:txBody>
      </p:sp>
      <p:sp>
        <p:nvSpPr>
          <p:cNvPr id="31" name="Text 28"/>
          <p:cNvSpPr/>
          <p:nvPr/>
        </p:nvSpPr>
        <p:spPr>
          <a:xfrm>
            <a:off x="6355080" y="4407408"/>
            <a:ext cx="5029200" cy="1645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手順の中でMCPツールを呼び出す指示も書けるため、MCPと連携させて使える</a:t>
            </a:r>
            <a:endParaRPr lang="en-US" sz="1150" dirty="0"/>
          </a:p>
        </p:txBody>
      </p:sp>
      <p:sp>
        <p:nvSpPr>
          <p:cNvPr id="32" name="Shape 29"/>
          <p:cNvSpPr/>
          <p:nvPr/>
        </p:nvSpPr>
        <p:spPr>
          <a:xfrm>
            <a:off x="548640" y="4937760"/>
            <a:ext cx="11064240" cy="960120"/>
          </a:xfrm>
          <a:prstGeom prst="roundRect">
            <a:avLst>
              <a:gd name="adj" fmla="val 7619"/>
            </a:avLst>
          </a:prstGeom>
          <a:solidFill>
            <a:srgbClr val="FBF1E4"/>
          </a:solidFill>
          <a:ln/>
        </p:spPr>
        <p:txBody>
          <a:bodyPr/>
          <a:p/>
        </p:txBody>
      </p:sp>
      <p:pic>
        <p:nvPicPr>
          <p:cNvPr id="33" name="Image 1" descr="preencoded.png">    </p:cNvPr>
          <p:cNvPicPr>
            <a:picLocks noChangeAspect="1"/>
          </p:cNvPicPr>
          <p:nvPr/>
        </p:nvPicPr>
        <p:blipFill>
          <a:blip r:embed="rId2"/>
          <a:stretch>
            <a:fillRect/>
          </a:stretch>
        </p:blipFill>
        <p:spPr>
          <a:xfrm>
            <a:off x="713232" y="5102352"/>
            <a:ext cx="310896" cy="310896"/>
          </a:xfrm>
          <a:prstGeom prst="rect">
            <a:avLst/>
          </a:prstGeom>
        </p:spPr>
      </p:pic>
      <p:sp>
        <p:nvSpPr>
          <p:cNvPr id="34" name="Text 30"/>
          <p:cNvSpPr/>
          <p:nvPr/>
        </p:nvSpPr>
        <p:spPr>
          <a:xfrm>
            <a:off x="1143000" y="502920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35" name="Text 31"/>
          <p:cNvSpPr/>
          <p:nvPr/>
        </p:nvSpPr>
        <p:spPr>
          <a:xfrm>
            <a:off x="1143000" y="532180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両者は競合する選択肢ではなく、「何と繋がるか」はMCP、「どう使うか」はSkill、という役割分担。実務では併用されるのが普通で、この使い分けの理解自体がドメイン2・3をまたぐ頻出論点。</a:t>
            </a:r>
            <a:endParaRPr lang="en-US" sz="1200" dirty="0"/>
          </a:p>
        </p:txBody>
      </p:sp>
      <p:sp>
        <p:nvSpPr>
          <p:cNvPr id="36" name="Text 32"/>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7" name="Text 33"/>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コンテキスト管理: /init・3つのCLAUDE.md・@メンション</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110642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CLAUDE.mdの3つの配置場所</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65760"/>
                <a:gridCol w="1920240"/>
                <a:gridCol w="3291840"/>
                <a:gridCol w="548640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ファイル</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共有範囲</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用途</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1</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CLAUDE.md</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ソース管理にコミット・他エンジニアと共有</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/initで生成。プロジェクトの目的・アーキテクチャ・コマンドを記載</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2</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CLAUDE.local.md</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共有しない(個人用)</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自分専用のカスタム指示</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3</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~/.claude/CLAUDE.md</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自分のマシン上の全プロジェクト共通</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全プロジェクトで守ってほしいルール</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4"/>
          <p:cNvSpPr/>
          <p:nvPr/>
        </p:nvSpPr>
        <p:spPr>
          <a:xfrm>
            <a:off x="548640" y="3429000"/>
            <a:ext cx="566928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@メンションによるコンテキスト注入</a:t>
            </a:r>
            <a:endParaRPr lang="en-US" sz="1400" dirty="0"/>
          </a:p>
        </p:txBody>
      </p:sp>
      <p:sp>
        <p:nvSpPr>
          <p:cNvPr id="9" name="Text 5"/>
          <p:cNvSpPr/>
          <p:nvPr/>
        </p:nvSpPr>
        <p:spPr>
          <a:xfrm>
            <a:off x="548640" y="3794760"/>
            <a:ext cx="5669280" cy="21945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会話中に @ファイルパス と書くと、そのファイル内容が自動的にリクエストへ含まれる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CLAUDE.md内でも同じ@構文が使える(例: 頻繁に参照するDBスキーマファイルを常時読込対象にする)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他ツール用のAGENTS.mdが既にある場合、CLAUDE.mdの1行目に @AGENTS.md と書けば内容を先に読み込ませられる(重複記載が不要)</a:t>
            </a:r>
            <a:endParaRPr lang="en-US" sz="1250" dirty="0"/>
          </a:p>
        </p:txBody>
      </p:sp>
      <p:sp>
        <p:nvSpPr>
          <p:cNvPr id="10" name="Shape 6"/>
          <p:cNvSpPr/>
          <p:nvPr/>
        </p:nvSpPr>
        <p:spPr>
          <a:xfrm>
            <a:off x="6492240" y="3429000"/>
            <a:ext cx="5120640" cy="960120"/>
          </a:xfrm>
          <a:prstGeom prst="roundRect">
            <a:avLst>
              <a:gd name="adj" fmla="val 7619"/>
            </a:avLst>
          </a:prstGeom>
          <a:solidFill>
            <a:srgbClr val="FBF1E4"/>
          </a:solidFill>
          <a:ln/>
        </p:spPr>
        <p:txBody>
          <a:bodyPr/>
          <a:p/>
        </p:txBody>
      </p:sp>
      <p:pic>
        <p:nvPicPr>
          <p:cNvPr id="11" name="Image 1" descr="preencoded.png">    </p:cNvPr>
          <p:cNvPicPr>
            <a:picLocks noChangeAspect="1"/>
          </p:cNvPicPr>
          <p:nvPr/>
        </p:nvPicPr>
        <p:blipFill>
          <a:blip r:embed="rId2"/>
          <a:stretch>
            <a:fillRect/>
          </a:stretch>
        </p:blipFill>
        <p:spPr>
          <a:xfrm>
            <a:off x="6656832" y="3593592"/>
            <a:ext cx="310896" cy="310896"/>
          </a:xfrm>
          <a:prstGeom prst="rect">
            <a:avLst/>
          </a:prstGeom>
        </p:spPr>
      </p:pic>
      <p:sp>
        <p:nvSpPr>
          <p:cNvPr id="12" name="Text 7"/>
          <p:cNvSpPr/>
          <p:nvPr/>
        </p:nvSpPr>
        <p:spPr>
          <a:xfrm>
            <a:off x="7086600" y="3520440"/>
            <a:ext cx="43891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3" name="Text 8"/>
          <p:cNvSpPr/>
          <p:nvPr/>
        </p:nvSpPr>
        <p:spPr>
          <a:xfrm>
            <a:off x="7086600" y="3813048"/>
            <a:ext cx="43434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「既存のAGENTS.mdの内容を重複させずCLAUDE.mdに取り込みたい」→ CLAUDE.mdの1行目に @AGENTS.md と記述する、が正解パターン。</a:t>
            </a:r>
            <a:endParaRPr lang="en-US" sz="1200" dirty="0"/>
          </a:p>
        </p:txBody>
      </p:sp>
      <p:sp>
        <p:nvSpPr>
          <p:cNvPr id="14" name="Text 9"/>
          <p:cNvSpPr/>
          <p:nvPr/>
        </p:nvSpPr>
        <p:spPr>
          <a:xfrm>
            <a:off x="6492240" y="4617720"/>
            <a:ext cx="5120640" cy="32004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/init コマンド</a:t>
            </a:r>
            <a:endParaRPr lang="en-US" sz="1300" dirty="0"/>
          </a:p>
        </p:txBody>
      </p:sp>
      <p:sp>
        <p:nvSpPr>
          <p:cNvPr id="15" name="Text 10"/>
          <p:cNvSpPr/>
          <p:nvPr/>
        </p:nvSpPr>
        <p:spPr>
          <a:xfrm>
            <a:off x="6492240" y="4937760"/>
            <a:ext cx="5120640" cy="7315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新規プロジェクトで実行し、コードベース全体を解析してCLAUDE.mdを自動生成させるコマンド</a:t>
            </a:r>
            <a:endParaRPr lang="en-US" sz="1200" dirty="0"/>
          </a:p>
        </p:txBody>
      </p:sp>
      <p:sp>
        <p:nvSpPr>
          <p:cNvPr id="16" name="Text 1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Planning Mode と Effort Level</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566928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Planning Mode(/plan)</a:t>
            </a:r>
            <a:endParaRPr lang="en-US" sz="1400" dirty="0"/>
          </a:p>
        </p:txBody>
      </p:sp>
      <p:sp>
        <p:nvSpPr>
          <p:cNvPr id="7" name="Text 4"/>
          <p:cNvSpPr/>
          <p:nvPr/>
        </p:nvSpPr>
        <p:spPr>
          <a:xfrm>
            <a:off x="548640" y="1554480"/>
            <a:ext cx="5669280" cy="2560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起動方法: /plan と入力、またはShift+Tabを2回(自動編集承認中なら1回)</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Claudeがより多くのファイルを読み込み、詳細な実装計画を作成して提示する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承認前にCtrl+Gで計画をテキストエディタで開き、細かく編集してから提出できる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広範なコードベース理解・複数ファイルにまたがる変更が必要なタスクに向く</a:t>
            </a:r>
            <a:endParaRPr lang="en-US" sz="1250" dirty="0"/>
          </a:p>
        </p:txBody>
      </p:sp>
      <p:sp>
        <p:nvSpPr>
          <p:cNvPr id="8" name="Text 5"/>
          <p:cNvSpPr/>
          <p:nvPr/>
        </p:nvSpPr>
        <p:spPr>
          <a:xfrm>
            <a:off x="548640" y="4206240"/>
            <a:ext cx="566928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Effort Level(/effort)</a:t>
            </a:r>
            <a:endParaRPr lang="en-US" sz="1400" dirty="0"/>
          </a:p>
        </p:txBody>
      </p:sp>
      <p:sp>
        <p:nvSpPr>
          <p:cNvPr id="9" name="Text 6"/>
          <p:cNvSpPr/>
          <p:nvPr/>
        </p:nvSpPr>
        <p:spPr>
          <a:xfrm>
            <a:off x="548640" y="4572000"/>
            <a:ext cx="5669280" cy="18288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/effort で現在のレベルを確認・調整(low=速く安価 〜 max=難問に最も時間をかけて推論)</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単発のプロンプトだけ深く考えさせたい場合は、プロンプト内に ultrathink というキーワードを含める(セッション全体のeffortは変えない)</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複雑なロジック問題・難しいデバッグ・アルゴリズム的課題に向く</a:t>
            </a:r>
            <a:endParaRPr lang="en-US" sz="1250" dirty="0"/>
          </a:p>
        </p:txBody>
      </p:sp>
      <p:sp>
        <p:nvSpPr>
          <p:cNvPr id="10" name="Text 7"/>
          <p:cNvSpPr/>
          <p:nvPr/>
        </p:nvSpPr>
        <p:spPr>
          <a:xfrm>
            <a:off x="6492240" y="1188720"/>
            <a:ext cx="51206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使い分けの目安</a:t>
            </a:r>
            <a:endParaRPr lang="en-US" sz="1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492240" y="1554480"/>
          <a:ext cx="5120640" cy="914400"/>
        </p:xfrm>
        <a:graphic>
          <a:graphicData uri="http://schemas.openxmlformats.org/drawingml/2006/table">
            <a:tbl>
              <a:tblPr/>
              <a:tblGrid>
                <a:gridCol w="3291840"/>
                <a:gridCol w="1828800"/>
              </a:tblGrid>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向いているタスク</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推奨</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コードベース全体の理解が必要</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Planning Mode</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複数ファイルにまたがる実装</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Planning Mode</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複雑なロジック・デバッグ</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Effort Level(高)</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両方の複雑さがあるタスク</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両方を併用可</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2" name="Shape 8"/>
          <p:cNvSpPr/>
          <p:nvPr/>
        </p:nvSpPr>
        <p:spPr>
          <a:xfrm>
            <a:off x="6492240" y="3703320"/>
            <a:ext cx="5120640" cy="960120"/>
          </a:xfrm>
          <a:prstGeom prst="roundRect">
            <a:avLst>
              <a:gd name="adj" fmla="val 7619"/>
            </a:avLst>
          </a:prstGeom>
          <a:solidFill>
            <a:srgbClr val="FBF1E4"/>
          </a:solidFill>
          <a:ln/>
        </p:spPr>
        <p:txBody>
          <a:bodyPr/>
          <a:p/>
        </p:txBody>
      </p:sp>
      <p:pic>
        <p:nvPicPr>
          <p:cNvPr id="13" name="Image 1" descr="preencoded.png">    </p:cNvPr>
          <p:cNvPicPr>
            <a:picLocks noChangeAspect="1"/>
          </p:cNvPicPr>
          <p:nvPr/>
        </p:nvPicPr>
        <p:blipFill>
          <a:blip r:embed="rId2"/>
          <a:stretch>
            <a:fillRect/>
          </a:stretch>
        </p:blipFill>
        <p:spPr>
          <a:xfrm>
            <a:off x="6656832" y="3867912"/>
            <a:ext cx="310896" cy="310896"/>
          </a:xfrm>
          <a:prstGeom prst="rect">
            <a:avLst/>
          </a:prstGeom>
        </p:spPr>
      </p:pic>
      <p:sp>
        <p:nvSpPr>
          <p:cNvPr id="14" name="Text 9"/>
          <p:cNvSpPr/>
          <p:nvPr/>
        </p:nvSpPr>
        <p:spPr>
          <a:xfrm>
            <a:off x="7086600" y="3794760"/>
            <a:ext cx="43891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10"/>
          <p:cNvSpPr/>
          <p:nvPr/>
        </p:nvSpPr>
        <p:spPr>
          <a:xfrm>
            <a:off x="7086600" y="4087368"/>
            <a:ext cx="43434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Planning ModeとEffort Levelは別軸の機能。Planning Modeは「どのファイルを読み計画するか」という広さ、Effort Levelは「1つの問題をどれだけ深く考えるか」という深さの制御、という違いが問われやすい。両方とも追加トークンを消費する点も要注意。</a:t>
            </a:r>
            <a:endParaRPr lang="en-US" sz="1200" dirty="0"/>
          </a:p>
        </p:txBody>
      </p:sp>
      <p:sp>
        <p:nvSpPr>
          <p:cNvPr id="16" name="Text 1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2"/>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Plan Mode・Hooks・権限モード</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539496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Plan Mode</a:t>
            </a:r>
            <a:endParaRPr lang="en-US" sz="1400" dirty="0"/>
          </a:p>
        </p:txBody>
      </p:sp>
      <p:sp>
        <p:nvSpPr>
          <p:cNvPr id="7" name="Text 4"/>
          <p:cNvSpPr/>
          <p:nvPr/>
        </p:nvSpPr>
        <p:spPr>
          <a:xfrm>
            <a:off x="548640" y="1536192"/>
            <a:ext cx="5394960" cy="1554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ツール実行なしで計画のみ提示 → 人間がレビュー</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大規模リファクタリング等の前段階として使用</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「探索→計画→実装」の3段階ベストプラクティスの中核</a:t>
            </a:r>
            <a:endParaRPr lang="en-US" sz="1300" dirty="0"/>
          </a:p>
        </p:txBody>
      </p:sp>
      <p:sp>
        <p:nvSpPr>
          <p:cNvPr id="8" name="Text 5"/>
          <p:cNvSpPr/>
          <p:nvPr/>
        </p:nvSpPr>
        <p:spPr>
          <a:xfrm>
            <a:off x="548640" y="3200400"/>
            <a:ext cx="539496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Hooks(コンテキスト外で発火)</a:t>
            </a:r>
            <a:endParaRPr lang="en-US" sz="14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5394960" cy="914400"/>
        </p:xfrm>
        <a:graphic>
          <a:graphicData uri="http://schemas.openxmlformats.org/drawingml/2006/table">
            <a:tbl>
              <a:tblPr/>
              <a:tblGrid>
                <a:gridCol w="1645920"/>
                <a:gridCol w="3749040"/>
              </a:tblGrid>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フック</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用途</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PreToolUse</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入力検証・危険コマンドのブロック</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PostToolUse</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出力の監査・副作用のトリガー</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Stop</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結果検証・セッション状態保存</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PreCompact</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圧縮前のフルトランスクリプト保存</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6"/>
          <p:cNvSpPr/>
          <p:nvPr/>
        </p:nvSpPr>
        <p:spPr>
          <a:xfrm>
            <a:off x="6400800" y="1188720"/>
            <a:ext cx="539496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権限モード</a:t>
            </a:r>
            <a:endParaRPr lang="en-US" sz="1400" dirty="0"/>
          </a:p>
        </p:txBody>
      </p:sp>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400800" y="1536192"/>
          <a:ext cx="5394960" cy="914400"/>
        </p:xfrm>
        <a:graphic>
          <a:graphicData uri="http://schemas.openxmlformats.org/drawingml/2006/table">
            <a:tbl>
              <a:tblPr/>
              <a:tblGrid>
                <a:gridCol w="1920240"/>
                <a:gridCol w="3474720"/>
              </a:tblGrid>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モード</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動作</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default</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ルール対象外は承認要求</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acceptEdits</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編集は自動承認(MCPは対象外)</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plan</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ツール実行なし・計画のみ</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dontAsk</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事前承認済のみ実行・確認なし</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bypassPermissions</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全許可済ツールを確認なし実行</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2" name="Shape 7"/>
          <p:cNvSpPr/>
          <p:nvPr/>
        </p:nvSpPr>
        <p:spPr>
          <a:xfrm>
            <a:off x="6400800" y="4617720"/>
            <a:ext cx="5394960" cy="960120"/>
          </a:xfrm>
          <a:prstGeom prst="roundRect">
            <a:avLst>
              <a:gd name="adj" fmla="val 7619"/>
            </a:avLst>
          </a:prstGeom>
          <a:solidFill>
            <a:srgbClr val="FBF1E4"/>
          </a:solidFill>
          <a:ln/>
        </p:spPr>
        <p:txBody>
          <a:bodyPr/>
          <a:p/>
        </p:txBody>
      </p:sp>
      <p:pic>
        <p:nvPicPr>
          <p:cNvPr id="13" name="Image 1" descr="preencoded.png">    </p:cNvPr>
          <p:cNvPicPr>
            <a:picLocks noChangeAspect="1"/>
          </p:cNvPicPr>
          <p:nvPr/>
        </p:nvPicPr>
        <p:blipFill>
          <a:blip r:embed="rId2"/>
          <a:stretch>
            <a:fillRect/>
          </a:stretch>
        </p:blipFill>
        <p:spPr>
          <a:xfrm>
            <a:off x="6565392" y="4782312"/>
            <a:ext cx="310896" cy="310896"/>
          </a:xfrm>
          <a:prstGeom prst="rect">
            <a:avLst/>
          </a:prstGeom>
        </p:spPr>
      </p:pic>
      <p:sp>
        <p:nvSpPr>
          <p:cNvPr id="14" name="Text 8"/>
          <p:cNvSpPr/>
          <p:nvPr/>
        </p:nvSpPr>
        <p:spPr>
          <a:xfrm>
            <a:off x="6995160" y="4709160"/>
            <a:ext cx="466344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9"/>
          <p:cNvSpPr/>
          <p:nvPr/>
        </p:nvSpPr>
        <p:spPr>
          <a:xfrm>
            <a:off x="6995160" y="5001768"/>
            <a:ext cx="461772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危険なBashコマンドを実行前にブロックしたい→PreToolUse。ツール結果を監査ログに残したい→PostToolUse、が頻出パターン。</a:t>
            </a:r>
            <a:endParaRPr lang="en-US" sz="1200" dirty="0"/>
          </a:p>
        </p:txBody>
      </p:sp>
      <p:sp>
        <p:nvSpPr>
          <p:cNvPr id="16" name="Text 1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1"/>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822960"/>
            <a:ext cx="1188720" cy="1188720"/>
          </a:xfrm>
          <a:prstGeom prst="ellipse">
            <a:avLst/>
          </a:prstGeom>
          <a:solidFill>
            <a:srgbClr val="141B44"/>
          </a:solidFill>
          <a:ln/>
        </p:spPr>
        <p:txBody>
          <a:bodyPr/>
          <a:p/>
        </p:txBody>
      </p:sp>
      <p:pic>
        <p:nvPicPr>
          <p:cNvPr id="3" name="Image 0" descr="preencoded.png">    </p:cNvPr>
          <p:cNvPicPr>
            <a:picLocks noChangeAspect="1"/>
          </p:cNvPicPr>
          <p:nvPr/>
        </p:nvPicPr>
        <p:blipFill>
          <a:blip r:embed="rId1"/>
          <a:stretch>
            <a:fillRect/>
          </a:stretch>
        </p:blipFill>
        <p:spPr>
          <a:xfrm>
            <a:off x="925373" y="1108253"/>
            <a:ext cx="618134" cy="618134"/>
          </a:xfrm>
          <a:prstGeom prst="rect">
            <a:avLst/>
          </a:prstGeom>
        </p:spPr>
      </p:pic>
      <p:sp>
        <p:nvSpPr>
          <p:cNvPr id="4" name="Text 1"/>
          <p:cNvSpPr/>
          <p:nvPr/>
        </p:nvSpPr>
        <p:spPr>
          <a:xfrm>
            <a:off x="2103120" y="868680"/>
            <a:ext cx="5486400" cy="457200"/>
          </a:xfrm>
          <a:prstGeom prst="rect">
            <a:avLst/>
          </a:prstGeom>
          <a:noFill/>
          <a:ln/>
        </p:spPr>
        <p:txBody>
          <a:bodyPr wrap="square" rtlCol="0" anchor="ctr"/>
          <a:lstStyle/>
          <a:p>
            <a:pPr indent="0" marL="0">
              <a:buNone/>
            </a:pPr>
            <a:r>
              <a:rPr lang="en-US" sz="1700" b="1" spc="200" kern="0" dirty="0">
                <a:solidFill>
                  <a:srgbClr val="CADCFC"/>
                </a:solidFill>
                <a:latin typeface="Meiryo" pitchFamily="34" charset="0"/>
                <a:ea typeface="Meiryo" pitchFamily="34" charset="-122"/>
                <a:cs typeface="Meiryo" pitchFamily="34" charset="-120"/>
              </a:rPr>
              <a:t>DOMAIN 4</a:t>
            </a:r>
            <a:endParaRPr lang="en-US" sz="1700" dirty="0"/>
          </a:p>
        </p:txBody>
      </p:sp>
      <p:sp>
        <p:nvSpPr>
          <p:cNvPr id="5" name="Text 2"/>
          <p:cNvSpPr/>
          <p:nvPr/>
        </p:nvSpPr>
        <p:spPr>
          <a:xfrm>
            <a:off x="2103120" y="1280160"/>
            <a:ext cx="8686800" cy="1005840"/>
          </a:xfrm>
          <a:prstGeom prst="rect">
            <a:avLst/>
          </a:prstGeom>
          <a:noFill/>
          <a:ln/>
        </p:spPr>
        <p:txBody>
          <a:bodyPr wrap="square" rtlCol="0" anchor="ctr"/>
          <a:lstStyle/>
          <a:p>
            <a:pPr indent="0" marL="0">
              <a:buNone/>
            </a:pPr>
            <a:r>
              <a:rPr lang="en-US" sz="3300" b="1" dirty="0">
                <a:solidFill>
                  <a:srgbClr val="FFFFFF"/>
                </a:solidFill>
                <a:latin typeface="Meiryo" pitchFamily="34" charset="0"/>
                <a:ea typeface="Meiryo" pitchFamily="34" charset="-122"/>
                <a:cs typeface="Meiryo" pitchFamily="34" charset="-120"/>
              </a:rPr>
              <a:t>Prompt Engineering &amp; Structured Output</a:t>
            </a:r>
            <a:endParaRPr lang="en-US" sz="3300" dirty="0"/>
          </a:p>
        </p:txBody>
      </p:sp>
      <p:sp>
        <p:nvSpPr>
          <p:cNvPr id="6" name="Text 3"/>
          <p:cNvSpPr/>
          <p:nvPr/>
        </p:nvSpPr>
        <p:spPr>
          <a:xfrm>
            <a:off x="2103120" y="2148840"/>
            <a:ext cx="8686800" cy="548640"/>
          </a:xfrm>
          <a:prstGeom prst="rect">
            <a:avLst/>
          </a:prstGeom>
          <a:noFill/>
          <a:ln/>
        </p:spPr>
        <p:txBody>
          <a:bodyPr wrap="square" rtlCol="0" anchor="ctr"/>
          <a:lstStyle/>
          <a:p>
            <a:pPr indent="0" marL="0">
              <a:buNone/>
            </a:pPr>
            <a:r>
              <a:rPr lang="en-US" sz="1600" dirty="0">
                <a:solidFill>
                  <a:srgbClr val="CADCFC"/>
                </a:solidFill>
                <a:latin typeface="Meiryo" pitchFamily="34" charset="0"/>
                <a:ea typeface="Meiryo" pitchFamily="34" charset="-122"/>
                <a:cs typeface="Meiryo" pitchFamily="34" charset="-120"/>
              </a:rPr>
              <a:t>プロンプト設計と構造化出力</a:t>
            </a:r>
            <a:endParaRPr lang="en-US" sz="1600" dirty="0"/>
          </a:p>
        </p:txBody>
      </p:sp>
      <p:sp>
        <p:nvSpPr>
          <p:cNvPr id="7" name="Shape 4"/>
          <p:cNvSpPr/>
          <p:nvPr/>
        </p:nvSpPr>
        <p:spPr>
          <a:xfrm>
            <a:off x="9692640" y="777240"/>
            <a:ext cx="1828800" cy="1234440"/>
          </a:xfrm>
          <a:prstGeom prst="roundRect">
            <a:avLst>
              <a:gd name="adj" fmla="val 8889"/>
            </a:avLst>
          </a:prstGeom>
          <a:solidFill>
            <a:srgbClr val="141B44"/>
          </a:solidFill>
          <a:ln/>
          <a:effectLst>
            <a:outerShdw sx="100000" sy="100000" kx="0" ky="0" algn="bl" rotWithShape="0" blurRad="101600" dist="38100" dir="2700000">
              <a:srgbClr val="000000">
                <a:alpha val="15000"/>
              </a:srgbClr>
            </a:outerShdw>
          </a:effectLst>
        </p:spPr>
        <p:txBody>
          <a:bodyPr/>
          <a:p/>
        </p:txBody>
      </p:sp>
      <p:sp>
        <p:nvSpPr>
          <p:cNvPr id="8" name="Text 5"/>
          <p:cNvSpPr/>
          <p:nvPr/>
        </p:nvSpPr>
        <p:spPr>
          <a:xfrm>
            <a:off x="9692640" y="868680"/>
            <a:ext cx="1828800" cy="731520"/>
          </a:xfrm>
          <a:prstGeom prst="rect">
            <a:avLst/>
          </a:prstGeom>
          <a:noFill/>
          <a:ln/>
        </p:spPr>
        <p:txBody>
          <a:bodyPr wrap="square" rtlCol="0" anchor="ctr"/>
          <a:lstStyle/>
          <a:p>
            <a:pPr algn="ctr" indent="0" marL="0">
              <a:buNone/>
            </a:pPr>
            <a:r>
              <a:rPr lang="en-US" sz="3600" b="1" dirty="0">
                <a:solidFill>
                  <a:srgbClr val="FFFFFF"/>
                </a:solidFill>
                <a:latin typeface="Meiryo" pitchFamily="34" charset="0"/>
                <a:ea typeface="Meiryo" pitchFamily="34" charset="-122"/>
                <a:cs typeface="Meiryo" pitchFamily="34" charset="-120"/>
              </a:rPr>
              <a:t>20%</a:t>
            </a:r>
            <a:endParaRPr lang="en-US" sz="3600" dirty="0"/>
          </a:p>
        </p:txBody>
      </p:sp>
      <p:sp>
        <p:nvSpPr>
          <p:cNvPr id="9" name="Text 6"/>
          <p:cNvSpPr/>
          <p:nvPr/>
        </p:nvSpPr>
        <p:spPr>
          <a:xfrm>
            <a:off x="9692640" y="1572768"/>
            <a:ext cx="1828800" cy="365760"/>
          </a:xfrm>
          <a:prstGeom prst="rect">
            <a:avLst/>
          </a:prstGeom>
          <a:noFill/>
          <a:ln/>
        </p:spPr>
        <p:txBody>
          <a:bodyPr wrap="square" rtlCol="0" anchor="ctr"/>
          <a:lstStyle/>
          <a:p>
            <a:pPr algn="ctr" indent="0" marL="0">
              <a:buNone/>
            </a:pPr>
            <a:r>
              <a:rPr lang="en-US" sz="1200" dirty="0">
                <a:solidFill>
                  <a:srgbClr val="CADCFC"/>
                </a:solidFill>
                <a:latin typeface="Meiryo" pitchFamily="34" charset="0"/>
                <a:ea typeface="Meiryo" pitchFamily="34" charset="-122"/>
                <a:cs typeface="Meiryo" pitchFamily="34" charset="-120"/>
              </a:rPr>
              <a:t>出題配点</a:t>
            </a:r>
            <a:endParaRPr lang="en-US" sz="1200" dirty="0"/>
          </a:p>
        </p:txBody>
      </p:sp>
      <p:sp>
        <p:nvSpPr>
          <p:cNvPr id="10" name="Shape 7"/>
          <p:cNvSpPr/>
          <p:nvPr/>
        </p:nvSpPr>
        <p:spPr>
          <a:xfrm>
            <a:off x="2103120" y="2697480"/>
            <a:ext cx="9418320" cy="0"/>
          </a:xfrm>
          <a:prstGeom prst="line">
            <a:avLst/>
          </a:prstGeom>
          <a:noFill/>
          <a:ln w="12700">
            <a:solidFill>
              <a:srgbClr val="3A4380"/>
            </a:solidFill>
            <a:prstDash val="solid"/>
          </a:ln>
        </p:spPr>
        <p:txBody>
          <a:bodyPr/>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構造化出力(Structured Output)</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548640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動作フロー</a:t>
            </a:r>
            <a:endParaRPr lang="en-US" sz="1400" dirty="0"/>
          </a:p>
        </p:txBody>
      </p:sp>
      <p:sp>
        <p:nvSpPr>
          <p:cNvPr id="7" name="Shape 4"/>
          <p:cNvSpPr/>
          <p:nvPr/>
        </p:nvSpPr>
        <p:spPr>
          <a:xfrm>
            <a:off x="548640" y="1554480"/>
            <a:ext cx="5760720" cy="502920"/>
          </a:xfrm>
          <a:prstGeom prst="roundRect">
            <a:avLst>
              <a:gd name="adj" fmla="val 10909"/>
            </a:avLst>
          </a:prstGeom>
          <a:solidFill>
            <a:srgbClr val="F4F7FD"/>
          </a:solidFill>
          <a:ln/>
        </p:spPr>
        <p:txBody>
          <a:bodyPr/>
          <a:p/>
        </p:txBody>
      </p:sp>
      <p:sp>
        <p:nvSpPr>
          <p:cNvPr id="8" name="Text 5"/>
          <p:cNvSpPr/>
          <p:nvPr/>
        </p:nvSpPr>
        <p:spPr>
          <a:xfrm>
            <a:off x="777240" y="1554480"/>
            <a:ext cx="5394960" cy="502920"/>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① JSON Schemaを定義(Zod / Pydantic)</a:t>
            </a:r>
            <a:endParaRPr lang="en-US" sz="1250" dirty="0"/>
          </a:p>
        </p:txBody>
      </p:sp>
      <p:sp>
        <p:nvSpPr>
          <p:cNvPr id="9" name="Shape 6"/>
          <p:cNvSpPr/>
          <p:nvPr/>
        </p:nvSpPr>
        <p:spPr>
          <a:xfrm>
            <a:off x="548640" y="2176272"/>
            <a:ext cx="5760720" cy="502920"/>
          </a:xfrm>
          <a:prstGeom prst="roundRect">
            <a:avLst>
              <a:gd name="adj" fmla="val 10909"/>
            </a:avLst>
          </a:prstGeom>
          <a:solidFill>
            <a:srgbClr val="F4F7FD"/>
          </a:solidFill>
          <a:ln/>
        </p:spPr>
        <p:txBody>
          <a:bodyPr/>
          <a:p/>
        </p:txBody>
      </p:sp>
      <p:sp>
        <p:nvSpPr>
          <p:cNvPr id="10" name="Text 7"/>
          <p:cNvSpPr/>
          <p:nvPr/>
        </p:nvSpPr>
        <p:spPr>
          <a:xfrm>
            <a:off x="777240" y="2176272"/>
            <a:ext cx="5394960" cy="502920"/>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② タスク実行中は自由にツールを利用</a:t>
            </a:r>
            <a:endParaRPr lang="en-US" sz="1250" dirty="0"/>
          </a:p>
        </p:txBody>
      </p:sp>
      <p:sp>
        <p:nvSpPr>
          <p:cNvPr id="11" name="Shape 8"/>
          <p:cNvSpPr/>
          <p:nvPr/>
        </p:nvSpPr>
        <p:spPr>
          <a:xfrm>
            <a:off x="548640" y="2798064"/>
            <a:ext cx="5760720" cy="502920"/>
          </a:xfrm>
          <a:prstGeom prst="roundRect">
            <a:avLst>
              <a:gd name="adj" fmla="val 10909"/>
            </a:avLst>
          </a:prstGeom>
          <a:solidFill>
            <a:srgbClr val="F4F7FD"/>
          </a:solidFill>
          <a:ln/>
        </p:spPr>
        <p:txBody>
          <a:bodyPr/>
          <a:p/>
        </p:txBody>
      </p:sp>
      <p:sp>
        <p:nvSpPr>
          <p:cNvPr id="12" name="Text 9"/>
          <p:cNvSpPr/>
          <p:nvPr/>
        </p:nvSpPr>
        <p:spPr>
          <a:xfrm>
            <a:off x="777240" y="2798064"/>
            <a:ext cx="5394960" cy="502920"/>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③ 最終応答をスキーマに対し検証</a:t>
            </a:r>
            <a:endParaRPr lang="en-US" sz="1250" dirty="0"/>
          </a:p>
        </p:txBody>
      </p:sp>
      <p:sp>
        <p:nvSpPr>
          <p:cNvPr id="13" name="Shape 10"/>
          <p:cNvSpPr/>
          <p:nvPr/>
        </p:nvSpPr>
        <p:spPr>
          <a:xfrm>
            <a:off x="548640" y="3419856"/>
            <a:ext cx="5760720" cy="502920"/>
          </a:xfrm>
          <a:prstGeom prst="roundRect">
            <a:avLst>
              <a:gd name="adj" fmla="val 10909"/>
            </a:avLst>
          </a:prstGeom>
          <a:solidFill>
            <a:srgbClr val="F4F7FD"/>
          </a:solidFill>
          <a:ln/>
        </p:spPr>
        <p:txBody>
          <a:bodyPr/>
          <a:p/>
        </p:txBody>
      </p:sp>
      <p:sp>
        <p:nvSpPr>
          <p:cNvPr id="14" name="Text 11"/>
          <p:cNvSpPr/>
          <p:nvPr/>
        </p:nvSpPr>
        <p:spPr>
          <a:xfrm>
            <a:off x="777240" y="3419856"/>
            <a:ext cx="5394960" cy="502920"/>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④ 不一致なら自動的に再プロンプト(リトライ)</a:t>
            </a:r>
            <a:endParaRPr lang="en-US" sz="1250" dirty="0"/>
          </a:p>
        </p:txBody>
      </p:sp>
      <p:sp>
        <p:nvSpPr>
          <p:cNvPr id="15" name="Text 12"/>
          <p:cNvSpPr/>
          <p:nvPr/>
        </p:nvSpPr>
        <p:spPr>
          <a:xfrm>
            <a:off x="548640" y="4133088"/>
            <a:ext cx="576072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エラー対策のベストプラクティス</a:t>
            </a:r>
            <a:endParaRPr lang="en-US" sz="1400" dirty="0"/>
          </a:p>
        </p:txBody>
      </p:sp>
      <p:sp>
        <p:nvSpPr>
          <p:cNvPr id="16" name="Text 13"/>
          <p:cNvSpPr/>
          <p:nvPr/>
        </p:nvSpPr>
        <p:spPr>
          <a:xfrm>
            <a:off x="548640" y="4498848"/>
            <a:ext cx="5760720" cy="14630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スキーマはシンプルに保つ(深いネスト・過剰な必須項目を避ける)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情報が揃わない可能性がある項目はoptionalに</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プロンプトの曖昧さを避ける</a:t>
            </a:r>
            <a:endParaRPr lang="en-US" sz="1250" dirty="0"/>
          </a:p>
        </p:txBody>
      </p:sp>
      <p:sp>
        <p:nvSpPr>
          <p:cNvPr id="17" name="Shape 14"/>
          <p:cNvSpPr/>
          <p:nvPr/>
        </p:nvSpPr>
        <p:spPr>
          <a:xfrm>
            <a:off x="6583680" y="1188720"/>
            <a:ext cx="5029200" cy="960120"/>
          </a:xfrm>
          <a:prstGeom prst="roundRect">
            <a:avLst>
              <a:gd name="adj" fmla="val 7619"/>
            </a:avLst>
          </a:prstGeom>
          <a:solidFill>
            <a:srgbClr val="FBF1E4"/>
          </a:solidFill>
          <a:ln/>
        </p:spPr>
        <p:txBody>
          <a:bodyPr/>
          <a:p/>
        </p:txBody>
      </p:sp>
      <p:pic>
        <p:nvPicPr>
          <p:cNvPr id="18" name="Image 1" descr="preencoded.png">    </p:cNvPr>
          <p:cNvPicPr>
            <a:picLocks noChangeAspect="1"/>
          </p:cNvPicPr>
          <p:nvPr/>
        </p:nvPicPr>
        <p:blipFill>
          <a:blip r:embed="rId2"/>
          <a:stretch>
            <a:fillRect/>
          </a:stretch>
        </p:blipFill>
        <p:spPr>
          <a:xfrm>
            <a:off x="6748272" y="1353312"/>
            <a:ext cx="310896" cy="310896"/>
          </a:xfrm>
          <a:prstGeom prst="rect">
            <a:avLst/>
          </a:prstGeom>
        </p:spPr>
      </p:pic>
      <p:sp>
        <p:nvSpPr>
          <p:cNvPr id="19" name="Text 15"/>
          <p:cNvSpPr/>
          <p:nvPr/>
        </p:nvSpPr>
        <p:spPr>
          <a:xfrm>
            <a:off x="7178040" y="1280160"/>
            <a:ext cx="429768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0" name="Text 16"/>
          <p:cNvSpPr/>
          <p:nvPr/>
        </p:nvSpPr>
        <p:spPr>
          <a:xfrm>
            <a:off x="7178040" y="1572768"/>
            <a:ext cx="425196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構造化出力が失敗し続ける原因は?→①スキーマが複雑・必須項目過多、②プロンプトが曖昧、が正解になりやすい。</a:t>
            </a:r>
            <a:endParaRPr lang="en-US" sz="1200" dirty="0"/>
          </a:p>
        </p:txBody>
      </p:sp>
      <p:sp>
        <p:nvSpPr>
          <p:cNvPr id="21" name="Text 17"/>
          <p:cNvSpPr/>
          <p:nvPr/>
        </p:nvSpPr>
        <p:spPr>
          <a:xfrm>
            <a:off x="6583680" y="2286000"/>
            <a:ext cx="502920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コンテキストエンジニアリング</a:t>
            </a:r>
            <a:endParaRPr lang="en-US" sz="1400" dirty="0"/>
          </a:p>
        </p:txBody>
      </p:sp>
      <p:sp>
        <p:nvSpPr>
          <p:cNvPr id="22" name="Text 18"/>
          <p:cNvSpPr/>
          <p:nvPr/>
        </p:nvSpPr>
        <p:spPr>
          <a:xfrm>
            <a:off x="6583680" y="2651760"/>
            <a:ext cx="502920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プロンプトキャッシュ: 不変部分(システムプロンプト等)を自動キャッシュ</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Few-shotプロンプティング: 出力例を示し一貫性を高める</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抽出パターン: 構造化出力 + 検索/grepツールの組み合わせ</a:t>
            </a:r>
            <a:endParaRPr lang="en-US" sz="1300" dirty="0"/>
          </a:p>
        </p:txBody>
      </p:sp>
      <p:sp>
        <p:nvSpPr>
          <p:cNvPr id="23" name="Text 19"/>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4" name="Text 20"/>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48</a:t>
            </a:r>
            <a:endParaRPr lang="en-US" sz="100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2000" dirty="0">
                <a:solidFill>
                  <a:srgbClr val="000000"/>
                </a:solidFill>
                <a:latin typeface="Meiryo" pitchFamily="34" charset="0"/>
                <a:ea typeface="Meiryo" pitchFamily="34" charset="-122"/>
                <a:cs typeface="Meiryo" pitchFamily="34" charset="-120"/>
              </a:rPr>
              <a:t>1</a:t>
            </a:r>
            <a:endParaRPr lang="en-US" sz="20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400" b="1" dirty="0">
                <a:solidFill>
                  <a:srgbClr val="1F2430"/>
                </a:solidFill>
                <a:latin typeface="Meiryo" pitchFamily="34" charset="0"/>
                <a:ea typeface="Meiryo" pitchFamily="34" charset="-122"/>
                <a:cs typeface="Meiryo" pitchFamily="34" charset="-120"/>
              </a:rPr>
              <a:t>明示的な基準でプロンプト精度を上げる</a:t>
            </a:r>
            <a:endParaRPr lang="en-US" sz="24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公式Exam Guide</a:t>
            </a:r>
            <a:endParaRPr lang="en-US" sz="11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97280"/>
            <a:ext cx="11064240" cy="45720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公式Exam Guide Task 4.1: 曖昧な指示より、具体的で線引きの明確な基準を与える方が誤検知(false positive)を減らせる</a:t>
            </a:r>
            <a:endParaRPr lang="en-US" sz="12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103120"/>
                <a:gridCol w="4846320"/>
                <a:gridCol w="4114800"/>
              </a:tblGrid>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指示の種類</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効果</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曖昧な指示(弱い)</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「コメントが正確か確認して」「保守的にレビューして」「確信度の高いものだけ報告して」</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解釈が人・回によってブレる。confidence基準の絞り込みでは精度は上がらない</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具体的な基準(強い)</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「コメントの主張が実際のコード動作と矛盾する場合のみフラグを立てる」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判定条件が明確になり、誤検知が減る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7"/>
          <p:cNvSpPr/>
          <p:nvPr/>
        </p:nvSpPr>
        <p:spPr>
          <a:xfrm>
            <a:off x="548640" y="3566160"/>
            <a:ext cx="11064240" cy="15544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誤検知率が高いカテゴリがあると、正確なカテゴリへの信頼まで失われる(開発者は「またAIが誤検知した」と全体を疑うようになる)</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対策: 誤検知の多いカテゴリは一時的に無効化しつつ、そのカテゴリのプロンプトを個別に改善する</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重大度(severity)の分類も、各レベルの具体的なコード例を示すことで判定の一貫性が上がる</a:t>
            </a:r>
            <a:endParaRPr lang="en-US" sz="1200" dirty="0"/>
          </a:p>
        </p:txBody>
      </p:sp>
      <p:sp>
        <p:nvSpPr>
          <p:cNvPr id="11" name="Shape 8"/>
          <p:cNvSpPr/>
          <p:nvPr/>
        </p:nvSpPr>
        <p:spPr>
          <a:xfrm>
            <a:off x="548640" y="5257800"/>
            <a:ext cx="11064240" cy="960120"/>
          </a:xfrm>
          <a:prstGeom prst="roundRect">
            <a:avLst>
              <a:gd name="adj" fmla="val 7619"/>
            </a:avLst>
          </a:prstGeom>
          <a:solidFill>
            <a:srgbClr val="FBF1E4"/>
          </a:solidFill>
          <a:ln/>
        </p:spPr>
        <p:txBody>
          <a:bodyPr/>
          <a:p/>
        </p:txBody>
      </p:sp>
      <p:sp>
        <p:nvSpPr>
          <p:cNvPr id="12" name="Text 9"/>
          <p:cNvSpPr/>
          <p:nvPr/>
        </p:nvSpPr>
        <p:spPr>
          <a:xfrm>
            <a:off x="685800" y="534924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13" name="Text 10"/>
          <p:cNvSpPr/>
          <p:nvPr/>
        </p:nvSpPr>
        <p:spPr>
          <a:xfrm>
            <a:off x="1143000" y="53492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4" name="Text 11"/>
          <p:cNvSpPr/>
          <p:nvPr/>
        </p:nvSpPr>
        <p:spPr>
          <a:xfrm>
            <a:off x="1143000" y="564184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AIレビューの誤検知が多く開発者の信頼を失っている。confidenceでフィルタすべきか?」→NO。「確信度が高いものだけ報告」は基準として曖昧すぎる。具体的な判定基準(何が該当し何が該当しないか)を書き直すのが正解。</a:t>
            </a:r>
            <a:endParaRPr lang="en-US" sz="1200" dirty="0"/>
          </a:p>
        </p:txBody>
      </p:sp>
      <p:sp>
        <p:nvSpPr>
          <p:cNvPr id="15" name="Text 1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16" name="Text 13"/>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プロンプト評価(Eval)ワークフロー</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566928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評価の5ステップ</a:t>
            </a:r>
            <a:endParaRPr lang="en-US" sz="1400" dirty="0"/>
          </a:p>
        </p:txBody>
      </p:sp>
      <p:sp>
        <p:nvSpPr>
          <p:cNvPr id="7" name="Shape 4"/>
          <p:cNvSpPr/>
          <p:nvPr/>
        </p:nvSpPr>
        <p:spPr>
          <a:xfrm>
            <a:off x="548640" y="1536192"/>
            <a:ext cx="5669280" cy="457200"/>
          </a:xfrm>
          <a:prstGeom prst="roundRect">
            <a:avLst>
              <a:gd name="adj" fmla="val 12000"/>
            </a:avLst>
          </a:prstGeom>
          <a:solidFill>
            <a:srgbClr val="F4F7FD"/>
          </a:solidFill>
          <a:ln/>
        </p:spPr>
        <p:txBody>
          <a:bodyPr/>
          <a:p/>
        </p:txBody>
      </p:sp>
      <p:sp>
        <p:nvSpPr>
          <p:cNvPr id="8" name="Text 5"/>
          <p:cNvSpPr/>
          <p:nvPr/>
        </p:nvSpPr>
        <p:spPr>
          <a:xfrm>
            <a:off x="731520" y="1536192"/>
            <a:ext cx="5303520" cy="457200"/>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① プロンプト初稿を書く</a:t>
            </a:r>
            <a:endParaRPr lang="en-US" sz="1250" dirty="0"/>
          </a:p>
        </p:txBody>
      </p:sp>
      <p:sp>
        <p:nvSpPr>
          <p:cNvPr id="9" name="Shape 6"/>
          <p:cNvSpPr/>
          <p:nvPr/>
        </p:nvSpPr>
        <p:spPr>
          <a:xfrm>
            <a:off x="548640" y="2084832"/>
            <a:ext cx="5669280" cy="457200"/>
          </a:xfrm>
          <a:prstGeom prst="roundRect">
            <a:avLst>
              <a:gd name="adj" fmla="val 12000"/>
            </a:avLst>
          </a:prstGeom>
          <a:solidFill>
            <a:srgbClr val="F4F7FD"/>
          </a:solidFill>
          <a:ln/>
        </p:spPr>
        <p:txBody>
          <a:bodyPr/>
          <a:p/>
        </p:txBody>
      </p:sp>
      <p:sp>
        <p:nvSpPr>
          <p:cNvPr id="10" name="Text 7"/>
          <p:cNvSpPr/>
          <p:nvPr/>
        </p:nvSpPr>
        <p:spPr>
          <a:xfrm>
            <a:off x="731520" y="2084832"/>
            <a:ext cx="5303520" cy="457200"/>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② 評価用データセットを作る</a:t>
            </a:r>
            <a:endParaRPr lang="en-US" sz="1250" dirty="0"/>
          </a:p>
        </p:txBody>
      </p:sp>
      <p:sp>
        <p:nvSpPr>
          <p:cNvPr id="11" name="Shape 8"/>
          <p:cNvSpPr/>
          <p:nvPr/>
        </p:nvSpPr>
        <p:spPr>
          <a:xfrm>
            <a:off x="548640" y="2633472"/>
            <a:ext cx="5669280" cy="457200"/>
          </a:xfrm>
          <a:prstGeom prst="roundRect">
            <a:avLst>
              <a:gd name="adj" fmla="val 12000"/>
            </a:avLst>
          </a:prstGeom>
          <a:solidFill>
            <a:srgbClr val="F4F7FD"/>
          </a:solidFill>
          <a:ln/>
        </p:spPr>
        <p:txBody>
          <a:bodyPr/>
          <a:p/>
        </p:txBody>
      </p:sp>
      <p:sp>
        <p:nvSpPr>
          <p:cNvPr id="12" name="Text 9"/>
          <p:cNvSpPr/>
          <p:nvPr/>
        </p:nvSpPr>
        <p:spPr>
          <a:xfrm>
            <a:off x="731520" y="2633472"/>
            <a:ext cx="5303520" cy="457200"/>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③ 各データをClaudeに通す</a:t>
            </a:r>
            <a:endParaRPr lang="en-US" sz="1250" dirty="0"/>
          </a:p>
        </p:txBody>
      </p:sp>
      <p:sp>
        <p:nvSpPr>
          <p:cNvPr id="13" name="Shape 10"/>
          <p:cNvSpPr/>
          <p:nvPr/>
        </p:nvSpPr>
        <p:spPr>
          <a:xfrm>
            <a:off x="548640" y="3182112"/>
            <a:ext cx="5669280" cy="457200"/>
          </a:xfrm>
          <a:prstGeom prst="roundRect">
            <a:avLst>
              <a:gd name="adj" fmla="val 12000"/>
            </a:avLst>
          </a:prstGeom>
          <a:solidFill>
            <a:srgbClr val="F4F7FD"/>
          </a:solidFill>
          <a:ln/>
        </p:spPr>
        <p:txBody>
          <a:bodyPr/>
          <a:p/>
        </p:txBody>
      </p:sp>
      <p:sp>
        <p:nvSpPr>
          <p:cNvPr id="14" name="Text 11"/>
          <p:cNvSpPr/>
          <p:nvPr/>
        </p:nvSpPr>
        <p:spPr>
          <a:xfrm>
            <a:off x="731520" y="3182112"/>
            <a:ext cx="5303520" cy="457200"/>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④ 採点者(グレーダー)で1〜10点採点</a:t>
            </a:r>
            <a:endParaRPr lang="en-US" sz="1250" dirty="0"/>
          </a:p>
        </p:txBody>
      </p:sp>
      <p:sp>
        <p:nvSpPr>
          <p:cNvPr id="15" name="Shape 12"/>
          <p:cNvSpPr/>
          <p:nvPr/>
        </p:nvSpPr>
        <p:spPr>
          <a:xfrm>
            <a:off x="548640" y="3730752"/>
            <a:ext cx="5669280" cy="457200"/>
          </a:xfrm>
          <a:prstGeom prst="roundRect">
            <a:avLst>
              <a:gd name="adj" fmla="val 12000"/>
            </a:avLst>
          </a:prstGeom>
          <a:solidFill>
            <a:srgbClr val="F4F7FD"/>
          </a:solidFill>
          <a:ln/>
        </p:spPr>
        <p:txBody>
          <a:bodyPr/>
          <a:p/>
        </p:txBody>
      </p:sp>
      <p:sp>
        <p:nvSpPr>
          <p:cNvPr id="16" name="Text 13"/>
          <p:cNvSpPr/>
          <p:nvPr/>
        </p:nvSpPr>
        <p:spPr>
          <a:xfrm>
            <a:off x="731520" y="3730752"/>
            <a:ext cx="5303520" cy="457200"/>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⑤ プロンプトを改良し①〜④を繰り返す</a:t>
            </a:r>
            <a:endParaRPr lang="en-US" sz="1250" dirty="0"/>
          </a:p>
        </p:txBody>
      </p:sp>
      <p:sp>
        <p:nvSpPr>
          <p:cNvPr id="17" name="Text 14"/>
          <p:cNvSpPr/>
          <p:nvPr/>
        </p:nvSpPr>
        <p:spPr>
          <a:xfrm>
            <a:off x="548640" y="4370832"/>
            <a:ext cx="5669280" cy="54864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例: 3問のデータセットで10・4・9点 → 平均7.66点。プロンプトに一文加えると平均8.7点に改善</a:t>
            </a:r>
            <a:endParaRPr lang="en-US" sz="1150" dirty="0"/>
          </a:p>
        </p:txBody>
      </p:sp>
      <p:sp>
        <p:nvSpPr>
          <p:cNvPr id="18" name="Text 15"/>
          <p:cNvSpPr/>
          <p:nvPr/>
        </p:nvSpPr>
        <p:spPr>
          <a:xfrm>
            <a:off x="6492240" y="1188720"/>
            <a:ext cx="51206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採点方法(グレーダー)3種類</a:t>
            </a:r>
            <a:endParaRPr lang="en-US" sz="14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492240" y="1536192"/>
          <a:ext cx="5120640" cy="914400"/>
        </p:xfrm>
        <a:graphic>
          <a:graphicData uri="http://schemas.openxmlformats.org/drawingml/2006/table">
            <a:tbl>
              <a:tblPr/>
              <a:tblGrid>
                <a:gridCol w="1737360"/>
                <a:gridCol w="338328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種類</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特徴</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コードグレーダー</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長さ・特定単語の有無・構文チェックなど機械的に判定</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モデルグレーダー</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別のAI呼び出しで品質・忠実さ・安全性等を評価</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人間グレーダー</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総合品質・深さ・関連性など最も柔軟だが手間大</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20" name="Shape 16"/>
          <p:cNvSpPr/>
          <p:nvPr/>
        </p:nvSpPr>
        <p:spPr>
          <a:xfrm>
            <a:off x="6492240" y="3246120"/>
            <a:ext cx="5120640" cy="960120"/>
          </a:xfrm>
          <a:prstGeom prst="roundRect">
            <a:avLst>
              <a:gd name="adj" fmla="val 7619"/>
            </a:avLst>
          </a:prstGeom>
          <a:solidFill>
            <a:srgbClr val="FBF1E4"/>
          </a:solidFill>
          <a:ln/>
        </p:spPr>
        <p:txBody>
          <a:bodyPr/>
          <a:p/>
        </p:txBody>
      </p:sp>
      <p:pic>
        <p:nvPicPr>
          <p:cNvPr id="21" name="Image 1" descr="preencoded.png">    </p:cNvPr>
          <p:cNvPicPr>
            <a:picLocks noChangeAspect="1"/>
          </p:cNvPicPr>
          <p:nvPr/>
        </p:nvPicPr>
        <p:blipFill>
          <a:blip r:embed="rId2"/>
          <a:stretch>
            <a:fillRect/>
          </a:stretch>
        </p:blipFill>
        <p:spPr>
          <a:xfrm>
            <a:off x="6656832" y="3410712"/>
            <a:ext cx="310896" cy="310896"/>
          </a:xfrm>
          <a:prstGeom prst="rect">
            <a:avLst/>
          </a:prstGeom>
        </p:spPr>
      </p:pic>
      <p:sp>
        <p:nvSpPr>
          <p:cNvPr id="22" name="Text 17"/>
          <p:cNvSpPr/>
          <p:nvPr/>
        </p:nvSpPr>
        <p:spPr>
          <a:xfrm>
            <a:off x="7086600" y="3337560"/>
            <a:ext cx="43891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3" name="Text 18"/>
          <p:cNvSpPr/>
          <p:nvPr/>
        </p:nvSpPr>
        <p:spPr>
          <a:xfrm>
            <a:off x="7086600" y="3630168"/>
            <a:ext cx="43434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モデルグレーダーはスコアだけでなく「良い点・改善点・理由」も出力させるのが鍵。理由づけなしだと無難な6点前後に丸めがちになる。</a:t>
            </a:r>
            <a:endParaRPr lang="en-US" sz="1200" dirty="0"/>
          </a:p>
        </p:txBody>
      </p:sp>
      <p:sp>
        <p:nvSpPr>
          <p:cNvPr id="24" name="Text 19"/>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5" name="Text 20"/>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プロンプトエンジニアリング 4つの技法</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① 明確さと直接性</a:t>
            </a:r>
            <a:endParaRPr lang="en-US" sz="1450" dirty="0"/>
          </a:p>
        </p:txBody>
      </p:sp>
      <p:sp>
        <p:nvSpPr>
          <p:cNvPr id="8" name="Text 5"/>
          <p:cNvSpPr/>
          <p:nvPr/>
        </p:nvSpPr>
        <p:spPr>
          <a:xfrm>
            <a:off x="731520" y="166420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動詞から始まる命令文にする。「何を食べるべき?」→「1日分の食事プランを生成してください」。この書き換えだけでスコア2.32→3.92に改善した例あり</a:t>
            </a:r>
            <a:endParaRPr lang="en-US" sz="1150" dirty="0"/>
          </a:p>
        </p:txBody>
      </p:sp>
      <p:sp>
        <p:nvSpPr>
          <p:cNvPr id="9" name="Shape 6"/>
          <p:cNvSpPr/>
          <p:nvPr/>
        </p:nvSpPr>
        <p:spPr>
          <a:xfrm>
            <a:off x="6195060" y="118872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② 具体性(ガイドライン/手順)</a:t>
            </a:r>
            <a:endParaRPr lang="en-US" sz="1450" dirty="0"/>
          </a:p>
        </p:txBody>
      </p:sp>
      <p:sp>
        <p:nvSpPr>
          <p:cNvPr id="11" name="Text 8"/>
          <p:cNvSpPr/>
          <p:nvPr/>
        </p:nvSpPr>
        <p:spPr>
          <a:xfrm>
            <a:off x="6377940" y="166420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出力の長さ・構造・含める要素を明示(出力ガイドライン)。複雑な判断が要るタスクには手順(プロセスステップ)も指定。例でスコア3.92→7.86に改善</a:t>
            </a:r>
            <a:endParaRPr lang="en-US" sz="1150" dirty="0"/>
          </a:p>
        </p:txBody>
      </p:sp>
      <p:sp>
        <p:nvSpPr>
          <p:cNvPr id="12" name="Shape 9"/>
          <p:cNvSpPr/>
          <p:nvPr/>
        </p:nvSpPr>
        <p:spPr>
          <a:xfrm>
            <a:off x="548640" y="310896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23697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③ XMLタグでの構造化</a:t>
            </a:r>
            <a:endParaRPr lang="en-US" sz="1450" dirty="0"/>
          </a:p>
        </p:txBody>
      </p:sp>
      <p:sp>
        <p:nvSpPr>
          <p:cNvPr id="14" name="Text 11"/>
          <p:cNvSpPr/>
          <p:nvPr/>
        </p:nvSpPr>
        <p:spPr>
          <a:xfrm>
            <a:off x="731520" y="358444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指示文とデータ、コードとドキュメントなど混在するコンテンツを&lt;athlete_information&gt;のような独自タグで明示的に区切る</a:t>
            </a:r>
            <a:endParaRPr lang="en-US" sz="1150" dirty="0"/>
          </a:p>
        </p:txBody>
      </p:sp>
      <p:sp>
        <p:nvSpPr>
          <p:cNvPr id="15" name="Shape 12"/>
          <p:cNvSpPr/>
          <p:nvPr/>
        </p:nvSpPr>
        <p:spPr>
          <a:xfrm>
            <a:off x="6195060" y="3108960"/>
            <a:ext cx="5417820" cy="1691640"/>
          </a:xfrm>
          <a:prstGeom prst="roundRect">
            <a:avLst>
              <a:gd name="adj" fmla="val 4324"/>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23697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④ Few-shot(例の提示)</a:t>
            </a:r>
            <a:endParaRPr lang="en-US" sz="1450" dirty="0"/>
          </a:p>
        </p:txBody>
      </p:sp>
      <p:sp>
        <p:nvSpPr>
          <p:cNvPr id="17" name="Text 14"/>
          <p:cNvSpPr/>
          <p:nvPr/>
        </p:nvSpPr>
        <p:spPr>
          <a:xfrm>
            <a:off x="6377940" y="3584448"/>
            <a:ext cx="5052060" cy="107899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&lt;sample_input&gt;/&lt;ideal_output&gt;タグで入出力例を示す。皮肉・反語など言葉で説明しにくいコーナーケースの判定精度が上がる</a:t>
            </a:r>
            <a:endParaRPr lang="en-US" sz="1150" dirty="0"/>
          </a:p>
        </p:txBody>
      </p:sp>
      <p:sp>
        <p:nvSpPr>
          <p:cNvPr id="18" name="Shape 15"/>
          <p:cNvSpPr/>
          <p:nvPr/>
        </p:nvSpPr>
        <p:spPr>
          <a:xfrm>
            <a:off x="548640" y="470916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4873752"/>
            <a:ext cx="310896" cy="310896"/>
          </a:xfrm>
          <a:prstGeom prst="rect">
            <a:avLst/>
          </a:prstGeom>
        </p:spPr>
      </p:pic>
      <p:sp>
        <p:nvSpPr>
          <p:cNvPr id="20" name="Text 16"/>
          <p:cNvSpPr/>
          <p:nvPr/>
        </p:nvSpPr>
        <p:spPr>
          <a:xfrm>
            <a:off x="1143000" y="480060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509320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①〜④は反復改善サイクル(目標設定→初稿→評価→技法適用→再評価)の中で使う。技法単体でなく、評価と組み合わせたサイクル全体が試験で問われやすい。</a:t>
            </a:r>
            <a:endParaRPr lang="en-US" sz="1200" dirty="0"/>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コスト最適化(CI/CDシナリオ関連)</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234440"/>
            <a:ext cx="5417820" cy="1554480"/>
          </a:xfrm>
          <a:prstGeom prst="roundRect">
            <a:avLst>
              <a:gd name="adj" fmla="val 4706"/>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6245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モデル選択</a:t>
            </a:r>
            <a:endParaRPr lang="en-US" sz="1450" dirty="0"/>
          </a:p>
        </p:txBody>
      </p:sp>
      <p:sp>
        <p:nvSpPr>
          <p:cNvPr id="8" name="Text 5"/>
          <p:cNvSpPr/>
          <p:nvPr/>
        </p:nvSpPr>
        <p:spPr>
          <a:xfrm>
            <a:off x="731520" y="1709928"/>
            <a:ext cx="5052060" cy="9418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単純作業はHaiku、通常開発はSonnet、高度な推論・大規模リファクタはOpusを使い分け</a:t>
            </a:r>
            <a:endParaRPr lang="en-US" sz="1150" dirty="0"/>
          </a:p>
        </p:txBody>
      </p:sp>
      <p:sp>
        <p:nvSpPr>
          <p:cNvPr id="9" name="Shape 6"/>
          <p:cNvSpPr/>
          <p:nvPr/>
        </p:nvSpPr>
        <p:spPr>
          <a:xfrm>
            <a:off x="6195060" y="1234440"/>
            <a:ext cx="5417820" cy="1554480"/>
          </a:xfrm>
          <a:prstGeom prst="roundRect">
            <a:avLst>
              <a:gd name="adj" fmla="val 4706"/>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6245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Message Batches API</a:t>
            </a:r>
            <a:endParaRPr lang="en-US" sz="1450" dirty="0"/>
          </a:p>
        </p:txBody>
      </p:sp>
      <p:sp>
        <p:nvSpPr>
          <p:cNvPr id="11" name="Text 8"/>
          <p:cNvSpPr/>
          <p:nvPr/>
        </p:nvSpPr>
        <p:spPr>
          <a:xfrm>
            <a:off x="6377940" y="1709928"/>
            <a:ext cx="5052060" cy="9418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即時応答不要な大量リクエストを非同期処理。入出力トークンとも標準価格の50%割引。最大10,000件/バッチ</a:t>
            </a:r>
            <a:endParaRPr lang="en-US" sz="1150" dirty="0"/>
          </a:p>
        </p:txBody>
      </p:sp>
      <p:sp>
        <p:nvSpPr>
          <p:cNvPr id="12" name="Shape 9"/>
          <p:cNvSpPr/>
          <p:nvPr/>
        </p:nvSpPr>
        <p:spPr>
          <a:xfrm>
            <a:off x="548640" y="3017520"/>
            <a:ext cx="5417820" cy="1554480"/>
          </a:xfrm>
          <a:prstGeom prst="roundRect">
            <a:avLst>
              <a:gd name="adj" fmla="val 4706"/>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1455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プロンプトキャッシュ併用</a:t>
            </a:r>
            <a:endParaRPr lang="en-US" sz="1450" dirty="0"/>
          </a:p>
        </p:txBody>
      </p:sp>
      <p:sp>
        <p:nvSpPr>
          <p:cNvPr id="14" name="Text 11"/>
          <p:cNvSpPr/>
          <p:nvPr/>
        </p:nvSpPr>
        <p:spPr>
          <a:xfrm>
            <a:off x="731520" y="3493008"/>
            <a:ext cx="5052060" cy="9418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キャッシュ読取は標準の約10%。Batch割引と併用で理論上約5%まで低減可能</a:t>
            </a:r>
            <a:endParaRPr lang="en-US" sz="1150" dirty="0"/>
          </a:p>
        </p:txBody>
      </p:sp>
      <p:sp>
        <p:nvSpPr>
          <p:cNvPr id="15" name="Shape 12"/>
          <p:cNvSpPr/>
          <p:nvPr/>
        </p:nvSpPr>
        <p:spPr>
          <a:xfrm>
            <a:off x="6195060" y="3017520"/>
            <a:ext cx="5417820" cy="1554480"/>
          </a:xfrm>
          <a:prstGeom prst="roundRect">
            <a:avLst>
              <a:gd name="adj" fmla="val 4706"/>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1455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適したユースケース</a:t>
            </a:r>
            <a:endParaRPr lang="en-US" sz="1450" dirty="0"/>
          </a:p>
        </p:txBody>
      </p:sp>
      <p:sp>
        <p:nvSpPr>
          <p:cNvPr id="17" name="Text 14"/>
          <p:cNvSpPr/>
          <p:nvPr/>
        </p:nvSpPr>
        <p:spPr>
          <a:xfrm>
            <a:off x="6377940" y="3493008"/>
            <a:ext cx="5052060" cy="9418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大規模評価、コンテンツモデレーション、文書の一括分類・要約など</a:t>
            </a:r>
            <a:endParaRPr lang="en-US" sz="1150" dirty="0"/>
          </a:p>
        </p:txBody>
      </p:sp>
      <p:sp>
        <p:nvSpPr>
          <p:cNvPr id="18" name="Shape 15"/>
          <p:cNvSpPr/>
          <p:nvPr/>
        </p:nvSpPr>
        <p:spPr>
          <a:xfrm>
            <a:off x="548640" y="452628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4690872"/>
            <a:ext cx="310896" cy="310896"/>
          </a:xfrm>
          <a:prstGeom prst="rect">
            <a:avLst/>
          </a:prstGeom>
        </p:spPr>
      </p:pic>
      <p:sp>
        <p:nvSpPr>
          <p:cNvPr id="20" name="Text 16"/>
          <p:cNvSpPr/>
          <p:nvPr/>
        </p:nvSpPr>
        <p:spPr>
          <a:xfrm>
            <a:off x="1143000" y="461772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491032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「即時応答が不要な大量の文書分類タスクをコストを抑えて処理したい」→ Message Batches APIの活用が正解になるパターンが典型。</a:t>
            </a:r>
            <a:endParaRPr lang="en-US" sz="1200" dirty="0"/>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822960"/>
            <a:ext cx="1188720" cy="1188720"/>
          </a:xfrm>
          <a:prstGeom prst="ellipse">
            <a:avLst/>
          </a:prstGeom>
          <a:solidFill>
            <a:srgbClr val="141B44"/>
          </a:solidFill>
          <a:ln/>
        </p:spPr>
        <p:txBody>
          <a:bodyPr/>
          <a:p/>
        </p:txBody>
      </p:sp>
      <p:pic>
        <p:nvPicPr>
          <p:cNvPr id="3" name="Image 0" descr="preencoded.png">    </p:cNvPr>
          <p:cNvPicPr>
            <a:picLocks noChangeAspect="1"/>
          </p:cNvPicPr>
          <p:nvPr/>
        </p:nvPicPr>
        <p:blipFill>
          <a:blip r:embed="rId1"/>
          <a:stretch>
            <a:fillRect/>
          </a:stretch>
        </p:blipFill>
        <p:spPr>
          <a:xfrm>
            <a:off x="925373" y="1108253"/>
            <a:ext cx="618134" cy="618134"/>
          </a:xfrm>
          <a:prstGeom prst="rect">
            <a:avLst/>
          </a:prstGeom>
        </p:spPr>
      </p:pic>
      <p:sp>
        <p:nvSpPr>
          <p:cNvPr id="4" name="Text 1"/>
          <p:cNvSpPr/>
          <p:nvPr/>
        </p:nvSpPr>
        <p:spPr>
          <a:xfrm>
            <a:off x="2103120" y="868680"/>
            <a:ext cx="5486400" cy="457200"/>
          </a:xfrm>
          <a:prstGeom prst="rect">
            <a:avLst/>
          </a:prstGeom>
          <a:noFill/>
          <a:ln/>
        </p:spPr>
        <p:txBody>
          <a:bodyPr wrap="square" rtlCol="0" anchor="ctr"/>
          <a:lstStyle/>
          <a:p>
            <a:pPr indent="0" marL="0">
              <a:buNone/>
            </a:pPr>
            <a:r>
              <a:rPr lang="en-US" sz="1700" b="1" spc="200" kern="0" dirty="0">
                <a:solidFill>
                  <a:srgbClr val="CADCFC"/>
                </a:solidFill>
                <a:latin typeface="Meiryo" pitchFamily="34" charset="0"/>
                <a:ea typeface="Meiryo" pitchFamily="34" charset="-122"/>
                <a:cs typeface="Meiryo" pitchFamily="34" charset="-120"/>
              </a:rPr>
              <a:t>DOMAIN 5</a:t>
            </a:r>
            <a:endParaRPr lang="en-US" sz="1700" dirty="0"/>
          </a:p>
        </p:txBody>
      </p:sp>
      <p:sp>
        <p:nvSpPr>
          <p:cNvPr id="5" name="Text 2"/>
          <p:cNvSpPr/>
          <p:nvPr/>
        </p:nvSpPr>
        <p:spPr>
          <a:xfrm>
            <a:off x="2103120" y="1280160"/>
            <a:ext cx="8686800" cy="1005840"/>
          </a:xfrm>
          <a:prstGeom prst="rect">
            <a:avLst/>
          </a:prstGeom>
          <a:noFill/>
          <a:ln/>
        </p:spPr>
        <p:txBody>
          <a:bodyPr wrap="square" rtlCol="0" anchor="ctr"/>
          <a:lstStyle/>
          <a:p>
            <a:pPr indent="0" marL="0">
              <a:buNone/>
            </a:pPr>
            <a:r>
              <a:rPr lang="en-US" sz="3300" b="1" dirty="0">
                <a:solidFill>
                  <a:srgbClr val="FFFFFF"/>
                </a:solidFill>
                <a:latin typeface="Meiryo" pitchFamily="34" charset="0"/>
                <a:ea typeface="Meiryo" pitchFamily="34" charset="-122"/>
                <a:cs typeface="Meiryo" pitchFamily="34" charset="-120"/>
              </a:rPr>
              <a:t>Context Management &amp; Reliability</a:t>
            </a:r>
            <a:endParaRPr lang="en-US" sz="3300" dirty="0"/>
          </a:p>
        </p:txBody>
      </p:sp>
      <p:sp>
        <p:nvSpPr>
          <p:cNvPr id="6" name="Text 3"/>
          <p:cNvSpPr/>
          <p:nvPr/>
        </p:nvSpPr>
        <p:spPr>
          <a:xfrm>
            <a:off x="2103120" y="2148840"/>
            <a:ext cx="8686800" cy="548640"/>
          </a:xfrm>
          <a:prstGeom prst="rect">
            <a:avLst/>
          </a:prstGeom>
          <a:noFill/>
          <a:ln/>
        </p:spPr>
        <p:txBody>
          <a:bodyPr wrap="square" rtlCol="0" anchor="ctr"/>
          <a:lstStyle/>
          <a:p>
            <a:pPr indent="0" marL="0">
              <a:buNone/>
            </a:pPr>
            <a:r>
              <a:rPr lang="en-US" sz="1600" dirty="0">
                <a:solidFill>
                  <a:srgbClr val="CADCFC"/>
                </a:solidFill>
                <a:latin typeface="Meiryo" pitchFamily="34" charset="0"/>
                <a:ea typeface="Meiryo" pitchFamily="34" charset="-122"/>
                <a:cs typeface="Meiryo" pitchFamily="34" charset="-120"/>
              </a:rPr>
              <a:t>コンテキスト管理と信頼性設計</a:t>
            </a:r>
            <a:endParaRPr lang="en-US" sz="1600" dirty="0"/>
          </a:p>
        </p:txBody>
      </p:sp>
      <p:sp>
        <p:nvSpPr>
          <p:cNvPr id="7" name="Shape 4"/>
          <p:cNvSpPr/>
          <p:nvPr/>
        </p:nvSpPr>
        <p:spPr>
          <a:xfrm>
            <a:off x="9692640" y="777240"/>
            <a:ext cx="1828800" cy="1234440"/>
          </a:xfrm>
          <a:prstGeom prst="roundRect">
            <a:avLst>
              <a:gd name="adj" fmla="val 8889"/>
            </a:avLst>
          </a:prstGeom>
          <a:solidFill>
            <a:srgbClr val="141B44"/>
          </a:solidFill>
          <a:ln/>
          <a:effectLst>
            <a:outerShdw sx="100000" sy="100000" kx="0" ky="0" algn="bl" rotWithShape="0" blurRad="101600" dist="38100" dir="2700000">
              <a:srgbClr val="000000">
                <a:alpha val="15000"/>
              </a:srgbClr>
            </a:outerShdw>
          </a:effectLst>
        </p:spPr>
        <p:txBody>
          <a:bodyPr/>
          <a:p/>
        </p:txBody>
      </p:sp>
      <p:sp>
        <p:nvSpPr>
          <p:cNvPr id="8" name="Text 5"/>
          <p:cNvSpPr/>
          <p:nvPr/>
        </p:nvSpPr>
        <p:spPr>
          <a:xfrm>
            <a:off x="9692640" y="868680"/>
            <a:ext cx="1828800" cy="731520"/>
          </a:xfrm>
          <a:prstGeom prst="rect">
            <a:avLst/>
          </a:prstGeom>
          <a:noFill/>
          <a:ln/>
        </p:spPr>
        <p:txBody>
          <a:bodyPr wrap="square" rtlCol="0" anchor="ctr"/>
          <a:lstStyle/>
          <a:p>
            <a:pPr algn="ctr" indent="0" marL="0">
              <a:buNone/>
            </a:pPr>
            <a:r>
              <a:rPr lang="en-US" sz="3600" b="1" dirty="0">
                <a:solidFill>
                  <a:srgbClr val="FFFFFF"/>
                </a:solidFill>
                <a:latin typeface="Meiryo" pitchFamily="34" charset="0"/>
                <a:ea typeface="Meiryo" pitchFamily="34" charset="-122"/>
                <a:cs typeface="Meiryo" pitchFamily="34" charset="-120"/>
              </a:rPr>
              <a:t>15%</a:t>
            </a:r>
            <a:endParaRPr lang="en-US" sz="3600" dirty="0"/>
          </a:p>
        </p:txBody>
      </p:sp>
      <p:sp>
        <p:nvSpPr>
          <p:cNvPr id="9" name="Text 6"/>
          <p:cNvSpPr/>
          <p:nvPr/>
        </p:nvSpPr>
        <p:spPr>
          <a:xfrm>
            <a:off x="9692640" y="1572768"/>
            <a:ext cx="1828800" cy="365760"/>
          </a:xfrm>
          <a:prstGeom prst="rect">
            <a:avLst/>
          </a:prstGeom>
          <a:noFill/>
          <a:ln/>
        </p:spPr>
        <p:txBody>
          <a:bodyPr wrap="square" rtlCol="0" anchor="ctr"/>
          <a:lstStyle/>
          <a:p>
            <a:pPr algn="ctr" indent="0" marL="0">
              <a:buNone/>
            </a:pPr>
            <a:r>
              <a:rPr lang="en-US" sz="1200" dirty="0">
                <a:solidFill>
                  <a:srgbClr val="CADCFC"/>
                </a:solidFill>
                <a:latin typeface="Meiryo" pitchFamily="34" charset="0"/>
                <a:ea typeface="Meiryo" pitchFamily="34" charset="-122"/>
                <a:cs typeface="Meiryo" pitchFamily="34" charset="-120"/>
              </a:rPr>
              <a:t>出題配点</a:t>
            </a:r>
            <a:endParaRPr lang="en-US" sz="1200" dirty="0"/>
          </a:p>
        </p:txBody>
      </p:sp>
      <p:sp>
        <p:nvSpPr>
          <p:cNvPr id="10" name="Shape 7"/>
          <p:cNvSpPr/>
          <p:nvPr/>
        </p:nvSpPr>
        <p:spPr>
          <a:xfrm>
            <a:off x="2103120" y="2697480"/>
            <a:ext cx="9418320" cy="0"/>
          </a:xfrm>
          <a:prstGeom prst="line">
            <a:avLst/>
          </a:prstGeom>
          <a:noFill/>
          <a:ln w="12700">
            <a:solidFill>
              <a:srgbClr val="3A4380"/>
            </a:solidFill>
            <a:prstDash val="solid"/>
          </a:ln>
        </p:spPr>
        <p:txBody>
          <a:bodyPr/>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コンテキストと自動コンパクション</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675120" cy="914400"/>
        </p:xfrm>
        <a:graphic>
          <a:graphicData uri="http://schemas.openxmlformats.org/drawingml/2006/table">
            <a:tbl>
              <a:tblPr/>
              <a:tblGrid>
                <a:gridCol w="2103120"/>
                <a:gridCol w="2286000"/>
                <a:gridCol w="2286000"/>
              </a:tblGrid>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要素</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読み込みタイミング</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影響</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システムプロンプト</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毎リクエスト</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固定の小さいコスト</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CLAUDE.md</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セッション開始時</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初回以降はキャッシュ</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ツール定義</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毎リクエスト</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Tool Searchで動的化可能</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430"/>
                          </a:solidFill>
                          <a:latin typeface="Meiryo" pitchFamily="34" charset="0"/>
                          <a:ea typeface="Meiryo" pitchFamily="34" charset="-122"/>
                          <a:cs typeface="Meiryo" pitchFamily="34" charset="-120"/>
                        </a:rPr>
                        <a:t>会話履歴</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累積</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50" dirty="0">
                          <a:solidFill>
                            <a:srgbClr val="1F2430"/>
                          </a:solidFill>
                          <a:latin typeface="Meiryo" pitchFamily="34" charset="0"/>
                          <a:ea typeface="Meiryo" pitchFamily="34" charset="-122"/>
                          <a:cs typeface="Meiryo" pitchFamily="34" charset="-120"/>
                        </a:rPr>
                        <a:t>ターンごとに増加</a:t>
                      </a:r>
                      <a:endParaRPr lang="en-US" sz="12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3337560"/>
            <a:ext cx="667512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自動コンパクション</a:t>
            </a:r>
            <a:endParaRPr lang="en-US" sz="1400" dirty="0"/>
          </a:p>
        </p:txBody>
      </p:sp>
      <p:sp>
        <p:nvSpPr>
          <p:cNvPr id="8" name="Text 4"/>
          <p:cNvSpPr/>
          <p:nvPr/>
        </p:nvSpPr>
        <p:spPr>
          <a:xfrm>
            <a:off x="548640" y="3703320"/>
            <a:ext cx="6675120" cy="1828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上限に近づくと古い会話履歴を自動要約</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初期の具体的指示が失われる可能性がある</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対策: 永続ルールはCLAUDE.mdへ。PreCompactフックで圧縮前アーカイブも可能</a:t>
            </a:r>
            <a:endParaRPr lang="en-US" sz="1300" dirty="0"/>
          </a:p>
        </p:txBody>
      </p:sp>
      <p:sp>
        <p:nvSpPr>
          <p:cNvPr id="9" name="Shape 5"/>
          <p:cNvSpPr/>
          <p:nvPr/>
        </p:nvSpPr>
        <p:spPr>
          <a:xfrm>
            <a:off x="7498080" y="1188720"/>
            <a:ext cx="4206240" cy="960120"/>
          </a:xfrm>
          <a:prstGeom prst="roundRect">
            <a:avLst>
              <a:gd name="adj" fmla="val 7619"/>
            </a:avLst>
          </a:prstGeom>
          <a:solidFill>
            <a:srgbClr val="FBF1E4"/>
          </a:solidFill>
          <a:ln/>
        </p:spPr>
        <p:txBody>
          <a:bodyPr/>
          <a:p/>
        </p:txBody>
      </p:sp>
      <p:pic>
        <p:nvPicPr>
          <p:cNvPr id="10" name="Image 1" descr="preencoded.png">    </p:cNvPr>
          <p:cNvPicPr>
            <a:picLocks noChangeAspect="1"/>
          </p:cNvPicPr>
          <p:nvPr/>
        </p:nvPicPr>
        <p:blipFill>
          <a:blip r:embed="rId2"/>
          <a:stretch>
            <a:fillRect/>
          </a:stretch>
        </p:blipFill>
        <p:spPr>
          <a:xfrm>
            <a:off x="7662672" y="1353312"/>
            <a:ext cx="310896" cy="310896"/>
          </a:xfrm>
          <a:prstGeom prst="rect">
            <a:avLst/>
          </a:prstGeom>
        </p:spPr>
      </p:pic>
      <p:sp>
        <p:nvSpPr>
          <p:cNvPr id="11" name="Text 6"/>
          <p:cNvSpPr/>
          <p:nvPr/>
        </p:nvSpPr>
        <p:spPr>
          <a:xfrm>
            <a:off x="8092440" y="1280160"/>
            <a:ext cx="3474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2" name="Text 7"/>
          <p:cNvSpPr/>
          <p:nvPr/>
        </p:nvSpPr>
        <p:spPr>
          <a:xfrm>
            <a:off x="8092440" y="1572768"/>
            <a:ext cx="3429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サブエージェントは親の会話履歴を自動的に参照できるか?→NO。唯一の伝達経路はプロンプト文字列のため、必要な情報は明示的に含める必要がある。</a:t>
            </a:r>
            <a:endParaRPr lang="en-US" sz="1200" dirty="0"/>
          </a:p>
        </p:txBody>
      </p:sp>
      <p:sp>
        <p:nvSpPr>
          <p:cNvPr id="13" name="Text 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4" name="Text 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セルフレビューの限界と独立レビュー</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23444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6245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セルフレビューの限界</a:t>
            </a:r>
            <a:endParaRPr lang="en-US" sz="1450" dirty="0"/>
          </a:p>
        </p:txBody>
      </p:sp>
      <p:sp>
        <p:nvSpPr>
          <p:cNvPr id="8" name="Text 5"/>
          <p:cNvSpPr/>
          <p:nvPr/>
        </p:nvSpPr>
        <p:spPr>
          <a:xfrm>
            <a:off x="731520" y="170992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生成時の推論コンテキストを保持したままだと、自分の判断を疑いにくい(確証バイアスに近い状態)</a:t>
            </a:r>
            <a:endParaRPr lang="en-US" sz="1150" dirty="0"/>
          </a:p>
        </p:txBody>
      </p:sp>
      <p:sp>
        <p:nvSpPr>
          <p:cNvPr id="9" name="Shape 6"/>
          <p:cNvSpPr/>
          <p:nvPr/>
        </p:nvSpPr>
        <p:spPr>
          <a:xfrm>
            <a:off x="6195060" y="123444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6245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独立レビューインスタンス</a:t>
            </a:r>
            <a:endParaRPr lang="en-US" sz="1450" dirty="0"/>
          </a:p>
        </p:txBody>
      </p:sp>
      <p:sp>
        <p:nvSpPr>
          <p:cNvPr id="11" name="Text 8"/>
          <p:cNvSpPr/>
          <p:nvPr/>
        </p:nvSpPr>
        <p:spPr>
          <a:xfrm>
            <a:off x="6377940" y="170992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生成側の推論を引き継がない別のClaudeインスタンスの方が、細かい問題を発見しやすい</a:t>
            </a:r>
            <a:endParaRPr lang="en-US" sz="1150" dirty="0"/>
          </a:p>
        </p:txBody>
      </p:sp>
      <p:sp>
        <p:nvSpPr>
          <p:cNvPr id="12" name="Shape 9"/>
          <p:cNvSpPr/>
          <p:nvPr/>
        </p:nvSpPr>
        <p:spPr>
          <a:xfrm>
            <a:off x="548640" y="320040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32841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マルチパスレビュー</a:t>
            </a:r>
            <a:endParaRPr lang="en-US" sz="1450" dirty="0"/>
          </a:p>
        </p:txBody>
      </p:sp>
      <p:sp>
        <p:nvSpPr>
          <p:cNvPr id="14" name="Text 11"/>
          <p:cNvSpPr/>
          <p:nvPr/>
        </p:nvSpPr>
        <p:spPr>
          <a:xfrm>
            <a:off x="731520" y="367588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①ファイル単位のローカル分析と②横断的な統合分析を分離し、注意力の分散・矛盾を防ぐ</a:t>
            </a:r>
            <a:endParaRPr lang="en-US" sz="1150" dirty="0"/>
          </a:p>
        </p:txBody>
      </p:sp>
      <p:sp>
        <p:nvSpPr>
          <p:cNvPr id="15" name="Shape 12"/>
          <p:cNvSpPr/>
          <p:nvPr/>
        </p:nvSpPr>
        <p:spPr>
          <a:xfrm>
            <a:off x="6195060" y="320040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32841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信頼性の設計パターン</a:t>
            </a:r>
            <a:endParaRPr lang="en-US" sz="1450" dirty="0"/>
          </a:p>
        </p:txBody>
      </p:sp>
      <p:sp>
        <p:nvSpPr>
          <p:cNvPr id="17" name="Text 14"/>
          <p:cNvSpPr/>
          <p:nvPr/>
        </p:nvSpPr>
        <p:spPr>
          <a:xfrm>
            <a:off x="6377940" y="367588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max_turns/max_budget_usdで暴走防止。stop_reasonやResultMessageのsubtypeでエスカレーション判断</a:t>
            </a:r>
            <a:endParaRPr lang="en-US" sz="1150" dirty="0"/>
          </a:p>
        </p:txBody>
      </p:sp>
      <p:sp>
        <p:nvSpPr>
          <p:cNvPr id="18" name="Shape 15"/>
          <p:cNvSpPr/>
          <p:nvPr/>
        </p:nvSpPr>
        <p:spPr>
          <a:xfrm>
            <a:off x="548640" y="484632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5010912"/>
            <a:ext cx="310896" cy="310896"/>
          </a:xfrm>
          <a:prstGeom prst="rect">
            <a:avLst/>
          </a:prstGeom>
        </p:spPr>
      </p:pic>
      <p:sp>
        <p:nvSpPr>
          <p:cNvPr id="20" name="Text 16"/>
          <p:cNvSpPr/>
          <p:nvPr/>
        </p:nvSpPr>
        <p:spPr>
          <a:xfrm>
            <a:off x="1143000" y="49377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52303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コード生成後の品質検証として最も効果的な設計は?→同一インスタンスでの自己レビューではなく、独立した第二のClaudeインスタンスによるレビューが正解。</a:t>
            </a:r>
            <a:endParaRPr lang="en-US" sz="1200" dirty="0"/>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55</a:t>
            </a:r>
            <a:endParaRPr lang="en-US" sz="1000"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2000" dirty="0">
                <a:solidFill>
                  <a:srgbClr val="000000"/>
                </a:solidFill>
                <a:latin typeface="Meiryo" pitchFamily="34" charset="0"/>
                <a:ea typeface="Meiryo" pitchFamily="34" charset="-122"/>
                <a:cs typeface="Meiryo" pitchFamily="34" charset="-120"/>
              </a:rPr>
              <a:t>2</a:t>
            </a:r>
            <a:endParaRPr lang="en-US" sz="20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400" b="1" dirty="0">
                <a:solidFill>
                  <a:srgbClr val="1F2430"/>
                </a:solidFill>
                <a:latin typeface="Meiryo" pitchFamily="34" charset="0"/>
                <a:ea typeface="Meiryo" pitchFamily="34" charset="-122"/>
                <a:cs typeface="Meiryo" pitchFamily="34" charset="-120"/>
              </a:rPr>
              <a:t>エスカレーション設計とあいまいさの解決</a:t>
            </a:r>
            <a:endParaRPr lang="en-US" sz="24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公式Exam Guide</a:t>
            </a:r>
            <a:endParaRPr lang="en-US" sz="11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97280"/>
            <a:ext cx="11064240" cy="36576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公式Exam Guide Task 5.2: いつ人間にエスカレーションすべきかの判断基準</a:t>
            </a:r>
            <a:endParaRPr lang="en-US" sz="1300" dirty="0"/>
          </a:p>
        </p:txBody>
      </p:sp>
      <p:sp>
        <p:nvSpPr>
          <p:cNvPr id="9" name="Shape 7"/>
          <p:cNvSpPr/>
          <p:nvPr/>
        </p:nvSpPr>
        <p:spPr>
          <a:xfrm>
            <a:off x="548640" y="15544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8"/>
          <p:cNvSpPr/>
          <p:nvPr/>
        </p:nvSpPr>
        <p:spPr>
          <a:xfrm>
            <a:off x="731520" y="16824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適切なエスカレーション条件</a:t>
            </a:r>
            <a:endParaRPr lang="en-US" sz="1450" dirty="0"/>
          </a:p>
        </p:txBody>
      </p:sp>
      <p:sp>
        <p:nvSpPr>
          <p:cNvPr id="11" name="Text 9"/>
          <p:cNvSpPr/>
          <p:nvPr/>
        </p:nvSpPr>
        <p:spPr>
          <a:xfrm>
            <a:off x="731520" y="20299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顧客が明示的に人間を要求した時/ポリシーに例外・空白がある時(単に複雑なだけでは不十分)/有意な進展ができない時</a:t>
            </a:r>
            <a:endParaRPr lang="en-US" sz="1150" dirty="0"/>
          </a:p>
        </p:txBody>
      </p:sp>
      <p:sp>
        <p:nvSpPr>
          <p:cNvPr id="12" name="Shape 10"/>
          <p:cNvSpPr/>
          <p:nvPr/>
        </p:nvSpPr>
        <p:spPr>
          <a:xfrm>
            <a:off x="6195060" y="15544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1"/>
          <p:cNvSpPr/>
          <p:nvPr/>
        </p:nvSpPr>
        <p:spPr>
          <a:xfrm>
            <a:off x="6377940" y="16824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顧客の要求は即座に尊重</a:t>
            </a:r>
            <a:endParaRPr lang="en-US" sz="1450" dirty="0"/>
          </a:p>
        </p:txBody>
      </p:sp>
      <p:sp>
        <p:nvSpPr>
          <p:cNvPr id="14" name="Text 12"/>
          <p:cNvSpPr/>
          <p:nvPr/>
        </p:nvSpPr>
        <p:spPr>
          <a:xfrm>
            <a:off x="6377940" y="20299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「人間と話したい」と言われたら、まず自力解決を試みず即座にエスカレーションする。解決可能な範囲なら不満を受け止めつつ解決を提案し、繰り返し要求されたら初めてエスカレーション</a:t>
            </a:r>
            <a:endParaRPr lang="en-US" sz="1150" dirty="0"/>
          </a:p>
        </p:txBody>
      </p:sp>
      <p:sp>
        <p:nvSpPr>
          <p:cNvPr id="15" name="Shape 13"/>
          <p:cNvSpPr/>
          <p:nvPr/>
        </p:nvSpPr>
        <p:spPr>
          <a:xfrm>
            <a:off x="548640" y="33832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4"/>
          <p:cNvSpPr/>
          <p:nvPr/>
        </p:nvSpPr>
        <p:spPr>
          <a:xfrm>
            <a:off x="731520" y="35112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センチメント分析は信頼できない</a:t>
            </a:r>
            <a:endParaRPr lang="en-US" sz="1450" dirty="0"/>
          </a:p>
        </p:txBody>
      </p:sp>
      <p:sp>
        <p:nvSpPr>
          <p:cNvPr id="17" name="Text 15"/>
          <p:cNvSpPr/>
          <p:nvPr/>
        </p:nvSpPr>
        <p:spPr>
          <a:xfrm>
            <a:off x="731520" y="38587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感情分析による自動エスカレーションや、AIの自己申告confidenceスコアは、実際のケースの複雑さとは相関しない不確かな代理指標</a:t>
            </a:r>
            <a:endParaRPr lang="en-US" sz="1150" dirty="0"/>
          </a:p>
        </p:txBody>
      </p:sp>
      <p:sp>
        <p:nvSpPr>
          <p:cNvPr id="18" name="Shape 16"/>
          <p:cNvSpPr/>
          <p:nvPr/>
        </p:nvSpPr>
        <p:spPr>
          <a:xfrm>
            <a:off x="6195060" y="33832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9" name="Text 17"/>
          <p:cNvSpPr/>
          <p:nvPr/>
        </p:nvSpPr>
        <p:spPr>
          <a:xfrm>
            <a:off x="6377940" y="35112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複数該当時は確認、推測しない</a:t>
            </a:r>
            <a:endParaRPr lang="en-US" sz="1450" dirty="0"/>
          </a:p>
        </p:txBody>
      </p:sp>
      <p:sp>
        <p:nvSpPr>
          <p:cNvPr id="20" name="Text 18"/>
          <p:cNvSpPr/>
          <p:nvPr/>
        </p:nvSpPr>
        <p:spPr>
          <a:xfrm>
            <a:off x="6377940" y="38587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顧客情報が複数件ヒットした場合、ヒューリスティックで1件を選ぶのではなく、追加の識別情報を尋ねる</a:t>
            </a:r>
            <a:endParaRPr lang="en-US" sz="1150" dirty="0"/>
          </a:p>
        </p:txBody>
      </p:sp>
      <p:sp>
        <p:nvSpPr>
          <p:cNvPr id="21" name="Shape 19"/>
          <p:cNvSpPr/>
          <p:nvPr/>
        </p:nvSpPr>
        <p:spPr>
          <a:xfrm>
            <a:off x="548640" y="4846320"/>
            <a:ext cx="11064240" cy="960120"/>
          </a:xfrm>
          <a:prstGeom prst="roundRect">
            <a:avLst>
              <a:gd name="adj" fmla="val 7619"/>
            </a:avLst>
          </a:prstGeom>
          <a:solidFill>
            <a:srgbClr val="FBF1E4"/>
          </a:solidFill>
          <a:ln/>
        </p:spPr>
        <p:txBody>
          <a:bodyPr/>
          <a:p/>
        </p:txBody>
      </p:sp>
      <p:sp>
        <p:nvSpPr>
          <p:cNvPr id="22" name="Text 20"/>
          <p:cNvSpPr/>
          <p:nvPr/>
        </p:nvSpPr>
        <p:spPr>
          <a:xfrm>
            <a:off x="685800" y="493776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23" name="Text 21"/>
          <p:cNvSpPr/>
          <p:nvPr/>
        </p:nvSpPr>
        <p:spPr>
          <a:xfrm>
            <a:off x="1143000" y="49377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4" name="Text 22"/>
          <p:cNvSpPr/>
          <p:nvPr/>
        </p:nvSpPr>
        <p:spPr>
          <a:xfrm>
            <a:off x="1143000" y="52303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「初回解決率が目標を下回り、簡単なケースまでエスカレーションしている」→ システムプロンプトにエスカレーション基準+few-shot例を追加するのが正解。センチメント分析や別の分類器モデルの追加は過剰設計。</a:t>
            </a:r>
            <a:endParaRPr lang="en-US" sz="1200" dirty="0"/>
          </a:p>
        </p:txBody>
      </p:sp>
      <p:sp>
        <p:nvSpPr>
          <p:cNvPr id="25" name="Text 23"/>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26" name="Text 24"/>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56</a:t>
            </a:r>
            <a:endParaRPr lang="en-US" sz="900" dirty="0"/>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2000" dirty="0">
                <a:solidFill>
                  <a:srgbClr val="000000"/>
                </a:solidFill>
                <a:latin typeface="Meiryo" pitchFamily="34" charset="0"/>
                <a:ea typeface="Meiryo" pitchFamily="34" charset="-122"/>
                <a:cs typeface="Meiryo" pitchFamily="34" charset="-120"/>
              </a:rPr>
              <a:t>3</a:t>
            </a:r>
            <a:endParaRPr lang="en-US" sz="20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400" b="1" dirty="0">
                <a:solidFill>
                  <a:srgbClr val="1F2430"/>
                </a:solidFill>
                <a:latin typeface="Meiryo" pitchFamily="34" charset="0"/>
                <a:ea typeface="Meiryo" pitchFamily="34" charset="-122"/>
                <a:cs typeface="Meiryo" pitchFamily="34" charset="-120"/>
              </a:rPr>
              <a:t>大規模コードベース探索でのコンテキスト管理</a:t>
            </a:r>
            <a:endParaRPr lang="en-US" sz="24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公式Exam Guide</a:t>
            </a:r>
            <a:endParaRPr lang="en-US" sz="11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97280"/>
            <a:ext cx="11064240" cy="36576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公式Exam Guide Task 5.4: 長時間の探索セッションでコンテキストが劣化する前に手を打つ</a:t>
            </a:r>
            <a:endParaRPr lang="en-US" sz="1300" dirty="0"/>
          </a:p>
        </p:txBody>
      </p:sp>
      <p:sp>
        <p:nvSpPr>
          <p:cNvPr id="9" name="Shape 7"/>
          <p:cNvSpPr/>
          <p:nvPr/>
        </p:nvSpPr>
        <p:spPr>
          <a:xfrm>
            <a:off x="548640" y="15544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8"/>
          <p:cNvSpPr/>
          <p:nvPr/>
        </p:nvSpPr>
        <p:spPr>
          <a:xfrm>
            <a:off x="731520" y="16824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コンテキスト劣化のサイン</a:t>
            </a:r>
            <a:endParaRPr lang="en-US" sz="1450" dirty="0"/>
          </a:p>
        </p:txBody>
      </p:sp>
      <p:sp>
        <p:nvSpPr>
          <p:cNvPr id="11" name="Text 9"/>
          <p:cNvSpPr/>
          <p:nvPr/>
        </p:nvSpPr>
        <p:spPr>
          <a:xfrm>
            <a:off x="731520" y="20299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長時間セッションで、モデルが具体的なクラス名でなく「典型的なパターンでは」のような曖昧な参照をし始めたら劣化のサイン</a:t>
            </a:r>
            <a:endParaRPr lang="en-US" sz="1150" dirty="0"/>
          </a:p>
        </p:txBody>
      </p:sp>
      <p:sp>
        <p:nvSpPr>
          <p:cNvPr id="12" name="Shape 10"/>
          <p:cNvSpPr/>
          <p:nvPr/>
        </p:nvSpPr>
        <p:spPr>
          <a:xfrm>
            <a:off x="6195060" y="15544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1"/>
          <p:cNvSpPr/>
          <p:nvPr/>
        </p:nvSpPr>
        <p:spPr>
          <a:xfrm>
            <a:off x="6377940" y="16824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Explore subagent</a:t>
            </a:r>
            <a:endParaRPr lang="en-US" sz="1450" dirty="0"/>
          </a:p>
        </p:txBody>
      </p:sp>
      <p:sp>
        <p:nvSpPr>
          <p:cNvPr id="14" name="Text 12"/>
          <p:cNvSpPr/>
          <p:nvPr/>
        </p:nvSpPr>
        <p:spPr>
          <a:xfrm>
            <a:off x="6377940" y="20299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コードベースの探索フェーズ(冗長な出力が出やすい)をサブエージェントに分離し、メインの会話には要約結果だけを返させることで、コンテキストウィンドウの枯渇を防ぐ</a:t>
            </a:r>
            <a:endParaRPr lang="en-US" sz="1150" dirty="0"/>
          </a:p>
        </p:txBody>
      </p:sp>
      <p:sp>
        <p:nvSpPr>
          <p:cNvPr id="15" name="Shape 13"/>
          <p:cNvSpPr/>
          <p:nvPr/>
        </p:nvSpPr>
        <p:spPr>
          <a:xfrm>
            <a:off x="548640" y="33832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4"/>
          <p:cNvSpPr/>
          <p:nvPr/>
        </p:nvSpPr>
        <p:spPr>
          <a:xfrm>
            <a:off x="731520" y="35112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スクラッチパッドファイル</a:t>
            </a:r>
            <a:endParaRPr lang="en-US" sz="1450" dirty="0"/>
          </a:p>
        </p:txBody>
      </p:sp>
      <p:sp>
        <p:nvSpPr>
          <p:cNvPr id="17" name="Text 15"/>
          <p:cNvSpPr/>
          <p:nvPr/>
        </p:nvSpPr>
        <p:spPr>
          <a:xfrm>
            <a:off x="731520" y="38587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重要な発見事項を外部ファイルに記録し、後続の質問の際にそのファイルを参照させることで、コンテキストの劣化に対抗する</a:t>
            </a:r>
            <a:endParaRPr lang="en-US" sz="1150" dirty="0"/>
          </a:p>
        </p:txBody>
      </p:sp>
      <p:sp>
        <p:nvSpPr>
          <p:cNvPr id="18" name="Shape 16"/>
          <p:cNvSpPr/>
          <p:nvPr/>
        </p:nvSpPr>
        <p:spPr>
          <a:xfrm>
            <a:off x="6195060" y="33832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9" name="Text 17"/>
          <p:cNvSpPr/>
          <p:nvPr/>
        </p:nvSpPr>
        <p:spPr>
          <a:xfrm>
            <a:off x="6377940" y="35112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/compact コマンド</a:t>
            </a:r>
            <a:endParaRPr lang="en-US" sz="1450" dirty="0"/>
          </a:p>
        </p:txBody>
      </p:sp>
      <p:sp>
        <p:nvSpPr>
          <p:cNvPr id="20" name="Text 18"/>
          <p:cNvSpPr/>
          <p:nvPr/>
        </p:nvSpPr>
        <p:spPr>
          <a:xfrm>
            <a:off x="6377940" y="38587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冗長な探索結果でコンテキストが埋まってきた際、明示的にコンテキスト使用量を圧縮するコマンド</a:t>
            </a:r>
            <a:endParaRPr lang="en-US" sz="1150" dirty="0"/>
          </a:p>
        </p:txBody>
      </p:sp>
      <p:sp>
        <p:nvSpPr>
          <p:cNvPr id="21" name="Text 19"/>
          <p:cNvSpPr/>
          <p:nvPr/>
        </p:nvSpPr>
        <p:spPr>
          <a:xfrm>
            <a:off x="548640" y="4892040"/>
            <a:ext cx="11064240" cy="54864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F2430"/>
                </a:solidFill>
                <a:latin typeface="Meiryo" pitchFamily="34" charset="0"/>
                <a:ea typeface="Meiryo" pitchFamily="34" charset="-122"/>
                <a:cs typeface="Meiryo" pitchFamily="34" charset="-120"/>
              </a:rPr>
              <a:t>クラッシュ復旧の設計: 各エージェントが既知の場所に状態(state)をエクスポートし、コーディネーターが再開時にマニフェストを読み込んでプロンプトに注入する</a:t>
            </a:r>
            <a:endParaRPr lang="en-US" sz="1150" dirty="0"/>
          </a:p>
        </p:txBody>
      </p:sp>
      <p:sp>
        <p:nvSpPr>
          <p:cNvPr id="22" name="Shape 20"/>
          <p:cNvSpPr/>
          <p:nvPr/>
        </p:nvSpPr>
        <p:spPr>
          <a:xfrm>
            <a:off x="548640" y="5486400"/>
            <a:ext cx="11064240" cy="960120"/>
          </a:xfrm>
          <a:prstGeom prst="roundRect">
            <a:avLst>
              <a:gd name="adj" fmla="val 7619"/>
            </a:avLst>
          </a:prstGeom>
          <a:solidFill>
            <a:srgbClr val="FBF1E4"/>
          </a:solidFill>
          <a:ln/>
        </p:spPr>
        <p:txBody>
          <a:bodyPr/>
          <a:p/>
        </p:txBody>
      </p:sp>
      <p:sp>
        <p:nvSpPr>
          <p:cNvPr id="23" name="Text 21"/>
          <p:cNvSpPr/>
          <p:nvPr/>
        </p:nvSpPr>
        <p:spPr>
          <a:xfrm>
            <a:off x="685800" y="557784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24" name="Text 22"/>
          <p:cNvSpPr/>
          <p:nvPr/>
        </p:nvSpPr>
        <p:spPr>
          <a:xfrm>
            <a:off x="1143000" y="55778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5" name="Text 23"/>
          <p:cNvSpPr/>
          <p:nvPr/>
        </p:nvSpPr>
        <p:spPr>
          <a:xfrm>
            <a:off x="1143000" y="587044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「長時間の探索セッションで発見事項を忘れてしまう」→ スクラッチパッドファイルへの記録、または/compactでの圧縮が正解。探索フェーズ自体はExplore subagentに分離しメインの会話を汚さないのが鉄則。</a:t>
            </a:r>
            <a:endParaRPr lang="en-US" sz="1200" dirty="0"/>
          </a:p>
        </p:txBody>
      </p:sp>
      <p:sp>
        <p:nvSpPr>
          <p:cNvPr id="26" name="Text 2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27" name="Text 25"/>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57</a:t>
            </a:r>
            <a:endParaRPr lang="en-US" sz="900" dirty="0"/>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2000" dirty="0">
                <a:solidFill>
                  <a:srgbClr val="000000"/>
                </a:solidFill>
                <a:latin typeface="Meiryo" pitchFamily="34" charset="0"/>
                <a:ea typeface="Meiryo" pitchFamily="34" charset="-122"/>
                <a:cs typeface="Meiryo" pitchFamily="34" charset="-120"/>
              </a:rPr>
              <a:t>4</a:t>
            </a:r>
            <a:endParaRPr lang="en-US" sz="20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400" b="1" dirty="0">
                <a:solidFill>
                  <a:srgbClr val="1F2430"/>
                </a:solidFill>
                <a:latin typeface="Meiryo" pitchFamily="34" charset="0"/>
                <a:ea typeface="Meiryo" pitchFamily="34" charset="-122"/>
                <a:cs typeface="Meiryo" pitchFamily="34" charset="-120"/>
              </a:rPr>
              <a:t>人間レビューワークフローと信頼度較正</a:t>
            </a:r>
            <a:endParaRPr lang="en-US" sz="24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公式Exam Guide</a:t>
            </a:r>
            <a:endParaRPr lang="en-US" sz="11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97280"/>
            <a:ext cx="11064240" cy="45720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公式Exam Guide Task 5.5: 全体の精度が高くても、特定の文書種別やフィールドだけ精度が低いことがある</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560320"/>
                <a:gridCol w="8503920"/>
              </a:tblGrid>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技法</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内容</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層化サンプリング(stratified sampling)</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高信頼度と判定された抽出結果からも一定割合を無作為抽出し、実際のエラー率を継続的に測定する。新種のエラーパターンの検出にも使う</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文書種別・フィールド単位の精度検証</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「全体97%」のような集計精度は、特定の文書種別やフィールドの低精度を覆い隠すことがある。自動化を進める前にセグメント別の精度を確認する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フィールド単位の信頼度スコア</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モデルにフィールドごとの確信度を出力させ、ラベル付き検証データセットでレビュー閾値を較正する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レビューのルーティング</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モデルの確信度が低い、または矛盾する情報源がある抽出結果を優先的に人間レビューへ回し、限られたレビュー工数を集中させる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Shape 7"/>
          <p:cNvSpPr/>
          <p:nvPr/>
        </p:nvSpPr>
        <p:spPr>
          <a:xfrm>
            <a:off x="548640" y="5166360"/>
            <a:ext cx="11064240" cy="960120"/>
          </a:xfrm>
          <a:prstGeom prst="roundRect">
            <a:avLst>
              <a:gd name="adj" fmla="val 7619"/>
            </a:avLst>
          </a:prstGeom>
          <a:solidFill>
            <a:srgbClr val="FBF1E4"/>
          </a:solidFill>
          <a:ln/>
        </p:spPr>
        <p:txBody>
          <a:bodyPr/>
          <a:p/>
        </p:txBody>
      </p:sp>
      <p:sp>
        <p:nvSpPr>
          <p:cNvPr id="11" name="Text 8"/>
          <p:cNvSpPr/>
          <p:nvPr/>
        </p:nvSpPr>
        <p:spPr>
          <a:xfrm>
            <a:off x="685800" y="525780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12" name="Text 9"/>
          <p:cNvSpPr/>
          <p:nvPr/>
        </p:nvSpPr>
        <p:spPr>
          <a:xfrm>
            <a:off x="1143000" y="525780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3" name="Text 10"/>
          <p:cNvSpPr/>
          <p:nvPr/>
        </p:nvSpPr>
        <p:spPr>
          <a:xfrm>
            <a:off x="1143000" y="555040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「全体精度97%だから自動化して問題ないか?」→NO。文書種別・フィールドごとの精度を検証してから自動化の可否を判断すべき、という点が頻出。集計精度は特定セグメントの低精度を隠しうる。</a:t>
            </a:r>
            <a:endParaRPr lang="en-US" sz="1200" dirty="0"/>
          </a:p>
        </p:txBody>
      </p:sp>
      <p:sp>
        <p:nvSpPr>
          <p:cNvPr id="14" name="Text 1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15" name="Text 12"/>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58</a:t>
            </a:r>
            <a:endParaRPr lang="en-US" sz="900" dirty="0"/>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2000" dirty="0">
                <a:solidFill>
                  <a:srgbClr val="000000"/>
                </a:solidFill>
                <a:latin typeface="Meiryo" pitchFamily="34" charset="0"/>
                <a:ea typeface="Meiryo" pitchFamily="34" charset="-122"/>
                <a:cs typeface="Meiryo" pitchFamily="34" charset="-120"/>
              </a:rPr>
              <a:t>5</a:t>
            </a:r>
            <a:endParaRPr lang="en-US" sz="20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400" b="1" dirty="0">
                <a:solidFill>
                  <a:srgbClr val="1F2430"/>
                </a:solidFill>
                <a:latin typeface="Meiryo" pitchFamily="34" charset="0"/>
                <a:ea typeface="Meiryo" pitchFamily="34" charset="-122"/>
                <a:cs typeface="Meiryo" pitchFamily="34" charset="-120"/>
              </a:rPr>
              <a:t>情報の出所管理と複数ソース統合時の不確実性対応</a:t>
            </a:r>
            <a:endParaRPr lang="en-US" sz="24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公式Exam Guide</a:t>
            </a:r>
            <a:endParaRPr lang="en-US" sz="11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97280"/>
            <a:ext cx="11064240" cy="45720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公式Exam Guide Task 5.6: 要約の過程で出典(どの主張がどのソース由来か)が失われやすい</a:t>
            </a:r>
            <a:endParaRPr lang="en-US" sz="1250" dirty="0"/>
          </a:p>
        </p:txBody>
      </p:sp>
      <p:sp>
        <p:nvSpPr>
          <p:cNvPr id="9" name="Shape 7"/>
          <p:cNvSpPr/>
          <p:nvPr/>
        </p:nvSpPr>
        <p:spPr>
          <a:xfrm>
            <a:off x="548640" y="15544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8"/>
          <p:cNvSpPr/>
          <p:nvPr/>
        </p:nvSpPr>
        <p:spPr>
          <a:xfrm>
            <a:off x="731520" y="16824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claim-sourceマッピングの保持</a:t>
            </a:r>
            <a:endParaRPr lang="en-US" sz="1450" dirty="0"/>
          </a:p>
        </p:txBody>
      </p:sp>
      <p:sp>
        <p:nvSpPr>
          <p:cNvPr id="11" name="Text 9"/>
          <p:cNvSpPr/>
          <p:nvPr/>
        </p:nvSpPr>
        <p:spPr>
          <a:xfrm>
            <a:off x="731520" y="20299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サブエージェントに、主張(claim)・根拠となる抜粋・出典URL/文書名を構造化して出力させ、統合(synthesis)エージェントがそれを保持したまま統合する</a:t>
            </a:r>
            <a:endParaRPr lang="en-US" sz="1150" dirty="0"/>
          </a:p>
        </p:txBody>
      </p:sp>
      <p:sp>
        <p:nvSpPr>
          <p:cNvPr id="12" name="Shape 10"/>
          <p:cNvSpPr/>
          <p:nvPr/>
        </p:nvSpPr>
        <p:spPr>
          <a:xfrm>
            <a:off x="6195060" y="15544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1"/>
          <p:cNvSpPr/>
          <p:nvPr/>
        </p:nvSpPr>
        <p:spPr>
          <a:xfrm>
            <a:off x="6377940" y="16824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矛盾する統計の扱い</a:t>
            </a:r>
            <a:endParaRPr lang="en-US" sz="1450" dirty="0"/>
          </a:p>
        </p:txBody>
      </p:sp>
      <p:sp>
        <p:nvSpPr>
          <p:cNvPr id="14" name="Text 12"/>
          <p:cNvSpPr/>
          <p:nvPr/>
        </p:nvSpPr>
        <p:spPr>
          <a:xfrm>
            <a:off x="6377940" y="20299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信頼できる複数の情報源で数値が食い違う場合、どちらかを勝手に選ぶのではなく、両方の値を出典付きで併記し、矛盾として注釈する</a:t>
            </a:r>
            <a:endParaRPr lang="en-US" sz="1150" dirty="0"/>
          </a:p>
        </p:txBody>
      </p:sp>
      <p:sp>
        <p:nvSpPr>
          <p:cNvPr id="15" name="Shape 13"/>
          <p:cNvSpPr/>
          <p:nvPr/>
        </p:nvSpPr>
        <p:spPr>
          <a:xfrm>
            <a:off x="548640" y="33832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4"/>
          <p:cNvSpPr/>
          <p:nvPr/>
        </p:nvSpPr>
        <p:spPr>
          <a:xfrm>
            <a:off x="731520" y="35112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時系列データの明記</a:t>
            </a:r>
            <a:endParaRPr lang="en-US" sz="1450" dirty="0"/>
          </a:p>
        </p:txBody>
      </p:sp>
      <p:sp>
        <p:nvSpPr>
          <p:cNvPr id="17" name="Text 15"/>
          <p:cNvSpPr/>
          <p:nvPr/>
        </p:nvSpPr>
        <p:spPr>
          <a:xfrm>
            <a:off x="731520" y="38587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公開日・収集日を構造化データに含めることで、単なる時期の違いを「情報の矛盾」と誤解釈することを防ぐ</a:t>
            </a:r>
            <a:endParaRPr lang="en-US" sz="1150" dirty="0"/>
          </a:p>
        </p:txBody>
      </p:sp>
      <p:sp>
        <p:nvSpPr>
          <p:cNvPr id="18" name="Shape 16"/>
          <p:cNvSpPr/>
          <p:nvPr/>
        </p:nvSpPr>
        <p:spPr>
          <a:xfrm>
            <a:off x="6195060" y="3383280"/>
            <a:ext cx="5417820" cy="1600200"/>
          </a:xfrm>
          <a:prstGeom prst="roundRect">
            <a:avLst>
              <a:gd name="adj" fmla="val 457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9" name="Text 17"/>
          <p:cNvSpPr/>
          <p:nvPr/>
        </p:nvSpPr>
        <p:spPr>
          <a:xfrm>
            <a:off x="6377940" y="35112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コンテンツ種別に応じた表現</a:t>
            </a:r>
            <a:endParaRPr lang="en-US" sz="1450" dirty="0"/>
          </a:p>
        </p:txBody>
      </p:sp>
      <p:sp>
        <p:nvSpPr>
          <p:cNvPr id="20" name="Text 18"/>
          <p:cNvSpPr/>
          <p:nvPr/>
        </p:nvSpPr>
        <p:spPr>
          <a:xfrm>
            <a:off x="6377940" y="3858768"/>
            <a:ext cx="5052060" cy="98755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財務データは表、ニュースは文章、技術的な発見事項は構造化リストなど、統合後の出力も内容の種類に応じた適切な形式でレンダリングする(何でも均一な形式に変換しない)</a:t>
            </a:r>
            <a:endParaRPr lang="en-US" sz="1150" dirty="0"/>
          </a:p>
        </p:txBody>
      </p:sp>
      <p:sp>
        <p:nvSpPr>
          <p:cNvPr id="21" name="Shape 19"/>
          <p:cNvSpPr/>
          <p:nvPr/>
        </p:nvSpPr>
        <p:spPr>
          <a:xfrm>
            <a:off x="548640" y="4846320"/>
            <a:ext cx="11064240" cy="960120"/>
          </a:xfrm>
          <a:prstGeom prst="roundRect">
            <a:avLst>
              <a:gd name="adj" fmla="val 7619"/>
            </a:avLst>
          </a:prstGeom>
          <a:solidFill>
            <a:srgbClr val="FBF1E4"/>
          </a:solidFill>
          <a:ln/>
        </p:spPr>
        <p:txBody>
          <a:bodyPr/>
          <a:p/>
        </p:txBody>
      </p:sp>
      <p:sp>
        <p:nvSpPr>
          <p:cNvPr id="22" name="Text 20"/>
          <p:cNvSpPr/>
          <p:nvPr/>
        </p:nvSpPr>
        <p:spPr>
          <a:xfrm>
            <a:off x="685800" y="493776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23" name="Text 21"/>
          <p:cNvSpPr/>
          <p:nvPr/>
        </p:nvSpPr>
        <p:spPr>
          <a:xfrm>
            <a:off x="1143000" y="49377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4" name="Text 22"/>
          <p:cNvSpPr/>
          <p:nvPr/>
        </p:nvSpPr>
        <p:spPr>
          <a:xfrm>
            <a:off x="1143000" y="52303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「2つの信頼できる情報源で統計値が食い違う。統合エージェントはどう処理すべきか?」→ 片方を勝手に選ばず、両方を出典付きで併記し矛盾として注釈する、が正解。コーディネーターが後で判断できる形にする。</a:t>
            </a:r>
            <a:endParaRPr lang="en-US" sz="1200" dirty="0"/>
          </a:p>
        </p:txBody>
      </p:sp>
      <p:sp>
        <p:nvSpPr>
          <p:cNvPr id="25" name="Text 23"/>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26" name="Text 24"/>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Lost in the Middle(中間見落とし現象)</a:t>
            </a:r>
            <a:endParaRPr lang="en-US" sz="2500" dirty="0"/>
          </a:p>
        </p:txBody>
      </p:sp>
      <p:sp>
        <p:nvSpPr>
          <p:cNvPr id="5" name="Shape 2"/>
          <p:cNvSpPr/>
          <p:nvPr/>
        </p:nvSpPr>
        <p:spPr>
          <a:xfrm>
            <a:off x="8686800" y="384048"/>
            <a:ext cx="2926080" cy="411480"/>
          </a:xfrm>
          <a:prstGeom prst="roundRect">
            <a:avLst>
              <a:gd name="adj" fmla="val 48889"/>
            </a:avLst>
          </a:prstGeom>
          <a:solidFill>
            <a:srgbClr val="FBF1E4"/>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A5A00"/>
                </a:solidFill>
                <a:latin typeface="Meiryo" pitchFamily="34" charset="0"/>
                <a:ea typeface="Meiryo" pitchFamily="34" charset="-122"/>
                <a:cs typeface="Meiryo" pitchFamily="34" charset="-120"/>
              </a:rPr>
              <a:t>📚 知識・雑学編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143000"/>
            <a:ext cx="11064240" cy="36576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長いコンテキストの「真ん中」に置かれた重要情報を、LLMが見落としやすいという研究で示された現象</a:t>
            </a:r>
            <a:endParaRPr lang="en-US" sz="1300" dirty="0"/>
          </a:p>
        </p:txBody>
      </p:sp>
      <p:sp>
        <p:nvSpPr>
          <p:cNvPr id="9" name="Text 6"/>
          <p:cNvSpPr/>
          <p:nvPr/>
        </p:nvSpPr>
        <p:spPr>
          <a:xfrm>
            <a:off x="548640" y="1554480"/>
            <a:ext cx="11064240" cy="21031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Liu et al.(2023)の研究。情報の位置を変えるだけで正答率が15〜30ポイント低下することがある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性能はU字カーブを描く: 文脈の先頭(primacy)と末尾(recency)は高精度、中間が最も低精度</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「超ロングコンテキスト対応」を謳うモデルでも、この位置バイアスは残る。コンテキストを大きくすれば解決、ではない</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原因はTransformerの注意機構の位置バイアス(先頭・末尾のトークンに注意が偏る)</a:t>
            </a:r>
            <a:endParaRPr lang="en-US" sz="1250" dirty="0"/>
          </a:p>
        </p:txBody>
      </p:sp>
      <p:sp>
        <p:nvSpPr>
          <p:cNvPr id="10" name="Text 7"/>
          <p:cNvSpPr/>
          <p:nvPr/>
        </p:nvSpPr>
        <p:spPr>
          <a:xfrm>
            <a:off x="548640" y="3703320"/>
            <a:ext cx="11064240" cy="27432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実務での対策</a:t>
            </a:r>
            <a:endParaRPr lang="en-US" sz="1300" dirty="0"/>
          </a:p>
        </p:txBody>
      </p:sp>
      <p:sp>
        <p:nvSpPr>
          <p:cNvPr id="11" name="Text 8"/>
          <p:cNvSpPr/>
          <p:nvPr/>
        </p:nvSpPr>
        <p:spPr>
          <a:xfrm>
            <a:off x="548640" y="402336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最重要情報は文脈の先頭または末尾に置く(真ん中に埋めない)</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取得するチャンクは3〜8個に絞る(詰め込みすぎない)。リランキングで最良の結果を先頭、次点を末尾に配置</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長い文書はスライディングウィンドウや階層的要約で圧縮してから渡す</a:t>
            </a:r>
            <a:endParaRPr lang="en-US" sz="1200" dirty="0"/>
          </a:p>
        </p:txBody>
      </p:sp>
      <p:sp>
        <p:nvSpPr>
          <p:cNvPr id="12" name="Shape 9"/>
          <p:cNvSpPr/>
          <p:nvPr/>
        </p:nvSpPr>
        <p:spPr>
          <a:xfrm>
            <a:off x="548640" y="5486400"/>
            <a:ext cx="11064240" cy="960120"/>
          </a:xfrm>
          <a:prstGeom prst="roundRect">
            <a:avLst>
              <a:gd name="adj" fmla="val 7619"/>
            </a:avLst>
          </a:prstGeom>
          <a:solidFill>
            <a:srgbClr val="FBF1E4"/>
          </a:solidFill>
          <a:ln/>
        </p:spPr>
        <p:txBody>
          <a:bodyPr/>
          <a:p/>
        </p:txBody>
      </p:sp>
      <p:pic>
        <p:nvPicPr>
          <p:cNvPr id="13" name="Image 1" descr="preencoded.png">    </p:cNvPr>
          <p:cNvPicPr>
            <a:picLocks noChangeAspect="1"/>
          </p:cNvPicPr>
          <p:nvPr/>
        </p:nvPicPr>
        <p:blipFill>
          <a:blip r:embed="rId2"/>
          <a:stretch>
            <a:fillRect/>
          </a:stretch>
        </p:blipFill>
        <p:spPr>
          <a:xfrm>
            <a:off x="713232" y="5650992"/>
            <a:ext cx="310896" cy="310896"/>
          </a:xfrm>
          <a:prstGeom prst="rect">
            <a:avLst/>
          </a:prstGeom>
        </p:spPr>
      </p:pic>
      <p:sp>
        <p:nvSpPr>
          <p:cNvPr id="14" name="Text 10"/>
          <p:cNvSpPr/>
          <p:nvPr/>
        </p:nvSpPr>
        <p:spPr>
          <a:xfrm>
            <a:off x="1143000" y="55778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11"/>
          <p:cNvSpPr/>
          <p:nvPr/>
        </p:nvSpPr>
        <p:spPr>
          <a:xfrm>
            <a:off x="1143000" y="587044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「RAGで大量のチャンクを取得したのに精度が悪い」→ 取得数を絞る+重要チャンクを先頭/末尾に再配置、が正解。コンテキストを広げる・チャンクを増やすのは逆効果になりうる。</a:t>
            </a:r>
            <a:endParaRPr lang="en-US" sz="1200" dirty="0"/>
          </a:p>
        </p:txBody>
      </p:sp>
      <p:sp>
        <p:nvSpPr>
          <p:cNvPr id="16" name="Text 12"/>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3"/>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60</a:t>
            </a:r>
            <a:endParaRPr lang="en-US" sz="1000" dirty="0"/>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300" b="1" dirty="0">
                <a:solidFill>
                  <a:srgbClr val="1F2430"/>
                </a:solidFill>
                <a:latin typeface="Meiryo" pitchFamily="34" charset="0"/>
                <a:ea typeface="Meiryo" pitchFamily="34" charset="-122"/>
                <a:cs typeface="Meiryo" pitchFamily="34" charset="-120"/>
              </a:rPr>
              <a:t>進行的要約の罠(Progressive Summarization Trap)</a:t>
            </a:r>
            <a:endParaRPr lang="en-US" sz="23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公式Exam Guide</a:t>
            </a:r>
            <a:endParaRPr lang="en-US" sz="11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97280"/>
            <a:ext cx="11064240" cy="45720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ドメイン5で最も試験に好まれる論点。長い会話を要約してトークンを節約すると、具体的な値が失われることがある。</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377440"/>
                <a:gridCol w="868680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段階</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会話の中身</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元の会話(ターン3)</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「注文番号#8891の返金額は$247.83です」</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要約後(ターン40時点)</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「お客様の最近の注文について返金処理を行った」</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結果</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後続のターンでClaudeが正確な金額・注文番号を聞かれても答えられない、または自信満々に別の値を作り出してしまう</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7"/>
          <p:cNvSpPr/>
          <p:nvPr/>
        </p:nvSpPr>
        <p:spPr>
          <a:xfrm>
            <a:off x="548640" y="3337560"/>
            <a:ext cx="11064240" cy="274320"/>
          </a:xfrm>
          <a:prstGeom prst="rect">
            <a:avLst/>
          </a:prstGeom>
          <a:noFill/>
          <a:ln/>
        </p:spPr>
        <p:txBody>
          <a:bodyPr wrap="square" rtlCol="0" anchor="ctr"/>
          <a:lstStyle/>
          <a:p>
            <a:pPr indent="0" marL="0">
              <a:buNone/>
            </a:pPr>
            <a:r>
              <a:rPr lang="en-US" sz="1250" b="1" dirty="0">
                <a:solidFill>
                  <a:srgbClr val="1E2761"/>
                </a:solidFill>
                <a:latin typeface="Meiryo" pitchFamily="34" charset="0"/>
                <a:ea typeface="Meiryo" pitchFamily="34" charset="-122"/>
                <a:cs typeface="Meiryo" pitchFamily="34" charset="-120"/>
              </a:rPr>
              <a:t>恐ろしいのは「静かに」間違えること</a:t>
            </a:r>
            <a:endParaRPr lang="en-US" sz="1250" dirty="0"/>
          </a:p>
        </p:txBody>
      </p:sp>
      <p:sp>
        <p:nvSpPr>
          <p:cNvPr id="11" name="Text 8"/>
          <p:cNvSpPr/>
          <p:nvPr/>
        </p:nvSpPr>
        <p:spPr>
          <a:xfrm>
            <a:off x="548640" y="3657600"/>
            <a:ext cx="11064240" cy="15544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1F2430"/>
                </a:solidFill>
                <a:latin typeface="Meiryo" pitchFamily="34" charset="0"/>
                <a:ea typeface="Meiryo" pitchFamily="34" charset="-122"/>
                <a:cs typeface="Meiryo" pitchFamily="34" charset="-120"/>
              </a:rPr>
              <a:t>要約処理自体はエラーを出さない。会話は問題なく続いているように見える</a:t>
            </a:r>
            <a:endParaRPr lang="en-US" sz="1100" dirty="0"/>
          </a:p>
          <a:p>
            <a:pPr marL="342900" indent="-342900">
              <a:spcAft>
                <a:spcPts val="800"/>
              </a:spcAft>
              <a:buSzPct val="100000"/>
              <a:buChar char="•"/>
            </a:pPr>
            <a:r>
              <a:rPr lang="en-US" sz="1100" dirty="0">
                <a:solidFill>
                  <a:srgbClr val="1F2430"/>
                </a:solidFill>
                <a:latin typeface="Meiryo" pitchFamily="34" charset="0"/>
                <a:ea typeface="Meiryo" pitchFamily="34" charset="-122"/>
                <a:cs typeface="Meiryo" pitchFamily="34" charset="-120"/>
              </a:rPr>
              <a:t>モデルは、失われた具体的な値の代わりに、もっともらしい値を自信満々に生成してしまうことがある(捏造)</a:t>
            </a:r>
            <a:endParaRPr lang="en-US" sz="1100" dirty="0"/>
          </a:p>
          <a:p>
            <a:pPr marL="342900" indent="-342900">
              <a:spcAft>
                <a:spcPts val="800"/>
              </a:spcAft>
              <a:buSzPct val="100000"/>
              <a:buChar char="•"/>
            </a:pPr>
            <a:r>
              <a:rPr lang="en-US" sz="1100" dirty="0">
                <a:solidFill>
                  <a:srgbClr val="1F2430"/>
                </a:solidFill>
                <a:latin typeface="Meiryo" pitchFamily="34" charset="0"/>
                <a:ea typeface="Meiryo" pitchFamily="34" charset="-122"/>
                <a:cs typeface="Meiryo" pitchFamily="34" charset="-120"/>
              </a:rPr>
              <a:t>対策: 金額・ID・日付など後で参照されうる値は要約対象から除外し、外部メモ(スクラッチパッド等)に構造化データとして別途保持する</a:t>
            </a:r>
            <a:endParaRPr lang="en-US" sz="1100" dirty="0"/>
          </a:p>
          <a:p>
            <a:pPr marL="342900" indent="-342900">
              <a:spcAft>
                <a:spcPts val="800"/>
              </a:spcAft>
              <a:buSzPct val="100000"/>
              <a:buChar char="•"/>
            </a:pPr>
            <a:r>
              <a:rPr lang="en-US" sz="1100" dirty="0">
                <a:solidFill>
                  <a:srgbClr val="1F2430"/>
                </a:solidFill>
                <a:latin typeface="Meiryo" pitchFamily="34" charset="0"/>
                <a:ea typeface="Meiryo" pitchFamily="34" charset="-122"/>
                <a:cs typeface="Meiryo" pitchFamily="34" charset="-120"/>
              </a:rPr>
              <a:t>深掘り13の「必須フィールドは捏造を誘発する」と同根の問題: 情報消失時、モデルは「分かりません」より「それらしい値」を出しがち</a:t>
            </a:r>
            <a:endParaRPr lang="en-US" sz="1100" dirty="0"/>
          </a:p>
        </p:txBody>
      </p:sp>
      <p:sp>
        <p:nvSpPr>
          <p:cNvPr id="12" name="Shape 9"/>
          <p:cNvSpPr/>
          <p:nvPr/>
        </p:nvSpPr>
        <p:spPr>
          <a:xfrm>
            <a:off x="548640" y="5349240"/>
            <a:ext cx="11064240" cy="960120"/>
          </a:xfrm>
          <a:prstGeom prst="roundRect">
            <a:avLst>
              <a:gd name="adj" fmla="val 7619"/>
            </a:avLst>
          </a:prstGeom>
          <a:solidFill>
            <a:srgbClr val="FBF1E4"/>
          </a:solidFill>
          <a:ln/>
        </p:spPr>
        <p:txBody>
          <a:bodyPr/>
          <a:p/>
        </p:txBody>
      </p:sp>
      <p:sp>
        <p:nvSpPr>
          <p:cNvPr id="13" name="Text 10"/>
          <p:cNvSpPr/>
          <p:nvPr/>
        </p:nvSpPr>
        <p:spPr>
          <a:xfrm>
            <a:off x="685800" y="5440680"/>
            <a:ext cx="365760" cy="365760"/>
          </a:xfrm>
          <a:prstGeom prst="rect">
            <a:avLst/>
          </a:prstGeom>
          <a:noFill/>
          <a:ln/>
        </p:spPr>
        <p:txBody>
          <a:bodyPr wrap="square" rtlCol="0" anchor="ctr"/>
          <a:lstStyle/>
          <a:p>
            <a:pPr indent="0" marL="0">
              <a:buNone/>
            </a:pPr>
            <a:r>
              <a:rPr lang="en-US" sz="1800" b="1" dirty="0">
                <a:solidFill>
                  <a:srgbClr val="C97A1A"/>
                </a:solidFill>
                <a:latin typeface="Meiryo" pitchFamily="34" charset="0"/>
                <a:ea typeface="Meiryo" pitchFamily="34" charset="-122"/>
                <a:cs typeface="Meiryo" pitchFamily="34" charset="-120"/>
              </a:rPr>
              <a:t>!</a:t>
            </a:r>
            <a:endParaRPr lang="en-US" sz="1800" dirty="0"/>
          </a:p>
        </p:txBody>
      </p:sp>
      <p:sp>
        <p:nvSpPr>
          <p:cNvPr id="14" name="Text 11"/>
          <p:cNvSpPr/>
          <p:nvPr/>
        </p:nvSpPr>
        <p:spPr>
          <a:xfrm>
            <a:off x="1143000" y="544068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5" name="Text 12"/>
          <p:cNvSpPr/>
          <p:nvPr/>
        </p:nvSpPr>
        <p:spPr>
          <a:xfrm>
            <a:off x="1143000" y="573328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「長い会話の後、注文の詳細をClaudeが誤って報告する」→ 進行的要約により具体的な値が圧縮・消失したことが原因と考えられる。重要な値は要約に巻き込まれない形(CLAUDE.md・外部ファイル等)で保持するのが対策。</a:t>
            </a:r>
            <a:endParaRPr lang="en-US" sz="1200" dirty="0"/>
          </a:p>
        </p:txBody>
      </p:sp>
      <p:sp>
        <p:nvSpPr>
          <p:cNvPr id="16" name="Text 13"/>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17" name="Text 14"/>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RAG(検索拡張生成)の基礎</a:t>
            </a:r>
            <a:endParaRPr lang="en-US" sz="2500" dirty="0"/>
          </a:p>
        </p:txBody>
      </p:sp>
      <p:sp>
        <p:nvSpPr>
          <p:cNvPr id="5" name="Shape 2"/>
          <p:cNvSpPr/>
          <p:nvPr/>
        </p:nvSpPr>
        <p:spPr>
          <a:xfrm>
            <a:off x="8686800" y="384048"/>
            <a:ext cx="2926080" cy="411480"/>
          </a:xfrm>
          <a:prstGeom prst="roundRect">
            <a:avLst>
              <a:gd name="adj" fmla="val 48889"/>
            </a:avLst>
          </a:prstGeom>
          <a:solidFill>
            <a:srgbClr val="FBF1E4"/>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8A5A00"/>
                </a:solidFill>
                <a:latin typeface="Meiryo" pitchFamily="34" charset="0"/>
                <a:ea typeface="Meiryo" pitchFamily="34" charset="-122"/>
                <a:cs typeface="Meiryo" pitchFamily="34" charset="-120"/>
              </a:rPr>
              <a:t>📚 知識・雑学編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143000"/>
            <a:ext cx="11064240" cy="36576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RAG = 外部の文書から関連情報を検索し、それをコンテキストに含めてClaudeに回答させる仕組み</a:t>
            </a:r>
            <a:endParaRPr lang="en-US" sz="13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468880"/>
                <a:gridCol w="8595360"/>
              </a:tblGrid>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工程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内容</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① チャンク分割</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長い文書を検索しやすい小さな塊に分ける。文の途中で切らない・意味の区切りで分けるのがコツ</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② 埋め込み(embedding)</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各チャンクを「意味を表す数値ベクトル」に変換し、意味が近いもの同士を検索可能にする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③ ハイブリッド検索</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意味検索(ベクトル)とキーワード検索(BM25)を併用。固有名詞・型番等はBM25、言い換え表現は意味検索が得意</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④ リランキング</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検索でヒットした候補を、より精密なモデルで並べ替え、本当に関連するものを上位に持ってくる</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Meiryo" pitchFamily="34" charset="0"/>
                          <a:ea typeface="Meiryo" pitchFamily="34" charset="-122"/>
                          <a:cs typeface="Meiryo" pitchFamily="34" charset="-120"/>
                        </a:rPr>
                        <a:t>⑤ コンテキスト投入</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Meiryo" pitchFamily="34" charset="0"/>
                          <a:ea typeface="Meiryo" pitchFamily="34" charset="-122"/>
                          <a:cs typeface="Meiryo" pitchFamily="34" charset="-120"/>
                        </a:rPr>
                        <a:t>上位の数個だけをClaudeに渡す(Lost in the Middle対策で先頭/末尾に配置)</a:t>
                      </a:r>
                      <a:endParaRPr lang="en-US" sz="11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5257800"/>
            <a:ext cx="11064240" cy="960120"/>
          </a:xfrm>
          <a:prstGeom prst="roundRect">
            <a:avLst>
              <a:gd name="adj" fmla="val 7619"/>
            </a:avLst>
          </a:prstGeom>
          <a:solidFill>
            <a:srgbClr val="FBF1E4"/>
          </a:solidFill>
          <a:ln/>
        </p:spPr>
        <p:txBody>
          <a:bodyPr/>
          <a:p/>
        </p:txBody>
      </p:sp>
      <p:pic>
        <p:nvPicPr>
          <p:cNvPr id="11" name="Image 1" descr="preencoded.png">    </p:cNvPr>
          <p:cNvPicPr>
            <a:picLocks noChangeAspect="1"/>
          </p:cNvPicPr>
          <p:nvPr/>
        </p:nvPicPr>
        <p:blipFill>
          <a:blip r:embed="rId2"/>
          <a:stretch>
            <a:fillRect/>
          </a:stretch>
        </p:blipFill>
        <p:spPr>
          <a:xfrm>
            <a:off x="713232" y="5422392"/>
            <a:ext cx="310896" cy="310896"/>
          </a:xfrm>
          <a:prstGeom prst="rect">
            <a:avLst/>
          </a:prstGeom>
        </p:spPr>
      </p:pic>
      <p:sp>
        <p:nvSpPr>
          <p:cNvPr id="12" name="Text 7"/>
          <p:cNvSpPr/>
          <p:nvPr/>
        </p:nvSpPr>
        <p:spPr>
          <a:xfrm>
            <a:off x="1143000" y="53492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3" name="Text 8"/>
          <p:cNvSpPr/>
          <p:nvPr/>
        </p:nvSpPr>
        <p:spPr>
          <a:xfrm>
            <a:off x="1143000" y="564184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「型番や固有名詞の検索精度が低い」→ 意味検索(embedding)だけでなくBM25キーワード検索を併用(ハイブリッド検索)、が正解。意味検索は言い換えに強いが完全一致の識別子には弱い。</a:t>
            </a:r>
            <a:endParaRPr lang="en-US" sz="1200" dirty="0"/>
          </a:p>
        </p:txBody>
      </p:sp>
      <p:sp>
        <p:nvSpPr>
          <p:cNvPr id="14" name="Text 9"/>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5" name="Text 10"/>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長い会話のコンテキスト管理戦略</a:t>
            </a:r>
            <a:endParaRPr lang="en-US" sz="2500" dirty="0"/>
          </a:p>
        </p:txBody>
      </p:sp>
      <p:sp>
        <p:nvSpPr>
          <p:cNvPr id="5" name="Shape 2"/>
          <p:cNvSpPr/>
          <p:nvPr/>
        </p:nvSpPr>
        <p:spPr>
          <a:xfrm>
            <a:off x="8686800" y="384048"/>
            <a:ext cx="2926080" cy="411480"/>
          </a:xfrm>
          <a:prstGeom prst="roundRect">
            <a:avLst>
              <a:gd name="adj" fmla="val 48889"/>
            </a:avLst>
          </a:prstGeom>
          <a:solidFill>
            <a:srgbClr val="E3F4EA"/>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7A4C"/>
                </a:solidFill>
                <a:latin typeface="Meiryo" pitchFamily="34" charset="0"/>
                <a:ea typeface="Meiryo" pitchFamily="34" charset="-122"/>
                <a:cs typeface="Meiryo" pitchFamily="34" charset="-120"/>
              </a:rPr>
              <a:t>🔧 実践・操作編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Shape 5"/>
          <p:cNvSpPr/>
          <p:nvPr/>
        </p:nvSpPr>
        <p:spPr>
          <a:xfrm>
            <a:off x="54864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9" name="Text 6"/>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ローリングウィンドウ</a:t>
            </a:r>
            <a:endParaRPr lang="en-US" sz="1450" dirty="0"/>
          </a:p>
        </p:txBody>
      </p:sp>
      <p:sp>
        <p:nvSpPr>
          <p:cNvPr id="10" name="Text 7"/>
          <p:cNvSpPr/>
          <p:nvPr/>
        </p:nvSpPr>
        <p:spPr>
          <a:xfrm>
            <a:off x="73152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実効コンテキストを超えると古いターンから外れていく。何が保持され何が失われるかを前提に設計する</a:t>
            </a:r>
            <a:endParaRPr lang="en-US" sz="1150" dirty="0"/>
          </a:p>
        </p:txBody>
      </p:sp>
      <p:sp>
        <p:nvSpPr>
          <p:cNvPr id="11" name="Shape 8"/>
          <p:cNvSpPr/>
          <p:nvPr/>
        </p:nvSpPr>
        <p:spPr>
          <a:xfrm>
            <a:off x="619506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2" name="Text 9"/>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コンパクション(要約)</a:t>
            </a:r>
            <a:endParaRPr lang="en-US" sz="1450" dirty="0"/>
          </a:p>
        </p:txBody>
      </p:sp>
      <p:sp>
        <p:nvSpPr>
          <p:cNvPr id="13" name="Text 10"/>
          <p:cNvSpPr/>
          <p:nvPr/>
        </p:nvSpPr>
        <p:spPr>
          <a:xfrm>
            <a:off x="637794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古い会話を要約に置き換えてスペースを確保。初期の具体的指示が失われうるため、永続ルールはCLAUDE.mdへ</a:t>
            </a:r>
            <a:endParaRPr lang="en-US" sz="1150" dirty="0"/>
          </a:p>
        </p:txBody>
      </p:sp>
      <p:sp>
        <p:nvSpPr>
          <p:cNvPr id="14" name="Shape 11"/>
          <p:cNvSpPr/>
          <p:nvPr/>
        </p:nvSpPr>
        <p:spPr>
          <a:xfrm>
            <a:off x="54864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5" name="Text 12"/>
          <p:cNvSpPr/>
          <p:nvPr/>
        </p:nvSpPr>
        <p:spPr>
          <a:xfrm>
            <a:off x="73152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スクラッチパッド</a:t>
            </a:r>
            <a:endParaRPr lang="en-US" sz="1450" dirty="0"/>
          </a:p>
        </p:txBody>
      </p:sp>
      <p:sp>
        <p:nvSpPr>
          <p:cNvPr id="16" name="Text 13"/>
          <p:cNvSpPr/>
          <p:nvPr/>
        </p:nvSpPr>
        <p:spPr>
          <a:xfrm>
            <a:off x="73152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途中の思考・中間結果を外部メモ(ファイル等)に書き出し、コンテキストから追い出しても後で参照できるようにする</a:t>
            </a:r>
            <a:endParaRPr lang="en-US" sz="1150" dirty="0"/>
          </a:p>
        </p:txBody>
      </p:sp>
      <p:sp>
        <p:nvSpPr>
          <p:cNvPr id="17" name="Shape 14"/>
          <p:cNvSpPr/>
          <p:nvPr/>
        </p:nvSpPr>
        <p:spPr>
          <a:xfrm>
            <a:off x="619506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8" name="Text 15"/>
          <p:cNvSpPr/>
          <p:nvPr/>
        </p:nvSpPr>
        <p:spPr>
          <a:xfrm>
            <a:off x="637794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Provenance(出典管理)</a:t>
            </a:r>
            <a:endParaRPr lang="en-US" sz="1450" dirty="0"/>
          </a:p>
        </p:txBody>
      </p:sp>
      <p:sp>
        <p:nvSpPr>
          <p:cNvPr id="19" name="Text 16"/>
          <p:cNvSpPr/>
          <p:nvPr/>
        </p:nvSpPr>
        <p:spPr>
          <a:xfrm>
            <a:off x="637794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取得した情報に出典(URL・文書名・位置)を必ず紐付け、後から検証・追跡できる状態を保つ</a:t>
            </a:r>
            <a:endParaRPr lang="en-US" sz="1150" dirty="0"/>
          </a:p>
        </p:txBody>
      </p:sp>
      <p:sp>
        <p:nvSpPr>
          <p:cNvPr id="20" name="Shape 17"/>
          <p:cNvSpPr/>
          <p:nvPr/>
        </p:nvSpPr>
        <p:spPr>
          <a:xfrm>
            <a:off x="548640" y="4846320"/>
            <a:ext cx="11064240" cy="960120"/>
          </a:xfrm>
          <a:prstGeom prst="roundRect">
            <a:avLst>
              <a:gd name="adj" fmla="val 7619"/>
            </a:avLst>
          </a:prstGeom>
          <a:solidFill>
            <a:srgbClr val="FBF1E4"/>
          </a:solidFill>
          <a:ln/>
        </p:spPr>
        <p:txBody>
          <a:bodyPr/>
          <a:p/>
        </p:txBody>
      </p:sp>
      <p:pic>
        <p:nvPicPr>
          <p:cNvPr id="21" name="Image 1" descr="preencoded.png">    </p:cNvPr>
          <p:cNvPicPr>
            <a:picLocks noChangeAspect="1"/>
          </p:cNvPicPr>
          <p:nvPr/>
        </p:nvPicPr>
        <p:blipFill>
          <a:blip r:embed="rId2"/>
          <a:stretch>
            <a:fillRect/>
          </a:stretch>
        </p:blipFill>
        <p:spPr>
          <a:xfrm>
            <a:off x="713232" y="5010912"/>
            <a:ext cx="310896" cy="310896"/>
          </a:xfrm>
          <a:prstGeom prst="rect">
            <a:avLst/>
          </a:prstGeom>
        </p:spPr>
      </p:pic>
      <p:sp>
        <p:nvSpPr>
          <p:cNvPr id="22" name="Text 18"/>
          <p:cNvSpPr/>
          <p:nvPr/>
        </p:nvSpPr>
        <p:spPr>
          <a:xfrm>
            <a:off x="1143000" y="49377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3" name="Text 19"/>
          <p:cNvSpPr/>
          <p:nvPr/>
        </p:nvSpPr>
        <p:spPr>
          <a:xfrm>
            <a:off x="1143000" y="52303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「長時間の対話でエージェントが初期の指示を忘れる」→ ローリングウィンドウ/コンパクションで初期情報が脱落したのが原因。永続させたい指示はCLAUDE.mdや外部メモ(スクラッチパッド)に逃がすのが正解。</a:t>
            </a:r>
            <a:endParaRPr lang="en-US" sz="1200" dirty="0"/>
          </a:p>
        </p:txBody>
      </p:sp>
      <p:sp>
        <p:nvSpPr>
          <p:cNvPr id="24" name="Text 2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5" name="Text 21"/>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プロンプトキャッシュの詳細ルール</a:t>
            </a:r>
            <a:endParaRPr lang="en-US" sz="2500" dirty="0"/>
          </a:p>
        </p:txBody>
      </p:sp>
      <p:sp>
        <p:nvSpPr>
          <p:cNvPr id="5" name="Shape 2"/>
          <p:cNvSpPr/>
          <p:nvPr/>
        </p:nvSpPr>
        <p:spPr>
          <a:xfrm>
            <a:off x="8686800" y="384048"/>
            <a:ext cx="2926080" cy="411480"/>
          </a:xfrm>
          <a:prstGeom prst="roundRect">
            <a:avLst>
              <a:gd name="adj" fmla="val 48889"/>
            </a:avLst>
          </a:prstGeom>
          <a:solidFill>
            <a:srgbClr val="E3F4EA"/>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7A4C"/>
                </a:solidFill>
                <a:latin typeface="Meiryo" pitchFamily="34" charset="0"/>
                <a:ea typeface="Meiryo" pitchFamily="34" charset="-122"/>
                <a:cs typeface="Meiryo" pitchFamily="34" charset="-120"/>
              </a:rPr>
              <a:t>🔧 実践・操作編</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143000"/>
            <a:ext cx="11064240" cy="365760"/>
          </a:xfrm>
          <a:prstGeom prst="rect">
            <a:avLst/>
          </a:prstGeom>
          <a:noFill/>
          <a:ln/>
        </p:spPr>
        <p:txBody>
          <a:bodyPr wrap="square" rtlCol="0" anchor="ctr"/>
          <a:lstStyle/>
          <a:p>
            <a:pPr indent="0" marL="0">
              <a:buNone/>
            </a:pPr>
            <a:r>
              <a:rPr lang="en-US" sz="1300" b="1" dirty="0">
                <a:solidFill>
                  <a:srgbClr val="1E2761"/>
                </a:solidFill>
                <a:latin typeface="Meiryo" pitchFamily="34" charset="0"/>
                <a:ea typeface="Meiryo" pitchFamily="34" charset="-122"/>
                <a:cs typeface="Meiryo" pitchFamily="34" charset="-120"/>
              </a:rPr>
              <a:t>同じ内容を毎回送るなら、その部分をキャッシュして課金・処理を大幅削減できる仕組み</a:t>
            </a:r>
            <a:endParaRPr lang="en-US" sz="1300" dirty="0"/>
          </a:p>
        </p:txBody>
      </p:sp>
      <p:sp>
        <p:nvSpPr>
          <p:cNvPr id="9" name="Text 6"/>
          <p:cNvSpPr/>
          <p:nvPr/>
        </p:nvSpPr>
        <p:spPr>
          <a:xfrm>
            <a:off x="548640" y="1554480"/>
            <a:ext cx="11064240" cy="2743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キャッシュされる順序は tools → system → messages。この階層の途中を変更すると、そこから後ろのキャッシュが全て無効になる</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キャッシュ読み取りは標準入力トークンの約10%の料金。書き込み(初回)は約25%割高だが、以降のヒットで元が取れる</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有効期限(TTL)は標準5分。ヒットするたびにタイマーがリセットされるので、使い続ける限りキャッシュは生き続ける。1時間TTLも選択可(追加コスト)</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最小トークン数の閾値がある(モデルにより1,024〜4,096トークン)。それ未満はcache_controlを付けてもキャッシュされない</a:t>
            </a:r>
            <a:endParaRPr lang="en-US" sz="1200" dirty="0"/>
          </a:p>
          <a:p>
            <a:pPr marL="342900" indent="-342900">
              <a:spcAft>
                <a:spcPts val="800"/>
              </a:spcAft>
              <a:buSzPct val="100000"/>
              <a:buChar char="•"/>
            </a:pPr>
            <a:r>
              <a:rPr lang="en-US" sz="1200" dirty="0">
                <a:solidFill>
                  <a:srgbClr val="1F2430"/>
                </a:solidFill>
                <a:latin typeface="Meiryo" pitchFamily="34" charset="0"/>
                <a:ea typeface="Meiryo" pitchFamily="34" charset="-122"/>
                <a:cs typeface="Meiryo" pitchFamily="34" charset="-120"/>
              </a:rPr>
              <a:t>cache_controlは1リクエストにつき最大4箇所まで</a:t>
            </a:r>
            <a:endParaRPr lang="en-US" sz="1200" dirty="0"/>
          </a:p>
        </p:txBody>
      </p:sp>
      <p:sp>
        <p:nvSpPr>
          <p:cNvPr id="10" name="Shape 7"/>
          <p:cNvSpPr/>
          <p:nvPr/>
        </p:nvSpPr>
        <p:spPr>
          <a:xfrm>
            <a:off x="548640" y="4617720"/>
            <a:ext cx="11064240" cy="960120"/>
          </a:xfrm>
          <a:prstGeom prst="roundRect">
            <a:avLst>
              <a:gd name="adj" fmla="val 7619"/>
            </a:avLst>
          </a:prstGeom>
          <a:solidFill>
            <a:srgbClr val="FBF1E4"/>
          </a:solidFill>
          <a:ln/>
        </p:spPr>
        <p:txBody>
          <a:bodyPr/>
          <a:p/>
        </p:txBody>
      </p:sp>
      <p:pic>
        <p:nvPicPr>
          <p:cNvPr id="11" name="Image 1" descr="preencoded.png">    </p:cNvPr>
          <p:cNvPicPr>
            <a:picLocks noChangeAspect="1"/>
          </p:cNvPicPr>
          <p:nvPr/>
        </p:nvPicPr>
        <p:blipFill>
          <a:blip r:embed="rId2"/>
          <a:stretch>
            <a:fillRect/>
          </a:stretch>
        </p:blipFill>
        <p:spPr>
          <a:xfrm>
            <a:off x="713232" y="4782312"/>
            <a:ext cx="310896" cy="310896"/>
          </a:xfrm>
          <a:prstGeom prst="rect">
            <a:avLst/>
          </a:prstGeom>
        </p:spPr>
      </p:pic>
      <p:sp>
        <p:nvSpPr>
          <p:cNvPr id="12" name="Text 8"/>
          <p:cNvSpPr/>
          <p:nvPr/>
        </p:nvSpPr>
        <p:spPr>
          <a:xfrm>
            <a:off x="1143000" y="47091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3" name="Text 9"/>
          <p:cNvSpPr/>
          <p:nvPr/>
        </p:nvSpPr>
        <p:spPr>
          <a:xfrm>
            <a:off x="1143000" y="50017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「キャッシュが効かず毎回フル課金される」→ ①システムプロンプトにタイムスタンプ等の可変要素が混入、②会話履歴が毎回再構成されてプレフィックスが変わる、③MCPツール追加やモデル切替でキャッシュ無効化、が典型原因。可変部分はキャッシュ対象の後ろに置くのが鉄則。</a:t>
            </a:r>
            <a:endParaRPr lang="en-US" sz="1200" dirty="0"/>
          </a:p>
        </p:txBody>
      </p:sp>
      <p:sp>
        <p:nvSpPr>
          <p:cNvPr id="14" name="Text 1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5" name="Text 11"/>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822960"/>
            <a:ext cx="1188720" cy="1188720"/>
          </a:xfrm>
          <a:prstGeom prst="ellipse">
            <a:avLst/>
          </a:prstGeom>
          <a:solidFill>
            <a:srgbClr val="141B44"/>
          </a:solidFill>
          <a:ln/>
        </p:spPr>
        <p:txBody>
          <a:bodyPr/>
          <a:p/>
        </p:txBody>
      </p:sp>
      <p:pic>
        <p:nvPicPr>
          <p:cNvPr id="3" name="Image 0" descr="preencoded.png">    </p:cNvPr>
          <p:cNvPicPr>
            <a:picLocks noChangeAspect="1"/>
          </p:cNvPicPr>
          <p:nvPr/>
        </p:nvPicPr>
        <p:blipFill>
          <a:blip r:embed="rId1"/>
          <a:stretch>
            <a:fillRect/>
          </a:stretch>
        </p:blipFill>
        <p:spPr>
          <a:xfrm>
            <a:off x="925373" y="1108253"/>
            <a:ext cx="618134" cy="618134"/>
          </a:xfrm>
          <a:prstGeom prst="rect">
            <a:avLst/>
          </a:prstGeom>
        </p:spPr>
      </p:pic>
      <p:sp>
        <p:nvSpPr>
          <p:cNvPr id="4" name="Text 1"/>
          <p:cNvSpPr/>
          <p:nvPr/>
        </p:nvSpPr>
        <p:spPr>
          <a:xfrm>
            <a:off x="2103120" y="868680"/>
            <a:ext cx="5486400" cy="457200"/>
          </a:xfrm>
          <a:prstGeom prst="rect">
            <a:avLst/>
          </a:prstGeom>
          <a:noFill/>
          <a:ln/>
        </p:spPr>
        <p:txBody>
          <a:bodyPr wrap="square" rtlCol="0" anchor="ctr"/>
          <a:lstStyle/>
          <a:p>
            <a:pPr indent="0" marL="0">
              <a:buNone/>
            </a:pPr>
            <a:r>
              <a:rPr lang="en-US" sz="1700" b="1" spc="200" kern="0" dirty="0">
                <a:solidFill>
                  <a:srgbClr val="CADCFC"/>
                </a:solidFill>
                <a:latin typeface="Meiryo" pitchFamily="34" charset="0"/>
                <a:ea typeface="Meiryo" pitchFamily="34" charset="-122"/>
                <a:cs typeface="Meiryo" pitchFamily="34" charset="-120"/>
              </a:rPr>
              <a:t>DEEP DIVE</a:t>
            </a:r>
            <a:endParaRPr lang="en-US" sz="1700" dirty="0"/>
          </a:p>
        </p:txBody>
      </p:sp>
      <p:sp>
        <p:nvSpPr>
          <p:cNvPr id="5" name="Text 2"/>
          <p:cNvSpPr/>
          <p:nvPr/>
        </p:nvSpPr>
        <p:spPr>
          <a:xfrm>
            <a:off x="2103120" y="1280160"/>
            <a:ext cx="8686800" cy="1005840"/>
          </a:xfrm>
          <a:prstGeom prst="rect">
            <a:avLst/>
          </a:prstGeom>
          <a:noFill/>
          <a:ln/>
        </p:spPr>
        <p:txBody>
          <a:bodyPr wrap="square" rtlCol="0" anchor="ctr"/>
          <a:lstStyle/>
          <a:p>
            <a:pPr indent="0" marL="0">
              <a:buNone/>
            </a:pPr>
            <a:r>
              <a:rPr lang="en-US" sz="3300" b="1" dirty="0">
                <a:solidFill>
                  <a:srgbClr val="FFFFFF"/>
                </a:solidFill>
                <a:latin typeface="Meiryo" pitchFamily="34" charset="0"/>
                <a:ea typeface="Meiryo" pitchFamily="34" charset="-122"/>
                <a:cs typeface="Meiryo" pitchFamily="34" charset="-120"/>
              </a:rPr>
              <a:t>深掘り編: 実装レベルの設計原則</a:t>
            </a:r>
            <a:endParaRPr lang="en-US" sz="3300" dirty="0"/>
          </a:p>
        </p:txBody>
      </p:sp>
      <p:sp>
        <p:nvSpPr>
          <p:cNvPr id="6" name="Text 3"/>
          <p:cNvSpPr/>
          <p:nvPr/>
        </p:nvSpPr>
        <p:spPr>
          <a:xfrm>
            <a:off x="2103120" y="2148840"/>
            <a:ext cx="8686800" cy="548640"/>
          </a:xfrm>
          <a:prstGeom prst="rect">
            <a:avLst/>
          </a:prstGeom>
          <a:noFill/>
          <a:ln/>
        </p:spPr>
        <p:txBody>
          <a:bodyPr wrap="square" rtlCol="0" anchor="ctr"/>
          <a:lstStyle/>
          <a:p>
            <a:pPr indent="0" marL="0">
              <a:buNone/>
            </a:pPr>
            <a:r>
              <a:rPr lang="en-US" sz="1600" dirty="0">
                <a:solidFill>
                  <a:srgbClr val="CADCFC"/>
                </a:solidFill>
                <a:latin typeface="Meiryo" pitchFamily="34" charset="0"/>
                <a:ea typeface="Meiryo" pitchFamily="34" charset="-122"/>
                <a:cs typeface="Meiryo" pitchFamily="34" charset="-120"/>
              </a:rPr>
              <a:t>試験シナリオで問われる、より具体的な設計判断のパターン集(ドメイン2〜4)</a:t>
            </a:r>
            <a:endParaRPr lang="en-US" sz="1600" dirty="0"/>
          </a:p>
        </p:txBody>
      </p:sp>
      <p:sp>
        <p:nvSpPr>
          <p:cNvPr id="7" name="Shape 4"/>
          <p:cNvSpPr/>
          <p:nvPr/>
        </p:nvSpPr>
        <p:spPr>
          <a:xfrm>
            <a:off x="2103120" y="2697480"/>
            <a:ext cx="9418320" cy="0"/>
          </a:xfrm>
          <a:prstGeom prst="line">
            <a:avLst/>
          </a:prstGeom>
          <a:noFill/>
          <a:ln w="12700">
            <a:solidFill>
              <a:srgbClr val="3A4380"/>
            </a:solidFill>
            <a:prstDash val="solid"/>
          </a:ln>
        </p:spPr>
        <p:txBody>
          <a:bodyPr/>
          <a:p/>
        </p:txBody>
      </p:sp>
      <p:sp>
        <p:nvSpPr>
          <p:cNvPr id="8" name="Text 5"/>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9" name="Text 6"/>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深掘り: ツール説明(description)の設計</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説明で選択が決まる</a:t>
            </a:r>
            <a:endParaRPr lang="en-US" sz="1450" dirty="0"/>
          </a:p>
        </p:txBody>
      </p:sp>
      <p:sp>
        <p:nvSpPr>
          <p:cNvPr id="8" name="Text 5"/>
          <p:cNvSpPr/>
          <p:nvPr/>
        </p:nvSpPr>
        <p:spPr>
          <a:xfrm>
            <a:off x="73152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Claudeはdescriptionを読んでツールを選ぶ。曖昧な説明は誤選択の直接原因。入力形式・具体例・エッジケース・制限まで説明に書き切る</a:t>
            </a:r>
            <a:endParaRPr lang="en-US" sz="1150" dirty="0"/>
          </a:p>
        </p:txBody>
      </p:sp>
      <p:sp>
        <p:nvSpPr>
          <p:cNvPr id="9" name="Shape 6"/>
          <p:cNvSpPr/>
          <p:nvPr/>
        </p:nvSpPr>
        <p:spPr>
          <a:xfrm>
            <a:off x="619506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重複の排除</a:t>
            </a:r>
            <a:endParaRPr lang="en-US" sz="1450" dirty="0"/>
          </a:p>
        </p:txBody>
      </p:sp>
      <p:sp>
        <p:nvSpPr>
          <p:cNvPr id="11" name="Text 8"/>
          <p:cNvSpPr/>
          <p:nvPr/>
        </p:nvSpPr>
        <p:spPr>
          <a:xfrm>
            <a:off x="637794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似た説明のツールが2つあると誤選択が起きる。各ツールに明確に異なる目的を与える。汎用ツール1つより、目的別に分割した複数ツールの方が選択精度が高い</a:t>
            </a:r>
            <a:endParaRPr lang="en-US" sz="1150" dirty="0"/>
          </a:p>
        </p:txBody>
      </p:sp>
      <p:sp>
        <p:nvSpPr>
          <p:cNvPr id="12" name="Shape 9"/>
          <p:cNvSpPr/>
          <p:nvPr/>
        </p:nvSpPr>
        <p:spPr>
          <a:xfrm>
            <a:off x="54864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システムプロンプトの監査</a:t>
            </a:r>
            <a:endParaRPr lang="en-US" sz="1450" dirty="0"/>
          </a:p>
        </p:txBody>
      </p:sp>
      <p:sp>
        <p:nvSpPr>
          <p:cNvPr id="14" name="Text 11"/>
          <p:cNvSpPr/>
          <p:nvPr/>
        </p:nvSpPr>
        <p:spPr>
          <a:xfrm>
            <a:off x="73152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良いツール説明も、システムプロンプト内の「always」「never」等の強い表現に上書きされ得る。ツール選択がおかしい時はシステムプロンプト側も疑う</a:t>
            </a:r>
            <a:endParaRPr lang="en-US" sz="1150" dirty="0"/>
          </a:p>
        </p:txBody>
      </p:sp>
      <p:sp>
        <p:nvSpPr>
          <p:cNvPr id="15" name="Shape 12"/>
          <p:cNvSpPr/>
          <p:nvPr/>
        </p:nvSpPr>
        <p:spPr>
          <a:xfrm>
            <a:off x="619506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ツール数は4〜5個が最適</a:t>
            </a:r>
            <a:endParaRPr lang="en-US" sz="1450" dirty="0"/>
          </a:p>
        </p:txBody>
      </p:sp>
      <p:sp>
        <p:nvSpPr>
          <p:cNvPr id="17" name="Text 14"/>
          <p:cNvSpPr/>
          <p:nvPr/>
        </p:nvSpPr>
        <p:spPr>
          <a:xfrm>
            <a:off x="637794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1エージェントに4〜5個なら正しく選べるが、18個も持たせると選択が当てずっぽうになる。役割に関係ないツールは外す(Role-Scoped Tools)</a:t>
            </a:r>
            <a:endParaRPr lang="en-US" sz="1150" dirty="0"/>
          </a:p>
        </p:txBody>
      </p:sp>
      <p:sp>
        <p:nvSpPr>
          <p:cNvPr id="18" name="Shape 15"/>
          <p:cNvSpPr/>
          <p:nvPr/>
        </p:nvSpPr>
        <p:spPr>
          <a:xfrm>
            <a:off x="548640" y="484632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5010912"/>
            <a:ext cx="310896" cy="310896"/>
          </a:xfrm>
          <a:prstGeom prst="rect">
            <a:avLst/>
          </a:prstGeom>
        </p:spPr>
      </p:pic>
      <p:sp>
        <p:nvSpPr>
          <p:cNvPr id="20" name="Text 16"/>
          <p:cNvSpPr/>
          <p:nvPr/>
        </p:nvSpPr>
        <p:spPr>
          <a:xfrm>
            <a:off x="1143000" y="49377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52303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「エージェントのツール選択ミスが多発している。原因は?」→ ①説明が曖昧/重複、②ツール数が多すぎる、③システムプロンプトの強い語が干渉、の3点を疑うのが正解筋。</a:t>
            </a:r>
            <a:endParaRPr lang="en-US" sz="1200" dirty="0"/>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深掘り: 構造化エラーレスポンスの6原則</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457200"/>
                <a:gridCol w="2743200"/>
                <a:gridCol w="786384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原則</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内容</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1</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isErrorフラグを立てる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失敗時にisError: trueを明示。なければエージェントは成功したと誤認する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2</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4種類のエラーを区別</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transient(一時的→リトライ可) / validation(入力不正→修正して再試行) / business(業務ルール違反→理由を説明) / permission(権限不足→エスカレーション)</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3</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構造化メタデータ</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「エラーが発生しました」でなく、何が起き・次に何をすべきかを明記</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4</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平易な言葉で説明</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業務ルールでブロックした場合は、なぜブロックされたかを明確に伝える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5</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ローカル回復+エスカレーション</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小さなエラーは自動で回復し、解決不能な場合のみエスカレーションする</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6</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空結果とエラーを区別</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「検索結果0件」は正常な応答であり、「アクセス失敗」とは別物として扱う</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892040"/>
            <a:ext cx="11064240" cy="960120"/>
          </a:xfrm>
          <a:prstGeom prst="roundRect">
            <a:avLst>
              <a:gd name="adj" fmla="val 7619"/>
            </a:avLst>
          </a:prstGeom>
          <a:solidFill>
            <a:srgbClr val="FBF1E4"/>
          </a:solidFill>
          <a:ln/>
        </p:spPr>
        <p:txBody>
          <a:bodyPr/>
          <a:p/>
        </p:txBody>
      </p:sp>
      <p:pic>
        <p:nvPicPr>
          <p:cNvPr id="8" name="Image 1" descr="preencoded.png">    </p:cNvPr>
          <p:cNvPicPr>
            <a:picLocks noChangeAspect="1"/>
          </p:cNvPicPr>
          <p:nvPr/>
        </p:nvPicPr>
        <p:blipFill>
          <a:blip r:embed="rId2"/>
          <a:stretch>
            <a:fillRect/>
          </a:stretch>
        </p:blipFill>
        <p:spPr>
          <a:xfrm>
            <a:off x="713232" y="5056632"/>
            <a:ext cx="310896" cy="310896"/>
          </a:xfrm>
          <a:prstGeom prst="rect">
            <a:avLst/>
          </a:prstGeom>
        </p:spPr>
      </p:pic>
      <p:sp>
        <p:nvSpPr>
          <p:cNvPr id="9" name="Text 4"/>
          <p:cNvSpPr/>
          <p:nvPr/>
        </p:nvSpPr>
        <p:spPr>
          <a:xfrm>
            <a:off x="1143000" y="498348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0" name="Text 5"/>
          <p:cNvSpPr/>
          <p:nvPr/>
        </p:nvSpPr>
        <p:spPr>
          <a:xfrm>
            <a:off x="1143000" y="527608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「検索ツールが0件を返した。これはエラーとして扱うべきか」→NO。空結果は正常応答。isError: trueにすべきなのはアクセス失敗等の実際の障害のみ、という区別が頻出。</a:t>
            </a:r>
            <a:endParaRPr lang="en-US" sz="1200" dirty="0"/>
          </a:p>
        </p:txBody>
      </p:sp>
      <p:sp>
        <p:nvSpPr>
          <p:cNvPr id="11" name="Text 6"/>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7"/>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67</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深掘り: tool_choiceの使い分け</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2377440"/>
                <a:gridCol w="4114800"/>
                <a:gridCol w="4572000"/>
              </a:tblGrid>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モード</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動作</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使いどころ</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auto(デフォルト)</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ツールを使うかどうかもClaudeが判断</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通常の会話・柔軟な対応</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any</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必ずいずれかのツールを呼ばせる</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テキスト応答でなくツール実行が必須の場面(構造化抽出等)</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特定ツールの強制</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指定した1つのツールを必ず呼ばせる</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最初に必ず実行すべきステップ(例: 本人確認)を強制し、その後autoに戻す</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329184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危険な汎用ツール(任意のSQL実行等)は、安全に制限した専用版(特定クエリのみ実行可)に置き換える(Constrained Replacement)</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JSON出力を確実に得たい場合、プロンプトで「JSONで答えて」と頼むより、ツール呼び出し(tool use)を使う方が唯一信頼できる方法</a:t>
            </a:r>
            <a:endParaRPr lang="en-US" sz="1300" dirty="0"/>
          </a:p>
        </p:txBody>
      </p:sp>
      <p:sp>
        <p:nvSpPr>
          <p:cNvPr id="8" name="Shape 4"/>
          <p:cNvSpPr/>
          <p:nvPr/>
        </p:nvSpPr>
        <p:spPr>
          <a:xfrm>
            <a:off x="548640" y="4800600"/>
            <a:ext cx="11064240" cy="960120"/>
          </a:xfrm>
          <a:prstGeom prst="roundRect">
            <a:avLst>
              <a:gd name="adj" fmla="val 7619"/>
            </a:avLst>
          </a:prstGeom>
          <a:solidFill>
            <a:srgbClr val="FBF1E4"/>
          </a:solidFill>
          <a:ln/>
        </p:spPr>
        <p:txBody>
          <a:bodyPr/>
          <a:p/>
        </p:txBody>
      </p:sp>
      <p:pic>
        <p:nvPicPr>
          <p:cNvPr id="9" name="Image 1" descr="preencoded.png">    </p:cNvPr>
          <p:cNvPicPr>
            <a:picLocks noChangeAspect="1"/>
          </p:cNvPicPr>
          <p:nvPr/>
        </p:nvPicPr>
        <p:blipFill>
          <a:blip r:embed="rId2"/>
          <a:stretch>
            <a:fillRect/>
          </a:stretch>
        </p:blipFill>
        <p:spPr>
          <a:xfrm>
            <a:off x="713232" y="4965192"/>
            <a:ext cx="310896" cy="310896"/>
          </a:xfrm>
          <a:prstGeom prst="rect">
            <a:avLst/>
          </a:prstGeom>
        </p:spPr>
      </p:pic>
      <p:sp>
        <p:nvSpPr>
          <p:cNvPr id="10" name="Text 5"/>
          <p:cNvSpPr/>
          <p:nvPr/>
        </p:nvSpPr>
        <p:spPr>
          <a:xfrm>
            <a:off x="1143000" y="489204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1" name="Text 6"/>
          <p:cNvSpPr/>
          <p:nvPr/>
        </p:nvSpPr>
        <p:spPr>
          <a:xfrm>
            <a:off x="1143000" y="518464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「最初に必ず本人確認ツールを実行させたい」→ 第1ステップだけtool_choiceで特定ツールを強制し、以降はautoに戻す、が正解パターン。</a:t>
            </a:r>
            <a:endParaRPr lang="en-US" sz="1200" dirty="0"/>
          </a:p>
        </p:txBody>
      </p:sp>
      <p:sp>
        <p:nvSpPr>
          <p:cNvPr id="12" name="Text 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3" name="Text 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68</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深掘り: MCP設定と組み込みツールの使い分け</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566928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MCP設定ファイルの使い分け</a:t>
            </a:r>
            <a:endParaRPr lang="en-US" sz="1400" dirty="0"/>
          </a:p>
        </p:txBody>
      </p:sp>
      <p:sp>
        <p:nvSpPr>
          <p:cNvPr id="7" name="Text 4"/>
          <p:cNvSpPr/>
          <p:nvPr/>
        </p:nvSpPr>
        <p:spPr>
          <a:xfrm>
            <a:off x="548640" y="1554480"/>
            <a:ext cx="5669280" cy="20116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.mcp.json(プロジェクト直下): チーム共有のサーバー設定。gitにコミットする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~/.claude.json: 個人用サーバー設定。共有しない</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トークン等の秘密情報は環境変数で展開し、.mcp.jsonに直書きしない(git流出防止)</a:t>
            </a:r>
            <a:endParaRPr lang="en-US" sz="1250" dirty="0"/>
          </a:p>
        </p:txBody>
      </p:sp>
      <p:sp>
        <p:nvSpPr>
          <p:cNvPr id="8" name="Text 5"/>
          <p:cNvSpPr/>
          <p:nvPr/>
        </p:nvSpPr>
        <p:spPr>
          <a:xfrm>
            <a:off x="548640" y="3657600"/>
            <a:ext cx="566928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組み込みツールの使い分け</a:t>
            </a:r>
            <a:endParaRPr lang="en-US" sz="1400" dirty="0"/>
          </a:p>
        </p:txBody>
      </p:sp>
      <p:sp>
        <p:nvSpPr>
          <p:cNvPr id="9" name="Text 6"/>
          <p:cNvSpPr/>
          <p:nvPr/>
        </p:nvSpPr>
        <p:spPr>
          <a:xfrm>
            <a:off x="548640" y="4023360"/>
            <a:ext cx="5669280" cy="18288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Glob = ファイル名を検索 / Grep = ファイルの中身を検索</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Read = 閲覧、Edit = 部分修正、Write = 全体置き換え</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Editの置換対象が曖昧な時は、Read + Writeに切り替える</a:t>
            </a:r>
            <a:endParaRPr lang="en-US" sz="1250" dirty="0"/>
          </a:p>
        </p:txBody>
      </p:sp>
      <p:sp>
        <p:nvSpPr>
          <p:cNvPr id="10" name="Shape 7"/>
          <p:cNvSpPr/>
          <p:nvPr/>
        </p:nvSpPr>
        <p:spPr>
          <a:xfrm>
            <a:off x="6492240" y="1188720"/>
            <a:ext cx="5120640" cy="960120"/>
          </a:xfrm>
          <a:prstGeom prst="roundRect">
            <a:avLst>
              <a:gd name="adj" fmla="val 7619"/>
            </a:avLst>
          </a:prstGeom>
          <a:solidFill>
            <a:srgbClr val="FBF1E4"/>
          </a:solidFill>
          <a:ln/>
        </p:spPr>
        <p:txBody>
          <a:bodyPr/>
          <a:p/>
        </p:txBody>
      </p:sp>
      <p:pic>
        <p:nvPicPr>
          <p:cNvPr id="11" name="Image 1" descr="preencoded.png">    </p:cNvPr>
          <p:cNvPicPr>
            <a:picLocks noChangeAspect="1"/>
          </p:cNvPicPr>
          <p:nvPr/>
        </p:nvPicPr>
        <p:blipFill>
          <a:blip r:embed="rId2"/>
          <a:stretch>
            <a:fillRect/>
          </a:stretch>
        </p:blipFill>
        <p:spPr>
          <a:xfrm>
            <a:off x="6656832" y="1353312"/>
            <a:ext cx="310896" cy="310896"/>
          </a:xfrm>
          <a:prstGeom prst="rect">
            <a:avLst/>
          </a:prstGeom>
        </p:spPr>
      </p:pic>
      <p:sp>
        <p:nvSpPr>
          <p:cNvPr id="12" name="Text 8"/>
          <p:cNvSpPr/>
          <p:nvPr/>
        </p:nvSpPr>
        <p:spPr>
          <a:xfrm>
            <a:off x="7086600" y="1280160"/>
            <a:ext cx="43891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3" name="Text 9"/>
          <p:cNvSpPr/>
          <p:nvPr/>
        </p:nvSpPr>
        <p:spPr>
          <a:xfrm>
            <a:off x="7086600" y="1572768"/>
            <a:ext cx="43434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「チームで共有すべきMCPサーバー設定はどこに置く?」→ .mcp.json(プロジェクト側・git管理)。APIトークンは環境変数で参照させる、が正解。</a:t>
            </a:r>
            <a:endParaRPr lang="en-US" sz="1200" dirty="0"/>
          </a:p>
        </p:txBody>
      </p:sp>
      <p:sp>
        <p:nvSpPr>
          <p:cNvPr id="14" name="Text 10"/>
          <p:cNvSpPr/>
          <p:nvPr/>
        </p:nvSpPr>
        <p:spPr>
          <a:xfrm>
            <a:off x="6492240" y="2377440"/>
            <a:ext cx="51206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コードベース探索の原則</a:t>
            </a:r>
            <a:endParaRPr lang="en-US" sz="1400" dirty="0"/>
          </a:p>
        </p:txBody>
      </p:sp>
      <p:sp>
        <p:nvSpPr>
          <p:cNvPr id="15" name="Text 11"/>
          <p:cNvSpPr/>
          <p:nvPr/>
        </p:nvSpPr>
        <p:spPr>
          <a:xfrm>
            <a:off x="6492240" y="2743200"/>
            <a:ext cx="5120640" cy="20116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全ファイルを読むのではなく、手がかりを1つずつ追う(Grepでヒット→該当ファイルをRead→呼び出し元を追跡)</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最初に見つけた関数名で止まらず、そこへ到る全パスを追う</a:t>
            </a:r>
            <a:endParaRPr lang="en-US" sz="1250" dirty="0"/>
          </a:p>
        </p:txBody>
      </p:sp>
      <p:sp>
        <p:nvSpPr>
          <p:cNvPr id="16" name="Text 12"/>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7" name="Text 13"/>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深掘り: CLAUDE.md階層・パス指定ルール・スキル配置</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234440"/>
            <a:ext cx="11064240" cy="3657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CLAUDE.mdは user / project / directory の3階層。ユーザーレベルはgitに乗らないため、チーム共通ルールは必ずプロジェクトレベルに書く(「同僚がルールを守れていない」時はまずファイルの置き場所を疑う)</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@importで共通の標準ファイルを取り込める。1画面を超えたら .claude/rules/ にトピック別に分割する(モノリシックより焦点を絞った分割が優る)</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パス指定ルール(paths / glob): **/*.test.tsx のようなパターンで「該当ファイルを編集中のみ」ルールを読み込ませる → コンテキストを小さく保てる。同じCLAUDE.mdを複数フォルダにコピーするのは誤り</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/memoryコマンドで、いまどのCLAUDE.mdが実際に読み込まれているかを確認できる(推測でなく診断する)</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カスタムコマンドは .claude/commands/(チーム共有・git管理)と ~/.claude/commands/(個人用)に分かれる。チームのスキルを個人用に改造したい場合は、~/.claude/skills/ に別名でコピーする(共有版を直接編集しない)</a:t>
            </a:r>
            <a:endParaRPr lang="en-US" sz="1300" dirty="0"/>
          </a:p>
        </p:txBody>
      </p:sp>
      <p:sp>
        <p:nvSpPr>
          <p:cNvPr id="7" name="Shape 4"/>
          <p:cNvSpPr/>
          <p:nvPr/>
        </p:nvSpPr>
        <p:spPr>
          <a:xfrm>
            <a:off x="548640" y="4983480"/>
            <a:ext cx="11064240" cy="960120"/>
          </a:xfrm>
          <a:prstGeom prst="roundRect">
            <a:avLst>
              <a:gd name="adj" fmla="val 7619"/>
            </a:avLst>
          </a:prstGeom>
          <a:solidFill>
            <a:srgbClr val="FBF1E4"/>
          </a:solidFill>
          <a:ln/>
        </p:spPr>
        <p:txBody>
          <a:bodyPr/>
          <a:p/>
        </p:txBody>
      </p:sp>
      <p:pic>
        <p:nvPicPr>
          <p:cNvPr id="8" name="Image 1" descr="preencoded.png">    </p:cNvPr>
          <p:cNvPicPr>
            <a:picLocks noChangeAspect="1"/>
          </p:cNvPicPr>
          <p:nvPr/>
        </p:nvPicPr>
        <p:blipFill>
          <a:blip r:embed="rId2"/>
          <a:stretch>
            <a:fillRect/>
          </a:stretch>
        </p:blipFill>
        <p:spPr>
          <a:xfrm>
            <a:off x="713232" y="5148072"/>
            <a:ext cx="310896" cy="310896"/>
          </a:xfrm>
          <a:prstGeom prst="rect">
            <a:avLst/>
          </a:prstGeom>
        </p:spPr>
      </p:pic>
      <p:sp>
        <p:nvSpPr>
          <p:cNvPr id="9" name="Text 5"/>
          <p:cNvSpPr/>
          <p:nvPr/>
        </p:nvSpPr>
        <p:spPr>
          <a:xfrm>
            <a:off x="1143000" y="507492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0" name="Text 6"/>
          <p:cNvSpPr/>
          <p:nvPr/>
        </p:nvSpPr>
        <p:spPr>
          <a:xfrm>
            <a:off x="1143000" y="536752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「特定のファイル種別(テストファイル等)にだけ適用したいルールがある」→ パス指定(glob)ルールで条件読み込みさせる、が正解。全フォルダへのCLAUDE.mdコピーは典型的な誤答選択肢。</a:t>
            </a:r>
            <a:endParaRPr lang="en-US" sz="1200" dirty="0"/>
          </a:p>
        </p:txBody>
      </p:sp>
      <p:sp>
        <p:nvSpPr>
          <p:cNvPr id="11" name="Text 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70</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深掘り: 反復改善とCI/CDレビュー設計</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110642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反復改善(Iterative Refinement)の技法</a:t>
            </a:r>
            <a:endParaRPr lang="en-US" sz="1400" dirty="0"/>
          </a:p>
        </p:txBody>
      </p:sp>
      <p:sp>
        <p:nvSpPr>
          <p:cNvPr id="7" name="Text 4"/>
          <p:cNvSpPr/>
          <p:nvPr/>
        </p:nvSpPr>
        <p:spPr>
          <a:xfrm>
            <a:off x="548640" y="1554480"/>
            <a:ext cx="11064240"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文章での指示で結果が安定しない時は、2〜3個の具体的な入出力例に切り替える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テストを先に書き、失敗を1件ずつ共有しながら修正させる(TDD的反復)</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不慣れなドメインでは、先にClaudeに自分へインタビューさせて、考慮漏れを洗い出させる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フィードバックは「入力・実際の出力・期待する出力」の3点セットで渡す(不満の表明だけでは直らない)</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相互に影響する修正は1メッセージにまとめ、独立した修正は順番に分ける(依存関係で判断)</a:t>
            </a:r>
            <a:endParaRPr lang="en-US" sz="1250" dirty="0"/>
          </a:p>
        </p:txBody>
      </p:sp>
      <p:sp>
        <p:nvSpPr>
          <p:cNvPr id="8" name="Text 5"/>
          <p:cNvSpPr/>
          <p:nvPr/>
        </p:nvSpPr>
        <p:spPr>
          <a:xfrm>
            <a:off x="548640" y="3977640"/>
            <a:ext cx="110642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CI/CDでのレビュー設計</a:t>
            </a:r>
            <a:endParaRPr lang="en-US" sz="1400" dirty="0"/>
          </a:p>
        </p:txBody>
      </p:sp>
      <p:sp>
        <p:nvSpPr>
          <p:cNvPr id="9" name="Text 6"/>
          <p:cNvSpPr/>
          <p:nvPr/>
        </p:nvSpPr>
        <p:spPr>
          <a:xfrm>
            <a:off x="548640" y="434340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-pなしのCIはインタラクティブ入力待ちでスタックする / チームルールはCLAUDE.mdに置きCIのClaudeにも自動適用させる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レビューは生成と別セッションで実行 / 過去の指摘結果を共有して同じ指摘の繰り返しを防ぐ / 既存テストファイルを渡すと新規テストだけを生成させられる</a:t>
            </a:r>
            <a:endParaRPr lang="en-US" sz="1250" dirty="0"/>
          </a:p>
        </p:txBody>
      </p:sp>
      <p:sp>
        <p:nvSpPr>
          <p:cNvPr id="10" name="Text 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1" name="Text 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深掘り: JSONスキーマ設計と自己修正抽出</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スキーマは形を検証、意味は検証しない</a:t>
            </a:r>
            <a:endParaRPr lang="en-US" sz="1450" dirty="0"/>
          </a:p>
        </p:txBody>
      </p:sp>
      <p:sp>
        <p:nvSpPr>
          <p:cNvPr id="8" name="Text 5"/>
          <p:cNvSpPr/>
          <p:nvPr/>
        </p:nvSpPr>
        <p:spPr>
          <a:xfrm>
            <a:off x="73152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JSON Schemaが保証するのは構造のみ。金額の妥当性等の業務チェックは自前で追加する</a:t>
            </a:r>
            <a:endParaRPr lang="en-US" sz="1150" dirty="0"/>
          </a:p>
        </p:txBody>
      </p:sp>
      <p:sp>
        <p:nvSpPr>
          <p:cNvPr id="9" name="Shape 6"/>
          <p:cNvSpPr/>
          <p:nvPr/>
        </p:nvSpPr>
        <p:spPr>
          <a:xfrm>
            <a:off x="6195060" y="118872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167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必須フィールドは捏造を誘発する</a:t>
            </a:r>
            <a:endParaRPr lang="en-US" sz="1450" dirty="0"/>
          </a:p>
        </p:txBody>
      </p:sp>
      <p:sp>
        <p:nvSpPr>
          <p:cNvPr id="11" name="Text 8"/>
          <p:cNvSpPr/>
          <p:nvPr/>
        </p:nvSpPr>
        <p:spPr>
          <a:xfrm>
            <a:off x="6377940" y="166420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不確かなデータをrequiredにすると、Claudeは埋めるために捏造しがち。不確実な項目はnullable(null許容)にする</a:t>
            </a:r>
            <a:endParaRPr lang="en-US" sz="1150" dirty="0"/>
          </a:p>
        </p:txBody>
      </p:sp>
      <p:sp>
        <p:nvSpPr>
          <p:cNvPr id="12" name="Shape 9"/>
          <p:cNvSpPr/>
          <p:nvPr/>
        </p:nvSpPr>
        <p:spPr>
          <a:xfrm>
            <a:off x="54864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enumには逃げ道を用意する</a:t>
            </a:r>
            <a:endParaRPr lang="en-US" sz="1450" dirty="0"/>
          </a:p>
        </p:txBody>
      </p:sp>
      <p:sp>
        <p:nvSpPr>
          <p:cNvPr id="14" name="Text 11"/>
          <p:cNvSpPr/>
          <p:nvPr/>
        </p:nvSpPr>
        <p:spPr>
          <a:xfrm>
            <a:off x="73152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選択肢に該当しないケースを無理やり当てはめさせないよう、"other"や"unclear"を必ず含める</a:t>
            </a:r>
            <a:endParaRPr lang="en-US" sz="1150" dirty="0"/>
          </a:p>
        </p:txBody>
      </p:sp>
      <p:sp>
        <p:nvSpPr>
          <p:cNvPr id="15" name="Shape 12"/>
          <p:cNvSpPr/>
          <p:nvPr/>
        </p:nvSpPr>
        <p:spPr>
          <a:xfrm>
            <a:off x="6195060" y="3154680"/>
            <a:ext cx="5417820" cy="1737360"/>
          </a:xfrm>
          <a:prstGeom prst="roundRect">
            <a:avLst>
              <a:gd name="adj" fmla="val 4211"/>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28269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自己修正には3点セットが必要</a:t>
            </a:r>
            <a:endParaRPr lang="en-US" sz="1450" dirty="0"/>
          </a:p>
        </p:txBody>
      </p:sp>
      <p:sp>
        <p:nvSpPr>
          <p:cNvPr id="17" name="Text 14"/>
          <p:cNvSpPr/>
          <p:nvPr/>
        </p:nvSpPr>
        <p:spPr>
          <a:xfrm>
            <a:off x="6377940" y="3630168"/>
            <a:ext cx="5052060" cy="112471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リトライ時は「元の文書 + 失敗した出力 + 具体的な検証エラー」を渡す。形式エラーはリトライで直るが、元文書に情報がない場合のリトライは無意味(エラー分類してから再試行)</a:t>
            </a:r>
            <a:endParaRPr lang="en-US" sz="1150" dirty="0"/>
          </a:p>
        </p:txBody>
      </p:sp>
      <p:sp>
        <p:nvSpPr>
          <p:cNvPr id="18" name="Shape 15"/>
          <p:cNvSpPr/>
          <p:nvPr/>
        </p:nvSpPr>
        <p:spPr>
          <a:xfrm>
            <a:off x="548640" y="4846320"/>
            <a:ext cx="11064240" cy="960120"/>
          </a:xfrm>
          <a:prstGeom prst="roundRect">
            <a:avLst>
              <a:gd name="adj" fmla="val 7619"/>
            </a:avLst>
          </a:prstGeom>
          <a:solidFill>
            <a:srgbClr val="FBF1E4"/>
          </a:solidFill>
          <a:ln/>
        </p:spPr>
        <p:txBody>
          <a:bodyPr/>
          <a:p/>
        </p:txBody>
      </p:sp>
      <p:pic>
        <p:nvPicPr>
          <p:cNvPr id="19" name="Image 1" descr="preencoded.png">    </p:cNvPr>
          <p:cNvPicPr>
            <a:picLocks noChangeAspect="1"/>
          </p:cNvPicPr>
          <p:nvPr/>
        </p:nvPicPr>
        <p:blipFill>
          <a:blip r:embed="rId2"/>
          <a:stretch>
            <a:fillRect/>
          </a:stretch>
        </p:blipFill>
        <p:spPr>
          <a:xfrm>
            <a:off x="713232" y="5010912"/>
            <a:ext cx="310896" cy="310896"/>
          </a:xfrm>
          <a:prstGeom prst="rect">
            <a:avLst/>
          </a:prstGeom>
        </p:spPr>
      </p:pic>
      <p:sp>
        <p:nvSpPr>
          <p:cNvPr id="20" name="Text 16"/>
          <p:cNvSpPr/>
          <p:nvPr/>
        </p:nvSpPr>
        <p:spPr>
          <a:xfrm>
            <a:off x="1143000" y="493776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21" name="Text 17"/>
          <p:cNvSpPr/>
          <p:nvPr/>
        </p:nvSpPr>
        <p:spPr>
          <a:xfrm>
            <a:off x="1143000" y="523036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「抽出結果の欠損フィールドが捏造されている」→ requiredを外しnullableにする、が正解。「検証エラーで自動リトライしても直らない」→ 元文書にデータが存在しないケースはリトライ対象外に分類すべき、が正解。</a:t>
            </a:r>
            <a:endParaRPr lang="en-US" sz="1200" dirty="0"/>
          </a:p>
        </p:txBody>
      </p:sp>
      <p:sp>
        <p:nvSpPr>
          <p:cNvPr id="22"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3" name="Text 19"/>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72</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深掘り: Batch APIの実務判断と信頼度ルーティング</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Text 3"/>
          <p:cNvSpPr/>
          <p:nvPr/>
        </p:nvSpPr>
        <p:spPr>
          <a:xfrm>
            <a:off x="548640" y="1188720"/>
            <a:ext cx="566928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Batch API採用の判断基準</a:t>
            </a:r>
            <a:endParaRPr lang="en-US" sz="1400" dirty="0"/>
          </a:p>
        </p:txBody>
      </p:sp>
      <p:sp>
        <p:nvSpPr>
          <p:cNvPr id="7" name="Text 4"/>
          <p:cNvSpPr/>
          <p:nvPr/>
        </p:nvSpPr>
        <p:spPr>
          <a:xfrm>
            <a:off x="548640" y="1554480"/>
            <a:ext cx="5669280"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50%割引だがSLAなし(最大24時間)。誰かが応答を待っている処理には使わない</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Batchは単発リクエスト向き。マルチターンのツール利用フローは同期APIで行う</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必ずcustom_idを付与し、失敗したリクエストだけを特定して再送する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大量投入前にサンプルでプロンプトを検証してから本番バッチを流す</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自社のSLA(応答期限)から逆算してバッチの投入頻度を決める</a:t>
            </a:r>
            <a:endParaRPr lang="en-US" sz="1250" dirty="0"/>
          </a:p>
        </p:txBody>
      </p:sp>
      <p:sp>
        <p:nvSpPr>
          <p:cNvPr id="8" name="Text 5"/>
          <p:cNvSpPr/>
          <p:nvPr/>
        </p:nvSpPr>
        <p:spPr>
          <a:xfrm>
            <a:off x="6492240" y="1188720"/>
            <a:ext cx="5120640" cy="320040"/>
          </a:xfrm>
          <a:prstGeom prst="rect">
            <a:avLst/>
          </a:prstGeom>
          <a:noFill/>
          <a:ln/>
        </p:spPr>
        <p:txBody>
          <a:bodyPr wrap="square" rtlCol="0" anchor="ctr"/>
          <a:lstStyle/>
          <a:p>
            <a:pPr indent="0" marL="0">
              <a:buNone/>
            </a:pPr>
            <a:r>
              <a:rPr lang="en-US" sz="1400" b="1" dirty="0">
                <a:solidFill>
                  <a:srgbClr val="1E2761"/>
                </a:solidFill>
                <a:latin typeface="Meiryo" pitchFamily="34" charset="0"/>
                <a:ea typeface="Meiryo" pitchFamily="34" charset="-122"/>
                <a:cs typeface="Meiryo" pitchFamily="34" charset="-120"/>
              </a:rPr>
              <a:t>信頼度(confidence)によるルーティング</a:t>
            </a:r>
            <a:endParaRPr lang="en-US" sz="1400" dirty="0"/>
          </a:p>
        </p:txBody>
      </p:sp>
      <p:sp>
        <p:nvSpPr>
          <p:cNvPr id="9" name="Text 6"/>
          <p:cNvSpPr/>
          <p:nvPr/>
        </p:nvSpPr>
        <p:spPr>
          <a:xfrm>
            <a:off x="6492240" y="1554480"/>
            <a:ext cx="5120640" cy="21945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抽出・レビュー結果に自己申告の信頼度を出力させる</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信頼度が高い → 自動処理(auto-fix)</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信頼度が低い → 人間レビューへ回す</a:t>
            </a:r>
            <a:endParaRPr lang="en-US" sz="1250" dirty="0"/>
          </a:p>
          <a:p>
            <a:pPr marL="342900" indent="-342900">
              <a:spcAft>
                <a:spcPts val="800"/>
              </a:spcAft>
              <a:buSzPct val="100000"/>
              <a:buChar char="•"/>
            </a:pPr>
            <a:r>
              <a:rPr lang="en-US" sz="1250" dirty="0">
                <a:solidFill>
                  <a:srgbClr val="1F2430"/>
                </a:solidFill>
                <a:latin typeface="Meiryo" pitchFamily="34" charset="0"/>
                <a:ea typeface="Meiryo" pitchFamily="34" charset="-122"/>
                <a:cs typeface="Meiryo" pitchFamily="34" charset="-120"/>
              </a:rPr>
              <a:t>これにより人間の工数を本当に必要な箇所へ集中できる</a:t>
            </a:r>
            <a:endParaRPr lang="en-US" sz="1250" dirty="0"/>
          </a:p>
        </p:txBody>
      </p:sp>
      <p:sp>
        <p:nvSpPr>
          <p:cNvPr id="10" name="Shape 7"/>
          <p:cNvSpPr/>
          <p:nvPr/>
        </p:nvSpPr>
        <p:spPr>
          <a:xfrm>
            <a:off x="548640" y="4709160"/>
            <a:ext cx="11064240" cy="960120"/>
          </a:xfrm>
          <a:prstGeom prst="roundRect">
            <a:avLst>
              <a:gd name="adj" fmla="val 7619"/>
            </a:avLst>
          </a:prstGeom>
          <a:solidFill>
            <a:srgbClr val="FBF1E4"/>
          </a:solidFill>
          <a:ln/>
        </p:spPr>
        <p:txBody>
          <a:bodyPr/>
          <a:p/>
        </p:txBody>
      </p:sp>
      <p:pic>
        <p:nvPicPr>
          <p:cNvPr id="11" name="Image 1" descr="preencoded.png">    </p:cNvPr>
          <p:cNvPicPr>
            <a:picLocks noChangeAspect="1"/>
          </p:cNvPicPr>
          <p:nvPr/>
        </p:nvPicPr>
        <p:blipFill>
          <a:blip r:embed="rId2"/>
          <a:stretch>
            <a:fillRect/>
          </a:stretch>
        </p:blipFill>
        <p:spPr>
          <a:xfrm>
            <a:off x="713232" y="4873752"/>
            <a:ext cx="310896" cy="310896"/>
          </a:xfrm>
          <a:prstGeom prst="rect">
            <a:avLst/>
          </a:prstGeom>
        </p:spPr>
      </p:pic>
      <p:sp>
        <p:nvSpPr>
          <p:cNvPr id="12" name="Text 8"/>
          <p:cNvSpPr/>
          <p:nvPr/>
        </p:nvSpPr>
        <p:spPr>
          <a:xfrm>
            <a:off x="1143000" y="480060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3" name="Text 9"/>
          <p:cNvSpPr/>
          <p:nvPr/>
        </p:nvSpPr>
        <p:spPr>
          <a:xfrm>
            <a:off x="1143000" y="509320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「夜間の大量文書分類にBatch APIは適切か」→YES(待ち手なし・単発処理)。「チャットボットの応答にBatch APIは?」→NO(ユーザーが待っている)。「エージェントのツール連続実行は?」→NO(マルチターンは同期API)、の3点セットで判断。</a:t>
            </a:r>
            <a:endParaRPr lang="en-US" sz="1200" dirty="0"/>
          </a:p>
        </p:txBody>
      </p:sp>
      <p:sp>
        <p:nvSpPr>
          <p:cNvPr id="14" name="Text 1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5" name="Text 11"/>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補足①: AI Fluency Framework(4D)</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234440"/>
            <a:ext cx="5417820" cy="1554480"/>
          </a:xfrm>
          <a:prstGeom prst="roundRect">
            <a:avLst>
              <a:gd name="adj" fmla="val 4706"/>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7" name="Text 4"/>
          <p:cNvSpPr/>
          <p:nvPr/>
        </p:nvSpPr>
        <p:spPr>
          <a:xfrm>
            <a:off x="731520" y="136245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① Delegation(委任)</a:t>
            </a:r>
            <a:endParaRPr lang="en-US" sz="1450" dirty="0"/>
          </a:p>
        </p:txBody>
      </p:sp>
      <p:sp>
        <p:nvSpPr>
          <p:cNvPr id="8" name="Text 5"/>
          <p:cNvSpPr/>
          <p:nvPr/>
        </p:nvSpPr>
        <p:spPr>
          <a:xfrm>
            <a:off x="731520" y="1709928"/>
            <a:ext cx="5052060" cy="9418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どのタスクをAIに任せるべきか、いつ・どう関与するかを決める</a:t>
            </a:r>
            <a:endParaRPr lang="en-US" sz="1150" dirty="0"/>
          </a:p>
        </p:txBody>
      </p:sp>
      <p:sp>
        <p:nvSpPr>
          <p:cNvPr id="9" name="Shape 6"/>
          <p:cNvSpPr/>
          <p:nvPr/>
        </p:nvSpPr>
        <p:spPr>
          <a:xfrm>
            <a:off x="6195060" y="1234440"/>
            <a:ext cx="5417820" cy="1554480"/>
          </a:xfrm>
          <a:prstGeom prst="roundRect">
            <a:avLst>
              <a:gd name="adj" fmla="val 4706"/>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0" name="Text 7"/>
          <p:cNvSpPr/>
          <p:nvPr/>
        </p:nvSpPr>
        <p:spPr>
          <a:xfrm>
            <a:off x="6377940" y="136245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② Description(記述)</a:t>
            </a:r>
            <a:endParaRPr lang="en-US" sz="1450" dirty="0"/>
          </a:p>
        </p:txBody>
      </p:sp>
      <p:sp>
        <p:nvSpPr>
          <p:cNvPr id="11" name="Text 8"/>
          <p:cNvSpPr/>
          <p:nvPr/>
        </p:nvSpPr>
        <p:spPr>
          <a:xfrm>
            <a:off x="6377940" y="1709928"/>
            <a:ext cx="5052060" cy="9418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AIから有用な出力を引き出すため、目標を明確に伝える(プロンプト設計の土台)</a:t>
            </a:r>
            <a:endParaRPr lang="en-US" sz="1150" dirty="0"/>
          </a:p>
        </p:txBody>
      </p:sp>
      <p:sp>
        <p:nvSpPr>
          <p:cNvPr id="12" name="Shape 9"/>
          <p:cNvSpPr/>
          <p:nvPr/>
        </p:nvSpPr>
        <p:spPr>
          <a:xfrm>
            <a:off x="548640" y="3017520"/>
            <a:ext cx="5417820" cy="1554480"/>
          </a:xfrm>
          <a:prstGeom prst="roundRect">
            <a:avLst>
              <a:gd name="adj" fmla="val 4706"/>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3" name="Text 10"/>
          <p:cNvSpPr/>
          <p:nvPr/>
        </p:nvSpPr>
        <p:spPr>
          <a:xfrm>
            <a:off x="731520" y="31455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③ Discernment(見極め)</a:t>
            </a:r>
            <a:endParaRPr lang="en-US" sz="1450" dirty="0"/>
          </a:p>
        </p:txBody>
      </p:sp>
      <p:sp>
        <p:nvSpPr>
          <p:cNvPr id="14" name="Text 11"/>
          <p:cNvSpPr/>
          <p:nvPr/>
        </p:nvSpPr>
        <p:spPr>
          <a:xfrm>
            <a:off x="731520" y="3493008"/>
            <a:ext cx="5052060" cy="9418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AIの出力・振る舞いの有用性・正確性を批判的に評価する</a:t>
            </a:r>
            <a:endParaRPr lang="en-US" sz="1150" dirty="0"/>
          </a:p>
        </p:txBody>
      </p:sp>
      <p:sp>
        <p:nvSpPr>
          <p:cNvPr id="15" name="Shape 12"/>
          <p:cNvSpPr/>
          <p:nvPr/>
        </p:nvSpPr>
        <p:spPr>
          <a:xfrm>
            <a:off x="6195060" y="3017520"/>
            <a:ext cx="5417820" cy="1554480"/>
          </a:xfrm>
          <a:prstGeom prst="roundRect">
            <a:avLst>
              <a:gd name="adj" fmla="val 4706"/>
            </a:avLst>
          </a:prstGeom>
          <a:solidFill>
            <a:srgbClr val="F4F7FD"/>
          </a:solidFill>
          <a:ln/>
          <a:effectLst>
            <a:outerShdw sx="100000" sy="100000" kx="0" ky="0" algn="bl" rotWithShape="0" blurRad="101600" dist="38100" dir="2700000">
              <a:srgbClr val="000000">
                <a:alpha val="15000"/>
              </a:srgbClr>
            </a:outerShdw>
          </a:effectLst>
        </p:spPr>
        <p:txBody>
          <a:bodyPr/>
          <a:p/>
        </p:txBody>
      </p:sp>
      <p:sp>
        <p:nvSpPr>
          <p:cNvPr id="16" name="Text 13"/>
          <p:cNvSpPr/>
          <p:nvPr/>
        </p:nvSpPr>
        <p:spPr>
          <a:xfrm>
            <a:off x="6377940" y="3145536"/>
            <a:ext cx="5052060" cy="320040"/>
          </a:xfrm>
          <a:prstGeom prst="rect">
            <a:avLst/>
          </a:prstGeom>
          <a:noFill/>
          <a:ln/>
        </p:spPr>
        <p:txBody>
          <a:bodyPr wrap="square" rtlCol="0" anchor="ctr"/>
          <a:lstStyle/>
          <a:p>
            <a:pPr indent="0" marL="0">
              <a:buNone/>
            </a:pPr>
            <a:r>
              <a:rPr lang="en-US" sz="1450" b="1" dirty="0">
                <a:solidFill>
                  <a:srgbClr val="1E2761"/>
                </a:solidFill>
                <a:latin typeface="Meiryo" pitchFamily="34" charset="0"/>
                <a:ea typeface="Meiryo" pitchFamily="34" charset="-122"/>
                <a:cs typeface="Meiryo" pitchFamily="34" charset="-120"/>
              </a:rPr>
              <a:t>④ Diligence(注意深さ)</a:t>
            </a:r>
            <a:endParaRPr lang="en-US" sz="1450" dirty="0"/>
          </a:p>
        </p:txBody>
      </p:sp>
      <p:sp>
        <p:nvSpPr>
          <p:cNvPr id="17" name="Text 14"/>
          <p:cNvSpPr/>
          <p:nvPr/>
        </p:nvSpPr>
        <p:spPr>
          <a:xfrm>
            <a:off x="6377940" y="3493008"/>
            <a:ext cx="5052060" cy="941832"/>
          </a:xfrm>
          <a:prstGeom prst="rect">
            <a:avLst/>
          </a:prstGeom>
          <a:noFill/>
          <a:ln/>
        </p:spPr>
        <p:txBody>
          <a:bodyPr wrap="square" rtlCol="0" anchor="t"/>
          <a:lstStyle/>
          <a:p>
            <a:pPr indent="0" marL="0">
              <a:lnSpc>
                <a:spcPct val="115000"/>
              </a:lnSpc>
              <a:buNone/>
            </a:pPr>
            <a:r>
              <a:rPr lang="en-US" sz="1150" dirty="0">
                <a:solidFill>
                  <a:srgbClr val="1F2430"/>
                </a:solidFill>
                <a:latin typeface="Meiryo" pitchFamily="34" charset="0"/>
                <a:ea typeface="Meiryo" pitchFamily="34" charset="-122"/>
                <a:cs typeface="Meiryo" pitchFamily="34" charset="-120"/>
              </a:rPr>
              <a:t>責任を持って最終成果物を扱う(倫理・安全・検証への配慮)</a:t>
            </a:r>
            <a:endParaRPr lang="en-US" sz="1150" dirty="0"/>
          </a:p>
        </p:txBody>
      </p:sp>
      <p:sp>
        <p:nvSpPr>
          <p:cNvPr id="18" name="Text 15"/>
          <p:cNvSpPr/>
          <p:nvPr/>
        </p:nvSpPr>
        <p:spPr>
          <a:xfrm>
            <a:off x="548640" y="452628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430"/>
                </a:solidFill>
                <a:latin typeface="Meiryo" pitchFamily="34" charset="0"/>
                <a:ea typeface="Meiryo" pitchFamily="34" charset="-122"/>
                <a:cs typeface="Meiryo" pitchFamily="34" charset="-120"/>
              </a:rPr>
              <a:t>3つの協働モード: Automation(自動化)/ Augmentation(拡張)/ Agency(自律)</a:t>
            </a:r>
            <a:endParaRPr lang="en-US" sz="1350" dirty="0"/>
          </a:p>
          <a:p>
            <a:pPr marL="342900" indent="-342900">
              <a:spcAft>
                <a:spcPts val="800"/>
              </a:spcAft>
              <a:buSzPct val="100000"/>
              <a:buChar char="•"/>
            </a:pPr>
            <a:r>
              <a:rPr lang="en-US" sz="1350" dirty="0">
                <a:solidFill>
                  <a:srgbClr val="1F2430"/>
                </a:solidFill>
                <a:latin typeface="Meiryo" pitchFamily="34" charset="0"/>
                <a:ea typeface="Meiryo" pitchFamily="34" charset="-122"/>
                <a:cs typeface="Meiryo" pitchFamily="34" charset="-120"/>
              </a:rPr>
              <a:t>Automationモード → Delegation・Descriptionの比重大</a:t>
            </a:r>
            <a:endParaRPr lang="en-US" sz="1350" dirty="0"/>
          </a:p>
          <a:p>
            <a:pPr marL="342900" indent="-342900">
              <a:spcAft>
                <a:spcPts val="800"/>
              </a:spcAft>
              <a:buSzPct val="100000"/>
              <a:buChar char="•"/>
            </a:pPr>
            <a:r>
              <a:rPr lang="en-US" sz="1350" dirty="0">
                <a:solidFill>
                  <a:srgbClr val="1F2430"/>
                </a:solidFill>
                <a:latin typeface="Meiryo" pitchFamily="34" charset="0"/>
                <a:ea typeface="Meiryo" pitchFamily="34" charset="-122"/>
                <a:cs typeface="Meiryo" pitchFamily="34" charset="-120"/>
              </a:rPr>
              <a:t>Agencyモード(エージェント的タスク)→ Discernment・Diligenceの比重大</a:t>
            </a:r>
            <a:endParaRPr lang="en-US" sz="1350" dirty="0"/>
          </a:p>
        </p:txBody>
      </p:sp>
      <p:sp>
        <p:nvSpPr>
          <p:cNvPr id="19" name="Text 16"/>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0" name="Text 17"/>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74</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補足②: Bedrock / Vertex AI連携</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103120"/>
                <a:gridCol w="4480560"/>
                <a:gridCol w="4480560"/>
              </a:tblGrid>
              <a:tr h="0">
                <a:tc>
                  <a:txBody>
                    <a:bodyPr/>
                    <a:lstStyle/>
                    <a:p>
                      <a:pPr indent="0" marL="0">
                        <a:buNone/>
                      </a:pPr>
                      <a:r>
                        <a:rPr lang="en-US" sz="1300" dirty="0">
                          <a:solidFill>
                            <a:srgbClr val="1F2430"/>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Amazon Bedrock</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Google Cloud Vertex AI</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F2430"/>
                          </a:solidFill>
                          <a:latin typeface="Meiryo" pitchFamily="34" charset="0"/>
                          <a:ea typeface="Meiryo" pitchFamily="34" charset="-122"/>
                          <a:cs typeface="Meiryo" pitchFamily="34" charset="-120"/>
                        </a:rPr>
                        <a:t>認証方式</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AWS IAM</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Google Cloud認証(ADC等)</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F2430"/>
                          </a:solidFill>
                          <a:latin typeface="Meiryo" pitchFamily="34" charset="0"/>
                          <a:ea typeface="Meiryo" pitchFamily="34" charset="-122"/>
                          <a:cs typeface="Meiryo" pitchFamily="34" charset="-120"/>
                        </a:rPr>
                        <a:t>Claude Code連携</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use_bedrock: true (OIDC対応)</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use_vertex: true (OIDC対応)</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F2430"/>
                          </a:solidFill>
                          <a:latin typeface="Meiryo" pitchFamily="34" charset="0"/>
                          <a:ea typeface="Meiryo" pitchFamily="34" charset="-122"/>
                          <a:cs typeface="Meiryo" pitchFamily="34" charset="-120"/>
                        </a:rPr>
                        <a:t>主な利点</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既存AWS契約・IAMガバナンス・CloudTrail監査</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Meiryo" pitchFamily="34" charset="0"/>
                          <a:ea typeface="Meiryo" pitchFamily="34" charset="-122"/>
                          <a:cs typeface="Meiryo" pitchFamily="34" charset="-120"/>
                        </a:rPr>
                        <a:t>既存GCP契約・Workload Identity Federation</a:t>
                      </a:r>
                      <a:endParaRPr lang="en-US" sz="13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3108960"/>
            <a:ext cx="11064240" cy="960120"/>
          </a:xfrm>
          <a:prstGeom prst="roundRect">
            <a:avLst>
              <a:gd name="adj" fmla="val 7619"/>
            </a:avLst>
          </a:prstGeom>
          <a:solidFill>
            <a:srgbClr val="FBF1E4"/>
          </a:solidFill>
          <a:ln/>
        </p:spPr>
        <p:txBody>
          <a:bodyPr/>
          <a:p/>
        </p:txBody>
      </p:sp>
      <p:pic>
        <p:nvPicPr>
          <p:cNvPr id="8" name="Image 1" descr="preencoded.png">    </p:cNvPr>
          <p:cNvPicPr>
            <a:picLocks noChangeAspect="1"/>
          </p:cNvPicPr>
          <p:nvPr/>
        </p:nvPicPr>
        <p:blipFill>
          <a:blip r:embed="rId2"/>
          <a:stretch>
            <a:fillRect/>
          </a:stretch>
        </p:blipFill>
        <p:spPr>
          <a:xfrm>
            <a:off x="713232" y="3273552"/>
            <a:ext cx="310896" cy="310896"/>
          </a:xfrm>
          <a:prstGeom prst="rect">
            <a:avLst/>
          </a:prstGeom>
        </p:spPr>
      </p:pic>
      <p:sp>
        <p:nvSpPr>
          <p:cNvPr id="9" name="Text 4"/>
          <p:cNvSpPr/>
          <p:nvPr/>
        </p:nvSpPr>
        <p:spPr>
          <a:xfrm>
            <a:off x="1143000" y="3200400"/>
            <a:ext cx="10332720" cy="274320"/>
          </a:xfrm>
          <a:prstGeom prst="rect">
            <a:avLst/>
          </a:prstGeom>
          <a:noFill/>
          <a:ln/>
        </p:spPr>
        <p:txBody>
          <a:bodyPr wrap="square" rtlCol="0" anchor="ctr"/>
          <a:lstStyle/>
          <a:p>
            <a:pPr indent="0" marL="0">
              <a:buNone/>
            </a:pPr>
            <a:r>
              <a:rPr lang="en-US" sz="1300" b="1" dirty="0">
                <a:solidFill>
                  <a:srgbClr val="C97A1A"/>
                </a:solidFill>
                <a:latin typeface="Meiryo" pitchFamily="34" charset="0"/>
                <a:ea typeface="Meiryo" pitchFamily="34" charset="-122"/>
                <a:cs typeface="Meiryo" pitchFamily="34" charset="-120"/>
              </a:rPr>
              <a:t>試験での問われ方</a:t>
            </a:r>
            <a:endParaRPr lang="en-US" sz="1300" dirty="0"/>
          </a:p>
        </p:txBody>
      </p:sp>
      <p:sp>
        <p:nvSpPr>
          <p:cNvPr id="10" name="Text 5"/>
          <p:cNvSpPr/>
          <p:nvPr/>
        </p:nvSpPr>
        <p:spPr>
          <a:xfrm>
            <a:off x="1143000" y="3493008"/>
            <a:ext cx="10287000" cy="502920"/>
          </a:xfrm>
          <a:prstGeom prst="rect">
            <a:avLst/>
          </a:prstGeom>
          <a:noFill/>
          <a:ln/>
        </p:spPr>
        <p:txBody>
          <a:bodyPr wrap="square" rtlCol="0" anchor="t"/>
          <a:lstStyle/>
          <a:p>
            <a:pPr indent="0" marL="0">
              <a:buNone/>
            </a:pPr>
            <a:r>
              <a:rPr lang="en-US" sz="1200" dirty="0">
                <a:solidFill>
                  <a:srgbClr val="1F2430"/>
                </a:solidFill>
                <a:latin typeface="Meiryo" pitchFamily="34" charset="0"/>
                <a:ea typeface="Meiryo" pitchFamily="34" charset="-122"/>
                <a:cs typeface="Meiryo" pitchFamily="34" charset="-120"/>
              </a:rPr>
              <a:t>既存クラウド契約内でのガバナンス・監査要件を満たしつつClaudeを使いたい→ Bedrock/Vertex経由での利用が正解。コンプライアンス要件との整合性が判断軸。</a:t>
            </a:r>
            <a:endParaRPr lang="en-US" sz="1200" dirty="0"/>
          </a:p>
        </p:txBody>
      </p:sp>
      <p:sp>
        <p:nvSpPr>
          <p:cNvPr id="11" name="Text 6"/>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2" name="Text 7"/>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75</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補足③: 6つの試験シナリオ 詳細</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457200"/>
                <a:gridCol w="3017520"/>
                <a:gridCol w="7772400"/>
              </a:tblGrid>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シナリオ</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主な出題ポイント</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カスタマーサポートエージェント</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Agent SDK実装、MCPツール連携、エスカレーション設計</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Claude Codeによるコード生成</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組込みツール選定、MCP統合、コードベース探索戦略</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マルチエージェント・リサーチ</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オーケストレーション、コンテキスト受渡、エラー伝播</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開発者の生産性向上</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CLAUDE.md階層、Plan Mode、カスタムコマンド、TDD</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Claude CodeによるCI/CD</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-pフラグ、Batch API、生成/レビューのセッション分離</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Meiryo" pitchFamily="34" charset="0"/>
                          <a:ea typeface="Meiryo" pitchFamily="34" charset="-122"/>
                          <a:cs typeface="Meiryo" pitchFamily="34" charset="-120"/>
                        </a:rPr>
                        <a:t>6</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構造化データ抽出</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Meiryo" pitchFamily="34" charset="0"/>
                          <a:ea typeface="Meiryo" pitchFamily="34" charset="-122"/>
                          <a:cs typeface="Meiryo" pitchFamily="34" charset="-120"/>
                        </a:rPr>
                        <a:t>JSON Schema、検証-再試行ループ、Few-shot</a:t>
                      </a:r>
                      <a:endParaRPr lang="en-US" sz="120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Text 3"/>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8" name="Text 4"/>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76</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5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40080" y="822960"/>
            <a:ext cx="1188720" cy="1188720"/>
          </a:xfrm>
          <a:prstGeom prst="ellipse">
            <a:avLst/>
          </a:prstGeom>
          <a:solidFill>
            <a:srgbClr val="141B44"/>
          </a:solidFill>
          <a:ln/>
        </p:spPr>
        <p:txBody>
          <a:bodyPr/>
          <a:p/>
        </p:txBody>
      </p:sp>
      <p:pic>
        <p:nvPicPr>
          <p:cNvPr id="3" name="Image 0" descr="preencoded.png">    </p:cNvPr>
          <p:cNvPicPr>
            <a:picLocks noChangeAspect="1"/>
          </p:cNvPicPr>
          <p:nvPr/>
        </p:nvPicPr>
        <p:blipFill>
          <a:blip r:embed="rId1"/>
          <a:stretch>
            <a:fillRect/>
          </a:stretch>
        </p:blipFill>
        <p:spPr>
          <a:xfrm>
            <a:off x="925373" y="1108253"/>
            <a:ext cx="618134" cy="618134"/>
          </a:xfrm>
          <a:prstGeom prst="rect">
            <a:avLst/>
          </a:prstGeom>
        </p:spPr>
      </p:pic>
      <p:sp>
        <p:nvSpPr>
          <p:cNvPr id="4" name="Text 1"/>
          <p:cNvSpPr/>
          <p:nvPr/>
        </p:nvSpPr>
        <p:spPr>
          <a:xfrm>
            <a:off x="2103120" y="868680"/>
            <a:ext cx="5486400" cy="457200"/>
          </a:xfrm>
          <a:prstGeom prst="rect">
            <a:avLst/>
          </a:prstGeom>
          <a:noFill/>
          <a:ln/>
        </p:spPr>
        <p:txBody>
          <a:bodyPr wrap="square" rtlCol="0" anchor="ctr"/>
          <a:lstStyle/>
          <a:p>
            <a:pPr indent="0" marL="0">
              <a:buNone/>
            </a:pPr>
            <a:r>
              <a:rPr lang="en-US" sz="1700" b="1" spc="200" kern="0" dirty="0">
                <a:solidFill>
                  <a:srgbClr val="CADCFC"/>
                </a:solidFill>
                <a:latin typeface="Meiryo" pitchFamily="34" charset="0"/>
                <a:ea typeface="Meiryo" pitchFamily="34" charset="-122"/>
                <a:cs typeface="Meiryo" pitchFamily="34" charset="-120"/>
              </a:rPr>
              <a:t>公式サンプル問題</a:t>
            </a:r>
            <a:endParaRPr lang="en-US" sz="1700" dirty="0"/>
          </a:p>
        </p:txBody>
      </p:sp>
      <p:sp>
        <p:nvSpPr>
          <p:cNvPr id="5" name="Text 2"/>
          <p:cNvSpPr/>
          <p:nvPr/>
        </p:nvSpPr>
        <p:spPr>
          <a:xfrm>
            <a:off x="2103120" y="1280160"/>
            <a:ext cx="8686800" cy="1005840"/>
          </a:xfrm>
          <a:prstGeom prst="rect">
            <a:avLst/>
          </a:prstGeom>
          <a:noFill/>
          <a:ln/>
        </p:spPr>
        <p:txBody>
          <a:bodyPr wrap="square" rtlCol="0" anchor="ctr"/>
          <a:lstStyle/>
          <a:p>
            <a:pPr indent="0" marL="0">
              <a:buNone/>
            </a:pPr>
            <a:r>
              <a:rPr lang="en-US" sz="3300" b="1" dirty="0">
                <a:solidFill>
                  <a:srgbClr val="FFFFFF"/>
                </a:solidFill>
                <a:latin typeface="Meiryo" pitchFamily="34" charset="0"/>
                <a:ea typeface="Meiryo" pitchFamily="34" charset="-122"/>
                <a:cs typeface="Meiryo" pitchFamily="34" charset="-120"/>
              </a:rPr>
              <a:t>Exam Guide PDF掲載 全12問</a:t>
            </a:r>
            <a:endParaRPr lang="en-US" sz="3300" dirty="0"/>
          </a:p>
        </p:txBody>
      </p:sp>
      <p:sp>
        <p:nvSpPr>
          <p:cNvPr id="6" name="Text 3"/>
          <p:cNvSpPr/>
          <p:nvPr/>
        </p:nvSpPr>
        <p:spPr>
          <a:xfrm>
            <a:off x="2103120" y="2148840"/>
            <a:ext cx="8686800" cy="640080"/>
          </a:xfrm>
          <a:prstGeom prst="rect">
            <a:avLst/>
          </a:prstGeom>
          <a:noFill/>
          <a:ln/>
        </p:spPr>
        <p:txBody>
          <a:bodyPr wrap="square" rtlCol="0" anchor="ctr"/>
          <a:lstStyle/>
          <a:p>
            <a:pPr indent="0" marL="0">
              <a:buNone/>
            </a:pPr>
            <a:r>
              <a:rPr lang="en-US" sz="1600" dirty="0">
                <a:solidFill>
                  <a:srgbClr val="CADCFC"/>
                </a:solidFill>
                <a:latin typeface="Meiryo" pitchFamily="34" charset="0"/>
                <a:ea typeface="Meiryo" pitchFamily="34" charset="-122"/>
                <a:cs typeface="Meiryo" pitchFamily="34" charset="-120"/>
              </a:rPr>
              <a:t>公式模擬試験は2026年7月に廃止され、これがAnthropicが公開している唯一の演習問題。原文・日本語訳・正解・解説をそのまま収録</a:t>
            </a:r>
            <a:endParaRPr lang="en-US" sz="1600" dirty="0"/>
          </a:p>
        </p:txBody>
      </p:sp>
      <p:sp>
        <p:nvSpPr>
          <p:cNvPr id="7" name="Shape 4"/>
          <p:cNvSpPr/>
          <p:nvPr/>
        </p:nvSpPr>
        <p:spPr>
          <a:xfrm>
            <a:off x="2103120" y="2697480"/>
            <a:ext cx="9418320" cy="0"/>
          </a:xfrm>
          <a:prstGeom prst="line">
            <a:avLst/>
          </a:prstGeom>
          <a:noFill/>
          <a:ln w="12700">
            <a:solidFill>
              <a:srgbClr val="3A4380"/>
            </a:solidFill>
            <a:prstDash val="solid"/>
          </a:ln>
        </p:spPr>
        <p:txBody>
          <a:bodyPr/>
          <a:p/>
        </p:txBody>
      </p:sp>
      <p:sp>
        <p:nvSpPr>
          <p:cNvPr id="8" name="Text 5"/>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9" name="Text 6"/>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77</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1/12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1: カスタマーサポート解決エージェント</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本番データで12%のケースで、エージェントがget_customerを完全にスキップし、名前だけでlookup_orderを呼び出し、誤った返金につながっている。最も効果的な対処法は?</a:t>
            </a:r>
            <a:endParaRPr lang="en-US" sz="1150" dirty="0"/>
          </a:p>
        </p:txBody>
      </p:sp>
      <p:sp>
        <p:nvSpPr>
          <p:cNvPr id="11" name="Shape 8"/>
          <p:cNvSpPr/>
          <p:nvPr/>
        </p:nvSpPr>
        <p:spPr>
          <a:xfrm>
            <a:off x="548640" y="2148840"/>
            <a:ext cx="11064240" cy="512064"/>
          </a:xfrm>
          <a:prstGeom prst="roundRect">
            <a:avLst>
              <a:gd name="adj" fmla="val 10714"/>
            </a:avLst>
          </a:prstGeom>
          <a:solidFill>
            <a:srgbClr val="E3F4EA"/>
          </a:solidFill>
          <a:ln/>
        </p:spPr>
        <p:txBody>
          <a:bodyPr/>
          <a:p/>
        </p:txBody>
      </p:sp>
      <p:sp>
        <p:nvSpPr>
          <p:cNvPr id="12" name="Shape 9"/>
          <p:cNvSpPr/>
          <p:nvPr/>
        </p:nvSpPr>
        <p:spPr>
          <a:xfrm>
            <a:off x="658368" y="2240280"/>
            <a:ext cx="329184" cy="329184"/>
          </a:xfrm>
          <a:prstGeom prst="ellipse">
            <a:avLst/>
          </a:prstGeom>
          <a:solidFill>
            <a:srgbClr val="1E7A4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get_customerが検証済み顧客IDを返すまでlookup_order/process_refundをブロックするプログラム的な前提条件を追加する</a:t>
            </a:r>
            <a:endParaRPr lang="en-US" sz="1000" dirty="0"/>
          </a:p>
        </p:txBody>
      </p:sp>
      <p:sp>
        <p:nvSpPr>
          <p:cNvPr id="15" name="Shape 12"/>
          <p:cNvSpPr/>
          <p:nvPr/>
        </p:nvSpPr>
        <p:spPr>
          <a:xfrm>
            <a:off x="548640" y="2724912"/>
            <a:ext cx="11064240" cy="512064"/>
          </a:xfrm>
          <a:prstGeom prst="roundRect">
            <a:avLst>
              <a:gd name="adj" fmla="val 10714"/>
            </a:avLst>
          </a:prstGeom>
          <a:solidFill>
            <a:srgbClr val="F7F8FA"/>
          </a:solidFill>
          <a:ln/>
        </p:spPr>
        <p:txBody>
          <a:bodyPr/>
          <a:p/>
        </p:txBody>
      </p:sp>
      <p:sp>
        <p:nvSpPr>
          <p:cNvPr id="16" name="Shape 13"/>
          <p:cNvSpPr/>
          <p:nvPr/>
        </p:nvSpPr>
        <p:spPr>
          <a:xfrm>
            <a:off x="658368" y="2816352"/>
            <a:ext cx="329184" cy="329184"/>
          </a:xfrm>
          <a:prstGeom prst="ellipse">
            <a:avLst/>
          </a:prstGeom>
          <a:solidFill>
            <a:srgbClr val="B8BFC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システムプロンプトに「注文操作の前にget_customerでの確認が必須」と明記する</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常にget_customerを最初に呼ぶfew-shot例を追加する</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リクエストごとに適切なツールサブセットのみ有効化するルーティング分類器を実装する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A)</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重要な業務ロジック(返金前の本人確認等)で特定の順序が必要な場合、プログラム的な前提条件こそが唯一の確定的保証となる。B(システムプロンプトへの明記)・C(few-shot例)はいずれもLLMへの確率的な依頼にすぎず、99%従っても本番の12%という規模の逸脱は防げない。Dはツール呼び出し順序の問題であり、有効化するツールの範囲(可用性)を絞るルーティング分類器では解決しない、論点のすり替え。</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78</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2/12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1: カスタマーサポート解決エージェント</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ユーザーが注文について質問した時、エージェントがlookup_orderでなくget_customerを頻繁に呼んでしまう。両ツールの説明は最小限で似た識別子形式を受け付ける。信頼性改善の最も効果的な最初の一手は?</a:t>
            </a:r>
            <a:endParaRPr lang="en-US" sz="1150" dirty="0"/>
          </a:p>
        </p:txBody>
      </p:sp>
      <p:sp>
        <p:nvSpPr>
          <p:cNvPr id="11" name="Shape 8"/>
          <p:cNvSpPr/>
          <p:nvPr/>
        </p:nvSpPr>
        <p:spPr>
          <a:xfrm>
            <a:off x="548640" y="2148840"/>
            <a:ext cx="11064240" cy="512064"/>
          </a:xfrm>
          <a:prstGeom prst="roundRect">
            <a:avLst>
              <a:gd name="adj" fmla="val 10714"/>
            </a:avLst>
          </a:prstGeom>
          <a:solidFill>
            <a:srgbClr val="F7F8FA"/>
          </a:solidFill>
          <a:ln/>
        </p:spPr>
        <p:txBody>
          <a:bodyPr/>
          <a:p/>
        </p:txBody>
      </p:sp>
      <p:sp>
        <p:nvSpPr>
          <p:cNvPr id="12" name="Shape 9"/>
          <p:cNvSpPr/>
          <p:nvPr/>
        </p:nvSpPr>
        <p:spPr>
          <a:xfrm>
            <a:off x="658368" y="2240280"/>
            <a:ext cx="329184" cy="329184"/>
          </a:xfrm>
          <a:prstGeom prst="ellipse">
            <a:avLst/>
          </a:prstGeom>
          <a:solidFill>
            <a:srgbClr val="B8BFC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システムプロンプトにルーティング用のfew-shot例を5〜8個追加する</a:t>
            </a:r>
            <a:endParaRPr lang="en-US" sz="1000" dirty="0"/>
          </a:p>
        </p:txBody>
      </p:sp>
      <p:sp>
        <p:nvSpPr>
          <p:cNvPr id="15" name="Shape 12"/>
          <p:cNvSpPr/>
          <p:nvPr/>
        </p:nvSpPr>
        <p:spPr>
          <a:xfrm>
            <a:off x="548640" y="2724912"/>
            <a:ext cx="11064240" cy="512064"/>
          </a:xfrm>
          <a:prstGeom prst="roundRect">
            <a:avLst>
              <a:gd name="adj" fmla="val 10714"/>
            </a:avLst>
          </a:prstGeom>
          <a:solidFill>
            <a:srgbClr val="E3F4EA"/>
          </a:solidFill>
          <a:ln/>
        </p:spPr>
        <p:txBody>
          <a:bodyPr/>
          <a:p/>
        </p:txBody>
      </p:sp>
      <p:sp>
        <p:nvSpPr>
          <p:cNvPr id="16" name="Shape 13"/>
          <p:cNvSpPr/>
          <p:nvPr/>
        </p:nvSpPr>
        <p:spPr>
          <a:xfrm>
            <a:off x="658368" y="2816352"/>
            <a:ext cx="329184" cy="329184"/>
          </a:xfrm>
          <a:prstGeom prst="ellipse">
            <a:avLst/>
          </a:prstGeom>
          <a:solidFill>
            <a:srgbClr val="1E7A4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各ツールの説明を拡張し、入力形式・例クエリ・エッジケース・類似ツールとの境界を含める</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入力をパースして事前選択するルーティング層を実装する</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両ツールを単一のlookup_entityツールに統合する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B)</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ツールの説明文(description)こそがLLMのツール選択における第一のメカニズムであり、似た識別子形式・最小限の説明という条件がまさにその不足を示している。Aはトークンを増やすだけで根本原因(説明不足)そのものは解決せず、Cは追加の実装・保守コストを伴うオーバーエンジニアリング、Dは統合により選択問題自体を消すが、既存の2ツールを使い分けたい設計意図を破壊してしまう。</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79</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3/12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1: カスタマーサポート解決エージェント</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初回解決率55%(目標80%)。簡単なケースをエスカレーションする一方、ポリシー例外が必要な複雑なケースを自律解決しようとしている。エスカレーション精度を改善する最も効果的な方法は?</a:t>
            </a:r>
            <a:endParaRPr lang="en-US" sz="1150" dirty="0"/>
          </a:p>
        </p:txBody>
      </p:sp>
      <p:sp>
        <p:nvSpPr>
          <p:cNvPr id="11" name="Shape 8"/>
          <p:cNvSpPr/>
          <p:nvPr/>
        </p:nvSpPr>
        <p:spPr>
          <a:xfrm>
            <a:off x="548640" y="2148840"/>
            <a:ext cx="11064240" cy="512064"/>
          </a:xfrm>
          <a:prstGeom prst="roundRect">
            <a:avLst>
              <a:gd name="adj" fmla="val 10714"/>
            </a:avLst>
          </a:prstGeom>
          <a:solidFill>
            <a:srgbClr val="E3F4EA"/>
          </a:solidFill>
          <a:ln/>
        </p:spPr>
        <p:txBody>
          <a:bodyPr/>
          <a:p/>
        </p:txBody>
      </p:sp>
      <p:sp>
        <p:nvSpPr>
          <p:cNvPr id="12" name="Shape 9"/>
          <p:cNvSpPr/>
          <p:nvPr/>
        </p:nvSpPr>
        <p:spPr>
          <a:xfrm>
            <a:off x="658368" y="2240280"/>
            <a:ext cx="329184" cy="329184"/>
          </a:xfrm>
          <a:prstGeom prst="ellipse">
            <a:avLst/>
          </a:prstGeom>
          <a:solidFill>
            <a:srgbClr val="1E7A4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システムプロンプトに明示的なエスカレーション基準とfew-shot例を追加する</a:t>
            </a:r>
            <a:endParaRPr lang="en-US" sz="1000" dirty="0"/>
          </a:p>
        </p:txBody>
      </p:sp>
      <p:sp>
        <p:nvSpPr>
          <p:cNvPr id="15" name="Shape 12"/>
          <p:cNvSpPr/>
          <p:nvPr/>
        </p:nvSpPr>
        <p:spPr>
          <a:xfrm>
            <a:off x="548640" y="2724912"/>
            <a:ext cx="11064240" cy="512064"/>
          </a:xfrm>
          <a:prstGeom prst="roundRect">
            <a:avLst>
              <a:gd name="adj" fmla="val 10714"/>
            </a:avLst>
          </a:prstGeom>
          <a:solidFill>
            <a:srgbClr val="F7F8FA"/>
          </a:solidFill>
          <a:ln/>
        </p:spPr>
        <p:txBody>
          <a:bodyPr/>
          <a:p/>
        </p:txBody>
      </p:sp>
      <p:sp>
        <p:nvSpPr>
          <p:cNvPr id="16" name="Shape 13"/>
          <p:cNvSpPr/>
          <p:nvPr/>
        </p:nvSpPr>
        <p:spPr>
          <a:xfrm>
            <a:off x="658368" y="2816352"/>
            <a:ext cx="329184" cy="329184"/>
          </a:xfrm>
          <a:prstGeom prst="ellipse">
            <a:avLst/>
          </a:prstGeom>
          <a:solidFill>
            <a:srgbClr val="B8BFC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応答前に信頼度スコアを自己報告させ、閾値以下なら自動的に人間へルーティングする</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過去チケットで訓練した別の分類器モデルをデプロイする</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感情分析を実装し、不満レベルが閾値を超えたら自動エスカレーションする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A)</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不明確な判断境界(何が『簡単』で何が『複雑』か)が根本原因であり、明示的な基準とfew-shot例で境界を具体化するのが最も直接的。BはLLM自身の自己報告信頼度がそもそも十分にキャリブレーションされておらず、閾値判定の土台として不安定。Cはラベル付き学習データとMLインフラを新たに要する過剰設計。Dは感情の強さとケースの構造的複雑さは別軸の指標であり、相関しない。</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80</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4/12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2: Claude Codeによるコード生成</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チームの標準コードレビューチェックリストを実行するカスタム/reviewコマンドを、リポジトリをclone/pullした全開発者が使えるようにしたい。コマンドファイルはどこに作るべきか?</a:t>
            </a:r>
            <a:endParaRPr lang="en-US" sz="1150" dirty="0"/>
          </a:p>
        </p:txBody>
      </p:sp>
      <p:sp>
        <p:nvSpPr>
          <p:cNvPr id="11" name="Shape 8"/>
          <p:cNvSpPr/>
          <p:nvPr/>
        </p:nvSpPr>
        <p:spPr>
          <a:xfrm>
            <a:off x="548640" y="2148840"/>
            <a:ext cx="11064240" cy="512064"/>
          </a:xfrm>
          <a:prstGeom prst="roundRect">
            <a:avLst>
              <a:gd name="adj" fmla="val 10714"/>
            </a:avLst>
          </a:prstGeom>
          <a:solidFill>
            <a:srgbClr val="E3F4EA"/>
          </a:solidFill>
          <a:ln/>
        </p:spPr>
        <p:txBody>
          <a:bodyPr/>
          <a:p/>
        </p:txBody>
      </p:sp>
      <p:sp>
        <p:nvSpPr>
          <p:cNvPr id="12" name="Shape 9"/>
          <p:cNvSpPr/>
          <p:nvPr/>
        </p:nvSpPr>
        <p:spPr>
          <a:xfrm>
            <a:off x="658368" y="2240280"/>
            <a:ext cx="329184" cy="329184"/>
          </a:xfrm>
          <a:prstGeom prst="ellipse">
            <a:avLst/>
          </a:prstGeom>
          <a:solidFill>
            <a:srgbClr val="1E7A4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プロジェクトリポジトリの .claude/commands/ ディレクトリ</a:t>
            </a:r>
            <a:endParaRPr lang="en-US" sz="1000" dirty="0"/>
          </a:p>
        </p:txBody>
      </p:sp>
      <p:sp>
        <p:nvSpPr>
          <p:cNvPr id="15" name="Shape 12"/>
          <p:cNvSpPr/>
          <p:nvPr/>
        </p:nvSpPr>
        <p:spPr>
          <a:xfrm>
            <a:off x="548640" y="2724912"/>
            <a:ext cx="11064240" cy="512064"/>
          </a:xfrm>
          <a:prstGeom prst="roundRect">
            <a:avLst>
              <a:gd name="adj" fmla="val 10714"/>
            </a:avLst>
          </a:prstGeom>
          <a:solidFill>
            <a:srgbClr val="F7F8FA"/>
          </a:solidFill>
          <a:ln/>
        </p:spPr>
        <p:txBody>
          <a:bodyPr/>
          <a:p/>
        </p:txBody>
      </p:sp>
      <p:sp>
        <p:nvSpPr>
          <p:cNvPr id="16" name="Shape 13"/>
          <p:cNvSpPr/>
          <p:nvPr/>
        </p:nvSpPr>
        <p:spPr>
          <a:xfrm>
            <a:off x="658368" y="2816352"/>
            <a:ext cx="329184" cy="329184"/>
          </a:xfrm>
          <a:prstGeom prst="ellipse">
            <a:avLst/>
          </a:prstGeom>
          <a:solidFill>
            <a:srgbClr val="B8BFC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各開発者のホームディレクトリの ~/.claude/commands/</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プロジェクトルートの CLAUDE.md ファイル</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.claude/config.json ファイル(commands配列を持つ)</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A)</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プロジェクトスコープのスラッシュコマンドは.claude/commands/に置くことで、Gitでバージョン管理され、clone/pull時に全開発者へ自動配布される仕組みが公式に定義されている。Bの~/.claude/commands/はユーザーごとのホームディレクトリなので個人用に留まり共有されない。CのCLAUDE.mdはコンテキスト情報を記述する場所であり、コマンド定義の仕組みではない。Dの.claude/config.jsonは存在しない架空の仕組み(典型的なひっかけ選択肢)。</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81</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5/12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2: Claude Codeによるコード生成</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モノリシックアプリをマイクロサービスに再構築する。数十ファイルの変更とサービス境界・依存関係の判断が必要。どのアプローチを取るべきか?</a:t>
            </a:r>
            <a:endParaRPr lang="en-US" sz="1150" dirty="0"/>
          </a:p>
        </p:txBody>
      </p:sp>
      <p:sp>
        <p:nvSpPr>
          <p:cNvPr id="11" name="Shape 8"/>
          <p:cNvSpPr/>
          <p:nvPr/>
        </p:nvSpPr>
        <p:spPr>
          <a:xfrm>
            <a:off x="548640" y="2148840"/>
            <a:ext cx="11064240" cy="512064"/>
          </a:xfrm>
          <a:prstGeom prst="roundRect">
            <a:avLst>
              <a:gd name="adj" fmla="val 10714"/>
            </a:avLst>
          </a:prstGeom>
          <a:solidFill>
            <a:srgbClr val="E3F4EA"/>
          </a:solidFill>
          <a:ln/>
        </p:spPr>
        <p:txBody>
          <a:bodyPr/>
          <a:p/>
        </p:txBody>
      </p:sp>
      <p:sp>
        <p:nvSpPr>
          <p:cNvPr id="12" name="Shape 9"/>
          <p:cNvSpPr/>
          <p:nvPr/>
        </p:nvSpPr>
        <p:spPr>
          <a:xfrm>
            <a:off x="658368" y="2240280"/>
            <a:ext cx="329184" cy="329184"/>
          </a:xfrm>
          <a:prstGeom prst="ellipse">
            <a:avLst/>
          </a:prstGeom>
          <a:solidFill>
            <a:srgbClr val="1E7A4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Plan Modeでコードベースを探索し依存関係を理解してから、変更前に実装アプローチを設計する</a:t>
            </a:r>
            <a:endParaRPr lang="en-US" sz="1000" dirty="0"/>
          </a:p>
        </p:txBody>
      </p:sp>
      <p:sp>
        <p:nvSpPr>
          <p:cNvPr id="15" name="Shape 12"/>
          <p:cNvSpPr/>
          <p:nvPr/>
        </p:nvSpPr>
        <p:spPr>
          <a:xfrm>
            <a:off x="548640" y="2724912"/>
            <a:ext cx="11064240" cy="512064"/>
          </a:xfrm>
          <a:prstGeom prst="roundRect">
            <a:avLst>
              <a:gd name="adj" fmla="val 10714"/>
            </a:avLst>
          </a:prstGeom>
          <a:solidFill>
            <a:srgbClr val="F7F8FA"/>
          </a:solidFill>
          <a:ln/>
        </p:spPr>
        <p:txBody>
          <a:bodyPr/>
          <a:p/>
        </p:txBody>
      </p:sp>
      <p:sp>
        <p:nvSpPr>
          <p:cNvPr id="16" name="Shape 13"/>
          <p:cNvSpPr/>
          <p:nvPr/>
        </p:nvSpPr>
        <p:spPr>
          <a:xfrm>
            <a:off x="658368" y="2816352"/>
            <a:ext cx="329184" cy="329184"/>
          </a:xfrm>
          <a:prstGeom prst="ellipse">
            <a:avLst/>
          </a:prstGeom>
          <a:solidFill>
            <a:srgbClr val="B8BFC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直接実行で始め、実装しながら段階的に変更し自然な境界を見つける</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直接実行を使い、各サービス構造を事前に詳細指示する</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直接実行で始め、予期せぬ複雑さに遭遇した時だけPlan Modeに切り替える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A)</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Plan Modeは、大規模な変更・複数の有効なアプローチ・アーキテクチャ判断・多数ファイルにまたがる変更が絡む場面に適している。Bは実装しながら境界を探ると、後からサービス境界の誤りが発覚した際のリワークコストが非常に大きい。Cは事前の探索なしに正しいマイクロサービス構造が分かるという非現実的な前提に立っている。Dは複雑さがこの時点で既に明白なのに、Plan Modeへの切り替えを先延ばしにする合理性がない。</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82</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6/12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2: Claude Codeによるコード生成</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コードベースには領域ごとに異なる規約があり、テストファイルはコードと並置され散らばっている。場所に関係なく全テストに同じ規約を適用したい。Claudeが自動的に正しい規約を適用する最もメンテナンス性の高い方法は?</a:t>
            </a:r>
            <a:endParaRPr lang="en-US" sz="1150" dirty="0"/>
          </a:p>
        </p:txBody>
      </p:sp>
      <p:sp>
        <p:nvSpPr>
          <p:cNvPr id="11" name="Shape 8"/>
          <p:cNvSpPr/>
          <p:nvPr/>
        </p:nvSpPr>
        <p:spPr>
          <a:xfrm>
            <a:off x="548640" y="2148840"/>
            <a:ext cx="11064240" cy="512064"/>
          </a:xfrm>
          <a:prstGeom prst="roundRect">
            <a:avLst>
              <a:gd name="adj" fmla="val 10714"/>
            </a:avLst>
          </a:prstGeom>
          <a:solidFill>
            <a:srgbClr val="E3F4EA"/>
          </a:solidFill>
          <a:ln/>
        </p:spPr>
        <p:txBody>
          <a:bodyPr/>
          <a:p/>
        </p:txBody>
      </p:sp>
      <p:sp>
        <p:nvSpPr>
          <p:cNvPr id="12" name="Shape 9"/>
          <p:cNvSpPr/>
          <p:nvPr/>
        </p:nvSpPr>
        <p:spPr>
          <a:xfrm>
            <a:off x="658368" y="2240280"/>
            <a:ext cx="329184" cy="329184"/>
          </a:xfrm>
          <a:prstGeom prst="ellipse">
            <a:avLst/>
          </a:prstGeom>
          <a:solidFill>
            <a:srgbClr val="1E7A4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.claude/rules/ にYAMLフロントマター付きルールファイルを作り、globパターンでファイルパスに基づき条件付き適用する</a:t>
            </a:r>
            <a:endParaRPr lang="en-US" sz="1000" dirty="0"/>
          </a:p>
        </p:txBody>
      </p:sp>
      <p:sp>
        <p:nvSpPr>
          <p:cNvPr id="15" name="Shape 12"/>
          <p:cNvSpPr/>
          <p:nvPr/>
        </p:nvSpPr>
        <p:spPr>
          <a:xfrm>
            <a:off x="548640" y="2724912"/>
            <a:ext cx="11064240" cy="512064"/>
          </a:xfrm>
          <a:prstGeom prst="roundRect">
            <a:avLst>
              <a:gd name="adj" fmla="val 10714"/>
            </a:avLst>
          </a:prstGeom>
          <a:solidFill>
            <a:srgbClr val="F7F8FA"/>
          </a:solidFill>
          <a:ln/>
        </p:spPr>
        <p:txBody>
          <a:bodyPr/>
          <a:p/>
        </p:txBody>
      </p:sp>
      <p:sp>
        <p:nvSpPr>
          <p:cNvPr id="16" name="Shape 13"/>
          <p:cNvSpPr/>
          <p:nvPr/>
        </p:nvSpPr>
        <p:spPr>
          <a:xfrm>
            <a:off x="658368" y="2816352"/>
            <a:ext cx="329184" cy="329184"/>
          </a:xfrm>
          <a:prstGeom prst="ellipse">
            <a:avLst/>
          </a:prstGeom>
          <a:solidFill>
            <a:srgbClr val="B8BFC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ルートのCLAUDE.mdに全規約を領域別ヘッダーで統合し、Claudeに推論させる</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.claude/skills/ にコードタイプごとのスキルを作る</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各サブディレクトリに個別のCLAUDE.mdを配置する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A)</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globパターン(例: **/*.test.tsx)を使えば、ディレクトリの物理的な位置に関係なくファイルの種類に基づいて規約を自動適用できる。Bはルール適用の判断をClaudeの推論に委ねており、規約の見落としリスクを排除できず信頼性に欠ける。Cのスキルは手動または明示的な呼び出しが前提の仕組みであり『自動的に正しい規約を適用する』という要件と矛盾する。Dはディレクトリ単位でCLAUDE.mdを配置する方式のため、テストファイルが散在する状況では網羅も保守も困難になる。</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83</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7/12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3: マルチエージェント調査システム</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各サブエージェントは成功しているのに、最終レポートが「AIとクリエイティブ産業」というトピックのうちビジュアルアートのみをカバーし音楽・文章・映画を見落としている。コーディネーターは3つのサブタスク全てを視覚芸術系に分解していた。最も可能性の高い根本原因は?</a:t>
            </a:r>
            <a:endParaRPr lang="en-US" sz="1150" dirty="0"/>
          </a:p>
        </p:txBody>
      </p:sp>
      <p:sp>
        <p:nvSpPr>
          <p:cNvPr id="11" name="Shape 8"/>
          <p:cNvSpPr/>
          <p:nvPr/>
        </p:nvSpPr>
        <p:spPr>
          <a:xfrm>
            <a:off x="548640" y="2148840"/>
            <a:ext cx="11064240" cy="512064"/>
          </a:xfrm>
          <a:prstGeom prst="roundRect">
            <a:avLst>
              <a:gd name="adj" fmla="val 10714"/>
            </a:avLst>
          </a:prstGeom>
          <a:solidFill>
            <a:srgbClr val="F7F8FA"/>
          </a:solidFill>
          <a:ln/>
        </p:spPr>
        <p:txBody>
          <a:bodyPr/>
          <a:p/>
        </p:txBody>
      </p:sp>
      <p:sp>
        <p:nvSpPr>
          <p:cNvPr id="12" name="Shape 9"/>
          <p:cNvSpPr/>
          <p:nvPr/>
        </p:nvSpPr>
        <p:spPr>
          <a:xfrm>
            <a:off x="658368" y="2240280"/>
            <a:ext cx="329184" cy="329184"/>
          </a:xfrm>
          <a:prstGeom prst="ellipse">
            <a:avLst/>
          </a:prstGeom>
          <a:solidFill>
            <a:srgbClr val="B8BFC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統合エージェントがカバレッジギャップを特定する指示を持っていない</a:t>
            </a:r>
            <a:endParaRPr lang="en-US" sz="1000" dirty="0"/>
          </a:p>
        </p:txBody>
      </p:sp>
      <p:sp>
        <p:nvSpPr>
          <p:cNvPr id="15" name="Shape 12"/>
          <p:cNvSpPr/>
          <p:nvPr/>
        </p:nvSpPr>
        <p:spPr>
          <a:xfrm>
            <a:off x="548640" y="2724912"/>
            <a:ext cx="11064240" cy="512064"/>
          </a:xfrm>
          <a:prstGeom prst="roundRect">
            <a:avLst>
              <a:gd name="adj" fmla="val 10714"/>
            </a:avLst>
          </a:prstGeom>
          <a:solidFill>
            <a:srgbClr val="E3F4EA"/>
          </a:solidFill>
          <a:ln/>
        </p:spPr>
        <p:txBody>
          <a:bodyPr/>
          <a:p/>
        </p:txBody>
      </p:sp>
      <p:sp>
        <p:nvSpPr>
          <p:cNvPr id="16" name="Shape 13"/>
          <p:cNvSpPr/>
          <p:nvPr/>
        </p:nvSpPr>
        <p:spPr>
          <a:xfrm>
            <a:off x="658368" y="2816352"/>
            <a:ext cx="329184" cy="329184"/>
          </a:xfrm>
          <a:prstGeom prst="ellipse">
            <a:avLst/>
          </a:prstGeom>
          <a:solidFill>
            <a:srgbClr val="1E7A4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コーディネーターのタスク分解が狭すぎて、サブエージェントへの割り当てが全関連領域をカバーしていない</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web検索エージェントのクエリが十分に包括的でない</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文書分析エージェントが非ビジュアル系ソースを過度にフィルタしている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B)</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コーディネーターのログ自体が、3つのサブタスク全てをビジュアルアート系に分解していたという根本原因を直接示している。A(統合エージェントの指示不足)・C(検索クエリの狭さ)・D(文書分析エージェントの過剰フィルタ)は、いずれも割り当てられたスコープ内では正しく機能している下流のサブエージェントを誤って責める選択肢。マルチエージェントシステムでは、最終アウトプットの網羅性の大半はコーディネーターのタスク分解設計そのものによって決まる。</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84</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8/12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3: マルチエージェント調査システム</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web検索サブエージェントが複雑なトピックの調査中にタイムアウトした。この失敗情報をコーディネーターに伝える設計として、インテリジェントなリカバリーを最も可能にするのはどれか?</a:t>
            </a:r>
            <a:endParaRPr lang="en-US" sz="1150" dirty="0"/>
          </a:p>
        </p:txBody>
      </p:sp>
      <p:sp>
        <p:nvSpPr>
          <p:cNvPr id="11" name="Shape 8"/>
          <p:cNvSpPr/>
          <p:nvPr/>
        </p:nvSpPr>
        <p:spPr>
          <a:xfrm>
            <a:off x="548640" y="2148840"/>
            <a:ext cx="11064240" cy="512064"/>
          </a:xfrm>
          <a:prstGeom prst="roundRect">
            <a:avLst>
              <a:gd name="adj" fmla="val 10714"/>
            </a:avLst>
          </a:prstGeom>
          <a:solidFill>
            <a:srgbClr val="E3F4EA"/>
          </a:solidFill>
          <a:ln/>
        </p:spPr>
        <p:txBody>
          <a:bodyPr/>
          <a:p/>
        </p:txBody>
      </p:sp>
      <p:sp>
        <p:nvSpPr>
          <p:cNvPr id="12" name="Shape 9"/>
          <p:cNvSpPr/>
          <p:nvPr/>
        </p:nvSpPr>
        <p:spPr>
          <a:xfrm>
            <a:off x="658368" y="2240280"/>
            <a:ext cx="329184" cy="329184"/>
          </a:xfrm>
          <a:prstGeom prst="ellipse">
            <a:avLst/>
          </a:prstGeom>
          <a:solidFill>
            <a:srgbClr val="1E7A4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78638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構造化エラーコンテキスト(失敗タイプ・試行したクエリ・部分的な結果・代替アプローチの候補)を返すことで、コーディネーターは状況に応じた賢いリカバリー判断(別クエリでの再試行、範囲を絞った再調査、部分結果の採用など)を下せる。Bは自動リトライの詳細を隠し『検索利用不可』という情報量ゼロのステータスしか渡さない。Cは失敗を成功として偽装する最悪の反パターンで、下流の判断を根本から誤らせる。Dはリカバリーの余地があるにもかかわらず調査ワークフロー全体を不必要に終了させてしまう。</a:t>
            </a:r>
            <a:endParaRPr lang="en-US" sz="1000" dirty="0"/>
          </a:p>
        </p:txBody>
      </p:sp>
      <p:sp>
        <p:nvSpPr>
          <p:cNvPr id="15" name="Shape 12"/>
          <p:cNvSpPr/>
          <p:nvPr/>
        </p:nvSpPr>
        <p:spPr>
          <a:xfrm>
            <a:off x="548640" y="2724912"/>
            <a:ext cx="11064240" cy="512064"/>
          </a:xfrm>
          <a:prstGeom prst="roundRect">
            <a:avLst>
              <a:gd name="adj" fmla="val 10714"/>
            </a:avLst>
          </a:prstGeom>
          <a:solidFill>
            <a:srgbClr val="F7F8FA"/>
          </a:solidFill>
          <a:ln/>
        </p:spPr>
        <p:txBody>
          <a:bodyPr/>
          <a:p/>
        </p:txBody>
      </p:sp>
      <p:sp>
        <p:nvSpPr>
          <p:cNvPr id="16" name="Shape 13"/>
          <p:cNvSpPr/>
          <p:nvPr/>
        </p:nvSpPr>
        <p:spPr>
          <a:xfrm>
            <a:off x="658368" y="2816352"/>
            <a:ext cx="329184" cy="329184"/>
          </a:xfrm>
          <a:prstGeom prst="ellipse">
            <a:avLst/>
          </a:prstGeom>
          <a:solidFill>
            <a:srgbClr val="B8BFC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自動リトライを実装し、全リトライ枯渇後は「検索利用不可」という汎用ステータスのみ返す</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タイムアウトをcatchし、成功とマークした空の結果セットを返す</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タイムアウト例外をトップレベルハンドラーに伝播し調査ワークフロー全体を終了する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A)</a:t>
            </a:r>
            <a:endParaRPr lang="en-US" sz="1150" dirty="0"/>
          </a:p>
        </p:txBody>
      </p:sp>
      <p:sp>
        <p:nvSpPr>
          <p:cNvPr id="29" name="Text 26"/>
          <p:cNvSpPr/>
          <p:nvPr/>
        </p:nvSpPr>
        <p:spPr>
          <a:xfrm>
            <a:off x="731520" y="4873752"/>
            <a:ext cx="10698480" cy="100584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構造化エラーコンテキストはコーディネーターにインテリジェントなリカバリー判断に必要な情報を与える。Bは貴重なコンテキストを隠し、Cは失敗を成功と偽装する最悪の反パターン、Dはリカバリーの可能性があるのに全体を不必要に終了させる。</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85</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9/12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3: マルチエージェント調査システム</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統合エージェントが頻繁に事実確認のためコーディネーター経由でweb検索エージェントを呼び、往復でレイテンシが40%増加。検証の85%は単純な事実確認、15%は深い調査が必要。オーバーヘッドを減らしつつ信頼性を維持する最も効果的なアプローチは?</a:t>
            </a:r>
            <a:endParaRPr lang="en-US" sz="1150" dirty="0"/>
          </a:p>
        </p:txBody>
      </p:sp>
      <p:sp>
        <p:nvSpPr>
          <p:cNvPr id="11" name="Shape 8"/>
          <p:cNvSpPr/>
          <p:nvPr/>
        </p:nvSpPr>
        <p:spPr>
          <a:xfrm>
            <a:off x="548640" y="2148840"/>
            <a:ext cx="11064240" cy="512064"/>
          </a:xfrm>
          <a:prstGeom prst="roundRect">
            <a:avLst>
              <a:gd name="adj" fmla="val 10714"/>
            </a:avLst>
          </a:prstGeom>
          <a:solidFill>
            <a:srgbClr val="E3F4EA"/>
          </a:solidFill>
          <a:ln/>
        </p:spPr>
        <p:txBody>
          <a:bodyPr/>
          <a:p/>
        </p:txBody>
      </p:sp>
      <p:sp>
        <p:nvSpPr>
          <p:cNvPr id="12" name="Shape 9"/>
          <p:cNvSpPr/>
          <p:nvPr/>
        </p:nvSpPr>
        <p:spPr>
          <a:xfrm>
            <a:off x="658368" y="2240280"/>
            <a:ext cx="329184" cy="329184"/>
          </a:xfrm>
          <a:prstGeom prst="ellipse">
            <a:avLst/>
          </a:prstGeom>
          <a:solidFill>
            <a:srgbClr val="1E7A4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統合エージェントに単純検索用の限定的なverify_factツールを与え、複雑な検証はコーディネーター経由の委譲を維持する</a:t>
            </a:r>
            <a:endParaRPr lang="en-US" sz="1000" dirty="0"/>
          </a:p>
        </p:txBody>
      </p:sp>
      <p:sp>
        <p:nvSpPr>
          <p:cNvPr id="15" name="Shape 12"/>
          <p:cNvSpPr/>
          <p:nvPr/>
        </p:nvSpPr>
        <p:spPr>
          <a:xfrm>
            <a:off x="548640" y="2724912"/>
            <a:ext cx="11064240" cy="512064"/>
          </a:xfrm>
          <a:prstGeom prst="roundRect">
            <a:avLst>
              <a:gd name="adj" fmla="val 10714"/>
            </a:avLst>
          </a:prstGeom>
          <a:solidFill>
            <a:srgbClr val="F7F8FA"/>
          </a:solidFill>
          <a:ln/>
        </p:spPr>
        <p:txBody>
          <a:bodyPr/>
          <a:p/>
        </p:txBody>
      </p:sp>
      <p:sp>
        <p:nvSpPr>
          <p:cNvPr id="16" name="Shape 13"/>
          <p:cNvSpPr/>
          <p:nvPr/>
        </p:nvSpPr>
        <p:spPr>
          <a:xfrm>
            <a:off x="658368" y="2816352"/>
            <a:ext cx="329184" cy="329184"/>
          </a:xfrm>
          <a:prstGeom prst="ellipse">
            <a:avLst/>
          </a:prstGeom>
          <a:solidFill>
            <a:srgbClr val="B8BFC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全検証ニーズを蓄積しパス終了時にコーディネーターへバッチで返す</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統合エージェントに全web検索ツールへのアクセスを与え直接処理させる</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web検索エージェントが初期調査中に追加コンテキストを事前キャッシュし予測する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A)</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最小権限の原則に基づき、検証の85%を占める単純な事実確認にはスコープを絞ったverify_factツールを直接与えつつ、残り15%の深い調査についてはコーディネーター経由の既存の調整フローを維持するのが最も効果的。Bはパス終了までブロッキングの依存を作り、リアルタイム性が失われる。Cは全web検索ツールへの無制限アクセスを与えてしまい、関心の分離(separation of concerns)の原則に反する過剰プロビジョニング。Dは何を検証すべきか事前に正確に予測できないため、投機的なキャッシングは成立しない。</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86</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10/12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5: Claude CodeによるCI/CD統合</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パイプラインで claude "Analyze this pull request..." を実行するとジョブが無限にハングし、インタラクティブ入力を待っている。自動化パイプラインでClaude Codeを実行する正しいアプローチは?</a:t>
            </a:r>
            <a:endParaRPr lang="en-US" sz="1150" dirty="0"/>
          </a:p>
        </p:txBody>
      </p:sp>
      <p:sp>
        <p:nvSpPr>
          <p:cNvPr id="11" name="Shape 8"/>
          <p:cNvSpPr/>
          <p:nvPr/>
        </p:nvSpPr>
        <p:spPr>
          <a:xfrm>
            <a:off x="548640" y="2148840"/>
            <a:ext cx="11064240" cy="512064"/>
          </a:xfrm>
          <a:prstGeom prst="roundRect">
            <a:avLst>
              <a:gd name="adj" fmla="val 10714"/>
            </a:avLst>
          </a:prstGeom>
          <a:solidFill>
            <a:srgbClr val="E3F4EA"/>
          </a:solidFill>
          <a:ln/>
        </p:spPr>
        <p:txBody>
          <a:bodyPr/>
          <a:p/>
        </p:txBody>
      </p:sp>
      <p:sp>
        <p:nvSpPr>
          <p:cNvPr id="12" name="Shape 9"/>
          <p:cNvSpPr/>
          <p:nvPr/>
        </p:nvSpPr>
        <p:spPr>
          <a:xfrm>
            <a:off x="658368" y="2240280"/>
            <a:ext cx="329184" cy="329184"/>
          </a:xfrm>
          <a:prstGeom prst="ellipse">
            <a:avLst/>
          </a:prstGeom>
          <a:solidFill>
            <a:srgbClr val="1E7A4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-p フラグを追加する: claude -p "..."</a:t>
            </a:r>
            <a:endParaRPr lang="en-US" sz="1000" dirty="0"/>
          </a:p>
        </p:txBody>
      </p:sp>
      <p:sp>
        <p:nvSpPr>
          <p:cNvPr id="15" name="Shape 12"/>
          <p:cNvSpPr/>
          <p:nvPr/>
        </p:nvSpPr>
        <p:spPr>
          <a:xfrm>
            <a:off x="548640" y="2724912"/>
            <a:ext cx="11064240" cy="512064"/>
          </a:xfrm>
          <a:prstGeom prst="roundRect">
            <a:avLst>
              <a:gd name="adj" fmla="val 10714"/>
            </a:avLst>
          </a:prstGeom>
          <a:solidFill>
            <a:srgbClr val="F7F8FA"/>
          </a:solidFill>
          <a:ln/>
        </p:spPr>
        <p:txBody>
          <a:bodyPr/>
          <a:p/>
        </p:txBody>
      </p:sp>
      <p:sp>
        <p:nvSpPr>
          <p:cNvPr id="16" name="Shape 13"/>
          <p:cNvSpPr/>
          <p:nvPr/>
        </p:nvSpPr>
        <p:spPr>
          <a:xfrm>
            <a:off x="658368" y="2816352"/>
            <a:ext cx="329184" cy="329184"/>
          </a:xfrm>
          <a:prstGeom prst="ellipse">
            <a:avLst/>
          </a:prstGeom>
          <a:solidFill>
            <a:srgbClr val="B8BFC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環境変数 CLAUDE_HEADLESS=true を設定する</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stdinを /dev/null にリダイレクトする</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--batch フラグを追加する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A)</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p(または--print)フラグは非インタラクティブモードで実行するための公式に文書化された方法で、プロンプト処理後に結果をstdoutへ出力し、ユーザー入力を待たずに終了する。B(CLAUDE_HEADLESS)とD(--batch)はいずれも実在しない架空のフラグで、もっともらしく見えるだけの典型的なひっかけ選択肢。C(stdinを/dev/nullへリダイレクト)はUnix一般の回避策としては機能し得るが、Claude Code自体が用意している正式な非対話モードの指定方法ではない。</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87</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11/12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5: Claude CodeによるCI/CD統合</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(1)マージ前にブロックする事前チェックと、(2)夜間生成する技術的負債レポート、の2ワークフローがある。両方をMessage Batches APIに切り替え50%コスト削減する提案をどう評価すべきか?</a:t>
            </a:r>
            <a:endParaRPr lang="en-US" sz="1150" dirty="0"/>
          </a:p>
        </p:txBody>
      </p:sp>
      <p:sp>
        <p:nvSpPr>
          <p:cNvPr id="11" name="Shape 8"/>
          <p:cNvSpPr/>
          <p:nvPr/>
        </p:nvSpPr>
        <p:spPr>
          <a:xfrm>
            <a:off x="548640" y="2148840"/>
            <a:ext cx="11064240" cy="512064"/>
          </a:xfrm>
          <a:prstGeom prst="roundRect">
            <a:avLst>
              <a:gd name="adj" fmla="val 10714"/>
            </a:avLst>
          </a:prstGeom>
          <a:solidFill>
            <a:srgbClr val="E3F4EA"/>
          </a:solidFill>
          <a:ln/>
        </p:spPr>
        <p:txBody>
          <a:bodyPr/>
          <a:p/>
        </p:txBody>
      </p:sp>
      <p:sp>
        <p:nvSpPr>
          <p:cNvPr id="12" name="Shape 9"/>
          <p:cNvSpPr/>
          <p:nvPr/>
        </p:nvSpPr>
        <p:spPr>
          <a:xfrm>
            <a:off x="658368" y="2240280"/>
            <a:ext cx="329184" cy="329184"/>
          </a:xfrm>
          <a:prstGeom prst="ellipse">
            <a:avLst/>
          </a:prstGeom>
          <a:solidFill>
            <a:srgbClr val="1E7A4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技術的負債レポートのみバッチ処理を使用し、事前マージチェックはリアルタイム呼び出しを維持する</a:t>
            </a:r>
            <a:endParaRPr lang="en-US" sz="1000" dirty="0"/>
          </a:p>
        </p:txBody>
      </p:sp>
      <p:sp>
        <p:nvSpPr>
          <p:cNvPr id="15" name="Shape 12"/>
          <p:cNvSpPr/>
          <p:nvPr/>
        </p:nvSpPr>
        <p:spPr>
          <a:xfrm>
            <a:off x="548640" y="2724912"/>
            <a:ext cx="11064240" cy="512064"/>
          </a:xfrm>
          <a:prstGeom prst="roundRect">
            <a:avLst>
              <a:gd name="adj" fmla="val 10714"/>
            </a:avLst>
          </a:prstGeom>
          <a:solidFill>
            <a:srgbClr val="F7F8FA"/>
          </a:solidFill>
          <a:ln/>
        </p:spPr>
        <p:txBody>
          <a:bodyPr/>
          <a:p/>
        </p:txBody>
      </p:sp>
      <p:sp>
        <p:nvSpPr>
          <p:cNvPr id="16" name="Shape 13"/>
          <p:cNvSpPr/>
          <p:nvPr/>
        </p:nvSpPr>
        <p:spPr>
          <a:xfrm>
            <a:off x="658368" y="2816352"/>
            <a:ext cx="329184" cy="329184"/>
          </a:xfrm>
          <a:prstGeom prst="ellipse">
            <a:avLst/>
          </a:prstGeom>
          <a:solidFill>
            <a:srgbClr val="B8BFC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両方をバッチ処理に切り替えステータスポーリングで完了確認する</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バッチ結果の順序問題を避けるため両方リアルタイムを維持する</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両方をバッチ処理にし、時間がかかりすぎたらリアルタイムにフォールバックする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A)</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Batch APIは50%のコスト割引と引き換えに、処理完了まで最大24時間かかりうる上に応答時間のSLA保証がない。開発者が結果を待ってマージ可否を判断するブロッキングな事前チェックには不適切だが、翌朝までに届けば十分な夜間の技術的負債レポートには理想的な使い分けとなる。Bは『バッチはしばしば速い』という不確実な前提に事前マージチェックの成否を委ねてしまい許容できない。Cはコスト削減の機会をまるごと逃す。Dは単純な使い分け(A)で十分足りる場面に、動的フォールバックという不要な複雑さを持ち込んでいる。</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88</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公式サンプル問題 12/12</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051560"/>
            <a:ext cx="11064240" cy="274320"/>
          </a:xfrm>
          <a:prstGeom prst="rect">
            <a:avLst/>
          </a:prstGeom>
          <a:noFill/>
          <a:ln/>
        </p:spPr>
        <p:txBody>
          <a:bodyPr wrap="square" rtlCol="0" anchor="ctr"/>
          <a:lstStyle/>
          <a:p>
            <a:pPr indent="0" marL="0">
              <a:buNone/>
            </a:pPr>
            <a:r>
              <a:rPr lang="en-US" sz="1150" i="1" dirty="0">
                <a:solidFill>
                  <a:srgbClr val="5B6472"/>
                </a:solidFill>
                <a:latin typeface="Meiryo" pitchFamily="34" charset="0"/>
                <a:ea typeface="Meiryo" pitchFamily="34" charset="-122"/>
                <a:cs typeface="Meiryo" pitchFamily="34" charset="-120"/>
              </a:rPr>
              <a:t>Scenario 5: Claude CodeによるCI/CD統合</a:t>
            </a:r>
            <a:endParaRPr lang="en-US" sz="1150" dirty="0"/>
          </a:p>
        </p:txBody>
      </p:sp>
      <p:sp>
        <p:nvSpPr>
          <p:cNvPr id="9" name="Shape 6"/>
          <p:cNvSpPr/>
          <p:nvPr/>
        </p:nvSpPr>
        <p:spPr>
          <a:xfrm>
            <a:off x="548640" y="1353312"/>
            <a:ext cx="11064240" cy="685800"/>
          </a:xfrm>
          <a:prstGeom prst="roundRect">
            <a:avLst>
              <a:gd name="adj" fmla="val 8000"/>
            </a:avLst>
          </a:prstGeom>
          <a:solidFill>
            <a:srgbClr val="F4F7FD"/>
          </a:solidFill>
          <a:ln/>
        </p:spPr>
        <p:txBody>
          <a:bodyPr/>
          <a:p/>
        </p:txBody>
      </p:sp>
      <p:sp>
        <p:nvSpPr>
          <p:cNvPr id="10" name="Text 7"/>
          <p:cNvSpPr/>
          <p:nvPr/>
        </p:nvSpPr>
        <p:spPr>
          <a:xfrm>
            <a:off x="731520" y="1417320"/>
            <a:ext cx="10698480" cy="566928"/>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PRが14ファイルを変更。全ファイル一括の単一パスレビューが、ファイルごとに詳細さがバラつき、明白なバグを見逃し、同じパターンをあるファイルで問題視し別ファイルで承認するという矛盾を生んでいる。レビューをどう再構成すべきか?</a:t>
            </a:r>
            <a:endParaRPr lang="en-US" sz="1150" dirty="0"/>
          </a:p>
        </p:txBody>
      </p:sp>
      <p:sp>
        <p:nvSpPr>
          <p:cNvPr id="11" name="Shape 8"/>
          <p:cNvSpPr/>
          <p:nvPr/>
        </p:nvSpPr>
        <p:spPr>
          <a:xfrm>
            <a:off x="548640" y="2148840"/>
            <a:ext cx="11064240" cy="512064"/>
          </a:xfrm>
          <a:prstGeom prst="roundRect">
            <a:avLst>
              <a:gd name="adj" fmla="val 10714"/>
            </a:avLst>
          </a:prstGeom>
          <a:solidFill>
            <a:srgbClr val="E3F4EA"/>
          </a:solidFill>
          <a:ln/>
        </p:spPr>
        <p:txBody>
          <a:bodyPr/>
          <a:p/>
        </p:txBody>
      </p:sp>
      <p:sp>
        <p:nvSpPr>
          <p:cNvPr id="12" name="Shape 9"/>
          <p:cNvSpPr/>
          <p:nvPr/>
        </p:nvSpPr>
        <p:spPr>
          <a:xfrm>
            <a:off x="658368" y="2240280"/>
            <a:ext cx="329184" cy="329184"/>
          </a:xfrm>
          <a:prstGeom prst="ellipse">
            <a:avLst/>
          </a:prstGeom>
          <a:solidFill>
            <a:srgbClr val="1E7A4C"/>
          </a:solidFill>
          <a:ln/>
        </p:spPr>
        <p:txBody>
          <a:bodyPr/>
          <a:p/>
        </p:txBody>
      </p:sp>
      <p:sp>
        <p:nvSpPr>
          <p:cNvPr id="13" name="Text 10"/>
          <p:cNvSpPr/>
          <p:nvPr/>
        </p:nvSpPr>
        <p:spPr>
          <a:xfrm>
            <a:off x="658368" y="224028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1"/>
          <p:cNvSpPr/>
          <p:nvPr/>
        </p:nvSpPr>
        <p:spPr>
          <a:xfrm>
            <a:off x="1097280" y="2148840"/>
            <a:ext cx="10378440" cy="512064"/>
          </a:xfrm>
          <a:prstGeom prst="rect">
            <a:avLst/>
          </a:prstGeom>
          <a:noFill/>
          <a:ln/>
        </p:spPr>
        <p:txBody>
          <a:bodyPr wrap="square" rtlCol="0" anchor="ctr"/>
          <a:lstStyle/>
          <a:p>
            <a:pPr indent="0" marL="0">
              <a:buNone/>
            </a:pPr>
            <a:r>
              <a:rPr lang="en-US" sz="1000" b="1" dirty="0">
                <a:solidFill>
                  <a:srgbClr val="1E5C3A"/>
                </a:solidFill>
                <a:latin typeface="Meiryo" pitchFamily="34" charset="0"/>
                <a:ea typeface="Meiryo" pitchFamily="34" charset="-122"/>
                <a:cs typeface="Meiryo" pitchFamily="34" charset="-120"/>
              </a:rPr>
              <a:t>フォーカスパスに分割: 各ファイルを個別にローカル問題でレビューし、次にクロスファイル調査用の別統合パスを設ける</a:t>
            </a:r>
            <a:endParaRPr lang="en-US" sz="1000" dirty="0"/>
          </a:p>
        </p:txBody>
      </p:sp>
      <p:sp>
        <p:nvSpPr>
          <p:cNvPr id="15" name="Shape 12"/>
          <p:cNvSpPr/>
          <p:nvPr/>
        </p:nvSpPr>
        <p:spPr>
          <a:xfrm>
            <a:off x="548640" y="2724912"/>
            <a:ext cx="11064240" cy="512064"/>
          </a:xfrm>
          <a:prstGeom prst="roundRect">
            <a:avLst>
              <a:gd name="adj" fmla="val 10714"/>
            </a:avLst>
          </a:prstGeom>
          <a:solidFill>
            <a:srgbClr val="F7F8FA"/>
          </a:solidFill>
          <a:ln/>
        </p:spPr>
        <p:txBody>
          <a:bodyPr/>
          <a:p/>
        </p:txBody>
      </p:sp>
      <p:sp>
        <p:nvSpPr>
          <p:cNvPr id="16" name="Shape 13"/>
          <p:cNvSpPr/>
          <p:nvPr/>
        </p:nvSpPr>
        <p:spPr>
          <a:xfrm>
            <a:off x="658368" y="2816352"/>
            <a:ext cx="329184" cy="329184"/>
          </a:xfrm>
          <a:prstGeom prst="ellipse">
            <a:avLst/>
          </a:prstGeom>
          <a:solidFill>
            <a:srgbClr val="B8BFCC"/>
          </a:solidFill>
          <a:ln/>
        </p:spPr>
        <p:txBody>
          <a:bodyPr/>
          <a:p/>
        </p:txBody>
      </p:sp>
      <p:sp>
        <p:nvSpPr>
          <p:cNvPr id="17" name="Text 14"/>
          <p:cNvSpPr/>
          <p:nvPr/>
        </p:nvSpPr>
        <p:spPr>
          <a:xfrm>
            <a:off x="658368" y="281635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5"/>
          <p:cNvSpPr/>
          <p:nvPr/>
        </p:nvSpPr>
        <p:spPr>
          <a:xfrm>
            <a:off x="1097280" y="2724912"/>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自動レビュー実行前に開発者へ小さい単位でのPR分割を要求する</a:t>
            </a:r>
            <a:endParaRPr lang="en-US" sz="1000" dirty="0"/>
          </a:p>
        </p:txBody>
      </p:sp>
      <p:sp>
        <p:nvSpPr>
          <p:cNvPr id="19" name="Shape 16"/>
          <p:cNvSpPr/>
          <p:nvPr/>
        </p:nvSpPr>
        <p:spPr>
          <a:xfrm>
            <a:off x="548640" y="3300984"/>
            <a:ext cx="11064240" cy="512064"/>
          </a:xfrm>
          <a:prstGeom prst="roundRect">
            <a:avLst>
              <a:gd name="adj" fmla="val 10714"/>
            </a:avLst>
          </a:prstGeom>
          <a:solidFill>
            <a:srgbClr val="F7F8FA"/>
          </a:solidFill>
          <a:ln/>
        </p:spPr>
        <p:txBody>
          <a:bodyPr/>
          <a:p/>
        </p:txBody>
      </p:sp>
      <p:sp>
        <p:nvSpPr>
          <p:cNvPr id="20" name="Shape 17"/>
          <p:cNvSpPr/>
          <p:nvPr/>
        </p:nvSpPr>
        <p:spPr>
          <a:xfrm>
            <a:off x="658368" y="3392424"/>
            <a:ext cx="329184" cy="329184"/>
          </a:xfrm>
          <a:prstGeom prst="ellipse">
            <a:avLst/>
          </a:prstGeom>
          <a:solidFill>
            <a:srgbClr val="B8BFCC"/>
          </a:solidFill>
          <a:ln/>
        </p:spPr>
        <p:txBody>
          <a:bodyPr/>
          <a:p/>
        </p:txBody>
      </p:sp>
      <p:sp>
        <p:nvSpPr>
          <p:cNvPr id="21" name="Text 18"/>
          <p:cNvSpPr/>
          <p:nvPr/>
        </p:nvSpPr>
        <p:spPr>
          <a:xfrm>
            <a:off x="658368" y="339242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19"/>
          <p:cNvSpPr/>
          <p:nvPr/>
        </p:nvSpPr>
        <p:spPr>
          <a:xfrm>
            <a:off x="1097280" y="3300984"/>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大きなコンテキストウィンドウを持つ上位モデルに切り替える</a:t>
            </a:r>
            <a:endParaRPr lang="en-US" sz="1000" dirty="0"/>
          </a:p>
        </p:txBody>
      </p:sp>
      <p:sp>
        <p:nvSpPr>
          <p:cNvPr id="23" name="Shape 20"/>
          <p:cNvSpPr/>
          <p:nvPr/>
        </p:nvSpPr>
        <p:spPr>
          <a:xfrm>
            <a:off x="548640" y="3877056"/>
            <a:ext cx="11064240" cy="512064"/>
          </a:xfrm>
          <a:prstGeom prst="roundRect">
            <a:avLst>
              <a:gd name="adj" fmla="val 10714"/>
            </a:avLst>
          </a:prstGeom>
          <a:solidFill>
            <a:srgbClr val="F7F8FA"/>
          </a:solidFill>
          <a:ln/>
        </p:spPr>
        <p:txBody>
          <a:bodyPr/>
          <a:p/>
        </p:txBody>
      </p:sp>
      <p:sp>
        <p:nvSpPr>
          <p:cNvPr id="24" name="Shape 21"/>
          <p:cNvSpPr/>
          <p:nvPr/>
        </p:nvSpPr>
        <p:spPr>
          <a:xfrm>
            <a:off x="658368" y="3968496"/>
            <a:ext cx="329184" cy="329184"/>
          </a:xfrm>
          <a:prstGeom prst="ellipse">
            <a:avLst/>
          </a:prstGeom>
          <a:solidFill>
            <a:srgbClr val="B8BFCC"/>
          </a:solidFill>
          <a:ln/>
        </p:spPr>
        <p:txBody>
          <a:bodyPr/>
          <a:p/>
        </p:txBody>
      </p:sp>
      <p:sp>
        <p:nvSpPr>
          <p:cNvPr id="25" name="Text 22"/>
          <p:cNvSpPr/>
          <p:nvPr/>
        </p:nvSpPr>
        <p:spPr>
          <a:xfrm>
            <a:off x="658368" y="3968496"/>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3"/>
          <p:cNvSpPr/>
          <p:nvPr/>
        </p:nvSpPr>
        <p:spPr>
          <a:xfrm>
            <a:off x="1097280" y="3877056"/>
            <a:ext cx="10378440" cy="512064"/>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独立した3つのレビューパスを実行し、2つ以上で現れる問題のみフラグする</a:t>
            </a:r>
            <a:endParaRPr lang="en-US" sz="1000" dirty="0"/>
          </a:p>
        </p:txBody>
      </p:sp>
      <p:sp>
        <p:nvSpPr>
          <p:cNvPr id="27" name="Shape 24"/>
          <p:cNvSpPr/>
          <p:nvPr/>
        </p:nvSpPr>
        <p:spPr>
          <a:xfrm>
            <a:off x="548640" y="4526280"/>
            <a:ext cx="11064240" cy="1417320"/>
          </a:xfrm>
          <a:prstGeom prst="roundRect">
            <a:avLst>
              <a:gd name="adj" fmla="val 5161"/>
            </a:avLst>
          </a:prstGeom>
          <a:solidFill>
            <a:srgbClr val="DCE3F7"/>
          </a:solidFill>
          <a:ln/>
        </p:spPr>
        <p:txBody>
          <a:bodyPr/>
          <a:p/>
        </p:txBody>
      </p:sp>
      <p:sp>
        <p:nvSpPr>
          <p:cNvPr id="28" name="Text 25"/>
          <p:cNvSpPr/>
          <p:nvPr/>
        </p:nvSpPr>
        <p:spPr>
          <a:xfrm>
            <a:off x="731520" y="4599432"/>
            <a:ext cx="10698480" cy="274320"/>
          </a:xfrm>
          <a:prstGeom prst="rect">
            <a:avLst/>
          </a:prstGeom>
          <a:noFill/>
          <a:ln/>
        </p:spPr>
        <p:txBody>
          <a:bodyPr wrap="square" rtlCol="0" anchor="ctr"/>
          <a:lstStyle/>
          <a:p>
            <a:pPr indent="0" marL="0">
              <a:buNone/>
            </a:pPr>
            <a:r>
              <a:rPr lang="en-US" sz="1150" b="1" dirty="0">
                <a:solidFill>
                  <a:srgbClr val="1E2761"/>
                </a:solidFill>
                <a:latin typeface="Meiryo" pitchFamily="34" charset="0"/>
                <a:ea typeface="Meiryo" pitchFamily="34" charset="-122"/>
                <a:cs typeface="Meiryo" pitchFamily="34" charset="-120"/>
              </a:rPr>
              <a:t>解説(正解: A)</a:t>
            </a:r>
            <a:endParaRPr lang="en-US" sz="1150" dirty="0"/>
          </a:p>
        </p:txBody>
      </p:sp>
      <p:sp>
        <p:nvSpPr>
          <p:cNvPr id="29" name="Text 26"/>
          <p:cNvSpPr/>
          <p:nvPr/>
        </p:nvSpPr>
        <p:spPr>
          <a:xfrm>
            <a:off x="731520" y="4873752"/>
            <a:ext cx="10698480" cy="1280160"/>
          </a:xfrm>
          <a:prstGeom prst="rect">
            <a:avLst/>
          </a:prstGeom>
          <a:noFill/>
          <a:ln/>
        </p:spPr>
        <p:txBody>
          <a:bodyPr wrap="square" rtlCol="0" anchor="t"/>
          <a:lstStyle/>
          <a:p>
            <a:pPr indent="0" marL="0">
              <a:lnSpc>
                <a:spcPct val="110000"/>
              </a:lnSpc>
              <a:buNone/>
            </a:pPr>
            <a:r>
              <a:rPr lang="en-US" sz="1000" dirty="0">
                <a:solidFill>
                  <a:srgbClr val="1F2430"/>
                </a:solidFill>
                <a:latin typeface="Meiryo" pitchFamily="34" charset="0"/>
                <a:ea typeface="Meiryo" pitchFamily="34" charset="-122"/>
                <a:cs typeface="Meiryo" pitchFamily="34" charset="-120"/>
              </a:rPr>
              <a:t>フォーカスパスへの分割(まず各ファイルを個別にローカルな問題でレビューし、その後クロスファイルの整合性を見る統合パスを別に設ける)は、多数ファイルを一度に処理する際の『注意の分散』という根本原因に直接対処する。Bはレビュープロセス自体を改善せず負担を開発者側へ転嫁するだけ。Cは大きなコンテキストウィンドウがあれば注意の質(どこにどれだけ集中するか)の問題まで解決するという誤解に基づく。Dは3パスの合意を要求することで、複数パスのうち1回しか検出されない断続的な実在のバグまで足切りしてしまう。</a:t>
            </a:r>
            <a:endParaRPr lang="en-US" sz="1000" dirty="0"/>
          </a:p>
        </p:txBody>
      </p:sp>
      <p:sp>
        <p:nvSpPr>
          <p:cNvPr id="30"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31" name="Text 28"/>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89</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786384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12問から見える出題傾向</a:t>
            </a:r>
            <a:endParaRPr lang="en-US" sz="2500" dirty="0"/>
          </a:p>
        </p:txBody>
      </p:sp>
      <p:sp>
        <p:nvSpPr>
          <p:cNvPr id="5" name="Shape 2"/>
          <p:cNvSpPr/>
          <p:nvPr/>
        </p:nvSpPr>
        <p:spPr>
          <a:xfrm>
            <a:off x="8686800" y="384048"/>
            <a:ext cx="2926080" cy="411480"/>
          </a:xfrm>
          <a:prstGeom prst="roundRect">
            <a:avLst>
              <a:gd name="adj" fmla="val 48889"/>
            </a:avLst>
          </a:prstGeom>
          <a:solidFill>
            <a:srgbClr val="DCE3F7"/>
          </a:solidFill>
          <a:ln/>
        </p:spPr>
        <p:txBody>
          <a:bodyPr/>
          <a:p/>
        </p:txBody>
      </p:sp>
      <p:sp>
        <p:nvSpPr>
          <p:cNvPr id="6" name="Text 3"/>
          <p:cNvSpPr/>
          <p:nvPr/>
        </p:nvSpPr>
        <p:spPr>
          <a:xfrm>
            <a:off x="8686800" y="384048"/>
            <a:ext cx="2926080" cy="411480"/>
          </a:xfrm>
          <a:prstGeom prst="rect">
            <a:avLst/>
          </a:prstGeom>
          <a:noFill/>
          <a:ln/>
        </p:spPr>
        <p:txBody>
          <a:bodyPr wrap="square" rtlCol="0" anchor="ctr"/>
          <a:lstStyle/>
          <a:p>
            <a:pPr algn="ctr" indent="0" marL="0">
              <a:buNone/>
            </a:pPr>
            <a:r>
              <a:rPr lang="en-US" sz="1150" b="1" dirty="0">
                <a:solidFill>
                  <a:srgbClr val="1E2761"/>
                </a:solidFill>
                <a:latin typeface="Meiryo" pitchFamily="34" charset="0"/>
                <a:ea typeface="Meiryo" pitchFamily="34" charset="-122"/>
                <a:cs typeface="Meiryo" pitchFamily="34" charset="-120"/>
              </a:rPr>
              <a:t>📋 公式サンプル問題</a:t>
            </a:r>
            <a:endParaRPr lang="en-US" sz="1150" dirty="0"/>
          </a:p>
        </p:txBody>
      </p:sp>
      <p:sp>
        <p:nvSpPr>
          <p:cNvPr id="7" name="Shape 4"/>
          <p:cNvSpPr/>
          <p:nvPr/>
        </p:nvSpPr>
        <p:spPr>
          <a:xfrm>
            <a:off x="457200" y="960120"/>
            <a:ext cx="11247120" cy="0"/>
          </a:xfrm>
          <a:prstGeom prst="line">
            <a:avLst/>
          </a:prstGeom>
          <a:noFill/>
          <a:ln w="12700">
            <a:solidFill>
              <a:srgbClr val="E2E8F0"/>
            </a:solidFill>
            <a:prstDash val="solid"/>
          </a:ln>
        </p:spPr>
        <p:txBody>
          <a:bodyPr/>
          <a:p/>
        </p:txBody>
      </p:sp>
      <p:sp>
        <p:nvSpPr>
          <p:cNvPr id="8" name="Text 5"/>
          <p:cNvSpPr/>
          <p:nvPr/>
        </p:nvSpPr>
        <p:spPr>
          <a:xfrm>
            <a:off x="548640" y="1188720"/>
            <a:ext cx="11064240" cy="4114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「理論知識」でなく「本番環境で何を選ぶか」を問う実装判断型。「プロンプトで指示 vs コードで強制」→ 強制を選ばせる問題が繰り返し出る</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「少数の精密なツール vs 大量の汎用ツール」→ 精密さを選ばせる。ツール説明文の質そのものが問われる(問題2)</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「バッチ処理 vs リアルタイム」→ ユースケース(待ち手がいるか)次第で判断させる(問題11)</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「単一パス vs マルチパス」→ 複数ファイル・複数観点が絡む場面ではマルチパスを選ばせる(問題12)</a:t>
            </a:r>
            <a:endParaRPr lang="en-US" sz="1300" dirty="0"/>
          </a:p>
          <a:p>
            <a:pPr marL="342900" indent="-342900">
              <a:spcAft>
                <a:spcPts val="800"/>
              </a:spcAft>
              <a:buSzPct val="100000"/>
              <a:buChar char="•"/>
            </a:pPr>
            <a:r>
              <a:rPr lang="en-US" sz="1300" dirty="0">
                <a:solidFill>
                  <a:srgbClr val="1F2430"/>
                </a:solidFill>
                <a:latin typeface="Meiryo" pitchFamily="34" charset="0"/>
                <a:ea typeface="Meiryo" pitchFamily="34" charset="-122"/>
                <a:cs typeface="Meiryo" pitchFamily="34" charset="-120"/>
              </a:rPr>
              <a:t>出典: kotowari-tech.com「Claude認定資格(CCA-F)公式サンプル12問を日本語解説」。原文・日本語訳・詳細解説はリンク先で確認可能</a:t>
            </a:r>
            <a:endParaRPr lang="en-US" sz="1300" dirty="0"/>
          </a:p>
        </p:txBody>
      </p:sp>
      <p:sp>
        <p:nvSpPr>
          <p:cNvPr id="9" name="Text 6"/>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10" name="Text 7"/>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90</a:t>
            </a:r>
            <a:endParaRPr lang="en-US" sz="1000" dirty="0"/>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1/11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CI/CDパイプラインがある1ステップでClaude Codeにテストを生成させ、次のステップで同じコードをレビューさせている。レビューステップは生成されたテストの問題をほとんど検出しないが、人間のレビュアーは一貫して問題を発見している。両方のCIステップとも-pフラグは正しく使われている。最も可能性の高い原因と対処法は?</a:t>
            </a:r>
            <a:endParaRPr lang="en-US" sz="1050" dirty="0"/>
          </a:p>
        </p:txBody>
      </p:sp>
      <p:sp>
        <p:nvSpPr>
          <p:cNvPr id="11" name="Shape 9"/>
          <p:cNvSpPr/>
          <p:nvPr/>
        </p:nvSpPr>
        <p:spPr>
          <a:xfrm>
            <a:off x="548640" y="2212848"/>
            <a:ext cx="11064240" cy="512064"/>
          </a:xfrm>
          <a:prstGeom prst="roundRect">
            <a:avLst>
              <a:gd name="adj" fmla="val 10714"/>
            </a:avLst>
          </a:prstGeom>
          <a:solidFill>
            <a:srgbClr val="E3F4EA"/>
          </a:solidFill>
          <a:ln/>
        </p:spPr>
        <p:txBody>
          <a:bodyPr/>
          <a:p/>
        </p:txBody>
      </p:sp>
      <p:sp>
        <p:nvSpPr>
          <p:cNvPr id="12" name="Shape 10"/>
          <p:cNvSpPr/>
          <p:nvPr/>
        </p:nvSpPr>
        <p:spPr>
          <a:xfrm>
            <a:off x="658368" y="2304288"/>
            <a:ext cx="329184" cy="329184"/>
          </a:xfrm>
          <a:prstGeom prst="ellipse">
            <a:avLst/>
          </a:prstGeom>
          <a:solidFill>
            <a:srgbClr val="1E7A4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生成とレビューを、文脈を共有しない独立したセッションとして実行すべき。そうすればレビュー側は元の(生成時の)推論バイアスを引きずらずにコードへ向き合える</a:t>
            </a:r>
            <a:endParaRPr lang="en-US" sz="95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CLAUDE.mdにテスト基準・レビュー基準が記載されておらず、レビューにプロジェクト固有の文脈がない</a:t>
            </a:r>
            <a:endParaRPr lang="en-US" sz="95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レビューステップが生成ステップと同じモデルティアで動いており、自分の出力を批評する能力が不足している。レビューステップをより高性能なモデルにアップグレードすべき</a:t>
            </a:r>
            <a:endParaRPr lang="en-US" sz="95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レビューステップには構造化された所見をプログラム的に解析するため--output-format jsonが必要</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A)</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生成ステップと同一セッション・同一文脈でレビューを行うと、レビュー側も生成時の推論(このコードは正しいはず、という前提)を引きずってしまい、自己の判断を疑いにくくなる(確証バイアス)。これは深掘り資料の「セルフレビューの限界と独立レビュー」と同じ考え方で、独立したセッション(文脈を共有しない別インスタンス)でレビューさせることが正しい対処法。B(CLAUDE.mdの基準不足)は補助的な改善にはなるが根本原因ではない。C(モデルのアップグレード)・D(出力フォーマット)はもっともらしいが的外れ。</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91</a:t>
            </a:r>
            <a:endParaRPr lang="en-US" sz="9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2/11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コードベース全体(50以上のディレクトリ)にテストファイルがソースファイルと並置されている(例: Button.tsxの隣にButton.test.tsx)。チームは、場所に関係なく全テストが同じ規約に従うことを望んでいる。最も保守性の高いアプローチは?</a:t>
            </a:r>
            <a:endParaRPr lang="en-US" sz="105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.claude/skills/ にpathsフロントマターを持つスキルを作成し、テストファイルが編集されるたびに自動起動させる</a:t>
            </a:r>
            <a:endParaRPr lang="en-US" sz="95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テストファイルとソースが同居する50以上のディレクトリすべてに、CLAUDE.mdファイルのコピーを配置する</a:t>
            </a:r>
            <a:endParaRPr lang="en-US" sz="95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テスト規約を全てルートのCLAUDE.mdファイルに追加し、全セッション開始時に自動的に読み込ませる</a:t>
            </a:r>
            <a:endParaRPr lang="en-US" sz="950" dirty="0"/>
          </a:p>
        </p:txBody>
      </p:sp>
      <p:sp>
        <p:nvSpPr>
          <p:cNvPr id="23" name="Shape 21"/>
          <p:cNvSpPr/>
          <p:nvPr/>
        </p:nvSpPr>
        <p:spPr>
          <a:xfrm>
            <a:off x="548640" y="3941064"/>
            <a:ext cx="11064240" cy="512064"/>
          </a:xfrm>
          <a:prstGeom prst="roundRect">
            <a:avLst>
              <a:gd name="adj" fmla="val 10714"/>
            </a:avLst>
          </a:prstGeom>
          <a:solidFill>
            <a:srgbClr val="E3F4EA"/>
          </a:solidFill>
          <a:ln/>
        </p:spPr>
        <p:txBody>
          <a:bodyPr/>
          <a:p/>
        </p:txBody>
      </p:sp>
      <p:sp>
        <p:nvSpPr>
          <p:cNvPr id="24" name="Shape 22"/>
          <p:cNvSpPr/>
          <p:nvPr/>
        </p:nvSpPr>
        <p:spPr>
          <a:xfrm>
            <a:off x="658368" y="4032504"/>
            <a:ext cx="329184" cy="329184"/>
          </a:xfrm>
          <a:prstGeom prst="ellipse">
            <a:avLst/>
          </a:prstGeom>
          <a:solidFill>
            <a:srgbClr val="1E7A4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.claude/rules/ に paths: ["**/*.test.tsx", "**/*.test.ts"] というフロントマターを持つファイルを作成し、そこにテスト規約を持たせる</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D)</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パス指定ルール(paths/globパターン)による条件付き適用は.claude/rules/の役割。**/*.test.tsxのようなパターンでファイル種別ごとに自動適用させれば、ディレクトリの場所に関係なく一貫した規約を保てる。Bは典型的な誤りパターン(同じCLAUDE.mdを50箇所にコピーするのは非現実的・メンテ不能)。Cはルート1箇所にまとめる案だが、テスト規約以外の情報まで毎回全セッションに読み込ませ、コンテキストの無駄が生じる。Aは一見もっともらしいが、「ファイル種別に応じた自動適用」はskills(呼び出し型)でなくrules(パスマッチ型)の役割であり、ここが引っかけポイント。</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92</a:t>
            </a:r>
            <a:endParaRPr lang="en-US" sz="900" dirty="0"/>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3/11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バージョン管理下のプロジェクトで動く開発者ツールエージェントに、2つのガードレールがある: ①プロジェクトディレクトリ外へのファイル書き込みをブロックするPreToolUseフック(100%強制)、②「既存ファイルを上書きする前は必ずバックアップを作成する」というシステムプロンプトの指示(88%の確率で遵守)。シニアエンジニアは、一貫性のため全てのガードレールをHookに変換すべきだと主張している。正しい評価はどれか?</a:t>
            </a:r>
            <a:endParaRPr lang="en-US" sz="105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シニアエンジニアの主張は正しい。回復可能なバックアップルールを含め、全てのガードレールを最大限の信頼性のため決定的なHookに変換すべき</a:t>
            </a:r>
            <a:endParaRPr lang="en-US" sz="95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両方のガードレールをプロンプト指示にすべき。Hookとプロンプトルールが混在するより、1つの強制方式に統一する方がメンテナンスしやすい</a:t>
            </a:r>
            <a:endParaRPr lang="en-US" sz="95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ディレクトリ制限をHookにするのは正しい。一方バックアップ指示は、バックアップ漏れが回復可能(バージョン管理下のため)なので、プロンプトのままで良い</a:t>
            </a:r>
            <a:endParaRPr lang="en-US" sz="95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バックアップ指示はHookに変換すべき。明記されたガードレールの失敗率12%は高すぎ、プロンプトに任せるべきではない</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重要なのは「失敗した時の結果が致命的か、回復可能か」で使い分ける判断軸。ディレクトリ外書き込みは失敗すると致命的なのでHookで確実に強制すべきだが、バックアップ作成の失敗は、このプロジェクトがバージョン管理下にあるためgit履歴から復元可能であり、プロンプトのままで許容範囲。Aは「全てHook化」という過剰実装で、試験が好む「最もシンプルな解決策」の原則に反する。Dは失敗率の数字だけに注目し、回復可能性という文脈を見落としている。Bはディレクトリ制限という致命的リスクをプロンプト任せにする点で誤り。</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93</a:t>
            </a:r>
            <a:endParaRPr lang="en-US" sz="900" dirty="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4/11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Claude CodeエージェントがAPIエンドポイントの実装を生成する。エラー処理の規約を詳細に指示しているが、生成コードは非同期エラー処理が一貫しない(try/catchの時、.catch()の時、エラー処理が全くない時がある)。より詳細な指示を追加しても解消しなかった。最も効果的な次の一手は?</a:t>
            </a:r>
            <a:endParaRPr lang="en-US" sz="105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生成コードのエラー処理が目標スタイルから外れている場合にフラグを立てて拒否するリンティングルールを追加し、生成後に不適合な出力を捕捉する</a:t>
            </a:r>
            <a:endParaRPr lang="en-US" sz="95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誤ったエラー処理パターンを書き直す生成後レビューステップを追加する</a:t>
            </a:r>
            <a:endParaRPr lang="en-US" sz="95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様々な非同期シナリオにわたる正しいエラー処理パターンを示す2〜4個のFew-shot例を、それぞれの選択理由と共に追加する</a:t>
            </a:r>
            <a:endParaRPr lang="en-US" sz="95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temperatureを0に設定し、エラー処理スタイルの一貫性を乱すランダム性を排除する</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より詳細な指示(プロンプトでの説明)を追加しても解決しなかった」という時点で、曖昧さは言葉での説明では解消できないレベルにある。具体的な入出力例(Few-shot)を、理由付きで示すことで一貫性を確保するのが最も効果的。A・Bは事後対処(生成後に検出・修正)で根本解決になっておらず、Dはランダム性でなく「規約の理解の曖昧さ」が原因なので的外れ。</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94</a:t>
            </a:r>
            <a:endParaRPr lang="en-US" sz="900" dirty="0"/>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5/11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2,000件の契約書からデータを抽出するパイプラインがある。各契約書について、モデルは内部のlookup_counterpartyツールを呼び出し、その結果を読んで抽出を完了させる必要がある。チームはBatch APIの50%割引を活用したい。どうすべきか?</a:t>
            </a:r>
            <a:endParaRPr lang="en-US" sz="105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Batch APIに投入し、保留中のツール呼び出しが解決するまで各リクエストを個別にポーリングする</a:t>
            </a:r>
            <a:endParaRPr lang="en-US" sz="95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同期リクエストと同じツール呼び出しループをバッチリクエストもサポートするので、ワークフロー全体をBatch APIに投入する</a:t>
            </a:r>
            <a:endParaRPr lang="en-US" sz="95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各契約書を2つのバッチに分割し、1つ目のバッチの出力を2つ目のバッチのツール結果として与える</a:t>
            </a:r>
            <a:endParaRPr lang="en-US" sz="950" dirty="0"/>
          </a:p>
        </p:txBody>
      </p:sp>
      <p:sp>
        <p:nvSpPr>
          <p:cNvPr id="23" name="Shape 21"/>
          <p:cNvSpPr/>
          <p:nvPr/>
        </p:nvSpPr>
        <p:spPr>
          <a:xfrm>
            <a:off x="548640" y="3941064"/>
            <a:ext cx="11064240" cy="512064"/>
          </a:xfrm>
          <a:prstGeom prst="roundRect">
            <a:avLst>
              <a:gd name="adj" fmla="val 10714"/>
            </a:avLst>
          </a:prstGeom>
          <a:solidFill>
            <a:srgbClr val="E3F4EA"/>
          </a:solidFill>
          <a:ln/>
        </p:spPr>
        <p:txBody>
          <a:bodyPr/>
          <a:p/>
        </p:txBody>
      </p:sp>
      <p:sp>
        <p:nvSpPr>
          <p:cNvPr id="24" name="Shape 22"/>
          <p:cNvSpPr/>
          <p:nvPr/>
        </p:nvSpPr>
        <p:spPr>
          <a:xfrm>
            <a:off x="658368" y="4032504"/>
            <a:ext cx="329184" cy="329184"/>
          </a:xfrm>
          <a:prstGeom prst="ellipse">
            <a:avLst/>
          </a:prstGeom>
          <a:solidFill>
            <a:srgbClr val="1E7A4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ツール呼び出しを伴う抽出は同期的に実行する。バッチリクエストはツール結果から処理を継続できないため</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D)</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Batch APIは単発リクエスト向けであり、マルチターンのツール呼び出しループ(ツール結果を受け取って会話を継続する)をサポートしない。ツール呼び出しが必須のワークフローは同期APIで実行する必要がある。A・B・Cは全て「Batch APIでもツール呼び出しループが継続できる」という誤った前提に基づいている。</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95</a:t>
            </a:r>
            <a:endParaRPr lang="en-US" sz="900" dirty="0"/>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6/11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チームには、デプロイ準備状況を検証する/deploy-checkスキルがある。要件は: (1)リポジトリ全体の設定ファイルを読む (2)bashコマンドでサービスの健全性をチェックする (3)長大な複数ページのレポートを作成する (4)ソースコードは絶対に変更しない。このスキルはチーム全体で使えるようにしたい。4つの要件全てを満たすSKILL.md設定はどれか?</a:t>
            </a:r>
            <a:endParaRPr lang="en-US" sz="105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.claude/skills/ に配置し、allowed-tools: ["Read", "Grep", "Glob", "Bash"]</a:t>
            </a:r>
            <a:endParaRPr lang="en-US" sz="950" dirty="0"/>
          </a:p>
        </p:txBody>
      </p:sp>
      <p:sp>
        <p:nvSpPr>
          <p:cNvPr id="15" name="Shape 13"/>
          <p:cNvSpPr/>
          <p:nvPr/>
        </p:nvSpPr>
        <p:spPr>
          <a:xfrm>
            <a:off x="548640" y="2788920"/>
            <a:ext cx="11064240" cy="512064"/>
          </a:xfrm>
          <a:prstGeom prst="roundRect">
            <a:avLst>
              <a:gd name="adj" fmla="val 10714"/>
            </a:avLst>
          </a:prstGeom>
          <a:solidFill>
            <a:srgbClr val="E3F4EA"/>
          </a:solidFill>
          <a:ln/>
        </p:spPr>
        <p:txBody>
          <a:bodyPr/>
          <a:p/>
        </p:txBody>
      </p:sp>
      <p:sp>
        <p:nvSpPr>
          <p:cNvPr id="16" name="Shape 14"/>
          <p:cNvSpPr/>
          <p:nvPr/>
        </p:nvSpPr>
        <p:spPr>
          <a:xfrm>
            <a:off x="658368" y="2880360"/>
            <a:ext cx="329184" cy="329184"/>
          </a:xfrm>
          <a:prstGeom prst="ellipse">
            <a:avLst/>
          </a:prstGeom>
          <a:solidFill>
            <a:srgbClr val="1E7A4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.claude/skills/ に配置し、allowed-tools: ["Read", "Grep", "Glob", "Bash"]、かつ context: fork</a:t>
            </a:r>
            <a:endParaRPr lang="en-US" sz="95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~/.claude/skills/ に配置し、allowed-tools: ["Read", "Grep", "Glob", "Bash", "Write"]、かつ context: fork</a:t>
            </a:r>
            <a:endParaRPr lang="en-US" sz="95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.claude/skills/ に配置し、allowed-tools: ["Read", "Grep", "Glob"]、かつ context: fork</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B)</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.claude/skills/(プロジェクト共有・チーム全体で利用可)に配置し、設定読み取り(Read)・検索(Grep/Glob)・健全性チェック(Bash)を許可、Writeは含めない(要件4「ソース変更禁止」)。さらにcontext: forkにより、長大なレポート生成を独立実行させ、メインの会話を汚さない。Aはfork指定がなく長大レポートがメイン会話を圧迫する。Cは~/.claude/skills/(個人用、チーム全体では使えない)かつWriteを含み要件4に違反。DはBashが含まれておらず健全性チェックができない。</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96</a:t>
            </a:r>
            <a:endParaRPr lang="en-US" sz="900" dirty="0"/>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7/11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チームのエージェントは、各会話の最初のターンでgenerate_reportを呼び出して週次レポートを生成する必要がある。tool_choice: 'auto'では、エージェントが時々テキスト要約で応答してしまう。1ターン目でgenerate_reportの呼び出しを保証しつつ、以降は通常のツール選択を許可したい。正しい設定は?</a:t>
            </a:r>
            <a:endParaRPr lang="en-US" sz="105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最初のターンのツールリストからgenerate_report以外を全て除外し、以降のターンで残りのツールを追加する</a:t>
            </a:r>
            <a:endParaRPr lang="en-US" sz="95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「1ターン目で必ずgenerate_reportを呼び出す」というシステムプロンプトの指示を追加し、tool_choiceはautoのままにする</a:t>
            </a:r>
            <a:endParaRPr lang="en-US" sz="95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会話の全ターンでtool_choiceを'any'に設定し、エージェントが常に利用可能なツールのいずれかを呼び出すよう義務付ける</a:t>
            </a:r>
            <a:endParaRPr lang="en-US" sz="950" dirty="0"/>
          </a:p>
        </p:txBody>
      </p:sp>
      <p:sp>
        <p:nvSpPr>
          <p:cNvPr id="23" name="Shape 21"/>
          <p:cNvSpPr/>
          <p:nvPr/>
        </p:nvSpPr>
        <p:spPr>
          <a:xfrm>
            <a:off x="548640" y="3941064"/>
            <a:ext cx="11064240" cy="512064"/>
          </a:xfrm>
          <a:prstGeom prst="roundRect">
            <a:avLst>
              <a:gd name="adj" fmla="val 10714"/>
            </a:avLst>
          </a:prstGeom>
          <a:solidFill>
            <a:srgbClr val="E3F4EA"/>
          </a:solidFill>
          <a:ln/>
        </p:spPr>
        <p:txBody>
          <a:bodyPr/>
          <a:p/>
        </p:txBody>
      </p:sp>
      <p:sp>
        <p:nvSpPr>
          <p:cNvPr id="24" name="Shape 22"/>
          <p:cNvSpPr/>
          <p:nvPr/>
        </p:nvSpPr>
        <p:spPr>
          <a:xfrm>
            <a:off x="658368" y="4032504"/>
            <a:ext cx="329184" cy="329184"/>
          </a:xfrm>
          <a:prstGeom prst="ellipse">
            <a:avLst/>
          </a:prstGeom>
          <a:solidFill>
            <a:srgbClr val="1E7A4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1ターン目はtool_choiceでgenerate_reportを強制選択させ、以降のターンは'auto'に切り替える</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D)</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最初のステップだけtool_choiceで特定ツールを強制し、それ以降はautoに戻す、というのが正しいパターン。Bはプロンプト任せで確率的にしか機能しない(既出のCode Beats Promptsの原則に反する)。Cは全ターンで強制するため、本来テキストで終了すべき場面でも無限ループの原因になりうる。Aは複雑な実装で、tool_choiceの機能で十分対応できる要件に対して過剰。</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97</a:t>
            </a:r>
            <a:endParaRPr lang="en-US" sz="900" dirty="0"/>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8/11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開発者がClaude Codeでデータ変換関数を反復改善しており、3つの問題を特定した: (1)日付解析がタイムゾーンオフセットを誤って処理する (2)通貨フォーマットが誤ったロケールを使用している (3)出力JSONスキーマのフィールド名が間違っている。問題1と2は互いに独立しているが、問題3は両方が従うべき出力の形状を変える。開発者はどうフィードバックすべきか?</a:t>
            </a:r>
            <a:endParaRPr lang="en-US" sz="105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3つの問題をそれぞれ別々の逐次メッセージで送り、1つ修正するたびに確認を待つ</a:t>
            </a:r>
            <a:endParaRPr lang="en-US" sz="95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3つの問題を1つのメッセージにまとめて送り、Claudeに包括的に対処させる</a:t>
            </a:r>
            <a:endParaRPr lang="en-US" sz="95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まず問題3(スキーマのフィールド名)を修正し、その後問題1と2は独立しているので個別に対応する</a:t>
            </a:r>
            <a:endParaRPr lang="en-US" sz="95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インタビューパターンを使い、変更を加える前に3つの問題全てについてClaudeに確認質問をさせる</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問題3は出力の形状(スキーマ)を変える前提条件であり、1・2はその新しい形状に従う必要があるため、3を先に確定させてから1・2に取り組むのが正しい順序。1と2は互いに独立しているため、まとめて1メッセージにする必要はなく、個別に対応してよい。Aは独立した問題まで逐次確認待ちにする非効率、Bは依存関係を無視して全て一度に混ぜるリスクがある、Dは3つとも既に明確な問題であり確認質問は不要。</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98</a:t>
            </a:r>
            <a:endParaRPr lang="en-US" sz="900" dirty="0"/>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9/11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開発者がClaude Codeに大きなファイル内の関数の修正を依頼した。対象テキストがファイル内の複数箇所に出現するため、Editツールが「non-unique match」エラーで失敗した。正しい復旧アプローチは?</a:t>
            </a:r>
            <a:endParaRPr lang="en-US" sz="105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Readでファイル全体を読み込み、Writeで変更を適用した完全なファイルを出力する</a:t>
            </a:r>
            <a:endParaRPr lang="en-US" sz="95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Bashに切り替え、テキストマッチングでなく行番号を使ってsedで置換を行う</a:t>
            </a:r>
            <a:endParaRPr lang="en-US" sz="95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Editの検索文字列に、ファイル内で一意になるまで周辺の文脈を追加して広げる</a:t>
            </a:r>
            <a:endParaRPr lang="en-US" sz="95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ファイルを複数の小さなファイルに分割し、各出現箇所が1つのファイルにのみ現れるようにしてから、それぞれにEditを使う</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Editが失敗した際の正しい復旧順序は、①検索文字列の周辺文脈を広げて一意にする→②それでもダメならreplace_all→③最後の手段としてRead+Write、の順。いきなりRead+Write(A)に切り替えるのは最後の手段を最初に使ってしまっている。Bは提示されている正規の対処法ではなく、Dは非現実的でファイル構造を壊すリスクがある。</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99</a:t>
            </a:r>
            <a:endParaRPr lang="en-US" sz="900" dirty="0"/>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10/11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Enterprise Data Platform with Federated Queries — エンタープライズ分析チームが、Snowflake・PostgreSQL・サードパーティAPIをMCPツール経由でクエリするデータプラットフォームを構築している。結果セットは大きくなりがちで、キャッシュ・要約・複数ソースの応答がコンテキストウィンドウに収まらない場合の対処が本質的な課題になって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データプラットフォームチームは、エージェントのフェデレーテッドクエリレポートの人間レビューを実施している。レビュアーは50件のレポートをサンプリングし、全体の正答率97%という結果を得た。経営陣はこのシステムの本番稼働を承認した。3週間後、越境収益レポートにおける通貨換算の計算が40%の確率で間違っているとユーザーから報告があった。レビュープロセスはどこで失敗したか?</a:t>
            </a:r>
            <a:endParaRPr lang="en-US" sz="105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サンプルサイズ50件は、40%のエラー率を持つ通貨換算の問題を検出するには小さすぎた</a:t>
            </a:r>
            <a:endParaRPr lang="en-US" sz="95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レビュアーが通貨換算の専門知識を持っておらず、エラーを識別できなかった</a:t>
            </a:r>
            <a:endParaRPr lang="en-US" sz="95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レビュアーが集計精度指標を使用したため、通貨換算エラー40%のようなカテゴリ固有の失敗が覆い隠された</a:t>
            </a:r>
            <a:endParaRPr lang="en-US" sz="95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モデルの精度がモデルドリフトにより時間とともに劣化しており、レビュー時点の97%という数値自体は当時は正しかった</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全体97%」のような集計精度は、特定のカテゴリ(この場合は通貨換算)における低精度を覆い隠してしまう。文書種別・カテゴリ・フィールド単位で精度を検証してから自動化・本番稼働の可否を判断すべきだった、という教訓。Aはサンプルサイズの問題として一見もっともらしいが、根本原因は「集計方法」であり単にサンプル数を増やすだけでは同じ集計方法だと見逃す可能性がある。B・Dは無関係な仮定。</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100</a:t>
            </a:r>
            <a:endParaRPr lang="en-US" sz="900" dirty="0"/>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 11/11</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250" b="1" dirty="0">
                <a:solidFill>
                  <a:srgbClr val="1E2761"/>
                </a:solidFill>
                <a:latin typeface="Meiryo" pitchFamily="34" charset="0"/>
                <a:ea typeface="Meiryo" pitchFamily="34" charset="-122"/>
                <a:cs typeface="Meiryo" pitchFamily="34" charset="-120"/>
              </a:rPr>
              <a:t>追加練習問題</a:t>
            </a:r>
            <a:endParaRPr lang="en-US" sz="125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10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10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多言語コードベース向けのClaude Codeレビュープロンプトが、重大度を「criticalとは危険なコードを意味する」「minorとはやや非効率なコードを意味する」のような散文的な説明で分類している。開発者からは、同じようなコードパターンでも実行のたびに重大度評価が異なる、という苦情が出ている。最も効果的な改善は?</a:t>
            </a:r>
            <a:endParaRPr lang="en-US" sz="105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モデルのtemperatureを0に下げ、決定的な重大度評価を保証する</a:t>
            </a:r>
            <a:endParaRPr lang="en-US" sz="95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信頼度の閾値を追加し、90%以上の確信度がある所見のみを報告することで不確実な重大度評価を除外する</a:t>
            </a:r>
            <a:endParaRPr lang="en-US" sz="95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50" b="1" dirty="0">
                <a:solidFill>
                  <a:srgbClr val="1E5C3A"/>
                </a:solidFill>
                <a:latin typeface="Meiryo" pitchFamily="34" charset="0"/>
                <a:ea typeface="Meiryo" pitchFamily="34" charset="-122"/>
                <a:cs typeface="Meiryo" pitchFamily="34" charset="-120"/>
              </a:rPr>
              <a:t>散文的な重大度の説明を、各重大度レベルごとの具体的なTypeScriptコード例に置き換える</a:t>
            </a:r>
            <a:endParaRPr lang="en-US" sz="95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50" dirty="0">
                <a:solidFill>
                  <a:srgbClr val="1F2430"/>
                </a:solidFill>
                <a:latin typeface="Meiryo" pitchFamily="34" charset="0"/>
                <a:ea typeface="Meiryo" pitchFamily="34" charset="-122"/>
                <a:cs typeface="Meiryo" pitchFamily="34" charset="-120"/>
              </a:rPr>
              <a:t>各所見の重大度を再評価する2回目のモデルパスを追加し、不整合を検出する</a:t>
            </a:r>
            <a:endParaRPr lang="en-US" sz="95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8000"/>
              </a:lnSpc>
              <a:buNone/>
            </a:pPr>
            <a:r>
              <a:rPr lang="en-US" sz="950" dirty="0">
                <a:solidFill>
                  <a:srgbClr val="1F2430"/>
                </a:solidFill>
                <a:latin typeface="Meiryo" pitchFamily="34" charset="0"/>
                <a:ea typeface="Meiryo" pitchFamily="34" charset="-122"/>
                <a:cs typeface="Meiryo" pitchFamily="34" charset="-120"/>
              </a:rPr>
              <a:t>「危険」「やや非効率」のような散文的・曖昧な基準は解釈がブレる原因になる。具体的なコード例を各重大度レベルに対して示すことで、判定の一貫性が上がる(明示的な基準でプロンプト精度を上げる、の考え方そのもの)。Aは温度を下げても定義自体の曖昧さは解決しない。Bは不確実なものを除外するだけで根本原因(定義の曖昧さ)は残る。Dはコストが増えるだけで同じ曖昧な基準で再評価しても改善しない。</a:t>
            </a:r>
            <a:endParaRPr lang="en-US" sz="9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101</a:t>
            </a:r>
            <a:endParaRPr lang="en-US" sz="900" dirty="0"/>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CI/CDパイプラインがある1ステップでClaude Codeにテストを生成させ、次のステップで同じコードをレビューさせている。レビューステップは生成されたテストの問題をほとんど検出しないが、人間のレビュアーは一貫して問題を発見している。両方のCIステップとも-pフラグは正しく使われている。最も可能性の高い原因と対処法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E3F4EA"/>
          </a:solidFill>
          <a:ln/>
        </p:spPr>
        <p:txBody>
          <a:bodyPr/>
          <a:p/>
        </p:txBody>
      </p:sp>
      <p:sp>
        <p:nvSpPr>
          <p:cNvPr id="12" name="Shape 10"/>
          <p:cNvSpPr/>
          <p:nvPr/>
        </p:nvSpPr>
        <p:spPr>
          <a:xfrm>
            <a:off x="658368" y="2304288"/>
            <a:ext cx="329184" cy="329184"/>
          </a:xfrm>
          <a:prstGeom prst="ellipse">
            <a:avLst/>
          </a:prstGeom>
          <a:solidFill>
            <a:srgbClr val="1E7A4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生成とレビューを、文脈を共有しない独立したセッションとして実行すべき。そうすればレビュー側は元の(生成時の)推論バイアスを引きずらずにコードへ向き合える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CLAUDE.mdにテスト基準・レビュー基準が記載されておらず、レビューにプロジェクト固有の文脈がない</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レビューステップが生成ステップと同じモデルティアで動いており、自分の出力を批評する能力が不足している。レビューステップをより高性能なモデルにアップグレードすべき</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レビューステップには構造化された所見をプログラム的に解析するため--output-format jsonが必要</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A)</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生成ステップと同一セッション・同一文脈でレビューを行うと、レビュー側も生成時の推論(このコードは正しいはず、という前提)を引きずってしまい、自己の判断を疑いにくくなる(確証バイアス)。これは深掘り資料の「セルフレビューの限界と独立レビュー」と同じ考え方で、独立したセッション(文脈を共有しない別インスタンス)でレビューさせることが正しい対処法。B(CLAUDE.mdの基準不足)は補助的な改善にはなるが根本原因ではない。C(モデルのアップグレード)・D(出力フォーマット)はもっともらしいが的外れ。</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102</a:t>
            </a:r>
            <a:endParaRPr lang="en-US" sz="900" dirty="0"/>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2/25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コードベース全体(50以上のディレクトリ)にテストファイルがソースファイルと並置されている(例: Button.tsxの隣にButton.test.tsx)。チームは、場所に関係なく全テストが同じ規約に従うことを望んでいる。最も保守性の高いアプローチは?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.claude/skills/ にpathsフロントマターを持つスキルを作成し、テストファイルが編集されるたびに自動起動させる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テストファイルとソースが同居する50以上のディレクトリすべてに、CLAUDE.mdファイルのコピーを配置する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テスト規約を全てルートのCLAUDE.mdファイルに追加し、全セッション開始時に自動的に読み込ませる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E3F4EA"/>
          </a:solidFill>
          <a:ln/>
        </p:spPr>
        <p:txBody>
          <a:bodyPr/>
          <a:p/>
        </p:txBody>
      </p:sp>
      <p:sp>
        <p:nvSpPr>
          <p:cNvPr id="24" name="Shape 22"/>
          <p:cNvSpPr/>
          <p:nvPr/>
        </p:nvSpPr>
        <p:spPr>
          <a:xfrm>
            <a:off x="658368" y="4032504"/>
            <a:ext cx="329184" cy="329184"/>
          </a:xfrm>
          <a:prstGeom prst="ellipse">
            <a:avLst/>
          </a:prstGeom>
          <a:solidFill>
            <a:srgbClr val="1E7A4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.claude/rules/ に paths: ["**/*.test.tsx", "**/*.test.ts"] というフロントマターを持つファイルを作成し、そこにテスト規約を持たせる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D)</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パス指定ルール(paths/globパターン)による条件付き適用は.claude/rules/の役割。**/*.test.tsxのようなパターンでファイル種別ごとに自動適用させれば、ディレクトリの場所に関係なく一貫した規約を保てる。Bは典型的な誤りパターン(同じCLAUDE.mdを50箇所にコピーするのは非現実的・メンテ不能)。Cはルート1箇所にまとめる案だが、テスト規約以外の情報まで毎回全セッションに読み込ませ、コンテキストの無駄が生じる。Aは一見もっともらしいが、「ファイル種別に応じた自動適用」はskills(呼び出し型)でなくrules(パスマッチ型)の役割であり、ここが引っかけポイント。</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103</a:t>
            </a:r>
            <a:endParaRPr lang="en-US" sz="900" dirty="0"/>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3/25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バージョン管理下のプロジェクトで動く開発者ツールエージェントに、2つのガードレールがある: ①プロジェクトディレクトリ外へのファイル書き込みをブロックするPreToolUseフック(100%強制)、②「既存ファイルを上書きする前は必ずバックアップを作成する」というシステムプロンプトの指示(88%の確率で遵守)。シニアエンジニアは、一貫性のため全てのガードレールをHookに変換すべきだと主張している。正しい評価はどれ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シニアエンジニアの主張は正しい。回復可能なバックアップルールを含め、全てのガードレールを最大限の信頼性のため決定的なHookに変換すべき</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両方のガードレールをプロンプト指示にすべき。Hookとプロンプトルールが混在するより、1つの強制方式に統一する方がメンテナンスしやすい</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ディレクトリ制限をHookにするのは正しい。一方バックアップ指示は、バックアップ漏れが回復可能(バージョン管理下のため)なので、プロンプトのままで良い</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バックアップ指示はHookに変換すべき。明記されたガードレールの失敗率12%は高すぎ、プロンプトに任せるべきではない</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重要なのは「失敗した時の結果が致命的か、回復可能か」で使い分ける判断軸。ディレクトリ外書き込みは失敗すると致命的なのでHookで確実に強制すべきだが、バックアップ作成の失敗は、このプロジェクトがバージョン管理下にあるためgit履歴から復元可能であり、プロンプトのままで許容範囲。Aは「全てHook化」という過剰実装で、試験が好む「最もシンプルな解決策」の原則に反する。Dは失敗率の数字だけに注目し、回復可能性という文脈を見落としている。Bはディレクトリ制限という致命的リスクをプロンプト任せにする点で誤り。</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104</a:t>
            </a:r>
            <a:endParaRPr lang="en-US" sz="900" dirty="0"/>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4/25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Claude CodeエージェントがAPIエンドポイントの実装を生成する。エラー処理の規約を詳細に指示しているが、生成コードは非同期エラー処理が一貫しない(try/catchの時、.catch()の時、エラー処理が全くない時がある)。より詳細な指示を追加しても解消しなかった。最も効果的な次の一手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生成コードのエラー処理が目標スタイルから外れている場合にフラグを立てて拒否するリンティングルールを追加し、生成後に不適合な出力を捕捉する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誤ったエラー処理パターンを書き直す生成後レビューステップを追加する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様々な非同期シナリオにわたる正しいエラー処理パターンを示す2〜4個のFew-shot例を、それぞれの選択理由と共に追加する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temperatureを0に設定し、エラー処理スタイルの一貫性を乱すランダム性を排除する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より詳細な指示(プロンプトでの説明)を追加しても解決しなかった」という時点で、曖昧さは言葉での説明では解消できないレベルにある。具体的な入出力例(Few-shot)を、理由付きで示すことで一貫性を確保するのが最も効果的。A・Bは事後対処(生成後に検出・修正)で根本解決になっておらず、Dはランダム性でなく「規約の理解の曖昧さ」が原因なので的外れ。</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105</a:t>
            </a:r>
            <a:endParaRPr lang="en-US" sz="900" dirty="0"/>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5/25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2,000件の契約書からデータを抽出するパイプラインがある。各契約書について、モデルは内部のlookup_counterpartyツールを呼び出し、その結果を読んで抽出を完了させる必要がある。チームはBatch APIの50%割引を活用したい。どうすべきか?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Batch APIに投入し、保留中のツール呼び出しが解決するまで各リクエストを個別にポーリングする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同期リクエストと同じツール呼び出しループをバッチリクエストもサポートするので、ワークフロー全体をBatch APIに投入する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各契約書を2つのバッチに分割し、1つ目のバッチの出力を2つ目のバッチのツール結果として与える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E3F4EA"/>
          </a:solidFill>
          <a:ln/>
        </p:spPr>
        <p:txBody>
          <a:bodyPr/>
          <a:p/>
        </p:txBody>
      </p:sp>
      <p:sp>
        <p:nvSpPr>
          <p:cNvPr id="24" name="Shape 22"/>
          <p:cNvSpPr/>
          <p:nvPr/>
        </p:nvSpPr>
        <p:spPr>
          <a:xfrm>
            <a:off x="658368" y="4032504"/>
            <a:ext cx="329184" cy="329184"/>
          </a:xfrm>
          <a:prstGeom prst="ellipse">
            <a:avLst/>
          </a:prstGeom>
          <a:solidFill>
            <a:srgbClr val="1E7A4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ツール呼び出しを伴う抽出は同期的に実行する。バッチリクエストはツール結果から処理を継続できないため</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D)</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Batch APIは単発リクエスト向けであり、マルチターンのツール呼び出しループ(ツール結果を受け取って会話を継続する)をサポートしない。ツール呼び出しが必須のワークフローは同期APIで実行する必要がある。A・B・Cは全て「Batch APIでもツール呼び出しループが継続できる」という誤った前提に基づいている。</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106</a:t>
            </a:r>
            <a:endParaRPr lang="en-US" sz="900" dirty="0"/>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6/25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チームには、デプロイ準備状況を検証する/deploy-checkスキルがある。要件は: (1)リポジトリ全体の設定ファイルを読む (2)bashコマンドでサービスの健全性をチェックする (3)長大な複数ページのレポートを作成する (4)ソースコードは絶対に変更しない。このスキルはチーム全体で使えるようにしたい。4つの要件全てを満たすSKILL.md設定はどれか?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.claude/skills/ に配置し、allowed-tools: ["Read", "Grep", "Glob", "Bash"]</a:t>
            </a:r>
            <a:endParaRPr lang="en-US" sz="900" dirty="0"/>
          </a:p>
        </p:txBody>
      </p:sp>
      <p:sp>
        <p:nvSpPr>
          <p:cNvPr id="15" name="Shape 13"/>
          <p:cNvSpPr/>
          <p:nvPr/>
        </p:nvSpPr>
        <p:spPr>
          <a:xfrm>
            <a:off x="548640" y="2788920"/>
            <a:ext cx="11064240" cy="512064"/>
          </a:xfrm>
          <a:prstGeom prst="roundRect">
            <a:avLst>
              <a:gd name="adj" fmla="val 10714"/>
            </a:avLst>
          </a:prstGeom>
          <a:solidFill>
            <a:srgbClr val="E3F4EA"/>
          </a:solidFill>
          <a:ln/>
        </p:spPr>
        <p:txBody>
          <a:bodyPr/>
          <a:p/>
        </p:txBody>
      </p:sp>
      <p:sp>
        <p:nvSpPr>
          <p:cNvPr id="16" name="Shape 14"/>
          <p:cNvSpPr/>
          <p:nvPr/>
        </p:nvSpPr>
        <p:spPr>
          <a:xfrm>
            <a:off x="658368" y="2880360"/>
            <a:ext cx="329184" cy="329184"/>
          </a:xfrm>
          <a:prstGeom prst="ellipse">
            <a:avLst/>
          </a:prstGeom>
          <a:solidFill>
            <a:srgbClr val="1E7A4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.claude/skills/ に配置し、allowed-tools: ["Read", "Grep", "Glob", "Bash"]、かつ context: fork</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~/.claude/skills/ に配置し、allowed-tools: ["Read", "Grep", "Glob", "Bash", "Write"]、かつ context: fork</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.claude/skills/ に配置し、allowed-tools: ["Read", "Grep", "Glob"]、かつ context: fork</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B)</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.claude/skills/(プロジェクト共有・チーム全体で利用可)に配置し、設定読み取り(Read)・検索(Grep/Glob)・健全性チェック(Bash)を許可、Writeは含めない(要件4「ソース変更禁止」)。さらにcontext: forkにより、長大なレポート生成を独立実行させ、メインの会話を汚さない。Aはfork指定がなく長大レポートがメイン会話を圧迫する。Cは~/.claude/skills/(個人用、チーム全体では使えない)かつWriteを含み要件4に違反。DはBashが含まれておらず健全性チェックができない。</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107</a:t>
            </a:r>
            <a:endParaRPr lang="en-US" sz="90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7/25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チームのエージェントは、各会話の最初のターンでgenerate_reportを呼び出して週次レポートを生成する必要がある。tool_choice: 'auto'では、エージェントが時々テキスト要約で応答してしまう。1ターン目でgenerate_reportの呼び出しを保証しつつ、以降は通常のツール選択を許可したい。正しい設定は?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最初のターンのツールリストからgenerate_report以外を全て除外し、以降のターンで残りのツールを追加する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「1ターン目で必ずgenerate_reportを呼び出す」というシステムプロンプトの指示を追加し、tool_choiceはautoのままにする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会話の全ターンでtool_choiceを'any'に設定し、エージェントが常に利用可能なツールのいずれかを呼び出すよう義務付ける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E3F4EA"/>
          </a:solidFill>
          <a:ln/>
        </p:spPr>
        <p:txBody>
          <a:bodyPr/>
          <a:p/>
        </p:txBody>
      </p:sp>
      <p:sp>
        <p:nvSpPr>
          <p:cNvPr id="24" name="Shape 22"/>
          <p:cNvSpPr/>
          <p:nvPr/>
        </p:nvSpPr>
        <p:spPr>
          <a:xfrm>
            <a:off x="658368" y="4032504"/>
            <a:ext cx="329184" cy="329184"/>
          </a:xfrm>
          <a:prstGeom prst="ellipse">
            <a:avLst/>
          </a:prstGeom>
          <a:solidFill>
            <a:srgbClr val="1E7A4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1ターン目はtool_choiceでgenerate_reportを強制選択させ、以降のターンは'auto'に切り替える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D)</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最初のステップだけtool_choiceで特定ツールを強制し、それ以降はautoに戻す、というのが正しいパターン。Bはプロンプト任せで確率的にしか機能しない(既出のCode Beats Promptsの原則に反する)。Cは全ターンで強制するため、本来テキストで終了すべき場面でも無限ループの原因になりうる。Aは複雑な実装で、tool_choiceの機能で十分対応できる要件に対して過剰。</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108</a:t>
            </a:r>
            <a:endParaRPr lang="en-US" sz="900" dirty="0"/>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8/25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開発者がClaude Codeでデータ変換関数を反復改善しており、3つの問題を特定した: (1)日付解析がタイムゾーンオフセットを誤って処理する (2)通貨フォーマットが誤ったロケールを使用している (3)出力JSONスキーマのフィールド名が間違っている。問題1と2は互いに独立しているが、問題3は両方が従うべき出力の形状を変える。開発者はどうフィードバックすべきか?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3つの問題をそれぞれ別々の逐次メッセージで送り、1つ修正するたびに確認を待つ</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3つの問題を1つのメッセージにまとめて送り、Claudeに包括的に対処させる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まず問題3(スキーマのフィールド名)を修正し、その後問題1と2は独立しているので個別に対応する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インタビューパターンを使い、変更を加える前に3つの問題全てについてClaudeに確認質問をさせる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問題3は出力の形状(スキーマ)を変える前提条件であり、1・2はその新しい形状に従う必要があるため、3を先に確定させてから1・2に取り組むのが正しい順序。1と2は互いに独立しているため、まとめて1メッセージにする必要はなく、個別に対応してよい。Aは独立した問題まで逐次確認待ちにする非効率、Bは依存関係を無視して全て一度に混ぜるリスクがある、Dは3つとも既に明確な問題であり確認質問は不要。</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109</a:t>
            </a:r>
            <a:endParaRPr lang="en-US" sz="90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9/25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開発者がClaude Codeに大きなファイル内の関数の修正を依頼した。対象テキストがファイル内の複数箇所に出現するため、Editツールが「non-unique match」エラーで失敗した。正しい復旧アプローチは?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Readでファイル全体を読み込み、Writeで変更を適用した完全なファイルを出力する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Bashに切り替え、テキストマッチングでなく行番号を使ってsedで置換を行う</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Editの検索文字列に、ファイル内で一意になるまで周辺の文脈を追加して広げる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ファイルを複数の小さなファイルに分割し、各出現箇所が1つのファイルにのみ現れるようにしてから、それぞれにEditを使う</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Editが失敗した際の正しい復旧順序は、①検索文字列の周辺文脈を広げて一意にする→②それでもダメならreplace_all→③最後の手段としてRead+Write、の順。いきなりRead+Write(A)に切り替えるのは最後の手段を最初に使ってしまっている。Bは提示されている正規の対処法ではなく、Dは非現実的でファイル構造を壊すリスクがある。</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110</a:t>
            </a:r>
            <a:endParaRPr lang="en-US" sz="900" dirty="0"/>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10/25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Enterprise Data Platform with Federated Queries — エンタープライズ分析チームが、Snowflake・PostgreSQL・サードパーティAPIをMCPツール経由でクエリするデータプラットフォームを構築している。結果セットは大きくなりがちで、キャッシュ・要約・複数ソースの応答がコンテキストウィンドウに収まらない場合の対処が本質的な課題になっ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データプラットフォームチームは、エージェントのフェデレーテッドクエリレポートの人間レビューを実施している。レビュアーは50件のレポートをサンプリングし、全体の正答率97%という結果を得た。経営陣はこのシステムの本番稼働を承認した。3週間後、越境収益レポートにおける通貨換算の計算が40%の確率で間違っているとユーザーから報告があった。レビュープロセスはどこで失敗した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サンプルサイズ50件は、40%のエラー率を持つ通貨換算の問題を検出するには小さすぎた</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レビュアーが通貨換算の専門知識を持っておらず、エラーを識別できなかった</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レビュアーが集計精度指標を使用したため、通貨換算エラー40%のようなカテゴリ固有の失敗が覆い隠された</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モデルの精度がモデルドリフトにより時間とともに劣化しており、レビュー時点の97%という数値自体は当時は正しかった</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全体97%」のような集計精度は、特定のカテゴリ(この場合は通貨換算)における低精度を覆い隠してしまう。文書種別・カテゴリ・フィールド単位で精度を検証してから自動化・本番稼働の可否を判断すべきだった、という教訓。Aはサンプルサイズの問題として一見もっともらしいが、根本原因は「集計方法」であり単にサンプル数を増やすだけでは同じ集計方法だと見逃す可能性がある。B・Dは無関係な仮定。</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111</a:t>
            </a:r>
            <a:endParaRPr lang="en-US" sz="900" dirty="0"/>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11/25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多言語コードベース向けのClaude Codeレビュープロンプトが、重大度を「criticalとは危険なコードを意味する」「minorとはやや非効率なコードを意味する」のような散文的な説明で分類している。開発者からは、同じようなコードパターンでも実行のたびに重大度評価が異なる、という苦情が出ている。最も効果的な改善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モデルのtemperatureを0に下げ、決定的な重大度評価を保証する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信頼度の閾値を追加し、90%以上の確信度がある所見のみを報告することで不確実な重大度評価を除外する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散文的な重大度の説明を、各重大度レベルごとの具体的なTypeScriptコード例に置き換える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各所見の重大度を再評価する2回目のモデルパスを追加し、不整合を検出する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危険」「やや非効率」のような散文的・曖昧な基準は解釈がブレる原因になる。具体的なコード例を各重大度レベルに対して示すことで、判定の一貫性が上がる(明示的な基準でプロンプト精度を上げる、の考え方そのもの)。Aは温度を下げても定義自体の曖昧さは解決しない。Bは不確実なものを除外するだけで根本原因(定義の曖昧さ)は残る。Dはコストが増えるだけで同じ曖昧な基準で再評価しても改善しない。</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112</a:t>
            </a:r>
            <a:endParaRPr lang="en-US" sz="900" dirty="0"/>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12/25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Multi-Agent Research System — コンサルティング会社がマルチエージェント調査システムを展開している。Web検索・文書分析・統合(synthesis)エージェントが、コーディネーターの下で連携し、大量の情報源から市場調査レポートを完成させ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開発者が、50ファイルのコードベースのうち3ファイルを変更した後、Claude Codeセッションを再開した。エージェントは陳腐化したツール結果から推論しているため、変更されたファイルについて矛盾した助言をしている。正しい対処法は?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完全に新しいセッションを開始し、陳腐化した情報が新しい文脈に残らないよう、50ファイル全てをゼロから再分析させる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fork_sessionを使ってセッションを分岐させ、新しい分岐に3つの変更ファイルを反映させつつ、元のセッションは以前の状態を保持する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以前の調査結果の要約を注入した新規セッションを開始し、3つの変更ファイルを明記して的確な再分析をさせる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セッションを再開し、エージェントに3つの変更ファイルのみを再読み込みさせ、コンテキストウィンドウ内の既存の陳腐化した結果を上書きさせる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「矛盾した助言」は情報が陳腐化しているサイン(Stale? Start Fresh Instead)。この場合は再開ではなく新規セッションが正しいが、全ファイル再分析(A)は非効率。要約を注入しつつ変更ファイルを明記する(Tell the Agent What Changed)ことで、効率的かつ正確な再分析ができる。Bのfork_sessionは複数戦略を比較するための機能で、分岐元の陳腐化した文脈をそのまま引き継いでしまうため不適切。Dは「コンテキストウィンドウ内の情報を上書きする」という誤った前提に基づく。会話履歴は追記されるものであり、古い矛盾する情報は消えずに残り続ける。</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113</a:t>
            </a:r>
            <a:endParaRPr lang="en-US" sz="900" dirty="0"/>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13/25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Multi-Agent Research System — コンサルティング会社がマルチエージェント調査システムを展開している。Web検索・文書分析・統合(synthesis)エージェントが、コーディネーターの下で連携し、大量の情報源から市場調査レポートを完成させ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マルチエージェントシステムが45分間のディープリサーチワークフローを実行している。30分経過時点で、コーディネーターの統合品質が低下する: 以前引用していた具体的な統計値の代わりに「主要な発見事項」のような曖昧な表現を使い、財務サブエージェントの主張をニュースサブエージェントのものと取り違える。トークン上限にもエラーにも到達していない。最も可能性の高い診断と正しい対処法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トークン上限に静かに達しており、APIが初期メッセージを打ち切っている。より大きなコンテキストウィンドウを持つモデルにアップグレードする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サブエージェントが矛盾したデータを返しており、コーディネーターを混乱させている。コーディネーターに届く前に、各サブエージェントの出力にデータ検証を追加する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コンテキストの劣化: 初期の結果が長いコンテキストの奥深くに埋もれている。主要な発見事項を構造化されたブロックとして末尾付近に統合する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モデルが長時間セッションによる「疲労」を起こしており、続行前にクールダウン期間が必要</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症状(具体的な統計値が曖昧な表現に劣化する、どのサブエージェントが何を言ったか取り違える)は、Lost in the Middle(長いコンテキストの中間に埋もれた情報が見落とされる現象)と進行的要約の罠の典型例。「トークン上限・エラーは発生していない」と明記されているためAは除外される。Bはデータそのものの誤りを前提にしているが、症状は取り違え・曖昧化でありコーディネーター側の位置バイアスの問題。Dは「モデルの疲労」という非科学的・擬人化された説明で、LLMにはそのような実際の機構は存在しない典型的な引っかけ選択肢。正しい対処法は、重要な発見事項を構造化して先頭または末尾に再配置すること。</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114</a:t>
            </a:r>
            <a:endParaRPr lang="en-US" sz="900" dirty="0"/>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14/25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Multi-Agent Research System — コンサルティング会社がマルチエージェント調査システムを展開している。Web検索・文書分析・統合(synthesis)エージェントが、コーディネーターの下で連携し、大量の情報源から市場調査レポートを完成させ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マルチエージェント調査システムのWeb検索サブエージェントが、複雑なトピックを調査中にタイムアウトした。この失敗情報がコーディネーターに伝わる仕組みを設計する必要がある。インテリジェントなリカバリーを最も可能にするアプローチはどれ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タイムアウト例外をトップレベルハンドラーに伝播させ、調査ワークフロー全体を即座に終了し、それまでの成果を全て破棄する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指数バックオフでの自動リトライを実装し、全てのリトライを使い果たした後にのみ汎用的な「検索利用不可」ステータスを返す</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タイムアウトをキャッチし、成功とマークした空の結果セットを返すことで、失敗に関わらずワークフローの残りを継続させる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E3F4EA"/>
          </a:solidFill>
          <a:ln/>
        </p:spPr>
        <p:txBody>
          <a:bodyPr/>
          <a:p/>
        </p:txBody>
      </p:sp>
      <p:sp>
        <p:nvSpPr>
          <p:cNvPr id="24" name="Shape 22"/>
          <p:cNvSpPr/>
          <p:nvPr/>
        </p:nvSpPr>
        <p:spPr>
          <a:xfrm>
            <a:off x="658368" y="4032504"/>
            <a:ext cx="329184" cy="329184"/>
          </a:xfrm>
          <a:prstGeom prst="ellipse">
            <a:avLst/>
          </a:prstGeom>
          <a:solidFill>
            <a:srgbClr val="1E7A4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失敗タイプ・試行したクエリ・部分結果・代替アプローチの可能性を含む構造化エラーコンテキストを返す</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D)</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公式サンプル問題8と同一論点の別バージョン)構造化エラーコンテキストはコーディネーターにインテリジェントなリカバリー判断に必要な情報を与える。Aは貴重な部分的成果まで破棄する過剰対応。Bは最終的に汎用ステータスしか返さず、判断材料となる情報を隠してしまう。Cは失敗を成功と偽装する最悪の反パターン(空結果とエラーの混同)。</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115</a:t>
            </a:r>
            <a:endParaRPr lang="en-US" sz="900" dirty="0"/>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15/25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コードを書きシェルコマンドを実行する開発者ツールエージェントがある。「破壊的なコマンドを実行しない、プロジェクト外のファイルにアクセスしない」というシステムプロンプトの指示が、テストで3%の確率で破られている。チームはこのルールが絶対に守られることを要求している。アーキテクトは何を実装すべき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E3F4EA"/>
          </a:solidFill>
          <a:ln/>
        </p:spPr>
        <p:txBody>
          <a:bodyPr/>
          <a:p/>
        </p:txBody>
      </p:sp>
      <p:sp>
        <p:nvSpPr>
          <p:cNvPr id="12" name="Shape 10"/>
          <p:cNvSpPr/>
          <p:nvPr/>
        </p:nvSpPr>
        <p:spPr>
          <a:xfrm>
            <a:off x="658368" y="2304288"/>
            <a:ext cx="329184" cy="329184"/>
          </a:xfrm>
          <a:prstGeom prst="ellipse">
            <a:avLst/>
          </a:prstGeom>
          <a:solidFill>
            <a:srgbClr val="1E7A4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実行前にシェルコマンドをスキャンして破壊的パターンを検出し、ファイルパスを検証するPreToolUseフック</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破壊的なコマンドを実行後に検出しロールバックするPostToolUseフックを実装する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禁止コマンドのより具体的な例を追加し、Few-shotデモンストレーションを加えてシステムプロンプトを強化する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破壊的コマンドの可能性を完全に排除するため、シェル実行ツール自体を完全に削除する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A)</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「絶対に(100%)守られる」という要件がポイント。破壊的なコマンド(ファイル削除等)は一度実行されると元に戻せない(非可逆)可能性があるため、実行前に止める必要がある(Catch the Call Mid-Air)。Bは実行後のロールバックを前提としているが、削除や外部への副作用は必ずしも元に戻せるとは限らず「絶対に」という要件を満たせない。Cはプロンプトの強化にすぎず、どこまで行っても確率的(Code Beats Promptsの原則により3%が0%になる保証はない)。Dはエージェントの本来の役割(コード実行)自体を破壊する過剰な対応。</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116</a:t>
            </a:r>
            <a:endParaRPr lang="en-US" sz="900" dirty="0"/>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16/25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Multi-Agent Research System — コンサルティング会社がマルチエージェント調査システムを展開している。Web検索・文書分析・統合(synthesis)エージェントが、コーディネーターの下で連携し、大量の情報源から市場調査レポートを完成させ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統合(synthesis)エージェントが、複数の主張に出典明記がないレポートを作成している。Web検索・文書分析サブエージェントは正しく動作しており、出典明記された結果を返している。最も可能性の高い根本原因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統合エージェントが直接Web検索アクセスを持たないため、記述するよう求められた主張の裏付けとなる情報源を再取得できない</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統合エージェントのシステムプロンプトが引用の記載を指示していないため、出典明記された入力を与えられても出典を落としてしまう</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Web検索サブエージェントが、統合エージェントが出典表記に変換できる構造化された引用形式ではなく、プレーンな文章要約を返している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E3F4EA"/>
          </a:solidFill>
          <a:ln/>
        </p:spPr>
        <p:txBody>
          <a:bodyPr/>
          <a:p/>
        </p:txBody>
      </p:sp>
      <p:sp>
        <p:nvSpPr>
          <p:cNvPr id="24" name="Shape 22"/>
          <p:cNvSpPr/>
          <p:nvPr/>
        </p:nvSpPr>
        <p:spPr>
          <a:xfrm>
            <a:off x="658368" y="4032504"/>
            <a:ext cx="329184" cy="329184"/>
          </a:xfrm>
          <a:prstGeom prst="ellipse">
            <a:avLst/>
          </a:prstGeom>
          <a:solidFill>
            <a:srgbClr val="1E7A4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コーディネーターが、出典URLや文書名といった構造化メタデータを剥ぎ取った状態のコンテンツを統合エージェントに渡している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D)</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サブエージェントは正しく動作し出典明記された結果を返していると明記されているため、情報源自体はサブエージェント時点では正しく構造化されている。にもかかわらず最終レポートに出典がないのは、その構造化データが途中(コーディネーターを経由する過程)で失われていると考えるのが最も筋が通る。これは「claim-sourceマッピングの保持」の原則(主張・根拠・出典を構造化したまま統合エージェントまで届ける)が破られているケース。Aは統合エージェントの正常な役割分担の説明であり問題ではない。Cは設問の前提(出典明記された結果を返している)と矛盾する。</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117</a:t>
            </a:r>
            <a:endParaRPr lang="en-US" sz="900" dirty="0"/>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17/25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開発者が本番環境のバグを調査している。「InvalidStateTransition」というエラーメッセージがコードベースのどこかでログ出力されていることは分かっているが、どのファイルに含まれているか、ステートマシンがどこで定義されているかは分からない。バグを特定する正しいツールの順序はどれ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Editで「InvalidStateTransition」を検索し、より説明的なエラーメッセージに置き換える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Globで '**/*state*' を検索してステートマシン関連ファイルを見つけ、それぞれをReadしてエラーメッセージを探す</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コードベース全体で「InvalidStateTransition」をGrepし、ヒットしたファイルをReadする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src/index.ts や src/app.ts のような一般的なファイルの場所にReadを使い、手作業でエラーを探す</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既に文字列(エラーメッセージ)が分かっている場合、これはファイルの中身を検索する問題でありGrepの出番。Globはファイル名のパターン検索であり、「stateという単語がファイル名に含まれるはず」という推測に頼ることになり命名規則に従っていないファイルを見逃すリスクがある。Aは検索でなく編集用のツールを誤用しており、原因特定前に書き換えるのは危険。Dは一般的なファイルパスを当てずっぽうに読む非効率な方法。正しい探索順序は「Grepでヒット→該当ファイルをRead」。</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118</a:t>
            </a:r>
            <a:endParaRPr lang="en-US" sz="900" dirty="0"/>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18/25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CI/CDのシステムプロンプトが「各関数内のセキュリティ脆弱性をチェックする」「各ループ内のパフォーマンス問題をチェックする」という指示で2つのレビューカテゴリを定義している。モデルは、ループ内で見つかったセキュリティ問題に対して頻繁にperformance_checkを呼び出し、セキュリティ関連の関数内のパフォーマンス問題に対してsecurity_checkを呼び出してしまう。根本原因と最善の修正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tool_choiceを'auto'に強制し、各所見の内容に基づいて正しいツールをモデル自身に判断させる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各ツールをいつ呼び出すべきかを正確に説明する、より詳細なツール説明を追加する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指示文の言い回しとツール名の間のキーワードの重複が混乱の原因。位置(function/loop)でなく問題の種類自体を明確に定義し、重複しない別の用語で書き直す</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ループには セキュリティとパフォーマンス両方の問題があり得るためモデルが混乱している。セキュリティを常にパフォーマンスより優先するルールを追加する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ループ内のセキュリティ問題→performance_check」「セキュリティ関連関数内のパフォーマンス問題→security_check」という症状は、モデルが問題の種類でなく位置情報(function/loop)というキーワードでツールを選んでしまっていることを示している。指示文が「各関数内の」「各ループ内の」という構造的な言い回しでカテゴリを定義しているため、function/loopという単語自体がツール名との誤った関連付けを引き起こしている。Bは一般論としては正しいが、この設問が求める具体的な根本原因の診断にはなっていない。Dは両方の問題が同時にある場合の優先順位の話にすり替えており、そもそもの種類の取り違えという根本原因を解決しない。</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119</a:t>
            </a:r>
            <a:endParaRPr lang="en-US" sz="900" dirty="0"/>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19/25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Multi-Agent Research System — コンサルティング会社がマルチエージェント調査システムを展開している。Web検索・文書分析・統合(synthesis)エージェントが、コーディネーターの下で連携し、大量の情報源から市場調査レポートを完成させ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マルチエージェント調査システムが市場トレンドに関する統合レポートを作成している。信頼できる2つの情報源が同じセクターについて異なる成長率を報告している: 情報源Aは12%成長(2023年データ)、情報源Bは8%成長(2024年データ)。統合エージェントは現在、より新しい方の値を選択している。正しいアプローチは?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2つの値を平均し、情報源間の差異を記録した注記と共に成長率10%として報告する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この矛盾にフラグを立て、レポートに含める前に人間の研究者にエスカレーションして解決を求める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両方の値に出典と公開日を注釈し、読み手が解釈できるようにする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最新のデータを反映しているという理由で、常に2つの情報源のうちより新しい方を使用する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2023年に12%、2024年に8%というのは、情報源同士が矛盾しているのではなく、単に成長率が年々変化している(鈍化している)自然な時系列データである可能性が高い。両方の値を出典・公開日付きで併記し、読み手が文脈込みで解釈できるようにするのが正しい(時系列データの明記の原則)。Aは実在しない架空の平均値を作り出す捏造行為。Bはそもそも矛盾でない可能性が高いものを人間へのエスカレーションが必要な対立として扱ってしまっている。Dは設問文で「現在の(改善すべき)挙動」として説明されているものであり、単に新しい方を採用するだけではトレンドの手がかりとなる情報を捨ててしまう。</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120</a:t>
            </a:r>
            <a:endParaRPr lang="en-US" sz="900" dirty="0"/>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20/25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Code Generation with Claude Code — ソフトウェアエンジニアリングチームが、大規模なTypeScriptモノレポ(200以上のパッケージ、ソースと同居するテストファイル、複数のデプロイ先)でClaude Codeを使いコードを書き・レビューし・テストしている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大規模TypeScriptモノレポには、全体共通のコーディング規約を持つルートのCLAUDE.mdと、トピック別のルールファイルを持つ.claude/rules/ディレクトリがある。開発者は、API handlerファイルを編集している時でさえ、.claude/rules/内のtesting.mdの規約が読み込まれ、不要なトークンを消費していることに気づいた。testing.mdにはYAMLフロントマターがない。開発者はこれを修正するために何をすべき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ルールファイルはパスでスコープできないため、代わりにテスト規約をルートのCLAUDE.mdに追加する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ルートのCLAUDE.mdに @./.claude/rules/testing.md という行を使い、インポート箇所に到達した時だけファイルを読み込ませる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testing.mdにテストファイルのglobパターンを持つpathsフィールドを含むYAMLフロントマターを追加し、テストファイルの時だけ読み込まれるようにする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testing.mdを.claude/rules/から出し、テストフォルダ内のディレクトリレベルのCLAUDE.mdに移動する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testing.mdにYAMLフロントマターが無いことが問題の直接原因。paths指定のフロントマターが無いと条件付き読み込みが機能せず、常に無条件で読み込まれてしまう。pathsフィールドにテストファイルのglobパターンを指定することで、初めて「テストファイル編集中のみ」という条件付き読み込みが実現する。Aはルートに移すことでさらに無条件で読み込まれるようになり症状が悪化する。Bの@import構文は、インポート元が読み込まれるたびに無条件で中身を取り込む仕組みでありパスに応じた条件分岐にはならない。Dはディレクトリ単位でCLAUDE.mdを散在させる典型的な誤りパターンで、200以上のパッケージに散らばるテストファイル全てに個別対応するのは非現実的。</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121</a:t>
            </a:r>
            <a:endParaRPr lang="en-US" sz="900" dirty="0"/>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21/25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CI/CDパイプラインがMessage Batches APIを使ってコードレビューを処理している。バッチが完了した後、各レビュー結果を対応するプルリクエストに突き合わせる必要がある。バッチ結果を元のリクエストと相関させる正しい仕組みは?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Batch APIが投入した順序と同じ順序で結果を返すことに依存する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E3F4EA"/>
          </a:solidFill>
          <a:ln/>
        </p:spPr>
        <p:txBody>
          <a:bodyPr/>
          <a:p/>
        </p:txBody>
      </p:sp>
      <p:sp>
        <p:nvSpPr>
          <p:cNvPr id="16" name="Shape 14"/>
          <p:cNvSpPr/>
          <p:nvPr/>
        </p:nvSpPr>
        <p:spPr>
          <a:xfrm>
            <a:off x="658368" y="2880360"/>
            <a:ext cx="329184" cy="329184"/>
          </a:xfrm>
          <a:prstGeom prst="ellipse">
            <a:avLst/>
          </a:prstGeom>
          <a:solidFill>
            <a:srgbClr val="1E7A4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各バッチリクエストのcustom_idフィールドにプルリクエストの識別子を格納し、custom_idで結果を突き合わせる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相関を維持するため、各プルリクエストを1件ずつの別バッチとして投入する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レビュー内容を解析し、レビュー中で言及されているファイル名からどのプルリクエストのものかを特定する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B)</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Batch APIでは各リクエストにcustom_idを付与し、結果が返ってきた時にそのcustom_idで元のリクエストと突き合わせるのが唯一正しい方法。Aは誤り: Batch APIは非同期でバラバラに処理されるため順序を保証しない。Cは1件ずつ別バッチにすることでBatch APIをまとめて処理する意味(50%割引・効率化)を失わせる非現実的な対応。Dはレビュー内容からの推測に頼る不確実な方法で、誤対応のリスクが高い。</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122</a:t>
            </a:r>
            <a:endParaRPr lang="en-US" sz="900" dirty="0"/>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22/25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Multi-Agent Research System — コンサルティング会社がマルチエージェント調査システムを展開している。Web検索・文書分析・統合(synthesis)エージェントが、コーディネーターの下で連携し、大量の情報源から市場調査レポートを完成させ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マルチエージェント調査システムが「再生可能エネルギー技術」に関するレポートを作成したが、太陽光と風力しかカバーしておらず、地熱・潮力・バイオマス・核融合が抜けている。各サブエージェントは割り当てられたトピックを徹底的にカバーしていた。根本原因はどこにある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統合サブエージェントが入力のカバレッジギャップを監査しなかったため、太陽光と風力をあたかも分野全体であるかのように書いてしまった</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Web検索サブエージェントのクエリの範囲が狭すぎたため、地熱・潮力・バイオマス・核融合が検索結果に一切現れなかった</a:t>
            </a:r>
            <a:endParaRPr lang="en-US" sz="900" dirty="0"/>
          </a:p>
        </p:txBody>
      </p:sp>
      <p:sp>
        <p:nvSpPr>
          <p:cNvPr id="19" name="Shape 17"/>
          <p:cNvSpPr/>
          <p:nvPr/>
        </p:nvSpPr>
        <p:spPr>
          <a:xfrm>
            <a:off x="548640" y="3364992"/>
            <a:ext cx="11064240" cy="512064"/>
          </a:xfrm>
          <a:prstGeom prst="roundRect">
            <a:avLst>
              <a:gd name="adj" fmla="val 10714"/>
            </a:avLst>
          </a:prstGeom>
          <a:solidFill>
            <a:srgbClr val="E3F4EA"/>
          </a:solidFill>
          <a:ln/>
        </p:spPr>
        <p:txBody>
          <a:bodyPr/>
          <a:p/>
        </p:txBody>
      </p:sp>
      <p:sp>
        <p:nvSpPr>
          <p:cNvPr id="20" name="Shape 18"/>
          <p:cNvSpPr/>
          <p:nvPr/>
        </p:nvSpPr>
        <p:spPr>
          <a:xfrm>
            <a:off x="658368" y="3456432"/>
            <a:ext cx="329184" cy="329184"/>
          </a:xfrm>
          <a:prstGeom prst="ellipse">
            <a:avLst/>
          </a:prstGeom>
          <a:solidFill>
            <a:srgbClr val="1E7A4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コーディネーターのタスク分解が太陽光と風力のみを割り当て、他の再生可能エネルギーのカテゴリを見落としていた</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文書分析サブエージェントが地熱・潮力・バイオマス・核融合に関する情報源にアクセスできなかったため、それらのカテゴリがレポートに一切入らなかった</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C)</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公式サンプル問題7と同一論点)「各サブエージェントは割り当てられたトピックを徹底的にカバーしていた」と明記されており、サブエージェント自体は正しく機能している。問題はそもそも地熱・潮力・バイオマス・核融合という分野が誰にも割り当てられていなかったことであり、これはコーディネーターのタスク分解が狭すぎたことが根本原因。A・B・Dは、割り当てられたスコープ内では正しく動いている下流エージェントを誤って責めている。マルチエージェントシステムでは、コーディネーターのタスク分解設計が品質の大半を決める。</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123</a:t>
            </a:r>
            <a:endParaRPr lang="en-US" sz="900" dirty="0"/>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23/25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Developer Productivity Tools — プラットフォームエンジニアリングチームが、Claude上で社内開発者向けツールを構築している。自動コードレビュー・ドキュメント生成・コードベース探索を全てCI/CDパイプラインに組み込んでいる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統合エージェントが、単純な事実確認のために頻繁にコーディネーターへ制御を戻しており、タスクごとに2〜3回の往復と40%のレイテンシ増加が発生している。分析の結果、検証の85%は単純な照合であることが分かった。最も効果的な解決策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E3F4EA"/>
          </a:solidFill>
          <a:ln/>
        </p:spPr>
        <p:txBody>
          <a:bodyPr/>
          <a:p/>
        </p:txBody>
      </p:sp>
      <p:sp>
        <p:nvSpPr>
          <p:cNvPr id="12" name="Shape 10"/>
          <p:cNvSpPr/>
          <p:nvPr/>
        </p:nvSpPr>
        <p:spPr>
          <a:xfrm>
            <a:off x="658368" y="2304288"/>
            <a:ext cx="329184" cy="329184"/>
          </a:xfrm>
          <a:prstGeom prst="ellipse">
            <a:avLst/>
          </a:prstGeom>
          <a:solidFill>
            <a:srgbClr val="1E7A4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統合エージェントに単純な照合用のscoped(制限された)verify_factツールを与え、複雑な検証のみコーディネーターにエスカレーションする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コーディネーターの並列度を上げ、キューに溜まった検証リクエストをより速く処理し、追加の往復を吸収できるようにする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コーディネーターレベルの検証結果キャッシュを追加し、繰り返しの照合を即座に返すことで往復レイテンシの大部分を除去する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統合ワークフローから事実確認を完全に削除し、往復とそれに伴うレイテンシの両方を排除する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A)</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公式サンプル問題9と同一論点)最小権限の原則を適用し、85%を占める単純なケースに必要な分だけ権限を与え、複雑な検証(残り15%)のみ既存の調整(コーディネーター経由)を維持する。Bは並列度を上げても往復構造自体は変わらず根本解決にならない。Cはキャッシュが有効なのは繰り返しの照合のみで、初回・一意な照合には効果がない。Dは検証機能自体を削除することで精度も同時に失う過剰対応。</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124</a:t>
            </a:r>
            <a:endParaRPr lang="en-US" sz="900" dirty="0"/>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24/25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CI/CD Pipeline Integration — DevOpsチームがClaude CodeをCI/CDパイプラインに組み込み、PRレビュー・テスト生成・セキュリティスキャン・デプロイチェックを、Terraformを含む多言語コードベース全体で行っている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チームは anthropics/claude-code-action@v1 を実行し、Claudeが全てのプルリクエストをCLAUDE.md内のチェックリストに照らしてレビューするようにしている。彼らはClaudeにデフォルトのコーディングアシスタント動作を維持させつつ、CLAUDE.mdに無い3つの追加レビュールールも適用させたい。追加のルールはどこに置くべき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E3F4EA"/>
          </a:solidFill>
          <a:ln/>
        </p:spPr>
        <p:txBody>
          <a:bodyPr/>
          <a:p/>
        </p:txBody>
      </p:sp>
      <p:sp>
        <p:nvSpPr>
          <p:cNvPr id="12" name="Shape 10"/>
          <p:cNvSpPr/>
          <p:nvPr/>
        </p:nvSpPr>
        <p:spPr>
          <a:xfrm>
            <a:off x="658368" y="2304288"/>
            <a:ext cx="329184" cy="329184"/>
          </a:xfrm>
          <a:prstGeom prst="ellipse">
            <a:avLst/>
          </a:prstGeom>
          <a:solidFill>
            <a:srgbClr val="1E7A4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claude_args内に、--append-system-promptとして3つのルールを指定する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claude_args内に、--system-promptとして3つのルールを指定する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アクションのcustom_instructions入力に指定する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prompt入力に指定する。これによりアクションが自動化モードに切り替わり、全てのプルリクエストイベントでルールが適用される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A)</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append-system-promptは、デフォルトのシステムプロンプトを置き換えるのではなく「追記する」仕組みであり、「デフォルトの動作を維持しつつ追加ルールを適用したい」という要件に完全に一致する。Bの--system-promptはデフォルトのシステムプロンプトを丸ごと置き換えてしまうため、デフォルトのコーディングアシスタント動作を失ってしまう。Cのcustom_instructionsは、このアクションの正規の仕組みとして存在しない可能性が高い引っかけ選択肢。Dのprompt入力はアクション自体を別モードに切り替えてしまい、単なるルール追加以上の副作用を伴う。</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125</a:t>
            </a:r>
            <a:endParaRPr lang="en-US" sz="900" dirty="0"/>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追加練習問題(第2弾) 25/25</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追加練習問題(第2弾)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Multi-Agent Research System — コンサルティング会社がマルチエージェント調査システムを展開している。Web検索・文書分析・統合(synthesis)エージェントが、コーディネーターの下で連携し、大量の情報源から市場調査レポートを完成させ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マルチエージェント調査システムが、データ収集・分析・レポート生成という3つの逐次ステージを含む顧客リクエストを処理しなければならない。各ステージは前のステージの出力に依存している。最も適切なオーケストレーションパターンはどれ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E3F4EA"/>
          </a:solidFill>
          <a:ln/>
        </p:spPr>
        <p:txBody>
          <a:bodyPr/>
          <a:p/>
        </p:txBody>
      </p:sp>
      <p:sp>
        <p:nvSpPr>
          <p:cNvPr id="12" name="Shape 10"/>
          <p:cNvSpPr/>
          <p:nvPr/>
        </p:nvSpPr>
        <p:spPr>
          <a:xfrm>
            <a:off x="658368" y="2304288"/>
            <a:ext cx="329184" cy="329184"/>
          </a:xfrm>
          <a:prstGeom prst="ellipse">
            <a:avLst/>
          </a:prstGeom>
          <a:solidFill>
            <a:srgbClr val="1E7A4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パイプライン・オーケストレーション — 各ステージの出力を定義された順序で次のステージへの入力として渡す</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3つのエージェント全てが独立してコーディネーターに報告するHub-and-spoke構成</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動的適応的分解 — クエリの複雑さに応じてコーディネーターが実行時に順序を決定する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並列オーケストレーション — レイテンシを最小化するため3つのサブエージェントを同時に実行する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A)</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各ステージが前のステージの出力に明確に依存する逐次処理であり、4つのトポロジーパターンのうちPipeline(直列連携)にそのまま該当する。Bは各エージェントの独立報告を前提としており依存関係を正しく扱えない。Cは手順が不明・探索的なタスク向け(Adapt as You Discover)であり、今回は手順が既知なのでChain(連鎖)が適切。Dは各ステージが独立している場合にのみ有効で、依存関係があるため同時実行はできない。</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126</a:t>
            </a:r>
            <a:endParaRPr lang="en-US" sz="900" dirty="0"/>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追加練習問題(第3弾) 1/8</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追加練習問題(第3弾)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Multi-Agent Research System(GitHub: OlivierAlter Q15) — マルチエージェント調査システムのエージェント的ループは、各ツール結果を会話履歴に追記してから次のリクエストを送っている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チームメイトが、全てのツール結果を別のデータベースに保存し、各イテレーションではモデルに完全な結果でなく要約だけを渡す方式に変更することを提案した。この変更が最もエージェントの性能を劣化させる可能性が高いのはどの条件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ツール結果に画像やファイル添付のようなバイナリデータが含まれる場合</a:t>
            </a:r>
            <a:endParaRPr lang="en-US" sz="900" dirty="0"/>
          </a:p>
        </p:txBody>
      </p:sp>
      <p:sp>
        <p:nvSpPr>
          <p:cNvPr id="15" name="Shape 13"/>
          <p:cNvSpPr/>
          <p:nvPr/>
        </p:nvSpPr>
        <p:spPr>
          <a:xfrm>
            <a:off x="548640" y="2788920"/>
            <a:ext cx="11064240" cy="512064"/>
          </a:xfrm>
          <a:prstGeom prst="roundRect">
            <a:avLst>
              <a:gd name="adj" fmla="val 10714"/>
            </a:avLst>
          </a:prstGeom>
          <a:solidFill>
            <a:srgbClr val="E3F4EA"/>
          </a:solidFill>
          <a:ln/>
        </p:spPr>
        <p:txBody>
          <a:bodyPr/>
          <a:p/>
        </p:txBody>
      </p:sp>
      <p:sp>
        <p:nvSpPr>
          <p:cNvPr id="16" name="Shape 14"/>
          <p:cNvSpPr/>
          <p:nvPr/>
        </p:nvSpPr>
        <p:spPr>
          <a:xfrm>
            <a:off x="658368" y="2880360"/>
            <a:ext cx="329184" cy="329184"/>
          </a:xfrm>
          <a:prstGeom prst="ellipse">
            <a:avLst/>
          </a:prstGeom>
          <a:solidFill>
            <a:srgbClr val="1E7A4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モデルが次の行動を決定するために複数のツール結果を同時に参照しながら推論する必要がある場合。要約はその推論に必要な詳細を省いてしまう可能性がある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セッションあたりのツール呼び出し数が10を超える場合。履歴が大きいとAPIが遅くなるため</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ツールの応答が200ms未満で返る場合。履歴への追記が冗長になるため</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B)</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エージェント的ループは、モデルが次の行動を決める前に「既に何が分かっているか」を推論できるよう、ツール結果が会話履歴に残っていることに依存している。要約はフィールド値・エラーコード・条件分岐に必要なデータを省いてしまう可能性があり、モデルの判断を誤らせる。Aは有効な懸念だがテキストベースの調査タスクでは主要なリスクではない。C・Dはこのアーキテクチャで認識されている失敗モードではない。</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127</a:t>
            </a:r>
            <a:endParaRPr lang="en-US" sz="900" dirty="0"/>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追加練習問題(第3弾) 2/8</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追加練習問題(第3弾)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Multi-Agent Research System(GitHub: OlivierAlter Q17) — 調査システムのコーディネーターが文書分析をサブエージェントに委任した</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サブエージェントが完了した後、コーディネーターは、指定された5つの情報源のうち3つしかカバーされていないことに気づいた。残り2つの情報源を分析させる必要がある。再委任の正しいアプローチは?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統合エージェントに部分的な発見事項を渡し、完了した3件のパターンから欠けている情報源の内容を推測するよう指示する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E3F4EA"/>
          </a:solidFill>
          <a:ln/>
        </p:spPr>
        <p:txBody>
          <a:bodyPr/>
          <a:p/>
        </p:txBody>
      </p:sp>
      <p:sp>
        <p:nvSpPr>
          <p:cNvPr id="16" name="Shape 14"/>
          <p:cNvSpPr/>
          <p:nvPr/>
        </p:nvSpPr>
        <p:spPr>
          <a:xfrm>
            <a:off x="658368" y="2880360"/>
            <a:ext cx="329184" cy="329184"/>
          </a:xfrm>
          <a:prstGeom prst="ellipse">
            <a:avLst/>
          </a:prstGeom>
          <a:solidFill>
            <a:srgbClr val="1E7A4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コーディネーターは、欠けている2つの情報源だけを明示的に指定した上で、既に完了した発見事項を文脈として含め、文書分析サブエージェントを再度呼び出すべき</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5つの情報源全てを、新しい文書分析サブエージェントのインスタンスに再度送り、既に完了した3件も含めて再分析させる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サブエージェントに再委任せず、コーディネーター自身が残り2つの情報源を直接分析する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B)</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コーディネーターの役割には、出力のギャップを評価し、そのギャップを埋めるための的確な再委任を行うことが含まれる。未完了の情報源だけを再指定し、既に完了した発見事項を文脈として与えるのが効率的かつ正確。Aは統合エージェントに内容を捏造させることになり、レポートの正確性を損なう。Cは既に完了した情報源を再処理する無駄。Dはコーディネーター・サブエージェントのアーキテクチャを迂回し、サブエージェントの専門性を無視している。</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128</a:t>
            </a:r>
            <a:endParaRPr lang="en-US" sz="900" dirty="0"/>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追加練習問題(第3弾) 3/8</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追加練習問題(第3弾)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Developer Productivity Tools(GitHub: OlivierAlter Q31) — カスタマーサポートエージェントには、名前も説明も似た3つのツール(get_account_info・fetch_account_details・retrieve_customer_record)があり、それぞれ異なるバックエンドを呼び出している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エージェントが頻繁に間違ったツールを選んでしまう。この誤ルーティングを最も効果的に解決するアプローチは?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3つのツール全てをリストし、リクエストの種類に応じてどれを使うべきかを具体的に指定するシステムプロンプトの指示を追加する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E3F4EA"/>
          </a:solidFill>
          <a:ln/>
        </p:spPr>
        <p:txBody>
          <a:bodyPr/>
          <a:p/>
        </p:txBody>
      </p:sp>
      <p:sp>
        <p:nvSpPr>
          <p:cNvPr id="16" name="Shape 14"/>
          <p:cNvSpPr/>
          <p:nvPr/>
        </p:nvSpPr>
        <p:spPr>
          <a:xfrm>
            <a:off x="658368" y="2880360"/>
            <a:ext cx="329184" cy="329184"/>
          </a:xfrm>
          <a:prstGeom prst="ellipse">
            <a:avLst/>
          </a:prstGeom>
          <a:solidFill>
            <a:srgbClr val="1E7A4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各ツールの異なるバックエンドを反映するようツール名を変更し、それぞれが返すデータ・問い合わせ先・使用場面を説明する説明文に書き直す</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3つのツールを、どのバックエンドに問い合わせるか指定するsourceパラメータを持つ1つのツールに統合する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現在のツールを維持しつつ、エージェントがどれを呼び出すかをランダム化し、後処理ステップで応答をマージする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B)</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曖昧・類似したツール名と説明が誤ルーティングの原因。それぞれが異なるバックエンドを反映するよう名前を変更し、返すデータ・問い合わせ先・使用場面を説明する記述に書き直すのが正しい対処。Aは誤ルーティングを減らすかもしれないが根本問題(ツール説明自体が区別できない)を解決していない。Cは3つの専門化されたツールを1つの汎用ツール+パラメータに縮退させ、正しいルーティングの負担をモデルに戻すだけ。Dは実用的な設計ではない。</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129</a:t>
            </a:r>
            <a:endParaRPr lang="en-US" sz="900" dirty="0"/>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追加練習問題(第3弾) 4/8</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追加練習問題(第3弾)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Code Generation with Claude Code(GitHub: OlivierAlter Q41) — シニアエンジニアが自分の~/.claude/CLAUDE.mdに詳細なコーディング標準とセキュリティガイドラインを追加した</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新しいチームメンバーがリポジトリをクローンした際、Claude Codeの動作が異なり、チームの文書化された標準に従っていないように見える。最も可能性の高い原因は?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新しいメンバーのClaude Codeのバージョンが古く、共有設定ファイルに対応していない</a:t>
            </a:r>
            <a:endParaRPr lang="en-US" sz="900" dirty="0"/>
          </a:p>
        </p:txBody>
      </p:sp>
      <p:sp>
        <p:nvSpPr>
          <p:cNvPr id="15" name="Shape 13"/>
          <p:cNvSpPr/>
          <p:nvPr/>
        </p:nvSpPr>
        <p:spPr>
          <a:xfrm>
            <a:off x="548640" y="2788920"/>
            <a:ext cx="11064240" cy="512064"/>
          </a:xfrm>
          <a:prstGeom prst="roundRect">
            <a:avLst>
              <a:gd name="adj" fmla="val 10714"/>
            </a:avLst>
          </a:prstGeom>
          <a:solidFill>
            <a:srgbClr val="E3F4EA"/>
          </a:solidFill>
          <a:ln/>
        </p:spPr>
        <p:txBody>
          <a:bodyPr/>
          <a:p/>
        </p:txBody>
      </p:sp>
      <p:sp>
        <p:nvSpPr>
          <p:cNvPr id="16" name="Shape 14"/>
          <p:cNvSpPr/>
          <p:nvPr/>
        </p:nvSpPr>
        <p:spPr>
          <a:xfrm>
            <a:off x="658368" y="2880360"/>
            <a:ext cx="329184" cy="329184"/>
          </a:xfrm>
          <a:prstGeom prst="ellipse">
            <a:avLst/>
          </a:prstGeom>
          <a:solidFill>
            <a:srgbClr val="1E7A4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~/.claude/CLAUDE.mdはユーザースコープでバージョン管理されていないため、リポジトリをクローンしてもチームメイトには渡らない</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CLAUDE.mdファイルは.claude/サブディレクトリに置く必要があり、ルートレベルのCLAUDE.mdは無視される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設定階層では、プロジェクトレベルのファイルが@importを使ってユーザーレベルのファイルから明示的にインポートする必要がある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B)</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claude/CLAUDE.mdでのユーザーレベル設定は、その開発者個人にのみ適用され、決してバージョン管理にコミットされない。チームメイトはどのような設定であっても、これを目にすることはない。チーム全体で標準を共有するには、プロジェクトレベルのCLAUDE.md(リポジトリにコミットされるもの)に置く必要がある。A・Dで説明されている仕組みは存在しない。CはルートレベルのCLAUDE.mdも有効なプロジェクトレベルの場所であるため誤り。</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130</a:t>
            </a:r>
            <a:endParaRPr lang="en-US" sz="900" dirty="0"/>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追加練習問題(第3弾) 5/8</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追加練習問題(第3弾)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Code Generation with Claude Code(GitHub: OlivierAlter Q54) — Pythonバックエンド・TypeScriptフロントエンド・Goサービス・共有インフラのTerraform・ドキュメントサイトという5つのパッケージを持つモノレポ</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ルートのCLAUDE.mdが600行に肥大化し、あるパッケージ向けのルールが別のパッケージの作業中にまで漏れ込んでしまっている。CLAUDE.md設定を使った、最もモジュール化され保守しやすい解決策は?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E3F4EA"/>
          </a:solidFill>
          <a:ln/>
        </p:spPr>
        <p:txBody>
          <a:bodyPr/>
          <a:p/>
        </p:txBody>
      </p:sp>
      <p:sp>
        <p:nvSpPr>
          <p:cNvPr id="12" name="Shape 10"/>
          <p:cNvSpPr/>
          <p:nvPr/>
        </p:nvSpPr>
        <p:spPr>
          <a:xfrm>
            <a:off x="658368" y="2304288"/>
            <a:ext cx="329184" cy="329184"/>
          </a:xfrm>
          <a:prstGeom prst="ellipse">
            <a:avLst/>
          </a:prstGeom>
          <a:solidFill>
            <a:srgbClr val="1E7A4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各パッケージディレクトリにそのパッケージ用のルールを持つCLAUDE.mdを作成し、ルートのCLAUDE.mdで@importを使って全パッケージに適用される共通の規約を含める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600行のルートファイルは維持しつつ、明示的な見出しを追加し、各セッション開始時にどのセクションが適用されるかを開発者がClaudeに伝えるようにする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ルートのCLAUDE.mdを削除し、完全にパッケージレベルのファイルに依存する。共通の規約はパッケージ間で重複させることを許容する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全てのルールを.claude/rules/ファイルに移し、フロントマターのprojectsキーで、そのルールがどのサブディレクトリに適用されるかを指定する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A)</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CLAUDE.mdの@import構文は、まさにこのモジュール型パターンのために設計されている: ルートファイルに共通規約、各パッケージ自身のCLAUDE.mdにパッケージ固有のルールを置き、ルートファイルが全体に適用される共通標準をインポートする。これにより各ファイルが焦点を絞ったまま保守可能になり、パッケージ間のルール漏れを排除できる。Bは開発者の規律に依存し拡張性がない。Cは共通基盤を排除し5つのファイルに規約を重複させ保守のズレを生む。Dは単一プロジェクト内のパス指定ルールには有効だが、パッケージレベルのCLAUDE.md分離という要件には対応できない。</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131</a:t>
            </a:r>
            <a:endParaRPr lang="en-US" sz="900" dirty="0"/>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追加練習問題(第3弾) 6/8</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追加練習問題(第3弾)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Structured Data Extraction(GitHub: OlivierAlter Q62) — 構造化データ抽出パイプラインが請求書を処理している。extract_invoice_schemaとextract_receipt_schemaという2つの抽出ツールがあり、各文書がどちらのタイプかは事前に分からない</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tool_choice: 'auto'に切り替えたところ、30%の確率でモデルがどちらのツールも呼び出さず、見つけた内容のテキスト説明を返してしまう。正しい修正は?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E3F4EA"/>
          </a:solidFill>
          <a:ln/>
        </p:spPr>
        <p:txBody>
          <a:bodyPr/>
          <a:p/>
        </p:txBody>
      </p:sp>
      <p:sp>
        <p:nvSpPr>
          <p:cNvPr id="12" name="Shape 10"/>
          <p:cNvSpPr/>
          <p:nvPr/>
        </p:nvSpPr>
        <p:spPr>
          <a:xfrm>
            <a:off x="658368" y="2304288"/>
            <a:ext cx="329184" cy="329184"/>
          </a:xfrm>
          <a:prstGeom prst="ellipse">
            <a:avLst/>
          </a:prstGeom>
          <a:solidFill>
            <a:srgbClr val="1E7A4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tool_choiceを'any'に設定し、どちらのツールを呼ぶかを指定せずに、利用可能なツールのいずれかを必ず呼び出すことを保証する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F7F8FA"/>
          </a:solidFill>
          <a:ln/>
        </p:spPr>
        <p:txBody>
          <a:bodyPr/>
          <a:p/>
        </p:txBody>
      </p:sp>
      <p:sp>
        <p:nvSpPr>
          <p:cNvPr id="16" name="Shape 14"/>
          <p:cNvSpPr/>
          <p:nvPr/>
        </p:nvSpPr>
        <p:spPr>
          <a:xfrm>
            <a:off x="658368" y="2880360"/>
            <a:ext cx="329184" cy="329184"/>
          </a:xfrm>
          <a:prstGeom prst="ellipse">
            <a:avLst/>
          </a:prstGeom>
          <a:solidFill>
            <a:srgbClr val="B8BFC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tool_choiceを{"type": "tool", "name": "extract_invoice_schema"}に設定し、常に特定のツールを呼び出させる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システムプロンプトに「必ず抽出ツールのいずれかを呼び出し、決してテキストを返さないこと」という指示を追加する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両方のスキーマを、オプションのdocument_typeフィールドを持つ単一のextract_document_schemaツールに統合する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A)</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tool_choice: 'any'は、どのツールかを指定する必要なく、モデルが会話的なテキストを返すのではなく必ずツールを呼び出すことを保証する。文書タイプが事前に分からず、複数の有効なツールがあり、いずれかが呼ばれることを確実にしたい場合の正規の使用例そのもの。Bは特定のツールを強制してしまい、文書タイプが事前に分からない場合には目的に反する。Cはプロンプトベースのアプローチで確率的な遵守にしかならず、既に30%のテキスト応答率で失敗が実証されている。Dは有効なアーキテクチャ変更だが、単一の設定変更より多くの工数を要する。</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132</a:t>
            </a:r>
            <a:endParaRPr lang="en-US" sz="900" dirty="0"/>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追加練習問題(第3弾) 7/8</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追加練習問題(第3弾)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CI/CD Pipeline Integration(GitHub: OlivierAlter Q64) — CIコードレビューパイプラインが高い割合で誤検知の所見を生成している。チームはプロンプトを改善するため、具体的にどのコード構造が誤って検出されているかを把握したい</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現在の所見の出力にはfile・line・descriptionのみが含まれている。誤検知の体系的な分析を最も可能にするスキーマの変更は?</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各所見に信頼度フィールド(0〜100)を追加し、チームが信頼度の閾値でフィルタできるようにする</a:t>
            </a:r>
            <a:endParaRPr lang="en-US" sz="900" dirty="0"/>
          </a:p>
        </p:txBody>
      </p:sp>
      <p:sp>
        <p:nvSpPr>
          <p:cNvPr id="15" name="Shape 13"/>
          <p:cNvSpPr/>
          <p:nvPr/>
        </p:nvSpPr>
        <p:spPr>
          <a:xfrm>
            <a:off x="548640" y="2788920"/>
            <a:ext cx="11064240" cy="512064"/>
          </a:xfrm>
          <a:prstGeom prst="roundRect">
            <a:avLst>
              <a:gd name="adj" fmla="val 10714"/>
            </a:avLst>
          </a:prstGeom>
          <a:solidFill>
            <a:srgbClr val="E3F4EA"/>
          </a:solidFill>
          <a:ln/>
        </p:spPr>
        <p:txBody>
          <a:bodyPr/>
          <a:p/>
        </p:txBody>
      </p:sp>
      <p:sp>
        <p:nvSpPr>
          <p:cNvPr id="16" name="Shape 14"/>
          <p:cNvSpPr/>
          <p:nvPr/>
        </p:nvSpPr>
        <p:spPr>
          <a:xfrm>
            <a:off x="658368" y="2880360"/>
            <a:ext cx="329184" cy="329184"/>
          </a:xfrm>
          <a:prstGeom prst="ellipse">
            <a:avLst/>
          </a:prstGeom>
          <a:solidFill>
            <a:srgbClr val="1E7A4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各所見にdetected_patternフィールドを追加し、その所見を引き起こした具体的なコード構造やパターンを記録する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categoryフィールドを追加し、問題の種類ごとに所見をグループ化して集計分析できるようにする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is_false_positiveというブール値フィールドを追加し、Claude自身に自分の誤検知を自己ラベル付けさせるよう指示する</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B)</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detected_patternフィールドは、各所見を引き起こした具体的なコード構造を直接記録するため、チームはどのパターンが最も誤検知を生んでいるかを特定し、それに応じてプロンプトの基準を更新できる。Aは信頼度スコアを提供するが、何が所見を引き起こしたかは特定できない。Cはグループ化はできるがパターン単位でのデバッグはできない。DはClaude自身に誤検知を自己判定させるが、モデルは正解データなしに真の誤検知を正確に見分けることができず信頼性が低い。</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133</a:t>
            </a:r>
            <a:endParaRPr lang="en-US" sz="900" dirty="0"/>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bg>
    <p:bgPr>
      <a:solidFill>
        <a:srgbClr val="FFFFFF"/>
      </a:solidFill>
    </p:bgPr>
  </p:bg>
  <p:cSld>
    <p:spTree>
      <p:nvGrpSpPr>
        <p:cNvPr id="1" name=""/>
        <p:cNvGrpSpPr/>
        <p:nvPr/>
      </p:nvGrpSpPr>
      <p:grpSpPr/>
      <p:sp>
        <p:nvSpPr>
          <p:cNvPr id="2" name="Shape 0"/>
          <p:cNvSpPr/>
          <p:nvPr/>
        </p:nvSpPr>
        <p:spPr>
          <a:xfrm>
            <a:off x="457200" y="320040"/>
            <a:ext cx="548640" cy="548640"/>
          </a:xfrm>
          <a:prstGeom prst="ellipse">
            <a:avLst/>
          </a:prstGeom>
          <a:solidFill>
            <a:srgbClr val="1E2761"/>
          </a:solidFill>
          <a:ln/>
        </p:spPr>
        <p:txBody>
          <a:bodyPr/>
          <a:p/>
        </p:txBody>
      </p:sp>
      <p:sp>
        <p:nvSpPr>
          <p:cNvPr id="3" name="Text 1"/>
          <p:cNvSpPr/>
          <p:nvPr/>
        </p:nvSpPr>
        <p:spPr>
          <a:xfrm>
            <a:off x="457200" y="320040"/>
            <a:ext cx="548640" cy="548640"/>
          </a:xfrm>
          <a:prstGeom prst="rect">
            <a:avLst/>
          </a:prstGeom>
          <a:noFill/>
          <a:ln/>
        </p:spPr>
        <p:txBody>
          <a:bodyPr wrap="square"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Q</a:t>
            </a:r>
            <a:endParaRPr lang="en-US" sz="1800" dirty="0"/>
          </a:p>
        </p:txBody>
      </p:sp>
      <p:sp>
        <p:nvSpPr>
          <p:cNvPr id="4" name="Text 2"/>
          <p:cNvSpPr/>
          <p:nvPr/>
        </p:nvSpPr>
        <p:spPr>
          <a:xfrm>
            <a:off x="1188720" y="292608"/>
            <a:ext cx="7315200" cy="594360"/>
          </a:xfrm>
          <a:prstGeom prst="rect">
            <a:avLst/>
          </a:prstGeom>
          <a:noFill/>
          <a:ln/>
        </p:spPr>
        <p:txBody>
          <a:bodyPr wrap="square" rtlCol="0" anchor="ctr"/>
          <a:lstStyle/>
          <a:p>
            <a:pPr indent="0" marL="0">
              <a:buNone/>
            </a:pPr>
            <a:r>
              <a:rPr lang="en-US" sz="2200" b="1" dirty="0">
                <a:solidFill>
                  <a:srgbClr val="1F2430"/>
                </a:solidFill>
                <a:latin typeface="Meiryo" pitchFamily="34" charset="0"/>
                <a:ea typeface="Meiryo" pitchFamily="34" charset="-122"/>
                <a:cs typeface="Meiryo" pitchFamily="34" charset="-120"/>
              </a:rPr>
              <a:t>追加練習問題(第3弾) 8/8</a:t>
            </a:r>
            <a:endParaRPr lang="en-US" sz="2200" dirty="0"/>
          </a:p>
        </p:txBody>
      </p:sp>
      <p:sp>
        <p:nvSpPr>
          <p:cNvPr id="5" name="Shape 3"/>
          <p:cNvSpPr/>
          <p:nvPr/>
        </p:nvSpPr>
        <p:spPr>
          <a:xfrm>
            <a:off x="8686800" y="384048"/>
            <a:ext cx="2926080" cy="411480"/>
          </a:xfrm>
          <a:prstGeom prst="roundRect">
            <a:avLst>
              <a:gd name="adj" fmla="val 48889"/>
            </a:avLst>
          </a:prstGeom>
          <a:solidFill>
            <a:srgbClr val="DCE3F7"/>
          </a:solidFill>
          <a:ln/>
        </p:spPr>
        <p:txBody>
          <a:bodyPr/>
          <a:p/>
        </p:txBody>
      </p:sp>
      <p:sp>
        <p:nvSpPr>
          <p:cNvPr id="6" name="Text 4"/>
          <p:cNvSpPr/>
          <p:nvPr/>
        </p:nvSpPr>
        <p:spPr>
          <a:xfrm>
            <a:off x="8686800" y="384048"/>
            <a:ext cx="2926080" cy="411480"/>
          </a:xfrm>
          <a:prstGeom prst="rect">
            <a:avLst/>
          </a:prstGeom>
          <a:noFill/>
          <a:ln/>
        </p:spPr>
        <p:txBody>
          <a:bodyPr wrap="square" rtlCol="0" anchor="ctr"/>
          <a:lstStyle/>
          <a:p>
            <a:pPr algn="ctr" indent="0" marL="0">
              <a:buNone/>
            </a:pPr>
            <a:r>
              <a:rPr lang="en-US" sz="1100" b="1" dirty="0">
                <a:solidFill>
                  <a:srgbClr val="1E2761"/>
                </a:solidFill>
                <a:latin typeface="Meiryo" pitchFamily="34" charset="0"/>
                <a:ea typeface="Meiryo" pitchFamily="34" charset="-122"/>
                <a:cs typeface="Meiryo" pitchFamily="34" charset="-120"/>
              </a:rPr>
              <a:t>追加練習問題(第3弾)</a:t>
            </a:r>
            <a:endParaRPr lang="en-US" sz="1100" dirty="0"/>
          </a:p>
        </p:txBody>
      </p:sp>
      <p:sp>
        <p:nvSpPr>
          <p:cNvPr id="7" name="Shape 5"/>
          <p:cNvSpPr/>
          <p:nvPr/>
        </p:nvSpPr>
        <p:spPr>
          <a:xfrm>
            <a:off x="457200" y="960120"/>
            <a:ext cx="11247120" cy="0"/>
          </a:xfrm>
          <a:prstGeom prst="line">
            <a:avLst/>
          </a:prstGeom>
          <a:noFill/>
          <a:ln w="12700">
            <a:solidFill>
              <a:srgbClr val="E2E8F0"/>
            </a:solidFill>
            <a:prstDash val="solid"/>
          </a:ln>
        </p:spPr>
        <p:txBody>
          <a:bodyPr/>
          <a:p/>
        </p:txBody>
      </p:sp>
      <p:sp>
        <p:nvSpPr>
          <p:cNvPr id="8" name="Text 6"/>
          <p:cNvSpPr/>
          <p:nvPr/>
        </p:nvSpPr>
        <p:spPr>
          <a:xfrm>
            <a:off x="548640" y="1051560"/>
            <a:ext cx="11064240" cy="274320"/>
          </a:xfrm>
          <a:prstGeom prst="rect">
            <a:avLst/>
          </a:prstGeom>
          <a:noFill/>
          <a:ln/>
        </p:spPr>
        <p:txBody>
          <a:bodyPr wrap="square" rtlCol="0" anchor="ctr"/>
          <a:lstStyle/>
          <a:p>
            <a:pPr indent="0" marL="0">
              <a:buNone/>
            </a:pPr>
            <a:r>
              <a:rPr lang="en-US" sz="1050" i="1" dirty="0">
                <a:solidFill>
                  <a:srgbClr val="5B6472"/>
                </a:solidFill>
                <a:latin typeface="Meiryo" pitchFamily="34" charset="0"/>
                <a:ea typeface="Meiryo" pitchFamily="34" charset="-122"/>
                <a:cs typeface="Meiryo" pitchFamily="34" charset="-120"/>
              </a:rPr>
              <a:t>シナリオ: Multi-Agent Research System(GitHub: OlivierAlter Q20) — コーディネーターが、市場トレンド・競合分析・規制環境という3つの独立したサブトピックを並行して調査する必要がある</a:t>
            </a:r>
            <a:endParaRPr lang="en-US" sz="1050" dirty="0"/>
          </a:p>
        </p:txBody>
      </p:sp>
      <p:sp>
        <p:nvSpPr>
          <p:cNvPr id="9" name="Shape 7"/>
          <p:cNvSpPr/>
          <p:nvPr/>
        </p:nvSpPr>
        <p:spPr>
          <a:xfrm>
            <a:off x="548640" y="1325880"/>
            <a:ext cx="11064240" cy="777240"/>
          </a:xfrm>
          <a:prstGeom prst="roundRect">
            <a:avLst>
              <a:gd name="adj" fmla="val 7059"/>
            </a:avLst>
          </a:prstGeom>
          <a:solidFill>
            <a:srgbClr val="F4F7FD"/>
          </a:solidFill>
          <a:ln/>
        </p:spPr>
        <p:txBody>
          <a:bodyPr/>
          <a:p/>
        </p:txBody>
      </p:sp>
      <p:sp>
        <p:nvSpPr>
          <p:cNvPr id="10" name="Text 8"/>
          <p:cNvSpPr/>
          <p:nvPr/>
        </p:nvSpPr>
        <p:spPr>
          <a:xfrm>
            <a:off x="731520" y="1389888"/>
            <a:ext cx="10698480" cy="658368"/>
          </a:xfrm>
          <a:prstGeom prst="rect">
            <a:avLst/>
          </a:prstGeom>
          <a:noFill/>
          <a:ln/>
        </p:spPr>
        <p:txBody>
          <a:bodyPr wrap="square" rtlCol="0" anchor="ctr"/>
          <a:lstStyle/>
          <a:p>
            <a:pPr indent="0" marL="0">
              <a:buNone/>
            </a:pPr>
            <a:r>
              <a:rPr lang="en-US" sz="1000" dirty="0">
                <a:solidFill>
                  <a:srgbClr val="1F2430"/>
                </a:solidFill>
                <a:latin typeface="Meiryo" pitchFamily="34" charset="0"/>
                <a:ea typeface="Meiryo" pitchFamily="34" charset="-122"/>
                <a:cs typeface="Meiryo" pitchFamily="34" charset="-120"/>
              </a:rPr>
              <a:t>スループットを最大化するため、コーディネーターはこれらのサブエージェントをどのように起動すべきか?</a:t>
            </a:r>
            <a:endParaRPr lang="en-US" sz="1000" dirty="0"/>
          </a:p>
        </p:txBody>
      </p:sp>
      <p:sp>
        <p:nvSpPr>
          <p:cNvPr id="11" name="Shape 9"/>
          <p:cNvSpPr/>
          <p:nvPr/>
        </p:nvSpPr>
        <p:spPr>
          <a:xfrm>
            <a:off x="548640" y="2212848"/>
            <a:ext cx="11064240" cy="512064"/>
          </a:xfrm>
          <a:prstGeom prst="roundRect">
            <a:avLst>
              <a:gd name="adj" fmla="val 10714"/>
            </a:avLst>
          </a:prstGeom>
          <a:solidFill>
            <a:srgbClr val="F7F8FA"/>
          </a:solidFill>
          <a:ln/>
        </p:spPr>
        <p:txBody>
          <a:bodyPr/>
          <a:p/>
        </p:txBody>
      </p:sp>
      <p:sp>
        <p:nvSpPr>
          <p:cNvPr id="12" name="Shape 10"/>
          <p:cNvSpPr/>
          <p:nvPr/>
        </p:nvSpPr>
        <p:spPr>
          <a:xfrm>
            <a:off x="658368" y="2304288"/>
            <a:ext cx="329184" cy="329184"/>
          </a:xfrm>
          <a:prstGeom prst="ellipse">
            <a:avLst/>
          </a:prstGeom>
          <a:solidFill>
            <a:srgbClr val="B8BFCC"/>
          </a:solidFill>
          <a:ln/>
        </p:spPr>
        <p:txBody>
          <a:bodyPr/>
          <a:p/>
        </p:txBody>
      </p:sp>
      <p:sp>
        <p:nvSpPr>
          <p:cNvPr id="13" name="Text 11"/>
          <p:cNvSpPr/>
          <p:nvPr/>
        </p:nvSpPr>
        <p:spPr>
          <a:xfrm>
            <a:off x="658368" y="2304288"/>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4" name="Text 12"/>
          <p:cNvSpPr/>
          <p:nvPr/>
        </p:nvSpPr>
        <p:spPr>
          <a:xfrm>
            <a:off x="1097280" y="2212848"/>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サブトピックを逐次起動する: 最初のサブエージェントを開始し結果を待ってから2番目を開始する、というように文脈の衝突を避けるため順番に行う</a:t>
            </a:r>
            <a:endParaRPr lang="en-US" sz="900" dirty="0"/>
          </a:p>
        </p:txBody>
      </p:sp>
      <p:sp>
        <p:nvSpPr>
          <p:cNvPr id="15" name="Shape 13"/>
          <p:cNvSpPr/>
          <p:nvPr/>
        </p:nvSpPr>
        <p:spPr>
          <a:xfrm>
            <a:off x="548640" y="2788920"/>
            <a:ext cx="11064240" cy="512064"/>
          </a:xfrm>
          <a:prstGeom prst="roundRect">
            <a:avLst>
              <a:gd name="adj" fmla="val 10714"/>
            </a:avLst>
          </a:prstGeom>
          <a:solidFill>
            <a:srgbClr val="E3F4EA"/>
          </a:solidFill>
          <a:ln/>
        </p:spPr>
        <p:txBody>
          <a:bodyPr/>
          <a:p/>
        </p:txBody>
      </p:sp>
      <p:sp>
        <p:nvSpPr>
          <p:cNvPr id="16" name="Shape 14"/>
          <p:cNvSpPr/>
          <p:nvPr/>
        </p:nvSpPr>
        <p:spPr>
          <a:xfrm>
            <a:off x="658368" y="2880360"/>
            <a:ext cx="329184" cy="329184"/>
          </a:xfrm>
          <a:prstGeom prst="ellipse">
            <a:avLst/>
          </a:prstGeom>
          <a:solidFill>
            <a:srgbClr val="1E7A4C"/>
          </a:solidFill>
          <a:ln/>
        </p:spPr>
        <p:txBody>
          <a:bodyPr/>
          <a:p/>
        </p:txBody>
      </p:sp>
      <p:sp>
        <p:nvSpPr>
          <p:cNvPr id="17" name="Text 15"/>
          <p:cNvSpPr/>
          <p:nvPr/>
        </p:nvSpPr>
        <p:spPr>
          <a:xfrm>
            <a:off x="658368" y="2880360"/>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a:t>
            </a:r>
            <a:endParaRPr lang="en-US" sz="1100" dirty="0"/>
          </a:p>
        </p:txBody>
      </p:sp>
      <p:sp>
        <p:nvSpPr>
          <p:cNvPr id="18" name="Text 16"/>
          <p:cNvSpPr/>
          <p:nvPr/>
        </p:nvSpPr>
        <p:spPr>
          <a:xfrm>
            <a:off x="1097280" y="2788920"/>
            <a:ext cx="10378440" cy="512064"/>
          </a:xfrm>
          <a:prstGeom prst="rect">
            <a:avLst/>
          </a:prstGeom>
          <a:noFill/>
          <a:ln/>
        </p:spPr>
        <p:txBody>
          <a:bodyPr wrap="square" rtlCol="0" anchor="ctr"/>
          <a:lstStyle/>
          <a:p>
            <a:pPr indent="0" marL="0">
              <a:buNone/>
            </a:pPr>
            <a:r>
              <a:rPr lang="en-US" sz="900" b="1" dirty="0">
                <a:solidFill>
                  <a:srgbClr val="1E5C3A"/>
                </a:solidFill>
                <a:latin typeface="Meiryo" pitchFamily="34" charset="0"/>
                <a:ea typeface="Meiryo" pitchFamily="34" charset="-122"/>
                <a:cs typeface="Meiryo" pitchFamily="34" charset="-120"/>
              </a:rPr>
              <a:t>コーディネーターの単一の応答内で3つのTaskツール呼び出しを全て発行する。これによりサブエージェントが並行実行できる</a:t>
            </a:r>
            <a:endParaRPr lang="en-US" sz="900" dirty="0"/>
          </a:p>
        </p:txBody>
      </p:sp>
      <p:sp>
        <p:nvSpPr>
          <p:cNvPr id="19" name="Shape 17"/>
          <p:cNvSpPr/>
          <p:nvPr/>
        </p:nvSpPr>
        <p:spPr>
          <a:xfrm>
            <a:off x="548640" y="3364992"/>
            <a:ext cx="11064240" cy="512064"/>
          </a:xfrm>
          <a:prstGeom prst="roundRect">
            <a:avLst>
              <a:gd name="adj" fmla="val 10714"/>
            </a:avLst>
          </a:prstGeom>
          <a:solidFill>
            <a:srgbClr val="F7F8FA"/>
          </a:solidFill>
          <a:ln/>
        </p:spPr>
        <p:txBody>
          <a:bodyPr/>
          <a:p/>
        </p:txBody>
      </p:sp>
      <p:sp>
        <p:nvSpPr>
          <p:cNvPr id="20" name="Shape 18"/>
          <p:cNvSpPr/>
          <p:nvPr/>
        </p:nvSpPr>
        <p:spPr>
          <a:xfrm>
            <a:off x="658368" y="3456432"/>
            <a:ext cx="329184" cy="329184"/>
          </a:xfrm>
          <a:prstGeom prst="ellipse">
            <a:avLst/>
          </a:prstGeom>
          <a:solidFill>
            <a:srgbClr val="B8BFCC"/>
          </a:solidFill>
          <a:ln/>
        </p:spPr>
        <p:txBody>
          <a:bodyPr/>
          <a:p/>
        </p:txBody>
      </p:sp>
      <p:sp>
        <p:nvSpPr>
          <p:cNvPr id="21" name="Text 19"/>
          <p:cNvSpPr/>
          <p:nvPr/>
        </p:nvSpPr>
        <p:spPr>
          <a:xfrm>
            <a:off x="658368"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C</a:t>
            </a:r>
            <a:endParaRPr lang="en-US" sz="1100" dirty="0"/>
          </a:p>
        </p:txBody>
      </p:sp>
      <p:sp>
        <p:nvSpPr>
          <p:cNvPr id="22" name="Text 20"/>
          <p:cNvSpPr/>
          <p:nvPr/>
        </p:nvSpPr>
        <p:spPr>
          <a:xfrm>
            <a:off x="1097280" y="3364992"/>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3つのサブトピック全てを単一のサブエージェントに逐次ルーティングし、メモリ使用量を減らすため文脈を共有する</a:t>
            </a:r>
            <a:endParaRPr lang="en-US" sz="900" dirty="0"/>
          </a:p>
        </p:txBody>
      </p:sp>
      <p:sp>
        <p:nvSpPr>
          <p:cNvPr id="23" name="Shape 21"/>
          <p:cNvSpPr/>
          <p:nvPr/>
        </p:nvSpPr>
        <p:spPr>
          <a:xfrm>
            <a:off x="548640" y="3941064"/>
            <a:ext cx="11064240" cy="512064"/>
          </a:xfrm>
          <a:prstGeom prst="roundRect">
            <a:avLst>
              <a:gd name="adj" fmla="val 10714"/>
            </a:avLst>
          </a:prstGeom>
          <a:solidFill>
            <a:srgbClr val="F7F8FA"/>
          </a:solidFill>
          <a:ln/>
        </p:spPr>
        <p:txBody>
          <a:bodyPr/>
          <a:p/>
        </p:txBody>
      </p:sp>
      <p:sp>
        <p:nvSpPr>
          <p:cNvPr id="24" name="Shape 22"/>
          <p:cNvSpPr/>
          <p:nvPr/>
        </p:nvSpPr>
        <p:spPr>
          <a:xfrm>
            <a:off x="658368" y="4032504"/>
            <a:ext cx="329184" cy="329184"/>
          </a:xfrm>
          <a:prstGeom prst="ellipse">
            <a:avLst/>
          </a:prstGeom>
          <a:solidFill>
            <a:srgbClr val="B8BFCC"/>
          </a:solidFill>
          <a:ln/>
        </p:spPr>
        <p:txBody>
          <a:bodyPr/>
          <a:p/>
        </p:txBody>
      </p:sp>
      <p:sp>
        <p:nvSpPr>
          <p:cNvPr id="25" name="Text 23"/>
          <p:cNvSpPr/>
          <p:nvPr/>
        </p:nvSpPr>
        <p:spPr>
          <a:xfrm>
            <a:off x="658368" y="4032504"/>
            <a:ext cx="329184" cy="329184"/>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a:t>
            </a:r>
            <a:endParaRPr lang="en-US" sz="1100" dirty="0"/>
          </a:p>
        </p:txBody>
      </p:sp>
      <p:sp>
        <p:nvSpPr>
          <p:cNvPr id="26" name="Text 24"/>
          <p:cNvSpPr/>
          <p:nvPr/>
        </p:nvSpPr>
        <p:spPr>
          <a:xfrm>
            <a:off x="1097280" y="3941064"/>
            <a:ext cx="10378440" cy="512064"/>
          </a:xfrm>
          <a:prstGeom prst="rect">
            <a:avLst/>
          </a:prstGeom>
          <a:noFill/>
          <a:ln/>
        </p:spPr>
        <p:txBody>
          <a:bodyPr wrap="square" rtlCol="0" anchor="ctr"/>
          <a:lstStyle/>
          <a:p>
            <a:pPr indent="0" marL="0">
              <a:buNone/>
            </a:pPr>
            <a:r>
              <a:rPr lang="en-US" sz="900" dirty="0">
                <a:solidFill>
                  <a:srgbClr val="1F2430"/>
                </a:solidFill>
                <a:latin typeface="Meiryo" pitchFamily="34" charset="0"/>
                <a:ea typeface="Meiryo" pitchFamily="34" charset="-122"/>
                <a:cs typeface="Meiryo" pitchFamily="34" charset="-120"/>
              </a:rPr>
              <a:t>単一のサブエージェントに3つの別々のプロンプトを順番に与え、後続の各プロンプトに前の結果を文脈として渡す</a:t>
            </a:r>
            <a:endParaRPr lang="en-US" sz="900" dirty="0"/>
          </a:p>
        </p:txBody>
      </p:sp>
      <p:sp>
        <p:nvSpPr>
          <p:cNvPr id="27" name="Shape 25"/>
          <p:cNvSpPr/>
          <p:nvPr/>
        </p:nvSpPr>
        <p:spPr>
          <a:xfrm>
            <a:off x="548640" y="4572000"/>
            <a:ext cx="11064240" cy="1554480"/>
          </a:xfrm>
          <a:prstGeom prst="roundRect">
            <a:avLst>
              <a:gd name="adj" fmla="val 4706"/>
            </a:avLst>
          </a:prstGeom>
          <a:solidFill>
            <a:srgbClr val="DCE3F7"/>
          </a:solidFill>
          <a:ln/>
        </p:spPr>
        <p:txBody>
          <a:bodyPr/>
          <a:p/>
        </p:txBody>
      </p:sp>
      <p:sp>
        <p:nvSpPr>
          <p:cNvPr id="28" name="Text 26"/>
          <p:cNvSpPr/>
          <p:nvPr/>
        </p:nvSpPr>
        <p:spPr>
          <a:xfrm>
            <a:off x="731520" y="4645152"/>
            <a:ext cx="10698480" cy="274320"/>
          </a:xfrm>
          <a:prstGeom prst="rect">
            <a:avLst/>
          </a:prstGeom>
          <a:noFill/>
          <a:ln/>
        </p:spPr>
        <p:txBody>
          <a:bodyPr wrap="square" rtlCol="0" anchor="ctr"/>
          <a:lstStyle/>
          <a:p>
            <a:pPr indent="0" marL="0">
              <a:buNone/>
            </a:pPr>
            <a:r>
              <a:rPr lang="en-US" sz="1100" b="1" dirty="0">
                <a:solidFill>
                  <a:srgbClr val="1E2761"/>
                </a:solidFill>
                <a:latin typeface="Meiryo" pitchFamily="34" charset="0"/>
                <a:ea typeface="Meiryo" pitchFamily="34" charset="-122"/>
                <a:cs typeface="Meiryo" pitchFamily="34" charset="-120"/>
              </a:rPr>
              <a:t>解説(正解: B)</a:t>
            </a:r>
            <a:endParaRPr lang="en-US" sz="1100" dirty="0"/>
          </a:p>
        </p:txBody>
      </p:sp>
      <p:sp>
        <p:nvSpPr>
          <p:cNvPr id="29" name="Text 27"/>
          <p:cNvSpPr/>
          <p:nvPr/>
        </p:nvSpPr>
        <p:spPr>
          <a:xfrm>
            <a:off x="731520" y="4919472"/>
            <a:ext cx="10698480" cy="1143000"/>
          </a:xfrm>
          <a:prstGeom prst="rect">
            <a:avLst/>
          </a:prstGeom>
          <a:noFill/>
          <a:ln/>
        </p:spPr>
        <p:txBody>
          <a:bodyPr wrap="square" rtlCol="0" anchor="t"/>
          <a:lstStyle/>
          <a:p>
            <a:pPr indent="0" marL="0">
              <a:lnSpc>
                <a:spcPct val="105000"/>
              </a:lnSpc>
              <a:buNone/>
            </a:pPr>
            <a:r>
              <a:rPr lang="en-US" sz="900" dirty="0">
                <a:solidFill>
                  <a:srgbClr val="1F2430"/>
                </a:solidFill>
                <a:latin typeface="Meiryo" pitchFamily="34" charset="0"/>
                <a:ea typeface="Meiryo" pitchFamily="34" charset="-122"/>
                <a:cs typeface="Meiryo" pitchFamily="34" charset="-120"/>
              </a:rPr>
              <a:t>Claude Agent SDKは、コーディネーターの単一の応答内で複数のTaskツール呼び出しを発行することで並列サブエージェント実行をサポートする。これは互いの結果に依存しない独立したサブトピックのスループットを最大化する。Aは不要な逐次的レイテンシを生む。Cは設問で示されていない依存関係を前提としている。Dは3つの専門エージェントを1つの逐次プロセスに縮退させ、並列性を排除している。</a:t>
            </a:r>
            <a:endParaRPr lang="en-US" sz="9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Meiryo" pitchFamily="34" charset="0"/>
                <a:ea typeface="Meiryo" pitchFamily="34" charset="-122"/>
                <a:cs typeface="Meiryo" pitchFamily="34" charset="-120"/>
              </a:rPr>
              <a:t>Claude Certified Architect – Foundations (CCA-F) 試験対策</a:t>
            </a:r>
            <a:endParaRPr lang="en-US" sz="900" dirty="0"/>
          </a:p>
        </p:txBody>
      </p:sp>
      <p:sp>
        <p:nvSpPr>
          <p:cNvPr id="31" name="Text 29"/>
          <p:cNvSpPr/>
          <p:nvPr/>
        </p:nvSpPr>
        <p:spPr>
          <a:xfrm>
            <a:off x="9902952" y="6492240"/>
            <a:ext cx="1828800" cy="274320"/>
          </a:xfrm>
          <a:prstGeom prst="rect">
            <a:avLst/>
          </a:prstGeom>
          <a:noFill/>
          <a:ln/>
        </p:spPr>
        <p:txBody>
          <a:bodyPr wrap="square" rtlCol="0" anchor="ctr"/>
          <a:lstStyle/>
          <a:p>
            <a:pPr algn="r" indent="0" marL="0">
              <a:buNone/>
            </a:pPr>
            <a:r>
              <a:rPr lang="en-US" sz="900" dirty="0">
                <a:solidFill>
                  <a:srgbClr val="5B6472"/>
                </a:solidFill>
                <a:latin typeface="Meiryo" pitchFamily="34" charset="0"/>
                <a:ea typeface="Meiryo" pitchFamily="34" charset="-122"/>
                <a:cs typeface="Meiryo" pitchFamily="34" charset="-120"/>
              </a:rPr>
              <a:t>134</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重要用語集</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486400" cy="914400"/>
        </p:xfrm>
        <a:graphic>
          <a:graphicData uri="http://schemas.openxmlformats.org/drawingml/2006/table">
            <a:tbl>
              <a:tblPr/>
              <a:tblGrid>
                <a:gridCol w="1737360"/>
                <a:gridCol w="374904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Agentic Loop</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評価→ツール実行→結果反映を繰り返す実行サイクル</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stop_reason</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応答が停止した理由(end_turn / max_tokens / refusal等)</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Subagent</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親から独立したコンテキストで動くエージェント</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Hub-and-spoke</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中央オーケストレーターが複数エージェントを束ねる構成</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MCP</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外部ツール・データソース接続のオープン標準</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Tool Search</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必要なツール定義のみ動的読込しコンテキスト節約</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graphicFrame>
        <p:nvGraphicFramePr>
          <p:cNvPr id="137" name="Table 1"/>
          <p:cNvGraphicFramePr>
            <a:graphicFrameLocks noGrp="1"/>
          </p:cNvGraphicFramePr>
          <p:nvPr>
            <p:extLst>
              <p:ext uri="{D42A27DB-BD31-4B8C-83A1-F6EECF244321}">
                <p14:modId xmlns:p14="http://schemas.microsoft.com/office/powerpoint/2010/main" val="1579011935"/>
              </p:ext>
            </p:extLst>
          </p:nvPr>
        </p:nvGraphicFramePr>
        <p:xfrm>
          <a:off x="6172200" y="1188720"/>
          <a:ext cx="5486400" cy="914400"/>
        </p:xfrm>
        <a:graphic>
          <a:graphicData uri="http://schemas.openxmlformats.org/drawingml/2006/table">
            <a:tbl>
              <a:tblPr/>
              <a:tblGrid>
                <a:gridCol w="1737360"/>
                <a:gridCol w="3749040"/>
              </a:tblGrid>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CLAUDE.md</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プロジェクトの永続指示ファイル(毎回再注入)</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Skill(SKILL.md)</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呼出時のみ本文が読み込まれる手順定義</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Plan Mode</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ツール実行せず計画のみ提示するモード</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Hook</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コンテキスト外で発火するコールバック</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Compaction</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コンテキスト逼迫時に古い履歴を要約する処理</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430"/>
                          </a:solidFill>
                          <a:latin typeface="Meiryo" pitchFamily="34" charset="0"/>
                          <a:ea typeface="Meiryo" pitchFamily="34" charset="-122"/>
                          <a:cs typeface="Meiryo" pitchFamily="34" charset="-120"/>
                        </a:rPr>
                        <a:t>Structured Output</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F2430"/>
                          </a:solidFill>
                          <a:latin typeface="Meiryo" pitchFamily="34" charset="0"/>
                          <a:ea typeface="Meiryo" pitchFamily="34" charset="-122"/>
                          <a:cs typeface="Meiryo" pitchFamily="34" charset="-120"/>
                        </a:rPr>
                        <a:t>JSON Schemaに基づき検証されたJSON出力</a:t>
                      </a:r>
                      <a:endParaRPr lang="en-US" sz="1150" dirty="0">
                        <a:latin typeface="Meiryo" charset="0"/>
                        <a:ea typeface="Meiryo" charset="0"/>
                        <a:cs typeface="Meiryo"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3"/>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9" name="Text 4"/>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135</a:t>
            </a:r>
            <a:endParaRPr lang="en-US" sz="10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548640"/>
          </a:xfrm>
          <a:prstGeom prst="ellipse">
            <a:avLst/>
          </a:prstGeom>
          <a:solidFill>
            <a:srgbClr val="1E2761"/>
          </a:solidFill>
          <a:ln/>
        </p:spPr>
        <p:txBody>
          <a:bodyPr/>
          <a:p/>
        </p:txBody>
      </p:sp>
      <p:pic>
        <p:nvPicPr>
          <p:cNvPr id="3" name="Image 0" descr="preencoded.png">    </p:cNvPr>
          <p:cNvPicPr>
            <a:picLocks noChangeAspect="1"/>
          </p:cNvPicPr>
          <p:nvPr/>
        </p:nvPicPr>
        <p:blipFill>
          <a:blip r:embed="rId1"/>
          <a:stretch>
            <a:fillRect/>
          </a:stretch>
        </p:blipFill>
        <p:spPr>
          <a:xfrm>
            <a:off x="588874" y="451714"/>
            <a:ext cx="285293" cy="285293"/>
          </a:xfrm>
          <a:prstGeom prst="rect">
            <a:avLst/>
          </a:prstGeom>
        </p:spPr>
      </p:pic>
      <p:sp>
        <p:nvSpPr>
          <p:cNvPr id="4" name="Text 1"/>
          <p:cNvSpPr/>
          <p:nvPr/>
        </p:nvSpPr>
        <p:spPr>
          <a:xfrm>
            <a:off x="1188720" y="292608"/>
            <a:ext cx="10058400" cy="59436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頻出の誤答パターン(引っかけ選択肢)</a:t>
            </a:r>
            <a:endParaRPr lang="en-US" sz="2500" dirty="0"/>
          </a:p>
        </p:txBody>
      </p:sp>
      <p:sp>
        <p:nvSpPr>
          <p:cNvPr id="5" name="Shape 2"/>
          <p:cNvSpPr/>
          <p:nvPr/>
        </p:nvSpPr>
        <p:spPr>
          <a:xfrm>
            <a:off x="457200" y="960120"/>
            <a:ext cx="11247120" cy="0"/>
          </a:xfrm>
          <a:prstGeom prst="line">
            <a:avLst/>
          </a:prstGeom>
          <a:noFill/>
          <a:ln w="12700">
            <a:solidFill>
              <a:srgbClr val="E2E8F0"/>
            </a:solidFill>
            <a:prstDash val="solid"/>
          </a:ln>
        </p:spPr>
        <p:txBody>
          <a:bodyPr/>
          <a:p/>
        </p:txBody>
      </p:sp>
      <p:sp>
        <p:nvSpPr>
          <p:cNvPr id="6" name="Shape 3"/>
          <p:cNvSpPr/>
          <p:nvPr/>
        </p:nvSpPr>
        <p:spPr>
          <a:xfrm>
            <a:off x="548640" y="1234440"/>
            <a:ext cx="11064240" cy="713232"/>
          </a:xfrm>
          <a:prstGeom prst="roundRect">
            <a:avLst>
              <a:gd name="adj" fmla="val 7692"/>
            </a:avLst>
          </a:prstGeom>
          <a:solidFill>
            <a:srgbClr val="FBF1E4"/>
          </a:solidFill>
          <a:ln/>
        </p:spPr>
        <p:txBody>
          <a:bodyPr/>
          <a:p/>
        </p:txBody>
      </p:sp>
      <p:pic>
        <p:nvPicPr>
          <p:cNvPr id="7" name="Image 1" descr="preencoded.png">    </p:cNvPr>
          <p:cNvPicPr>
            <a:picLocks noChangeAspect="1"/>
          </p:cNvPicPr>
          <p:nvPr/>
        </p:nvPicPr>
        <p:blipFill>
          <a:blip r:embed="rId2"/>
          <a:stretch>
            <a:fillRect/>
          </a:stretch>
        </p:blipFill>
        <p:spPr>
          <a:xfrm>
            <a:off x="713232" y="1417320"/>
            <a:ext cx="329184" cy="329184"/>
          </a:xfrm>
          <a:prstGeom prst="rect">
            <a:avLst/>
          </a:prstGeom>
        </p:spPr>
      </p:pic>
      <p:sp>
        <p:nvSpPr>
          <p:cNvPr id="8" name="Text 4"/>
          <p:cNvSpPr/>
          <p:nvPr/>
        </p:nvSpPr>
        <p:spPr>
          <a:xfrm>
            <a:off x="1188720" y="1234440"/>
            <a:ext cx="10241280" cy="713232"/>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テキスト内容を正規表現で解析してループ終了を判定する → 誤り(stop_reasonが正解)</a:t>
            </a:r>
            <a:endParaRPr lang="en-US" sz="1250" dirty="0"/>
          </a:p>
        </p:txBody>
      </p:sp>
      <p:sp>
        <p:nvSpPr>
          <p:cNvPr id="9" name="Shape 5"/>
          <p:cNvSpPr/>
          <p:nvPr/>
        </p:nvSpPr>
        <p:spPr>
          <a:xfrm>
            <a:off x="548640" y="2075688"/>
            <a:ext cx="11064240" cy="713232"/>
          </a:xfrm>
          <a:prstGeom prst="roundRect">
            <a:avLst>
              <a:gd name="adj" fmla="val 7692"/>
            </a:avLst>
          </a:prstGeom>
          <a:solidFill>
            <a:srgbClr val="FBF1E4"/>
          </a:solidFill>
          <a:ln/>
        </p:spPr>
        <p:txBody>
          <a:bodyPr/>
          <a:p/>
        </p:txBody>
      </p:sp>
      <p:pic>
        <p:nvPicPr>
          <p:cNvPr id="10" name="Image 2" descr="preencoded.png">    </p:cNvPr>
          <p:cNvPicPr>
            <a:picLocks noChangeAspect="1"/>
          </p:cNvPicPr>
          <p:nvPr/>
        </p:nvPicPr>
        <p:blipFill>
          <a:blip r:embed="rId3"/>
          <a:stretch>
            <a:fillRect/>
          </a:stretch>
        </p:blipFill>
        <p:spPr>
          <a:xfrm>
            <a:off x="713232" y="2258568"/>
            <a:ext cx="329184" cy="329184"/>
          </a:xfrm>
          <a:prstGeom prst="rect">
            <a:avLst/>
          </a:prstGeom>
        </p:spPr>
      </p:pic>
      <p:sp>
        <p:nvSpPr>
          <p:cNvPr id="11" name="Text 6"/>
          <p:cNvSpPr/>
          <p:nvPr/>
        </p:nvSpPr>
        <p:spPr>
          <a:xfrm>
            <a:off x="1188720" y="2075688"/>
            <a:ext cx="10241280" cy="713232"/>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acceptEditsモードでMCPツールも自動承認される → 誤り(MCPは対象外)</a:t>
            </a:r>
            <a:endParaRPr lang="en-US" sz="1250" dirty="0"/>
          </a:p>
        </p:txBody>
      </p:sp>
      <p:sp>
        <p:nvSpPr>
          <p:cNvPr id="12" name="Shape 7"/>
          <p:cNvSpPr/>
          <p:nvPr/>
        </p:nvSpPr>
        <p:spPr>
          <a:xfrm>
            <a:off x="548640" y="2916936"/>
            <a:ext cx="11064240" cy="713232"/>
          </a:xfrm>
          <a:prstGeom prst="roundRect">
            <a:avLst>
              <a:gd name="adj" fmla="val 7692"/>
            </a:avLst>
          </a:prstGeom>
          <a:solidFill>
            <a:srgbClr val="FBF1E4"/>
          </a:solidFill>
          <a:ln/>
        </p:spPr>
        <p:txBody>
          <a:bodyPr/>
          <a:p/>
        </p:txBody>
      </p:sp>
      <p:pic>
        <p:nvPicPr>
          <p:cNvPr id="13" name="Image 3" descr="preencoded.png">    </p:cNvPr>
          <p:cNvPicPr>
            <a:picLocks noChangeAspect="1"/>
          </p:cNvPicPr>
          <p:nvPr/>
        </p:nvPicPr>
        <p:blipFill>
          <a:blip r:embed="rId4"/>
          <a:stretch>
            <a:fillRect/>
          </a:stretch>
        </p:blipFill>
        <p:spPr>
          <a:xfrm>
            <a:off x="713232" y="3099816"/>
            <a:ext cx="329184" cy="329184"/>
          </a:xfrm>
          <a:prstGeom prst="rect">
            <a:avLst/>
          </a:prstGeom>
        </p:spPr>
      </p:pic>
      <p:sp>
        <p:nvSpPr>
          <p:cNvPr id="14" name="Text 8"/>
          <p:cNvSpPr/>
          <p:nvPr/>
        </p:nvSpPr>
        <p:spPr>
          <a:xfrm>
            <a:off x="1188720" y="2916936"/>
            <a:ext cx="10241280" cy="713232"/>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固定のイテレーション回数上限を主たる終了条件にする → 誤り(副次的な安全策としてはあり得る)</a:t>
            </a:r>
            <a:endParaRPr lang="en-US" sz="1250" dirty="0"/>
          </a:p>
        </p:txBody>
      </p:sp>
      <p:sp>
        <p:nvSpPr>
          <p:cNvPr id="15" name="Shape 9"/>
          <p:cNvSpPr/>
          <p:nvPr/>
        </p:nvSpPr>
        <p:spPr>
          <a:xfrm>
            <a:off x="548640" y="3758184"/>
            <a:ext cx="11064240" cy="713232"/>
          </a:xfrm>
          <a:prstGeom prst="roundRect">
            <a:avLst>
              <a:gd name="adj" fmla="val 7692"/>
            </a:avLst>
          </a:prstGeom>
          <a:solidFill>
            <a:srgbClr val="FBF1E4"/>
          </a:solidFill>
          <a:ln/>
        </p:spPr>
        <p:txBody>
          <a:bodyPr/>
          <a:p/>
        </p:txBody>
      </p:sp>
      <p:pic>
        <p:nvPicPr>
          <p:cNvPr id="16" name="Image 4" descr="preencoded.png">    </p:cNvPr>
          <p:cNvPicPr>
            <a:picLocks noChangeAspect="1"/>
          </p:cNvPicPr>
          <p:nvPr/>
        </p:nvPicPr>
        <p:blipFill>
          <a:blip r:embed="rId5"/>
          <a:stretch>
            <a:fillRect/>
          </a:stretch>
        </p:blipFill>
        <p:spPr>
          <a:xfrm>
            <a:off x="713232" y="3941064"/>
            <a:ext cx="329184" cy="329184"/>
          </a:xfrm>
          <a:prstGeom prst="rect">
            <a:avLst/>
          </a:prstGeom>
        </p:spPr>
      </p:pic>
      <p:sp>
        <p:nvSpPr>
          <p:cNvPr id="17" name="Text 10"/>
          <p:cNvSpPr/>
          <p:nvPr/>
        </p:nvSpPr>
        <p:spPr>
          <a:xfrm>
            <a:off x="1188720" y="3758184"/>
            <a:ext cx="10241280" cy="713232"/>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同一セッション内での自己レビューが最も効果的 → 誤り(独立インスタンスが正解)</a:t>
            </a:r>
            <a:endParaRPr lang="en-US" sz="1250" dirty="0"/>
          </a:p>
        </p:txBody>
      </p:sp>
      <p:sp>
        <p:nvSpPr>
          <p:cNvPr id="18" name="Shape 11"/>
          <p:cNvSpPr/>
          <p:nvPr/>
        </p:nvSpPr>
        <p:spPr>
          <a:xfrm>
            <a:off x="548640" y="4599432"/>
            <a:ext cx="11064240" cy="713232"/>
          </a:xfrm>
          <a:prstGeom prst="roundRect">
            <a:avLst>
              <a:gd name="adj" fmla="val 7692"/>
            </a:avLst>
          </a:prstGeom>
          <a:solidFill>
            <a:srgbClr val="FBF1E4"/>
          </a:solidFill>
          <a:ln/>
        </p:spPr>
        <p:txBody>
          <a:bodyPr/>
          <a:p/>
        </p:txBody>
      </p:sp>
      <p:pic>
        <p:nvPicPr>
          <p:cNvPr id="19" name="Image 5" descr="preencoded.png">    </p:cNvPr>
          <p:cNvPicPr>
            <a:picLocks noChangeAspect="1"/>
          </p:cNvPicPr>
          <p:nvPr/>
        </p:nvPicPr>
        <p:blipFill>
          <a:blip r:embed="rId6"/>
          <a:stretch>
            <a:fillRect/>
          </a:stretch>
        </p:blipFill>
        <p:spPr>
          <a:xfrm>
            <a:off x="713232" y="4782312"/>
            <a:ext cx="329184" cy="329184"/>
          </a:xfrm>
          <a:prstGeom prst="rect">
            <a:avLst/>
          </a:prstGeom>
        </p:spPr>
      </p:pic>
      <p:sp>
        <p:nvSpPr>
          <p:cNvPr id="20" name="Text 12"/>
          <p:cNvSpPr/>
          <p:nvPr/>
        </p:nvSpPr>
        <p:spPr>
          <a:xfrm>
            <a:off x="1188720" y="4599432"/>
            <a:ext cx="10241280" cy="713232"/>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頻繁に使う手順は毎回CLAUDE.mdに追記する → コンテキストコストの観点からSkillが適切な場合が多い</a:t>
            </a:r>
            <a:endParaRPr lang="en-US" sz="1250" dirty="0"/>
          </a:p>
        </p:txBody>
      </p:sp>
      <p:sp>
        <p:nvSpPr>
          <p:cNvPr id="21" name="Shape 13"/>
          <p:cNvSpPr/>
          <p:nvPr/>
        </p:nvSpPr>
        <p:spPr>
          <a:xfrm>
            <a:off x="548640" y="5440680"/>
            <a:ext cx="11064240" cy="713232"/>
          </a:xfrm>
          <a:prstGeom prst="roundRect">
            <a:avLst>
              <a:gd name="adj" fmla="val 7692"/>
            </a:avLst>
          </a:prstGeom>
          <a:solidFill>
            <a:srgbClr val="FBF1E4"/>
          </a:solidFill>
          <a:ln/>
        </p:spPr>
        <p:txBody>
          <a:bodyPr/>
          <a:p/>
        </p:txBody>
      </p:sp>
      <p:pic>
        <p:nvPicPr>
          <p:cNvPr id="22" name="Image 6" descr="preencoded.png">    </p:cNvPr>
          <p:cNvPicPr>
            <a:picLocks noChangeAspect="1"/>
          </p:cNvPicPr>
          <p:nvPr/>
        </p:nvPicPr>
        <p:blipFill>
          <a:blip r:embed="rId7"/>
          <a:stretch>
            <a:fillRect/>
          </a:stretch>
        </p:blipFill>
        <p:spPr>
          <a:xfrm>
            <a:off x="713232" y="5623560"/>
            <a:ext cx="329184" cy="329184"/>
          </a:xfrm>
          <a:prstGeom prst="rect">
            <a:avLst/>
          </a:prstGeom>
        </p:spPr>
      </p:pic>
      <p:sp>
        <p:nvSpPr>
          <p:cNvPr id="23" name="Text 14"/>
          <p:cNvSpPr/>
          <p:nvPr/>
        </p:nvSpPr>
        <p:spPr>
          <a:xfrm>
            <a:off x="1188720" y="5440680"/>
            <a:ext cx="10241280" cy="713232"/>
          </a:xfrm>
          <a:prstGeom prst="rect">
            <a:avLst/>
          </a:prstGeom>
          <a:noFill/>
          <a:ln/>
        </p:spPr>
        <p:txBody>
          <a:bodyPr wrap="square" rtlCol="0" anchor="ctr"/>
          <a:lstStyle/>
          <a:p>
            <a:pPr indent="0" marL="0">
              <a:buNone/>
            </a:pPr>
            <a:r>
              <a:rPr lang="en-US" sz="1250" dirty="0">
                <a:solidFill>
                  <a:srgbClr val="1F2430"/>
                </a:solidFill>
                <a:latin typeface="Meiryo" pitchFamily="34" charset="0"/>
                <a:ea typeface="Meiryo" pitchFamily="34" charset="-122"/>
                <a:cs typeface="Meiryo" pitchFamily="34" charset="-120"/>
              </a:rPr>
              <a:t>サブエージェントは親の会話履歴を自動的に参照できる → 誤り(明示的にプロンプトへ含める必要)</a:t>
            </a:r>
            <a:endParaRPr lang="en-US" sz="1250" dirty="0"/>
          </a:p>
        </p:txBody>
      </p:sp>
      <p:sp>
        <p:nvSpPr>
          <p:cNvPr id="24" name="Text 15"/>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25" name="Text 16"/>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136</a:t>
            </a:r>
            <a:endParaRPr lang="en-US" sz="10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7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914400"/>
            <a:ext cx="1005840" cy="1005840"/>
          </a:xfrm>
          <a:prstGeom prst="ellipse">
            <a:avLst/>
          </a:prstGeom>
          <a:solidFill>
            <a:srgbClr val="141B44"/>
          </a:solidFill>
          <a:ln/>
        </p:spPr>
        <p:txBody>
          <a:bodyPr/>
          <a:p/>
        </p:txBody>
      </p:sp>
      <p:pic>
        <p:nvPicPr>
          <p:cNvPr id="3" name="Image 0" descr="preencoded.png">    </p:cNvPr>
          <p:cNvPicPr>
            <a:picLocks noChangeAspect="1"/>
          </p:cNvPicPr>
          <p:nvPr/>
        </p:nvPicPr>
        <p:blipFill>
          <a:blip r:embed="rId1"/>
          <a:stretch>
            <a:fillRect/>
          </a:stretch>
        </p:blipFill>
        <p:spPr>
          <a:xfrm>
            <a:off x="1064362" y="1155802"/>
            <a:ext cx="523037" cy="523037"/>
          </a:xfrm>
          <a:prstGeom prst="rect">
            <a:avLst/>
          </a:prstGeom>
        </p:spPr>
      </p:pic>
      <p:sp>
        <p:nvSpPr>
          <p:cNvPr id="4" name="Text 1"/>
          <p:cNvSpPr/>
          <p:nvPr/>
        </p:nvSpPr>
        <p:spPr>
          <a:xfrm>
            <a:off x="822960" y="2103120"/>
            <a:ext cx="10058400" cy="640080"/>
          </a:xfrm>
          <a:prstGeom prst="rect">
            <a:avLst/>
          </a:prstGeom>
          <a:noFill/>
          <a:ln/>
        </p:spPr>
        <p:txBody>
          <a:bodyPr wrap="square" rtlCol="0" anchor="ctr"/>
          <a:lstStyle/>
          <a:p>
            <a:pPr indent="0" marL="0">
              <a:buNone/>
            </a:pPr>
            <a:r>
              <a:rPr lang="en-US" sz="3100" b="1" dirty="0">
                <a:solidFill>
                  <a:srgbClr val="FFFFFF"/>
                </a:solidFill>
                <a:latin typeface="Meiryo" pitchFamily="34" charset="0"/>
                <a:ea typeface="Meiryo" pitchFamily="34" charset="-122"/>
                <a:cs typeface="Meiryo" pitchFamily="34" charset="-120"/>
              </a:rPr>
              <a:t>受験前の確認事項</a:t>
            </a:r>
            <a:endParaRPr lang="en-US" sz="3100" dirty="0"/>
          </a:p>
        </p:txBody>
      </p:sp>
      <p:sp>
        <p:nvSpPr>
          <p:cNvPr id="5" name="Text 2"/>
          <p:cNvSpPr/>
          <p:nvPr/>
        </p:nvSpPr>
        <p:spPr>
          <a:xfrm>
            <a:off x="822960" y="2880360"/>
            <a:ext cx="1024128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ADCFC"/>
                </a:solidFill>
                <a:latin typeface="Meiryo" pitchFamily="34" charset="0"/>
                <a:ea typeface="Meiryo" pitchFamily="34" charset="-122"/>
                <a:cs typeface="Meiryo" pitchFamily="34" charset="-120"/>
              </a:rPr>
              <a:t>本資料はAnthropic公式ドキュメント(docs.claude.com / code.claude.com)と Anthropic Academy コースカタログ、第三者資格対策サイトの情報を照合して作成</a:t>
            </a:r>
            <a:endParaRPr lang="en-US" sz="1500" dirty="0"/>
          </a:p>
          <a:p>
            <a:pPr marL="342900" indent="-342900">
              <a:spcAft>
                <a:spcPts val="800"/>
              </a:spcAft>
              <a:buSzPct val="100000"/>
              <a:buChar char="•"/>
            </a:pPr>
            <a:r>
              <a:rPr lang="en-US" sz="1500" dirty="0">
                <a:solidFill>
                  <a:srgbClr val="CADCFC"/>
                </a:solidFill>
                <a:latin typeface="Meiryo" pitchFamily="34" charset="0"/>
                <a:ea typeface="Meiryo" pitchFamily="34" charset="-122"/>
                <a:cs typeface="Meiryo" pitchFamily="34" charset="-120"/>
              </a:rPr>
              <a:t>「試験での問われ方」は出題傾向の推測であり、実際の出題内容とは異なる場合がある</a:t>
            </a:r>
            <a:endParaRPr lang="en-US" sz="1500" dirty="0"/>
          </a:p>
          <a:p>
            <a:pPr marL="342900" indent="-342900">
              <a:spcAft>
                <a:spcPts val="800"/>
              </a:spcAft>
              <a:buSzPct val="100000"/>
              <a:buChar char="•"/>
            </a:pPr>
            <a:r>
              <a:rPr lang="en-US" sz="1500" dirty="0">
                <a:solidFill>
                  <a:srgbClr val="CADCFC"/>
                </a:solidFill>
                <a:latin typeface="Meiryo" pitchFamily="34" charset="0"/>
                <a:ea typeface="Meiryo" pitchFamily="34" charset="-122"/>
                <a:cs typeface="Meiryo" pitchFamily="34" charset="-120"/>
              </a:rPr>
              <a:t>最新情報は下記リンクで確認を推奨</a:t>
            </a:r>
            <a:endParaRPr lang="en-US" sz="1500" dirty="0"/>
          </a:p>
        </p:txBody>
      </p:sp>
      <p:sp>
        <p:nvSpPr>
          <p:cNvPr id="6" name="Text 3">
            <a:hlinkClick r:id="rId2" tooltip=""/>
          </p:cNvPr>
          <p:cNvSpPr/>
          <p:nvPr/>
        </p:nvSpPr>
        <p:spPr>
          <a:xfrm>
            <a:off x="822960" y="4617720"/>
            <a:ext cx="10241280" cy="320040"/>
          </a:xfrm>
          <a:prstGeom prst="rect">
            <a:avLst/>
          </a:prstGeom>
          <a:noFill/>
          <a:ln/>
        </p:spPr>
        <p:txBody>
          <a:bodyPr wrap="square" rtlCol="0" anchor="ctr"/>
          <a:lstStyle/>
          <a:p>
            <a:pPr indent="0" marL="0">
              <a:buNone/>
            </a:pPr>
            <a:r>
              <a:rPr lang="en-US" sz="1300" u="sng" dirty="0">
                <a:solidFill>
                  <a:srgbClr val="9FC3FF"/>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Claude Partner Network: claude.com/partners</a:t>
            </a:r>
            <a:endParaRPr lang="en-US" sz="1300" dirty="0"/>
          </a:p>
        </p:txBody>
      </p:sp>
      <p:sp>
        <p:nvSpPr>
          <p:cNvPr id="7" name="Text 4">
            <a:hlinkClick r:id="rId3" tooltip=""/>
          </p:cNvPr>
          <p:cNvSpPr/>
          <p:nvPr/>
        </p:nvSpPr>
        <p:spPr>
          <a:xfrm>
            <a:off x="822960" y="4983480"/>
            <a:ext cx="10241280" cy="320040"/>
          </a:xfrm>
          <a:prstGeom prst="rect">
            <a:avLst/>
          </a:prstGeom>
          <a:noFill/>
          <a:ln/>
        </p:spPr>
        <p:txBody>
          <a:bodyPr wrap="square" rtlCol="0" anchor="ctr"/>
          <a:lstStyle/>
          <a:p>
            <a:pPr indent="0" marL="0">
              <a:buNone/>
            </a:pPr>
            <a:r>
              <a:rPr lang="en-US" sz="1300" u="sng" dirty="0">
                <a:solidFill>
                  <a:srgbClr val="9FC3FF"/>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Anthropic Academy: anthropic.skilljar.com</a:t>
            </a:r>
            <a:endParaRPr lang="en-US" sz="1300" dirty="0"/>
          </a:p>
        </p:txBody>
      </p:sp>
      <p:sp>
        <p:nvSpPr>
          <p:cNvPr id="8" name="Text 5"/>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5B6472"/>
                </a:solidFill>
                <a:latin typeface="Meiryo" pitchFamily="34" charset="0"/>
                <a:ea typeface="Meiryo" pitchFamily="34" charset="-122"/>
                <a:cs typeface="Meiryo" pitchFamily="34" charset="-120"/>
              </a:rPr>
              <a:t>Claude Certified Architect – Foundations (CCA-F) 試験対策</a:t>
            </a:r>
            <a:endParaRPr lang="en-US" sz="1000" dirty="0"/>
          </a:p>
        </p:txBody>
      </p:sp>
      <p:sp>
        <p:nvSpPr>
          <p:cNvPr id="9" name="Text 6"/>
          <p:cNvSpPr/>
          <p:nvPr/>
        </p:nvSpPr>
        <p:spPr>
          <a:xfrm>
            <a:off x="9902952" y="6492240"/>
            <a:ext cx="1828800" cy="274320"/>
          </a:xfrm>
          <a:prstGeom prst="rect">
            <a:avLst/>
          </a:prstGeom>
          <a:noFill/>
          <a:ln/>
        </p:spPr>
        <p:txBody>
          <a:bodyPr wrap="square"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137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CCA-F 試験対策ガイド</dc:title>
  <dc:subject>PptxGenJS Presentation</dc:subject>
  <dc:creator>Claude</dc:creator>
  <cp:lastModifiedBy>Claude</cp:lastModifiedBy>
  <cp:revision>1</cp:revision>
  <dcterms:created xsi:type="dcterms:W3CDTF">2026-07-18T16:29:37Z</dcterms:created>
  <dcterms:modified xsi:type="dcterms:W3CDTF">2026-07-18T16:29:37Z</dcterms:modified>
</cp:coreProperties>
</file>