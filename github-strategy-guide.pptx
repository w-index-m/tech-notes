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F26"/>
        </a:solidFill>
      </p:bgPr>
    </p:bg>
    <p:spTree>
      <p:nvGrpSpPr>
        <p:cNvPr id="1" name=""/>
        <p:cNvGrpSpPr/>
        <p:nvPr/>
      </p:nvGrpSpPr>
      <p:grpSpPr>
        <a:xfrm>
          <a:off x="0" y="0"/>
          <a:ext cx="0" cy="0"/>
          <a:chOff x="0" y="0"/>
          <a:chExt cx="0" cy="0"/>
        </a:xfrm>
      </p:grpSpPr>
      <p:sp>
        <p:nvSpPr>
          <p:cNvPr id="2" name="Shape 0"/>
          <p:cNvSpPr/>
          <p:nvPr/>
        </p:nvSpPr>
        <p:spPr>
          <a:xfrm>
            <a:off x="8778240" y="-1645920"/>
            <a:ext cx="5486400" cy="5486400"/>
          </a:xfrm>
          <a:prstGeom prst="ellipse">
            <a:avLst/>
          </a:prstGeom>
          <a:solidFill>
            <a:srgbClr val="B084F5">
              <a:alpha val="12000"/>
            </a:srgbClr>
          </a:solidFill>
          <a:ln/>
        </p:spPr>
      </p:sp>
      <p:sp>
        <p:nvSpPr>
          <p:cNvPr id="3" name="Shape 1"/>
          <p:cNvSpPr/>
          <p:nvPr/>
        </p:nvSpPr>
        <p:spPr>
          <a:xfrm>
            <a:off x="-1463040" y="4389120"/>
            <a:ext cx="4572000" cy="4572000"/>
          </a:xfrm>
          <a:prstGeom prst="ellipse">
            <a:avLst/>
          </a:prstGeom>
          <a:solidFill>
            <a:srgbClr val="58D68D">
              <a:alpha val="10000"/>
            </a:srgbClr>
          </a:solidFill>
          <a:ln/>
        </p:spPr>
      </p:sp>
      <p:sp>
        <p:nvSpPr>
          <p:cNvPr id="4" name="Text 2"/>
          <p:cNvSpPr txBox="1"/>
          <p:nvPr/>
        </p:nvSpPr>
        <p:spPr>
          <a:xfrm>
            <a:off x="731520" y="2194560"/>
            <a:ext cx="106070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GitHub 攻略ガイド</a:t>
            </a:r>
            <a:endParaRPr lang="en-US" sz="4400" dirty="0"/>
          </a:p>
        </p:txBody>
      </p:sp>
      <p:sp>
        <p:nvSpPr>
          <p:cNvPr id="5" name="Text 3"/>
          <p:cNvSpPr txBox="1"/>
          <p:nvPr/>
        </p:nvSpPr>
        <p:spPr>
          <a:xfrm>
            <a:off x="731520" y="3200400"/>
            <a:ext cx="10607040" cy="548640"/>
          </a:xfrm>
          <a:prstGeom prst="rect">
            <a:avLst/>
          </a:prstGeom>
          <a:noFill/>
          <a:ln/>
        </p:spPr>
        <p:txBody>
          <a:bodyPr wrap="square" lIns="0" tIns="0" rIns="0" bIns="0" rtlCol="0" anchor="ctr"/>
          <a:lstStyle/>
          <a:p>
            <a:pPr indent="0" marL="0">
              <a:buNone/>
            </a:pPr>
            <a:r>
              <a:rPr lang="en-US" sz="1800" dirty="0">
                <a:solidFill>
                  <a:srgbClr val="AEB7C4"/>
                </a:solidFill>
                <a:latin typeface="Calibri" pitchFamily="34" charset="0"/>
                <a:ea typeface="Calibri" pitchFamily="34" charset="-122"/>
                <a:cs typeface="Calibri" pitchFamily="34" charset="-120"/>
              </a:rPr>
              <a:t>プロフィール最適化・フォロワー戦略・リポジトリ運用ノウハウ</a:t>
            </a:r>
            <a:endParaRPr lang="en-US" sz="1800" dirty="0"/>
          </a:p>
        </p:txBody>
      </p:sp>
      <p:sp>
        <p:nvSpPr>
          <p:cNvPr id="6" name="Text 4"/>
          <p:cNvSpPr txBox="1"/>
          <p:nvPr/>
        </p:nvSpPr>
        <p:spPr>
          <a:xfrm>
            <a:off x="731520" y="5943600"/>
            <a:ext cx="10607040" cy="365760"/>
          </a:xfrm>
          <a:prstGeom prst="rect">
            <a:avLst/>
          </a:prstGeom>
          <a:noFill/>
          <a:ln/>
        </p:spPr>
        <p:txBody>
          <a:bodyPr wrap="square" lIns="0" tIns="0" rIns="0" bIns="0" rtlCol="0" anchor="ctr"/>
          <a:lstStyle/>
          <a:p>
            <a:pPr indent="0" marL="0">
              <a:buNone/>
            </a:pPr>
            <a:r>
              <a:rPr lang="en-US" sz="1300" i="1" dirty="0">
                <a:solidFill>
                  <a:srgbClr val="B084F5"/>
                </a:solidFill>
                <a:latin typeface="Calibri" pitchFamily="34" charset="0"/>
                <a:ea typeface="Calibri" pitchFamily="34" charset="-122"/>
                <a:cs typeface="Calibri" pitchFamily="34" charset="-120"/>
              </a:rPr>
              <a:t>Claude に質問しながら育てていく個人ノート</a:t>
            </a:r>
            <a:endParaRPr lang="en-US" sz="1300" dirty="0"/>
          </a:p>
        </p:txBody>
      </p:sp>
      <p:sp>
        <p:nvSpPr>
          <p:cNvPr id="7"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200" b="1" dirty="0">
                <a:solidFill>
                  <a:srgbClr val="1A1F26"/>
                </a:solidFill>
                <a:latin typeface="Cambria" pitchFamily="34" charset="0"/>
                <a:ea typeface="Cambria" pitchFamily="34" charset="-122"/>
                <a:cs typeface="Cambria" pitchFamily="34" charset="-120"/>
              </a:rPr>
              <a:t>目次</a:t>
            </a:r>
            <a:endParaRPr lang="en-US" sz="3200" dirty="0"/>
          </a:p>
        </p:txBody>
      </p:sp>
      <p:sp>
        <p:nvSpPr>
          <p:cNvPr id="3" name="Shape 1"/>
          <p:cNvSpPr/>
          <p:nvPr/>
        </p:nvSpPr>
        <p:spPr>
          <a:xfrm>
            <a:off x="640080" y="1234440"/>
            <a:ext cx="457200" cy="457200"/>
          </a:xfrm>
          <a:prstGeom prst="ellipse">
            <a:avLst/>
          </a:prstGeom>
          <a:solidFill>
            <a:srgbClr val="B084F5"/>
          </a:solidFill>
          <a:ln/>
        </p:spPr>
      </p:sp>
      <p:sp>
        <p:nvSpPr>
          <p:cNvPr id="4" name="Text 2"/>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188720"/>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なぜGitHubで“育てる”のか</a:t>
            </a:r>
            <a:endParaRPr lang="en-US" sz="1500" dirty="0"/>
          </a:p>
        </p:txBody>
      </p:sp>
      <p:sp>
        <p:nvSpPr>
          <p:cNvPr id="6" name="Text 4"/>
          <p:cNvSpPr txBox="1"/>
          <p:nvPr/>
        </p:nvSpPr>
        <p:spPr>
          <a:xfrm>
            <a:off x="1325880" y="1490472"/>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個人の学習ログ・実績をGitHub上で公開・蓄積する狙い</a:t>
            </a:r>
            <a:endParaRPr lang="en-US" sz="1100" dirty="0"/>
          </a:p>
        </p:txBody>
      </p:sp>
      <p:sp>
        <p:nvSpPr>
          <p:cNvPr id="7" name="Shape 5"/>
          <p:cNvSpPr/>
          <p:nvPr/>
        </p:nvSpPr>
        <p:spPr>
          <a:xfrm>
            <a:off x="640080" y="1993392"/>
            <a:ext cx="457200" cy="457200"/>
          </a:xfrm>
          <a:prstGeom prst="ellipse">
            <a:avLst/>
          </a:prstGeom>
          <a:solidFill>
            <a:srgbClr val="B084F5"/>
          </a:solidFill>
          <a:ln/>
        </p:spPr>
      </p:sp>
      <p:sp>
        <p:nvSpPr>
          <p:cNvPr id="8" name="Text 6"/>
          <p:cNvSpPr txBox="1"/>
          <p:nvPr/>
        </p:nvSpPr>
        <p:spPr>
          <a:xfrm>
            <a:off x="640080" y="19933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325880" y="1947672"/>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プロフィール最適化(基本編)</a:t>
            </a:r>
            <a:endParaRPr lang="en-US" sz="1500" dirty="0"/>
          </a:p>
        </p:txBody>
      </p:sp>
      <p:sp>
        <p:nvSpPr>
          <p:cNvPr id="10" name="Text 8"/>
          <p:cNvSpPr txBox="1"/>
          <p:nvPr/>
        </p:nvSpPr>
        <p:spPr>
          <a:xfrm>
            <a:off x="1325880" y="2249424"/>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Profile README・基本情報・リポジトリREADMEの整え方</a:t>
            </a:r>
            <a:endParaRPr lang="en-US" sz="1100" dirty="0"/>
          </a:p>
        </p:txBody>
      </p:sp>
      <p:sp>
        <p:nvSpPr>
          <p:cNvPr id="11" name="Shape 9"/>
          <p:cNvSpPr/>
          <p:nvPr/>
        </p:nvSpPr>
        <p:spPr>
          <a:xfrm>
            <a:off x="640080" y="2752344"/>
            <a:ext cx="457200" cy="457200"/>
          </a:xfrm>
          <a:prstGeom prst="ellipse">
            <a:avLst/>
          </a:prstGeom>
          <a:solidFill>
            <a:srgbClr val="B084F5"/>
          </a:solidFill>
          <a:ln/>
        </p:spPr>
      </p:sp>
      <p:sp>
        <p:nvSpPr>
          <p:cNvPr id="12" name="Text 10"/>
          <p:cNvSpPr txBox="1"/>
          <p:nvPr/>
        </p:nvSpPr>
        <p:spPr>
          <a:xfrm>
            <a:off x="640080" y="27523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2706624"/>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プロフィールを彩る便利ツール</a:t>
            </a:r>
            <a:endParaRPr lang="en-US" sz="1500" dirty="0"/>
          </a:p>
        </p:txBody>
      </p:sp>
      <p:sp>
        <p:nvSpPr>
          <p:cNvPr id="14" name="Text 12"/>
          <p:cNvSpPr txBox="1"/>
          <p:nvPr/>
        </p:nvSpPr>
        <p:spPr>
          <a:xfrm>
            <a:off x="1325880" y="3008376"/>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バッジ・統計カード・コントリビューションSnake</a:t>
            </a:r>
            <a:endParaRPr lang="en-US" sz="1100" dirty="0"/>
          </a:p>
        </p:txBody>
      </p:sp>
      <p:sp>
        <p:nvSpPr>
          <p:cNvPr id="15" name="Shape 13"/>
          <p:cNvSpPr/>
          <p:nvPr/>
        </p:nvSpPr>
        <p:spPr>
          <a:xfrm>
            <a:off x="640080" y="3511296"/>
            <a:ext cx="457200" cy="457200"/>
          </a:xfrm>
          <a:prstGeom prst="ellipse">
            <a:avLst/>
          </a:prstGeom>
          <a:solidFill>
            <a:srgbClr val="B084F5"/>
          </a:solidFill>
          <a:ln/>
        </p:spPr>
      </p:sp>
      <p:sp>
        <p:nvSpPr>
          <p:cNvPr id="16" name="Text 14"/>
          <p:cNvSpPr txBox="1"/>
          <p:nvPr/>
        </p:nvSpPr>
        <p:spPr>
          <a:xfrm>
            <a:off x="640080" y="35112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3465576"/>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他プロジェクトへの貢献でスターを増やす</a:t>
            </a:r>
            <a:endParaRPr lang="en-US" sz="1500" dirty="0"/>
          </a:p>
        </p:txBody>
      </p:sp>
      <p:sp>
        <p:nvSpPr>
          <p:cNvPr id="18" name="Text 16"/>
          <p:cNvSpPr txBox="1"/>
          <p:nvPr/>
        </p:nvSpPr>
        <p:spPr>
          <a:xfrm>
            <a:off x="1325880" y="3767328"/>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Issue/PR・good first issue・shields.io実例・コミュニティの実感</a:t>
            </a:r>
            <a:endParaRPr lang="en-US" sz="1100" dirty="0"/>
          </a:p>
        </p:txBody>
      </p:sp>
      <p:sp>
        <p:nvSpPr>
          <p:cNvPr id="19" name="Shape 17"/>
          <p:cNvSpPr/>
          <p:nvPr/>
        </p:nvSpPr>
        <p:spPr>
          <a:xfrm>
            <a:off x="640080" y="4270248"/>
            <a:ext cx="457200" cy="457200"/>
          </a:xfrm>
          <a:prstGeom prst="ellipse">
            <a:avLst/>
          </a:prstGeom>
          <a:solidFill>
            <a:srgbClr val="B084F5"/>
          </a:solidFill>
          <a:ln/>
        </p:spPr>
      </p:sp>
      <p:sp>
        <p:nvSpPr>
          <p:cNvPr id="20" name="Text 18"/>
          <p:cNvSpPr txBox="1"/>
          <p:nvPr/>
        </p:nvSpPr>
        <p:spPr>
          <a:xfrm>
            <a:off x="640080" y="42702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1325880" y="4224528"/>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宣伝チャネルの効果(実例ケーススタディ)</a:t>
            </a:r>
            <a:endParaRPr lang="en-US" sz="1500" dirty="0"/>
          </a:p>
        </p:txBody>
      </p:sp>
      <p:sp>
        <p:nvSpPr>
          <p:cNvPr id="22" name="Text 20"/>
          <p:cNvSpPr txBox="1"/>
          <p:nvPr/>
        </p:nvSpPr>
        <p:spPr>
          <a:xfrm>
            <a:off x="1325880" y="4526280"/>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個人OSS開発者の実測データ</a:t>
            </a:r>
            <a:endParaRPr lang="en-US" sz="1100" dirty="0"/>
          </a:p>
        </p:txBody>
      </p:sp>
      <p:sp>
        <p:nvSpPr>
          <p:cNvPr id="23" name="Shape 21"/>
          <p:cNvSpPr/>
          <p:nvPr/>
        </p:nvSpPr>
        <p:spPr>
          <a:xfrm>
            <a:off x="640080" y="5029200"/>
            <a:ext cx="457200" cy="457200"/>
          </a:xfrm>
          <a:prstGeom prst="ellipse">
            <a:avLst/>
          </a:prstGeom>
          <a:solidFill>
            <a:srgbClr val="B084F5"/>
          </a:solidFill>
          <a:ln/>
        </p:spPr>
      </p:sp>
      <p:sp>
        <p:nvSpPr>
          <p:cNvPr id="24" name="Text 22"/>
          <p:cNvSpPr txBox="1"/>
          <p:nvPr/>
        </p:nvSpPr>
        <p:spPr>
          <a:xfrm>
            <a:off x="640080" y="5029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1325880" y="4983480"/>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リポジトリ運用のコツ</a:t>
            </a:r>
            <a:endParaRPr lang="en-US" sz="1500" dirty="0"/>
          </a:p>
        </p:txBody>
      </p:sp>
      <p:sp>
        <p:nvSpPr>
          <p:cNvPr id="26" name="Text 24"/>
          <p:cNvSpPr txBox="1"/>
          <p:nvPr/>
        </p:nvSpPr>
        <p:spPr>
          <a:xfrm>
            <a:off x="1325880" y="5285232"/>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コミット・Issue・PRの使い方</a:t>
            </a:r>
            <a:endParaRPr lang="en-US" sz="1100" dirty="0"/>
          </a:p>
        </p:txBody>
      </p:sp>
      <p:sp>
        <p:nvSpPr>
          <p:cNvPr id="27" name="Shape 25"/>
          <p:cNvSpPr/>
          <p:nvPr/>
        </p:nvSpPr>
        <p:spPr>
          <a:xfrm>
            <a:off x="640080" y="5788152"/>
            <a:ext cx="457200" cy="457200"/>
          </a:xfrm>
          <a:prstGeom prst="ellipse">
            <a:avLst/>
          </a:prstGeom>
          <a:solidFill>
            <a:srgbClr val="B084F5"/>
          </a:solidFill>
          <a:ln/>
        </p:spPr>
      </p:sp>
      <p:sp>
        <p:nvSpPr>
          <p:cNvPr id="28" name="Text 26"/>
          <p:cNvSpPr txBox="1"/>
          <p:nvPr/>
        </p:nvSpPr>
        <p:spPr>
          <a:xfrm>
            <a:off x="640080" y="5788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7"/>
          <p:cNvSpPr txBox="1"/>
          <p:nvPr/>
        </p:nvSpPr>
        <p:spPr>
          <a:xfrm>
            <a:off x="1325880" y="5742432"/>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継続の記録フォーマット</a:t>
            </a:r>
            <a:endParaRPr lang="en-US" sz="1500" dirty="0"/>
          </a:p>
        </p:txBody>
      </p:sp>
      <p:sp>
        <p:nvSpPr>
          <p:cNvPr id="30" name="Text 28"/>
          <p:cNvSpPr txBox="1"/>
          <p:nvPr/>
        </p:nvSpPr>
        <p:spPr>
          <a:xfrm>
            <a:off x="1325880" y="6044184"/>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このノートを育てていく方法</a:t>
            </a:r>
            <a:endParaRPr lang="en-US" sz="1100" dirty="0"/>
          </a:p>
        </p:txBody>
      </p:sp>
      <p:sp>
        <p:nvSpPr>
          <p:cNvPr id="31" name="Text 2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GitHubで成功するプロジェクトの4つの共通パターン</a:t>
            </a:r>
            <a:endParaRPr lang="en-US" sz="2700" dirty="0"/>
          </a:p>
        </p:txBody>
      </p:sp>
      <p:sp>
        <p:nvSpPr>
          <p:cNvPr id="3" name="Text 1"/>
          <p:cNvSpPr txBox="1"/>
          <p:nvPr/>
        </p:nvSpPr>
        <p:spPr>
          <a:xfrm>
            <a:off x="548640" y="1097280"/>
            <a:ext cx="10607040" cy="365760"/>
          </a:xfrm>
          <a:prstGeom prst="rect">
            <a:avLst/>
          </a:prstGeom>
          <a:noFill/>
          <a:ln/>
        </p:spPr>
        <p:txBody>
          <a:bodyPr wrap="square" lIns="0" tIns="0" rIns="0" bIns="0" rtlCol="0" anchor="ctr"/>
          <a:lstStyle/>
          <a:p>
            <a:pPr indent="0" marL="0">
              <a:buNone/>
            </a:pPr>
            <a:r>
              <a:rPr lang="en-US" sz="1300" i="1" dirty="0">
                <a:solidFill>
                  <a:srgbClr val="AEB7C4"/>
                </a:solidFill>
                <a:latin typeface="Calibri" pitchFamily="34" charset="0"/>
                <a:ea typeface="Calibri" pitchFamily="34" charset="-122"/>
                <a:cs typeface="Calibri" pitchFamily="34" charset="-120"/>
              </a:rPr>
              <a:t>Ephe・labelmake・r/githubの実例を横断して見えてきた要点(全体のまとめ)</a:t>
            </a:r>
            <a:endParaRPr lang="en-US" sz="1300" dirty="0"/>
          </a:p>
        </p:txBody>
      </p:sp>
      <p:sp>
        <p:nvSpPr>
          <p:cNvPr id="4" name="Shape 2"/>
          <p:cNvSpPr/>
          <p:nvPr/>
        </p:nvSpPr>
        <p:spPr>
          <a:xfrm>
            <a:off x="548640" y="1600200"/>
            <a:ext cx="10607040" cy="914400"/>
          </a:xfrm>
          <a:prstGeom prst="roundRect">
            <a:avLst>
              <a:gd name="adj" fmla="val 10000"/>
            </a:avLst>
          </a:prstGeom>
          <a:solidFill>
            <a:srgbClr val="232A34"/>
          </a:solidFill>
          <a:ln/>
        </p:spPr>
      </p:sp>
      <p:sp>
        <p:nvSpPr>
          <p:cNvPr id="5" name="Shape 3"/>
          <p:cNvSpPr/>
          <p:nvPr/>
        </p:nvSpPr>
        <p:spPr>
          <a:xfrm>
            <a:off x="822960" y="1828800"/>
            <a:ext cx="457200" cy="457200"/>
          </a:xfrm>
          <a:prstGeom prst="ellipse">
            <a:avLst/>
          </a:prstGeom>
          <a:solidFill>
            <a:srgbClr val="B084F5"/>
          </a:solidFill>
          <a:ln/>
        </p:spPr>
      </p:sp>
      <p:sp>
        <p:nvSpPr>
          <p:cNvPr id="6" name="Text 4"/>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508760" y="169164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誰かの困りごとを解決している</a:t>
            </a:r>
            <a:endParaRPr lang="en-US" sz="1350" dirty="0"/>
          </a:p>
        </p:txBody>
      </p:sp>
      <p:sp>
        <p:nvSpPr>
          <p:cNvPr id="8" name="Text 6"/>
          <p:cNvSpPr txBox="1"/>
          <p:nvPr/>
        </p:nvSpPr>
        <p:spPr>
          <a:xfrm>
            <a:off x="4892040" y="169164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技術力より先に「需要があるか」が前提。既存の選択肢への不満が出発点になっているプロジェクトが伸びやすい</a:t>
            </a:r>
            <a:endParaRPr lang="en-US" sz="1100" dirty="0"/>
          </a:p>
        </p:txBody>
      </p:sp>
      <p:sp>
        <p:nvSpPr>
          <p:cNvPr id="9" name="Shape 7"/>
          <p:cNvSpPr/>
          <p:nvPr/>
        </p:nvSpPr>
        <p:spPr>
          <a:xfrm>
            <a:off x="548640" y="2606040"/>
            <a:ext cx="10607040" cy="914400"/>
          </a:xfrm>
          <a:prstGeom prst="roundRect">
            <a:avLst>
              <a:gd name="adj" fmla="val 10000"/>
            </a:avLst>
          </a:prstGeom>
          <a:solidFill>
            <a:srgbClr val="232A34"/>
          </a:solidFill>
          <a:ln/>
        </p:spPr>
      </p:sp>
      <p:sp>
        <p:nvSpPr>
          <p:cNvPr id="10" name="Shape 8"/>
          <p:cNvSpPr/>
          <p:nvPr/>
        </p:nvSpPr>
        <p:spPr>
          <a:xfrm>
            <a:off x="822960" y="2834640"/>
            <a:ext cx="457200" cy="457200"/>
          </a:xfrm>
          <a:prstGeom prst="ellipse">
            <a:avLst/>
          </a:prstGeom>
          <a:solidFill>
            <a:srgbClr val="58D68D"/>
          </a:solidFill>
          <a:ln/>
        </p:spPr>
      </p:sp>
      <p:sp>
        <p:nvSpPr>
          <p:cNvPr id="11" name="Text 9"/>
          <p:cNvSpPr txBox="1"/>
          <p:nvPr/>
        </p:nvSpPr>
        <p:spPr>
          <a:xfrm>
            <a:off x="822960" y="283464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1508760" y="269748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一点突破のディストリビューション</a:t>
            </a:r>
            <a:endParaRPr lang="en-US" sz="1350" dirty="0"/>
          </a:p>
        </p:txBody>
      </p:sp>
      <p:sp>
        <p:nvSpPr>
          <p:cNvPr id="13" name="Text 11"/>
          <p:cNvSpPr txBox="1"/>
          <p:nvPr/>
        </p:nvSpPr>
        <p:spPr>
          <a:xfrm>
            <a:off x="4892040" y="269748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チャネルを分散させるより、狙った層に刺さる場所(開発者ならHacker News)に絞って本気で当てる方が効く</a:t>
            </a:r>
            <a:endParaRPr lang="en-US" sz="1100" dirty="0"/>
          </a:p>
        </p:txBody>
      </p:sp>
      <p:sp>
        <p:nvSpPr>
          <p:cNvPr id="14" name="Shape 12"/>
          <p:cNvSpPr/>
          <p:nvPr/>
        </p:nvSpPr>
        <p:spPr>
          <a:xfrm>
            <a:off x="548640" y="3611880"/>
            <a:ext cx="10607040" cy="914400"/>
          </a:xfrm>
          <a:prstGeom prst="roundRect">
            <a:avLst>
              <a:gd name="adj" fmla="val 10000"/>
            </a:avLst>
          </a:prstGeom>
          <a:solidFill>
            <a:srgbClr val="232A34"/>
          </a:solidFill>
          <a:ln/>
        </p:spPr>
      </p:sp>
      <p:sp>
        <p:nvSpPr>
          <p:cNvPr id="15" name="Shape 13"/>
          <p:cNvSpPr/>
          <p:nvPr/>
        </p:nvSpPr>
        <p:spPr>
          <a:xfrm>
            <a:off x="822960" y="3840480"/>
            <a:ext cx="457200" cy="457200"/>
          </a:xfrm>
          <a:prstGeom prst="ellipse">
            <a:avLst/>
          </a:prstGeom>
          <a:solidFill>
            <a:srgbClr val="F0A857"/>
          </a:solidFill>
          <a:ln/>
        </p:spPr>
      </p:sp>
      <p:sp>
        <p:nvSpPr>
          <p:cNvPr id="16" name="Text 14"/>
          <p:cNvSpPr txBox="1"/>
          <p:nvPr/>
        </p:nvSpPr>
        <p:spPr>
          <a:xfrm>
            <a:off x="822960" y="384048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1508760" y="370332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見た目の摩擦を減らす</a:t>
            </a:r>
            <a:endParaRPr lang="en-US" sz="1350" dirty="0"/>
          </a:p>
        </p:txBody>
      </p:sp>
      <p:sp>
        <p:nvSpPr>
          <p:cNvPr id="18" name="Text 16"/>
          <p:cNvSpPr txBox="1"/>
          <p:nvPr/>
        </p:nvSpPr>
        <p:spPr>
          <a:xfrm>
            <a:off x="4892040" y="370332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英語で書く、README/OGP画像を整えるなど「試してもらう前のハードルを下げる」地味な作業の効果が大きい</a:t>
            </a:r>
            <a:endParaRPr lang="en-US" sz="1100" dirty="0"/>
          </a:p>
        </p:txBody>
      </p:sp>
      <p:sp>
        <p:nvSpPr>
          <p:cNvPr id="19" name="Shape 17"/>
          <p:cNvSpPr/>
          <p:nvPr/>
        </p:nvSpPr>
        <p:spPr>
          <a:xfrm>
            <a:off x="548640" y="4617720"/>
            <a:ext cx="10607040" cy="914400"/>
          </a:xfrm>
          <a:prstGeom prst="roundRect">
            <a:avLst>
              <a:gd name="adj" fmla="val 10000"/>
            </a:avLst>
          </a:prstGeom>
          <a:solidFill>
            <a:srgbClr val="232A34"/>
          </a:solidFill>
          <a:ln/>
        </p:spPr>
      </p:sp>
      <p:sp>
        <p:nvSpPr>
          <p:cNvPr id="20" name="Shape 18"/>
          <p:cNvSpPr/>
          <p:nvPr/>
        </p:nvSpPr>
        <p:spPr>
          <a:xfrm>
            <a:off x="822960" y="4846320"/>
            <a:ext cx="457200" cy="457200"/>
          </a:xfrm>
          <a:prstGeom prst="ellipse">
            <a:avLst/>
          </a:prstGeom>
          <a:solidFill>
            <a:srgbClr val="B084F5"/>
          </a:solidFill>
          <a:ln/>
        </p:spPr>
      </p:sp>
      <p:sp>
        <p:nvSpPr>
          <p:cNvPr id="21" name="Text 19"/>
          <p:cNvSpPr txBox="1"/>
          <p:nvPr/>
        </p:nvSpPr>
        <p:spPr>
          <a:xfrm>
            <a:off x="822960" y="484632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1508760" y="470916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継続すること自体が信用になる</a:t>
            </a:r>
            <a:endParaRPr lang="en-US" sz="1350" dirty="0"/>
          </a:p>
        </p:txBody>
      </p:sp>
      <p:sp>
        <p:nvSpPr>
          <p:cNvPr id="23" name="Text 21"/>
          <p:cNvSpPr txBox="1"/>
          <p:nvPr/>
        </p:nvSpPr>
        <p:spPr>
          <a:xfrm>
            <a:off x="4892040" y="470916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一発当てるより、コントリビューショングラフや継続メンテが本気度の証明になり、後からの流入に効いてくる</a:t>
            </a:r>
            <a:endParaRPr lang="en-US" sz="1100" dirty="0"/>
          </a:p>
        </p:txBody>
      </p:sp>
      <p:sp>
        <p:nvSpPr>
          <p:cNvPr id="24" name="Text 22"/>
          <p:cNvSpPr txBox="1"/>
          <p:nvPr/>
        </p:nvSpPr>
        <p:spPr>
          <a:xfrm>
            <a:off x="548640" y="5623560"/>
            <a:ext cx="10607040" cy="548640"/>
          </a:xfrm>
          <a:prstGeom prst="rect">
            <a:avLst/>
          </a:prstGeom>
          <a:noFill/>
          <a:ln/>
        </p:spPr>
        <p:txBody>
          <a:bodyPr wrap="square" lIns="0" tIns="0" rIns="0" bIns="0" rtlCol="0" anchor="ctr"/>
          <a:lstStyle/>
          <a:p>
            <a:pPr indent="0" marL="0">
              <a:buNone/>
            </a:pPr>
            <a:r>
              <a:rPr lang="en-US" sz="1150" i="1" dirty="0">
                <a:solidFill>
                  <a:srgbClr val="B084F5"/>
                </a:solidFill>
                <a:latin typeface="Calibri" pitchFamily="34" charset="0"/>
                <a:ea typeface="Calibri" pitchFamily="34" charset="-122"/>
                <a:cs typeface="Calibri" pitchFamily="34" charset="-120"/>
              </a:rPr>
              <a:t>逆に言えば、単発の宣伝や小手先のバッジ装飾だけでは伸びない。スター獲得は「良いものを作り続けた結果」であり、逆算で操作しようとすると空回りしやすい</a:t>
            </a:r>
            <a:endParaRPr lang="en-US" sz="1150" dirty="0"/>
          </a:p>
        </p:txBody>
      </p:sp>
      <p:sp>
        <p:nvSpPr>
          <p:cNvPr id="25" name="Text 2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2700" b="1" dirty="0">
                <a:solidFill>
                  <a:srgbClr val="1A1F26"/>
                </a:solidFill>
                <a:latin typeface="Cambria" pitchFamily="34" charset="0"/>
                <a:ea typeface="Cambria" pitchFamily="34" charset="-122"/>
                <a:cs typeface="Cambria" pitchFamily="34" charset="-120"/>
              </a:rPr>
              <a:t>補足: 機械学習(ML/AI)領域との相性</a:t>
            </a:r>
            <a:endParaRPr lang="en-US" sz="2700" dirty="0"/>
          </a:p>
        </p:txBody>
      </p:sp>
      <p:sp>
        <p:nvSpPr>
          <p:cNvPr id="3" name="Text 1"/>
          <p:cNvSpPr txBox="1"/>
          <p:nvPr/>
        </p:nvSpPr>
        <p:spPr>
          <a:xfrm>
            <a:off x="548640" y="1097280"/>
            <a:ext cx="10607040"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4パターンをMLプロジェクトに当てはめる時に効く/効かない点</a:t>
            </a:r>
            <a:endParaRPr lang="en-US" sz="1300" dirty="0"/>
          </a:p>
        </p:txBody>
      </p:sp>
      <p:sp>
        <p:nvSpPr>
          <p:cNvPr id="4" name="Shape 2"/>
          <p:cNvSpPr/>
          <p:nvPr/>
        </p:nvSpPr>
        <p:spPr>
          <a:xfrm>
            <a:off x="548640" y="1645920"/>
            <a:ext cx="5212080" cy="2468880"/>
          </a:xfrm>
          <a:prstGeom prst="roundRect">
            <a:avLst>
              <a:gd name="adj" fmla="val 3704"/>
            </a:avLst>
          </a:prstGeom>
          <a:solidFill>
            <a:srgbClr val="FFFFFF"/>
          </a:solidFill>
          <a:ln w="12700">
            <a:solidFill>
              <a:srgbClr val="E3E6EA"/>
            </a:solidFill>
            <a:prstDash val="solid"/>
          </a:ln>
        </p:spPr>
      </p:sp>
      <p:sp>
        <p:nvSpPr>
          <p:cNvPr id="5" name="Text 3"/>
          <p:cNvSpPr txBox="1"/>
          <p:nvPr/>
        </p:nvSpPr>
        <p:spPr>
          <a:xfrm>
            <a:off x="822960" y="1828800"/>
            <a:ext cx="4754880" cy="365760"/>
          </a:xfrm>
          <a:prstGeom prst="rect">
            <a:avLst/>
          </a:prstGeom>
          <a:noFill/>
          <a:ln/>
        </p:spPr>
        <p:txBody>
          <a:bodyPr wrap="square" lIns="0" tIns="0" rIns="0" bIns="0" rtlCol="0" anchor="ctr"/>
          <a:lstStyle/>
          <a:p>
            <a:pPr indent="0" marL="0">
              <a:buNone/>
            </a:pPr>
            <a:r>
              <a:rPr lang="en-US" sz="1400" b="1" dirty="0">
                <a:solidFill>
                  <a:srgbClr val="58D68D"/>
                </a:solidFill>
                <a:latin typeface="Calibri" pitchFamily="34" charset="0"/>
                <a:ea typeface="Calibri" pitchFamily="34" charset="-122"/>
                <a:cs typeface="Calibri" pitchFamily="34" charset="-120"/>
              </a:rPr>
              <a:t>追い風になる面</a:t>
            </a:r>
            <a:endParaRPr lang="en-US" sz="1400" dirty="0"/>
          </a:p>
        </p:txBody>
      </p:sp>
      <p:sp>
        <p:nvSpPr>
          <p:cNvPr id="6" name="Text 4"/>
          <p:cNvSpPr txBox="1"/>
          <p:nvPr/>
        </p:nvSpPr>
        <p:spPr>
          <a:xfrm>
            <a:off x="822960" y="2240280"/>
            <a:ext cx="4754880" cy="173736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ML/AI領域は関心を持つ開発者の母数が圧倒的に大きく、話題性・検索流入の両面で有利になりやすい</a:t>
            </a:r>
            <a:endParaRPr lang="en-US" sz="1200" dirty="0"/>
          </a:p>
        </p:txBody>
      </p:sp>
      <p:sp>
        <p:nvSpPr>
          <p:cNvPr id="7" name="Shape 5"/>
          <p:cNvSpPr/>
          <p:nvPr/>
        </p:nvSpPr>
        <p:spPr>
          <a:xfrm>
            <a:off x="6035040" y="1645920"/>
            <a:ext cx="5212080" cy="2468880"/>
          </a:xfrm>
          <a:prstGeom prst="roundRect">
            <a:avLst>
              <a:gd name="adj" fmla="val 3704"/>
            </a:avLst>
          </a:prstGeom>
          <a:solidFill>
            <a:srgbClr val="FFFFFF"/>
          </a:solidFill>
          <a:ln w="12700">
            <a:solidFill>
              <a:srgbClr val="E3E6EA"/>
            </a:solidFill>
            <a:prstDash val="solid"/>
          </a:ln>
        </p:spPr>
      </p:sp>
      <p:sp>
        <p:nvSpPr>
          <p:cNvPr id="8" name="Text 6"/>
          <p:cNvSpPr txBox="1"/>
          <p:nvPr/>
        </p:nvSpPr>
        <p:spPr>
          <a:xfrm>
            <a:off x="6309360" y="1828800"/>
            <a:ext cx="4754880" cy="36576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逆風になる面</a:t>
            </a:r>
            <a:endParaRPr lang="en-US" sz="1400" dirty="0"/>
          </a:p>
        </p:txBody>
      </p:sp>
      <p:sp>
        <p:nvSpPr>
          <p:cNvPr id="9" name="Text 7"/>
          <p:cNvSpPr txBox="1"/>
          <p:nvPr/>
        </p:nvSpPr>
        <p:spPr>
          <a:xfrm>
            <a:off x="6309360" y="2240280"/>
            <a:ext cx="4754880" cy="173736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AI系リポジトリは既に供給過多気味。Product Huntの実例でも「AI関連プロダクトが多すぎて他が埋もれる」という声があった</a:t>
            </a:r>
            <a:endParaRPr lang="en-US" sz="1200" dirty="0"/>
          </a:p>
        </p:txBody>
      </p:sp>
      <p:sp>
        <p:nvSpPr>
          <p:cNvPr id="10" name="Shape 8"/>
          <p:cNvSpPr/>
          <p:nvPr/>
        </p:nvSpPr>
        <p:spPr>
          <a:xfrm>
            <a:off x="548640" y="4389120"/>
            <a:ext cx="10607040" cy="1828800"/>
          </a:xfrm>
          <a:prstGeom prst="roundRect">
            <a:avLst>
              <a:gd name="adj" fmla="val 5000"/>
            </a:avLst>
          </a:prstGeom>
          <a:solidFill>
            <a:srgbClr val="B084F5">
              <a:alpha val="10000"/>
            </a:srgbClr>
          </a:solidFill>
          <a:ln/>
        </p:spPr>
      </p:sp>
      <p:sp>
        <p:nvSpPr>
          <p:cNvPr id="11" name="Text 9"/>
          <p:cNvSpPr txBox="1"/>
          <p:nvPr/>
        </p:nvSpPr>
        <p:spPr>
          <a:xfrm>
            <a:off x="822960" y="4572000"/>
            <a:ext cx="10058400" cy="365760"/>
          </a:xfrm>
          <a:prstGeom prst="rect">
            <a:avLst/>
          </a:prstGeom>
          <a:noFill/>
          <a:ln/>
        </p:spPr>
        <p:txBody>
          <a:bodyPr wrap="square" lIns="0" tIns="0" rIns="0" bIns="0" rtlCol="0" anchor="ctr"/>
          <a:lstStyle/>
          <a:p>
            <a:pPr indent="0" marL="0">
              <a:buNone/>
            </a:pPr>
            <a:r>
              <a:rPr lang="en-US" sz="1350" b="1" dirty="0">
                <a:solidFill>
                  <a:srgbClr val="1A1F26"/>
                </a:solidFill>
                <a:latin typeface="Calibri" pitchFamily="34" charset="0"/>
                <a:ea typeface="Calibri" pitchFamily="34" charset="-122"/>
                <a:cs typeface="Calibri" pitchFamily="34" charset="-120"/>
              </a:rPr>
              <a:t>象徴的な実例: Epheの「あえてAI-less」戦略</a:t>
            </a:r>
            <a:endParaRPr lang="en-US" sz="1350" dirty="0"/>
          </a:p>
        </p:txBody>
      </p:sp>
      <p:sp>
        <p:nvSpPr>
          <p:cNvPr id="12" name="Text 10"/>
          <p:cNvSpPr txBox="1"/>
          <p:nvPr/>
        </p:nvSpPr>
        <p:spPr>
          <a:xfrm>
            <a:off x="822960" y="4937760"/>
            <a:ext cx="10058400" cy="11887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Ephe(Markdownアプリ)の開発者は「あえてAI機能を入れない」という、今の時流とは真逆の方向で作ったと明言しており、それがHacker Newsでの評価につながった一因になっている。つまりMLをテーマにする場合、機能そのものの新規性だけでなく「なぜこのML系ツールが他の無数のAI系リポジトリと違うのか」を通常以上に鋭く打ち出す必要がある。差別化のハードルが上がる分、当たった時のリーチも大きい、という表裏一体の関係</a:t>
            </a:r>
            <a:endParaRPr lang="en-US" sz="1150" dirty="0"/>
          </a:p>
        </p:txBody>
      </p:sp>
      <p:sp>
        <p:nvSpPr>
          <p:cNvPr id="13" name="Text 1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labelmake開発者のブログ記事(Product Huntでの実感)、Epheアプリ開発者のブログ記事</a:t>
            </a:r>
            <a:endParaRPr lang="en-US" sz="1000" dirty="0"/>
          </a:p>
        </p:txBody>
      </p:sp>
      <p:sp>
        <p:nvSpPr>
          <p:cNvPr id="14" name="Text 1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1</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なぜGitHubで“育てる”のか</a:t>
            </a:r>
            <a:endParaRPr lang="en-US" sz="2600" dirty="0"/>
          </a:p>
        </p:txBody>
      </p:sp>
      <p:sp>
        <p:nvSpPr>
          <p:cNvPr id="4" name="Shape 2"/>
          <p:cNvSpPr/>
          <p:nvPr/>
        </p:nvSpPr>
        <p:spPr>
          <a:xfrm>
            <a:off x="548640" y="1554480"/>
            <a:ext cx="3566160" cy="2468880"/>
          </a:xfrm>
          <a:prstGeom prst="roundRect">
            <a:avLst>
              <a:gd name="adj" fmla="val 4444"/>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5" name="Shape 3"/>
          <p:cNvSpPr/>
          <p:nvPr/>
        </p:nvSpPr>
        <p:spPr>
          <a:xfrm>
            <a:off x="822960" y="1828800"/>
            <a:ext cx="548640" cy="548640"/>
          </a:xfrm>
          <a:prstGeom prst="roundRect">
            <a:avLst>
              <a:gd name="adj" fmla="val 50000"/>
            </a:avLst>
          </a:prstGeom>
          <a:solidFill>
            <a:srgbClr val="B084F5"/>
          </a:solidFill>
          <a:ln/>
        </p:spPr>
      </p:sp>
      <p:sp>
        <p:nvSpPr>
          <p:cNvPr id="6" name="Text 4"/>
          <p:cNvSpPr txBox="1"/>
          <p:nvPr/>
        </p:nvSpPr>
        <p:spPr>
          <a:xfrm>
            <a:off x="822960" y="2560320"/>
            <a:ext cx="3017520" cy="5486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学習ログの可視化</a:t>
            </a:r>
            <a:endParaRPr lang="en-US" sz="1500" dirty="0"/>
          </a:p>
        </p:txBody>
      </p:sp>
      <p:sp>
        <p:nvSpPr>
          <p:cNvPr id="7" name="Text 5"/>
          <p:cNvSpPr txBox="1"/>
          <p:nvPr/>
        </p:nvSpPr>
        <p:spPr>
          <a:xfrm>
            <a:off x="822960" y="3063240"/>
            <a:ext cx="3017520" cy="9144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資格勉強・技術メモをMarkdown/パワポで公開し、進捗を後から振り返れる形にする</a:t>
            </a:r>
            <a:endParaRPr lang="en-US" sz="1150" dirty="0"/>
          </a:p>
        </p:txBody>
      </p:sp>
      <p:sp>
        <p:nvSpPr>
          <p:cNvPr id="8" name="Shape 6"/>
          <p:cNvSpPr/>
          <p:nvPr/>
        </p:nvSpPr>
        <p:spPr>
          <a:xfrm>
            <a:off x="4343400" y="1554480"/>
            <a:ext cx="3566160" cy="2468880"/>
          </a:xfrm>
          <a:prstGeom prst="roundRect">
            <a:avLst>
              <a:gd name="adj" fmla="val 4444"/>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9" name="Shape 7"/>
          <p:cNvSpPr/>
          <p:nvPr/>
        </p:nvSpPr>
        <p:spPr>
          <a:xfrm>
            <a:off x="4617720" y="1828800"/>
            <a:ext cx="548640" cy="548640"/>
          </a:xfrm>
          <a:prstGeom prst="roundRect">
            <a:avLst>
              <a:gd name="adj" fmla="val 50000"/>
            </a:avLst>
          </a:prstGeom>
          <a:solidFill>
            <a:srgbClr val="B084F5"/>
          </a:solidFill>
          <a:ln/>
        </p:spPr>
      </p:sp>
      <p:sp>
        <p:nvSpPr>
          <p:cNvPr id="10" name="Text 8"/>
          <p:cNvSpPr txBox="1"/>
          <p:nvPr/>
        </p:nvSpPr>
        <p:spPr>
          <a:xfrm>
            <a:off x="4617720" y="2560320"/>
            <a:ext cx="3017520" cy="5486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ポートフォリオ化</a:t>
            </a:r>
            <a:endParaRPr lang="en-US" sz="1500" dirty="0"/>
          </a:p>
        </p:txBody>
      </p:sp>
      <p:sp>
        <p:nvSpPr>
          <p:cNvPr id="11" name="Text 9"/>
          <p:cNvSpPr txBox="1"/>
          <p:nvPr/>
        </p:nvSpPr>
        <p:spPr>
          <a:xfrm>
            <a:off x="4617720" y="3063240"/>
            <a:ext cx="3017520" cy="9144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コミット履歴・READMEが、そのまま実績・継続力の証明になる</a:t>
            </a:r>
            <a:endParaRPr lang="en-US" sz="1150" dirty="0"/>
          </a:p>
        </p:txBody>
      </p:sp>
      <p:sp>
        <p:nvSpPr>
          <p:cNvPr id="12" name="Shape 10"/>
          <p:cNvSpPr/>
          <p:nvPr/>
        </p:nvSpPr>
        <p:spPr>
          <a:xfrm>
            <a:off x="8138160" y="1554480"/>
            <a:ext cx="3566160" cy="2468880"/>
          </a:xfrm>
          <a:prstGeom prst="roundRect">
            <a:avLst>
              <a:gd name="adj" fmla="val 4444"/>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13" name="Shape 11"/>
          <p:cNvSpPr/>
          <p:nvPr/>
        </p:nvSpPr>
        <p:spPr>
          <a:xfrm>
            <a:off x="8412480" y="1828800"/>
            <a:ext cx="548640" cy="548640"/>
          </a:xfrm>
          <a:prstGeom prst="roundRect">
            <a:avLst>
              <a:gd name="adj" fmla="val 50000"/>
            </a:avLst>
          </a:prstGeom>
          <a:solidFill>
            <a:srgbClr val="B084F5"/>
          </a:solidFill>
          <a:ln/>
        </p:spPr>
      </p:sp>
      <p:sp>
        <p:nvSpPr>
          <p:cNvPr id="14" name="Text 12"/>
          <p:cNvSpPr txBox="1"/>
          <p:nvPr/>
        </p:nvSpPr>
        <p:spPr>
          <a:xfrm>
            <a:off x="8412480" y="2560320"/>
            <a:ext cx="3017520" cy="5486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ネットワーキング</a:t>
            </a:r>
            <a:endParaRPr lang="en-US" sz="1500" dirty="0"/>
          </a:p>
        </p:txBody>
      </p:sp>
      <p:sp>
        <p:nvSpPr>
          <p:cNvPr id="15" name="Text 13"/>
          <p:cNvSpPr txBox="1"/>
          <p:nvPr/>
        </p:nvSpPr>
        <p:spPr>
          <a:xfrm>
            <a:off x="8412480" y="3063240"/>
            <a:ext cx="3017520" cy="9144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Star・Follow・Issueでのやり取りを通じて、同じ分野の人とつながる</a:t>
            </a:r>
            <a:endParaRPr lang="en-US" sz="1150" dirty="0"/>
          </a:p>
        </p:txBody>
      </p:sp>
      <p:sp>
        <p:nvSpPr>
          <p:cNvPr id="16" name="Text 14"/>
          <p:cNvSpPr txBox="1"/>
          <p:nvPr/>
        </p:nvSpPr>
        <p:spPr>
          <a:xfrm>
            <a:off x="548640" y="4389120"/>
            <a:ext cx="10607040" cy="365760"/>
          </a:xfrm>
          <a:prstGeom prst="rect">
            <a:avLst/>
          </a:prstGeom>
          <a:noFill/>
          <a:ln/>
        </p:spPr>
        <p:txBody>
          <a:bodyPr wrap="square" lIns="0" tIns="0" rIns="0" bIns="0" rtlCol="0" anchor="ctr"/>
          <a:lstStyle/>
          <a:p>
            <a:pPr indent="0" marL="0">
              <a:buNone/>
            </a:pPr>
            <a:r>
              <a:rPr lang="en-US" sz="1400" b="1" dirty="0">
                <a:solidFill>
                  <a:srgbClr val="1A1F26"/>
                </a:solidFill>
                <a:latin typeface="Calibri" pitchFamily="34" charset="0"/>
                <a:ea typeface="Calibri" pitchFamily="34" charset="-122"/>
                <a:cs typeface="Calibri" pitchFamily="34" charset="-120"/>
              </a:rPr>
              <a:t>このリポジトリ(tech-notes)の位置づけ</a:t>
            </a:r>
            <a:endParaRPr lang="en-US" sz="1400" dirty="0"/>
          </a:p>
        </p:txBody>
      </p:sp>
      <p:sp>
        <p:nvSpPr>
          <p:cNvPr id="17" name="Text 15"/>
          <p:cNvSpPr txBox="1"/>
          <p:nvPr/>
        </p:nvSpPr>
        <p:spPr>
          <a:xfrm>
            <a:off x="548640" y="4754880"/>
            <a:ext cx="10607040" cy="82296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GitHubの成長Tips(フォロワー獲得など)と、Claude認定資格(CCA-F等)の学習メモの2本柱で運用する。中身が混ざらないよう、資格対策は別ファイル(cca-f-study-guide.pptx)に分離している。</a:t>
            </a:r>
            <a:endParaRPr lang="en-US" sz="12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1</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初心者向け: まず慣れる4つの行動</a:t>
            </a:r>
            <a:endParaRPr lang="en-US" sz="2600" dirty="0"/>
          </a:p>
        </p:txBody>
      </p:sp>
      <p:sp>
        <p:nvSpPr>
          <p:cNvPr id="4" name="Shape 2"/>
          <p:cNvSpPr/>
          <p:nvPr/>
        </p:nvSpPr>
        <p:spPr>
          <a:xfrm>
            <a:off x="640080" y="1554480"/>
            <a:ext cx="457200" cy="457200"/>
          </a:xfrm>
          <a:prstGeom prst="ellipse">
            <a:avLst/>
          </a:prstGeom>
          <a:solidFill>
            <a:srgbClr val="58D68D"/>
          </a:solidFill>
          <a:ln/>
        </p:spPr>
      </p:sp>
      <p:sp>
        <p:nvSpPr>
          <p:cNvPr id="5" name="Text 3"/>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52704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アカウント作成</a:t>
            </a:r>
            <a:endParaRPr lang="en-US" sz="1400" dirty="0"/>
          </a:p>
        </p:txBody>
      </p:sp>
      <p:sp>
        <p:nvSpPr>
          <p:cNvPr id="7" name="Text 5"/>
          <p:cNvSpPr txBox="1"/>
          <p:nvPr/>
        </p:nvSpPr>
        <p:spPr>
          <a:xfrm>
            <a:off x="4572000" y="152704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GitHubトップの Sign up からアカウントを作る。まずはこれがないと何も始まらない</a:t>
            </a:r>
            <a:endParaRPr lang="en-US" sz="1150" dirty="0"/>
          </a:p>
        </p:txBody>
      </p:sp>
      <p:sp>
        <p:nvSpPr>
          <p:cNvPr id="8" name="Shape 6"/>
          <p:cNvSpPr/>
          <p:nvPr/>
        </p:nvSpPr>
        <p:spPr>
          <a:xfrm>
            <a:off x="640080" y="2606040"/>
            <a:ext cx="457200" cy="457200"/>
          </a:xfrm>
          <a:prstGeom prst="ellipse">
            <a:avLst/>
          </a:prstGeom>
          <a:solidFill>
            <a:srgbClr val="58D68D"/>
          </a:solidFill>
          <a:ln/>
        </p:spPr>
      </p:sp>
      <p:sp>
        <p:nvSpPr>
          <p:cNvPr id="9" name="Text 7"/>
          <p:cNvSpPr txBox="1"/>
          <p:nvPr/>
        </p:nvSpPr>
        <p:spPr>
          <a:xfrm>
            <a:off x="64008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325880" y="257860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気になる人をフォロー</a:t>
            </a:r>
            <a:endParaRPr lang="en-US" sz="1400" dirty="0"/>
          </a:p>
        </p:txBody>
      </p:sp>
      <p:sp>
        <p:nvSpPr>
          <p:cNvPr id="11" name="Text 9"/>
          <p:cNvSpPr txBox="1"/>
          <p:nvPr/>
        </p:nvSpPr>
        <p:spPr>
          <a:xfrm>
            <a:off x="4572000" y="257860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フォロー返しは気にしなくてよい。フォローすると相手の活動がNews Feedに流れるようになる</a:t>
            </a:r>
            <a:endParaRPr lang="en-US" sz="1150" dirty="0"/>
          </a:p>
        </p:txBody>
      </p:sp>
      <p:sp>
        <p:nvSpPr>
          <p:cNvPr id="12" name="Shape 10"/>
          <p:cNvSpPr/>
          <p:nvPr/>
        </p:nvSpPr>
        <p:spPr>
          <a:xfrm>
            <a:off x="640080" y="3657600"/>
            <a:ext cx="457200" cy="457200"/>
          </a:xfrm>
          <a:prstGeom prst="ellipse">
            <a:avLst/>
          </a:prstGeom>
          <a:solidFill>
            <a:srgbClr val="58D68D"/>
          </a:solidFill>
          <a:ln/>
        </p:spPr>
      </p:sp>
      <p:sp>
        <p:nvSpPr>
          <p:cNvPr id="13" name="Text 11"/>
          <p:cNvSpPr txBox="1"/>
          <p:nvPr/>
        </p:nvSpPr>
        <p:spPr>
          <a:xfrm>
            <a:off x="640080" y="36576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25880" y="363016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気になるリポジトリにStar</a:t>
            </a:r>
            <a:endParaRPr lang="en-US" sz="1400" dirty="0"/>
          </a:p>
        </p:txBody>
      </p:sp>
      <p:sp>
        <p:nvSpPr>
          <p:cNvPr id="15" name="Text 13"/>
          <p:cNvSpPr txBox="1"/>
          <p:nvPr/>
        </p:nvSpPr>
        <p:spPr>
          <a:xfrm>
            <a:off x="4572000" y="363016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お気に入り登録のような機能。Starすると自分をフォローしている人の feed に流れ、そのリポジトリの露出が増える</a:t>
            </a:r>
            <a:endParaRPr lang="en-US" sz="1150" dirty="0"/>
          </a:p>
        </p:txBody>
      </p:sp>
      <p:sp>
        <p:nvSpPr>
          <p:cNvPr id="16" name="Shape 14"/>
          <p:cNvSpPr/>
          <p:nvPr/>
        </p:nvSpPr>
        <p:spPr>
          <a:xfrm>
            <a:off x="640080" y="4709160"/>
            <a:ext cx="457200" cy="457200"/>
          </a:xfrm>
          <a:prstGeom prst="ellipse">
            <a:avLst/>
          </a:prstGeom>
          <a:solidFill>
            <a:srgbClr val="58D68D"/>
          </a:solidFill>
          <a:ln/>
        </p:spPr>
      </p:sp>
      <p:sp>
        <p:nvSpPr>
          <p:cNvPr id="17" name="Text 15"/>
          <p:cNvSpPr txBox="1"/>
          <p:nvPr/>
        </p:nvSpPr>
        <p:spPr>
          <a:xfrm>
            <a:off x="640080" y="4709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325880" y="468172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News Feedを読む習慣</a:t>
            </a:r>
            <a:endParaRPr lang="en-US" sz="1400" dirty="0"/>
          </a:p>
        </p:txBody>
      </p:sp>
      <p:sp>
        <p:nvSpPr>
          <p:cNvPr id="19" name="Text 17"/>
          <p:cNvSpPr txBox="1"/>
          <p:nvPr/>
        </p:nvSpPr>
        <p:spPr>
          <a:xfrm>
            <a:off x="4572000" y="468172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ログイン状態でトップページを見ると、フォロー中の人の活動(Star・Push等)が流れてくる。ここから面白いプロジェクトや小さなIssue/PRに触れていくのが自然な入り口</a:t>
            </a:r>
            <a:endParaRPr lang="en-US" sz="115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個人ブログ記事(2013年)。Follow/Star/News Feedという基本メカニズム自体は現在も変わっていない</a:t>
            </a:r>
            <a:endParaRPr lang="en-US" sz="100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2</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プロフィール最適化(基本編)</a:t>
            </a:r>
            <a:endParaRPr lang="en-US" sz="2600" dirty="0"/>
          </a:p>
        </p:txBody>
      </p:sp>
      <p:sp>
        <p:nvSpPr>
          <p:cNvPr id="4" name="Text 2"/>
          <p:cNvSpPr txBox="1"/>
          <p:nvPr/>
        </p:nvSpPr>
        <p:spPr>
          <a:xfrm>
            <a:off x="548640" y="1463040"/>
            <a:ext cx="10607040" cy="365760"/>
          </a:xfrm>
          <a:prstGeom prst="rect">
            <a:avLst/>
          </a:prstGeom>
          <a:noFill/>
          <a:ln/>
        </p:spPr>
        <p:txBody>
          <a:bodyPr wrap="square" lIns="0" tIns="0" rIns="0" bIns="0" rtlCol="0" anchor="ctr"/>
          <a:lstStyle/>
          <a:p>
            <a:pPr indent="0" marL="0">
              <a:buNone/>
            </a:pPr>
            <a:r>
              <a:rPr lang="en-US" sz="1500" b="1" dirty="0">
                <a:solidFill>
                  <a:srgbClr val="58D68D"/>
                </a:solidFill>
                <a:latin typeface="Calibri" pitchFamily="34" charset="0"/>
                <a:ea typeface="Calibri" pitchFamily="34" charset="-122"/>
                <a:cs typeface="Calibri" pitchFamily="34" charset="-120"/>
              </a:rPr>
              <a:t>① Profile README を作る</a:t>
            </a:r>
            <a:endParaRPr lang="en-US" sz="1500" dirty="0"/>
          </a:p>
        </p:txBody>
      </p:sp>
      <p:sp>
        <p:nvSpPr>
          <p:cNvPr id="5" name="Text 3"/>
          <p:cNvSpPr txBox="1"/>
          <p:nvPr/>
        </p:nvSpPr>
        <p:spPr>
          <a:xfrm>
            <a:off x="548640" y="1828800"/>
            <a:ext cx="10607040" cy="12801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自分のユーザー名と同名のリポジトリを作成(例: username/username)</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公開(Public)リポジトリにし、ルート直下に README.md を置く</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この2条件を満たすと、プロフィール上部に自己紹介として自動表示される(GitHub公式Docsで定義された正規の仕組み)</a:t>
            </a:r>
            <a:endParaRPr lang="en-US" sz="1250" dirty="0"/>
          </a:p>
        </p:txBody>
      </p:sp>
      <p:sp>
        <p:nvSpPr>
          <p:cNvPr id="6" name="Text 4"/>
          <p:cNvSpPr txBox="1"/>
          <p:nvPr/>
        </p:nvSpPr>
        <p:spPr>
          <a:xfrm>
            <a:off x="548640" y="3108960"/>
            <a:ext cx="10607040" cy="365760"/>
          </a:xfrm>
          <a:prstGeom prst="rect">
            <a:avLst/>
          </a:prstGeom>
          <a:noFill/>
          <a:ln/>
        </p:spPr>
        <p:txBody>
          <a:bodyPr wrap="square" lIns="0" tIns="0" rIns="0" bIns="0" rtlCol="0" anchor="ctr"/>
          <a:lstStyle/>
          <a:p>
            <a:pPr indent="0" marL="0">
              <a:buNone/>
            </a:pPr>
            <a:r>
              <a:rPr lang="en-US" sz="1500" b="1" dirty="0">
                <a:solidFill>
                  <a:srgbClr val="58D68D"/>
                </a:solidFill>
                <a:latin typeface="Calibri" pitchFamily="34" charset="0"/>
                <a:ea typeface="Calibri" pitchFamily="34" charset="-122"/>
                <a:cs typeface="Calibri" pitchFamily="34" charset="-120"/>
              </a:rPr>
              <a:t>② 基本情報・継続性を示す</a:t>
            </a:r>
            <a:endParaRPr lang="en-US" sz="1500" dirty="0"/>
          </a:p>
        </p:txBody>
      </p:sp>
      <p:sp>
        <p:nvSpPr>
          <p:cNvPr id="7" name="Text 5"/>
          <p:cNvSpPr txBox="1"/>
          <p:nvPr/>
        </p:nvSpPr>
        <p:spPr>
          <a:xfrm>
            <a:off x="548640" y="3474720"/>
            <a:ext cx="10607040" cy="9144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アイコン画像・所属・居住地・ブログ/Xリンクを掲載し、実在する開発者としての信頼感を出す</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コントリビューショングラフ(草)は活動の継続を示す。小さくても日々コミットする習慣が信頼につながる</a:t>
            </a:r>
            <a:endParaRPr lang="en-US" sz="1250" dirty="0"/>
          </a:p>
        </p:txBody>
      </p:sp>
      <p:sp>
        <p:nvSpPr>
          <p:cNvPr id="8" name="Text 6"/>
          <p:cNvSpPr txBox="1"/>
          <p:nvPr/>
        </p:nvSpPr>
        <p:spPr>
          <a:xfrm>
            <a:off x="548640" y="4480560"/>
            <a:ext cx="10607040" cy="365760"/>
          </a:xfrm>
          <a:prstGeom prst="rect">
            <a:avLst/>
          </a:prstGeom>
          <a:noFill/>
          <a:ln/>
        </p:spPr>
        <p:txBody>
          <a:bodyPr wrap="square" lIns="0" tIns="0" rIns="0" bIns="0" rtlCol="0" anchor="ctr"/>
          <a:lstStyle/>
          <a:p>
            <a:pPr indent="0" marL="0">
              <a:buNone/>
            </a:pPr>
            <a:r>
              <a:rPr lang="en-US" sz="1500" b="1" dirty="0">
                <a:solidFill>
                  <a:srgbClr val="58D68D"/>
                </a:solidFill>
                <a:latin typeface="Calibri" pitchFamily="34" charset="0"/>
                <a:ea typeface="Calibri" pitchFamily="34" charset="-122"/>
                <a:cs typeface="Calibri" pitchFamily="34" charset="-120"/>
              </a:rPr>
              <a:t>③ 各リポジトリのREADMEを整える</a:t>
            </a:r>
            <a:endParaRPr lang="en-US" sz="1500" dirty="0"/>
          </a:p>
        </p:txBody>
      </p:sp>
      <p:sp>
        <p:nvSpPr>
          <p:cNvPr id="9" name="Text 7"/>
          <p:cNvSpPr txBox="1"/>
          <p:nvPr/>
        </p:nvSpPr>
        <p:spPr>
          <a:xfrm>
            <a:off x="548640" y="4846320"/>
            <a:ext cx="10607040" cy="9144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「何をするか・インストール方法・使い方」を明記(GIFやコード例があるとベター)</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リポジトリの Topics(react・typescript・automation等のタグ)を設定し、検索で見つけられやすくする</a:t>
            </a:r>
            <a:endParaRPr lang="en-US" sz="12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AEB7C4"/>
                </a:solidFill>
                <a:latin typeface="Calibri" pitchFamily="34" charset="0"/>
                <a:ea typeface="Calibri" pitchFamily="34" charset="-122"/>
                <a:cs typeface="Calibri" pitchFamily="34" charset="-120"/>
              </a:rPr>
              <a:t>出典: GitHub Docs(プロフィールREADMEの仕組み)、GitHubプロフィール改善に関する一般的な解説記事</a:t>
            </a:r>
            <a:endParaRPr lang="en-US" sz="100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3</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プロフィールを彩る便利ツール</a:t>
            </a:r>
            <a:endParaRPr lang="en-US" sz="2600" dirty="0"/>
          </a:p>
        </p:txBody>
      </p:sp>
      <p:sp>
        <p:nvSpPr>
          <p:cNvPr id="4" name="Shape 2"/>
          <p:cNvSpPr/>
          <p:nvPr/>
        </p:nvSpPr>
        <p:spPr>
          <a:xfrm>
            <a:off x="548640" y="1554480"/>
            <a:ext cx="3566160" cy="3017520"/>
          </a:xfrm>
          <a:prstGeom prst="roundRect">
            <a:avLst>
              <a:gd name="adj" fmla="val 3636"/>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5" name="Shape 3"/>
          <p:cNvSpPr/>
          <p:nvPr/>
        </p:nvSpPr>
        <p:spPr>
          <a:xfrm>
            <a:off x="822960" y="1828800"/>
            <a:ext cx="502920" cy="502920"/>
          </a:xfrm>
          <a:prstGeom prst="roundRect">
            <a:avLst>
              <a:gd name="adj" fmla="val 50909"/>
            </a:avLst>
          </a:prstGeom>
          <a:solidFill>
            <a:srgbClr val="B084F5"/>
          </a:solidFill>
          <a:ln/>
        </p:spPr>
      </p:sp>
      <p:sp>
        <p:nvSpPr>
          <p:cNvPr id="6" name="Text 4"/>
          <p:cNvSpPr txBox="1"/>
          <p:nvPr/>
        </p:nvSpPr>
        <p:spPr>
          <a:xfrm>
            <a:off x="822960" y="2514600"/>
            <a:ext cx="3017520" cy="45720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バッジ</a:t>
            </a:r>
            <a:endParaRPr lang="en-US" sz="1500" dirty="0"/>
          </a:p>
        </p:txBody>
      </p:sp>
      <p:sp>
        <p:nvSpPr>
          <p:cNvPr id="7" name="Text 5"/>
          <p:cNvSpPr txBox="1"/>
          <p:nvPr/>
        </p:nvSpPr>
        <p:spPr>
          <a:xfrm>
            <a:off x="822960" y="2971800"/>
            <a:ext cx="3017520" cy="14630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shields.io・komarev(閲覧数カウンター)・Qiita/Zennバッジなど。READMEに埋め込むだけで見た目が引き締まる</a:t>
            </a:r>
            <a:endParaRPr lang="en-US" sz="1150" dirty="0"/>
          </a:p>
        </p:txBody>
      </p:sp>
      <p:sp>
        <p:nvSpPr>
          <p:cNvPr id="8" name="Shape 6"/>
          <p:cNvSpPr/>
          <p:nvPr/>
        </p:nvSpPr>
        <p:spPr>
          <a:xfrm>
            <a:off x="4343400" y="1554480"/>
            <a:ext cx="3566160" cy="3017520"/>
          </a:xfrm>
          <a:prstGeom prst="roundRect">
            <a:avLst>
              <a:gd name="adj" fmla="val 3636"/>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9" name="Shape 7"/>
          <p:cNvSpPr/>
          <p:nvPr/>
        </p:nvSpPr>
        <p:spPr>
          <a:xfrm>
            <a:off x="4617720" y="1828800"/>
            <a:ext cx="502920" cy="502920"/>
          </a:xfrm>
          <a:prstGeom prst="roundRect">
            <a:avLst>
              <a:gd name="adj" fmla="val 50909"/>
            </a:avLst>
          </a:prstGeom>
          <a:solidFill>
            <a:srgbClr val="58D68D"/>
          </a:solidFill>
          <a:ln/>
        </p:spPr>
      </p:sp>
      <p:sp>
        <p:nvSpPr>
          <p:cNvPr id="10" name="Text 8"/>
          <p:cNvSpPr txBox="1"/>
          <p:nvPr/>
        </p:nvSpPr>
        <p:spPr>
          <a:xfrm>
            <a:off x="4617720" y="2514600"/>
            <a:ext cx="3017520" cy="45720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統計・トロフィーカード</a:t>
            </a:r>
            <a:endParaRPr lang="en-US" sz="1500" dirty="0"/>
          </a:p>
        </p:txBody>
      </p:sp>
      <p:sp>
        <p:nvSpPr>
          <p:cNvPr id="11" name="Text 9"/>
          <p:cNvSpPr txBox="1"/>
          <p:nvPr/>
        </p:nvSpPr>
        <p:spPr>
          <a:xfrm>
            <a:off x="4617720" y="2971800"/>
            <a:ext cx="3017520" cy="14630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github-profile-summary-cards、github-profile-trophy等。言語別コミット数や実績を自動で画像生成</a:t>
            </a:r>
            <a:endParaRPr lang="en-US" sz="1150" dirty="0"/>
          </a:p>
        </p:txBody>
      </p:sp>
      <p:sp>
        <p:nvSpPr>
          <p:cNvPr id="12" name="Shape 10"/>
          <p:cNvSpPr/>
          <p:nvPr/>
        </p:nvSpPr>
        <p:spPr>
          <a:xfrm>
            <a:off x="8138160" y="1554480"/>
            <a:ext cx="3566160" cy="3017520"/>
          </a:xfrm>
          <a:prstGeom prst="roundRect">
            <a:avLst>
              <a:gd name="adj" fmla="val 3636"/>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13" name="Shape 11"/>
          <p:cNvSpPr/>
          <p:nvPr/>
        </p:nvSpPr>
        <p:spPr>
          <a:xfrm>
            <a:off x="8412480" y="1828800"/>
            <a:ext cx="502920" cy="502920"/>
          </a:xfrm>
          <a:prstGeom prst="roundRect">
            <a:avLst>
              <a:gd name="adj" fmla="val 50909"/>
            </a:avLst>
          </a:prstGeom>
          <a:solidFill>
            <a:srgbClr val="F0A857"/>
          </a:solidFill>
          <a:ln/>
        </p:spPr>
      </p:sp>
      <p:sp>
        <p:nvSpPr>
          <p:cNvPr id="14" name="Text 12"/>
          <p:cNvSpPr txBox="1"/>
          <p:nvPr/>
        </p:nvSpPr>
        <p:spPr>
          <a:xfrm>
            <a:off x="8412480" y="2514600"/>
            <a:ext cx="3017520" cy="45720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コントリビューションSnake</a:t>
            </a:r>
            <a:endParaRPr lang="en-US" sz="1500" dirty="0"/>
          </a:p>
        </p:txBody>
      </p:sp>
      <p:sp>
        <p:nvSpPr>
          <p:cNvPr id="15" name="Text 13"/>
          <p:cNvSpPr txBox="1"/>
          <p:nvPr/>
        </p:nvSpPr>
        <p:spPr>
          <a:xfrm>
            <a:off x="8412480" y="2971800"/>
            <a:ext cx="3017520" cy="14630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Platane/snk をGitHub Actionsで定期実行し、草(コントリビューショングラフ)を蛇が食べるSVGアニメを自動生成</a:t>
            </a:r>
            <a:endParaRPr lang="en-US" sz="1150" dirty="0"/>
          </a:p>
        </p:txBody>
      </p:sp>
      <p:sp>
        <p:nvSpPr>
          <p:cNvPr id="16" name="Text 14"/>
          <p:cNvSpPr txBox="1"/>
          <p:nvPr/>
        </p:nvSpPr>
        <p:spPr>
          <a:xfrm>
            <a:off x="548640" y="4846320"/>
            <a:ext cx="10607040" cy="45720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いずれもREADME.mdに数行の画像タグ/GitHub Actionsのワークフローを追加するだけで導入できる、コミュニティ製の定番ツール</a:t>
            </a:r>
            <a:endParaRPr lang="en-US" sz="120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Qiita記事(DMM WEBCAMP Advent Calendar 2023)「GitHubのプロフィールを充実させてみよう」で紹介された実装例</a:t>
            </a:r>
            <a:endParaRPr lang="en-US" sz="100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4</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他プロジェクトへの貢献でスターを増やす</a:t>
            </a:r>
            <a:endParaRPr lang="en-US" sz="2600" dirty="0"/>
          </a:p>
        </p:txBody>
      </p:sp>
      <p:sp>
        <p:nvSpPr>
          <p:cNvPr id="4" name="Text 2"/>
          <p:cNvSpPr txBox="1"/>
          <p:nvPr/>
        </p:nvSpPr>
        <p:spPr>
          <a:xfrm>
            <a:off x="548640" y="1554480"/>
            <a:ext cx="10607040" cy="18288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FFFFFF"/>
                </a:solidFill>
                <a:latin typeface="Calibri" pitchFamily="34" charset="0"/>
                <a:ea typeface="Calibri" pitchFamily="34" charset="-122"/>
                <a:cs typeface="Calibri" pitchFamily="34" charset="-120"/>
              </a:rPr>
              <a:t>Issue報告・Pull Requestの提出(バグ修正・機能追加・Typo修正など)。マージされれば、そのプロジェクトの利用者の目に触れる</a:t>
            </a:r>
            <a:endParaRPr lang="en-US" sz="1400" dirty="0"/>
          </a:p>
          <a:p>
            <a:pPr marL="342900" indent="-342900">
              <a:spcAft>
                <a:spcPts val="1200"/>
              </a:spcAft>
              <a:buSzPct val="100000"/>
              <a:buChar char="•"/>
            </a:pPr>
            <a:r>
              <a:rPr lang="en-US" sz="1400" dirty="0">
                <a:solidFill>
                  <a:srgbClr val="FFFFFF"/>
                </a:solidFill>
                <a:latin typeface="Calibri" pitchFamily="34" charset="0"/>
                <a:ea typeface="Calibri" pitchFamily="34" charset="-122"/>
                <a:cs typeface="Calibri" pitchFamily="34" charset="-120"/>
              </a:rPr>
              <a:t>good-first-issue・help-wanted タグの活用: 初心者向けの取り組みやすいタスクを見つけやすい</a:t>
            </a:r>
            <a:endParaRPr lang="en-US" sz="1400" dirty="0"/>
          </a:p>
          <a:p>
            <a:pPr marL="342900" indent="-342900">
              <a:spcAft>
                <a:spcPts val="1200"/>
              </a:spcAft>
              <a:buSzPct val="100000"/>
              <a:buChar char="•"/>
            </a:pPr>
            <a:r>
              <a:rPr lang="en-US" sz="1400" dirty="0">
                <a:solidFill>
                  <a:srgbClr val="FFFFFF"/>
                </a:solidFill>
                <a:latin typeface="Calibri" pitchFamily="34" charset="0"/>
                <a:ea typeface="Calibri" pitchFamily="34" charset="-122"/>
                <a:cs typeface="Calibri" pitchFamily="34" charset="-120"/>
              </a:rPr>
              <a:t>他人の良いリポジトリにStar・Followする: 相手のアクティビティに自分の名前が表示され、認知のきっかけになる</a:t>
            </a:r>
            <a:endParaRPr lang="en-US" sz="1400" dirty="0"/>
          </a:p>
        </p:txBody>
      </p:sp>
      <p:sp>
        <p:nvSpPr>
          <p:cNvPr id="5" name="Shape 3"/>
          <p:cNvSpPr/>
          <p:nvPr/>
        </p:nvSpPr>
        <p:spPr>
          <a:xfrm>
            <a:off x="548640" y="3657600"/>
            <a:ext cx="10607040" cy="2286000"/>
          </a:xfrm>
          <a:prstGeom prst="roundRect">
            <a:avLst>
              <a:gd name="adj" fmla="val 4000"/>
            </a:avLst>
          </a:prstGeom>
          <a:solidFill>
            <a:srgbClr val="232A34"/>
          </a:solidFill>
          <a:ln/>
        </p:spPr>
      </p:sp>
      <p:sp>
        <p:nvSpPr>
          <p:cNvPr id="6" name="Text 4"/>
          <p:cNvSpPr txBox="1"/>
          <p:nvPr/>
        </p:nvSpPr>
        <p:spPr>
          <a:xfrm>
            <a:off x="822960" y="3840480"/>
            <a:ext cx="10058400" cy="365760"/>
          </a:xfrm>
          <a:prstGeom prst="rect">
            <a:avLst/>
          </a:prstGeom>
          <a:noFill/>
          <a:ln/>
        </p:spPr>
        <p:txBody>
          <a:bodyPr wrap="square" lIns="0" tIns="0" rIns="0" bIns="0" rtlCol="0" anchor="ctr"/>
          <a:lstStyle/>
          <a:p>
            <a:pPr indent="0" marL="0">
              <a:buNone/>
            </a:pPr>
            <a:r>
              <a:rPr lang="en-US" sz="1400" b="1" dirty="0">
                <a:solidFill>
                  <a:srgbClr val="58D68D"/>
                </a:solidFill>
                <a:latin typeface="Calibri" pitchFamily="34" charset="0"/>
                <a:ea typeface="Calibri" pitchFamily="34" charset="-122"/>
                <a:cs typeface="Calibri" pitchFamily="34" charset="-120"/>
              </a:rPr>
              <a:t>実利用者コミュニティ(r/github)の実感</a:t>
            </a:r>
            <a:endParaRPr lang="en-US" sz="1400" dirty="0"/>
          </a:p>
        </p:txBody>
      </p:sp>
      <p:sp>
        <p:nvSpPr>
          <p:cNvPr id="7" name="Text 5"/>
          <p:cNvSpPr txBox="1"/>
          <p:nvPr/>
        </p:nvSpPr>
        <p:spPr>
          <a:xfrm>
            <a:off x="822960" y="4251960"/>
            <a:ext cx="10058400" cy="155448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GitHubはSNSではなく、コード共有・ホスティング・共同作業のためのプラットフォーム</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スター・フォロワーは目的ではなく、良いプロジェクトを作り維持し続けた結果としての副産物</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「スターを増やすこと」自体を目標にせず、まず自分が使いたい/役に立つものを作ることが優先</a:t>
            </a:r>
            <a:endParaRPr lang="en-US" sz="1250" dirty="0"/>
          </a:p>
        </p:txBody>
      </p:sp>
      <p:sp>
        <p:nvSpPr>
          <p:cNvPr id="8" name="Text 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AEB7C4"/>
                </a:solidFill>
                <a:latin typeface="Calibri" pitchFamily="34" charset="0"/>
                <a:ea typeface="Calibri" pitchFamily="34" charset="-122"/>
                <a:cs typeface="Calibri" pitchFamily="34" charset="-120"/>
              </a:rPr>
              <a:t>出典: Reddit r/github の実利用者コメント(意見・体験談であり公式見解ではない点に注意)</a:t>
            </a:r>
            <a:endParaRPr lang="en-US" sz="1000" dirty="0"/>
          </a:p>
        </p:txBody>
      </p:sp>
      <p:sp>
        <p:nvSpPr>
          <p:cNvPr id="9" name="Text 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4</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貢献先の実例: badges/shields (shields.io)</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READMEでよく見るバッジサービス「shields.io」も、実は誰でも貢献できるOSS</a:t>
            </a:r>
            <a:endParaRPr lang="en-US" sz="1250" dirty="0"/>
          </a:p>
        </p:txBody>
      </p:sp>
      <p:sp>
        <p:nvSpPr>
          <p:cNvPr id="5" name="Shape 3"/>
          <p:cNvSpPr/>
          <p:nvPr/>
        </p:nvSpPr>
        <p:spPr>
          <a:xfrm>
            <a:off x="548640" y="1920240"/>
            <a:ext cx="3429000" cy="1371600"/>
          </a:xfrm>
          <a:prstGeom prst="roundRect">
            <a:avLst>
              <a:gd name="adj" fmla="val 6667"/>
            </a:avLst>
          </a:prstGeom>
          <a:solidFill>
            <a:srgbClr val="FFFFFF"/>
          </a:solidFill>
          <a:ln w="12700">
            <a:solidFill>
              <a:srgbClr val="E3E6EA"/>
            </a:solidFill>
            <a:prstDash val="solid"/>
          </a:ln>
          <a:effectLst>
            <a:outerShdw sx="100000" sy="100000" kx="0" ky="0" algn="bl" rotWithShape="0" blurRad="76200" dist="25400" dir="5400000">
              <a:srgbClr val="000000">
                <a:alpha val="10000"/>
              </a:srgbClr>
            </a:outerShdw>
          </a:effectLst>
        </p:spPr>
      </p:sp>
      <p:sp>
        <p:nvSpPr>
          <p:cNvPr id="6" name="Text 4"/>
          <p:cNvSpPr txBox="1"/>
          <p:nvPr/>
        </p:nvSpPr>
        <p:spPr>
          <a:xfrm>
            <a:off x="731520" y="2057400"/>
            <a:ext cx="3063240" cy="594360"/>
          </a:xfrm>
          <a:prstGeom prst="rect">
            <a:avLst/>
          </a:prstGeom>
          <a:noFill/>
          <a:ln/>
        </p:spPr>
        <p:txBody>
          <a:bodyPr wrap="square" lIns="0" tIns="0" rIns="0" bIns="0" rtlCol="0" anchor="ctr"/>
          <a:lstStyle/>
          <a:p>
            <a:pPr indent="0" marL="0">
              <a:buNone/>
            </a:pPr>
            <a:r>
              <a:rPr lang="en-US" sz="2400" b="1" dirty="0">
                <a:solidFill>
                  <a:srgbClr val="B084F5"/>
                </a:solidFill>
                <a:latin typeface="Calibri" pitchFamily="34" charset="0"/>
                <a:ea typeface="Calibri" pitchFamily="34" charset="-122"/>
                <a:cs typeface="Calibri" pitchFamily="34" charset="-120"/>
              </a:rPr>
              <a:t>27.2k</a:t>
            </a:r>
            <a:endParaRPr lang="en-US" sz="2400" dirty="0"/>
          </a:p>
        </p:txBody>
      </p:sp>
      <p:sp>
        <p:nvSpPr>
          <p:cNvPr id="7" name="Text 5"/>
          <p:cNvSpPr txBox="1"/>
          <p:nvPr/>
        </p:nvSpPr>
        <p:spPr>
          <a:xfrm>
            <a:off x="731520" y="2697480"/>
            <a:ext cx="30632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GitHub Stars</a:t>
            </a:r>
            <a:endParaRPr lang="en-US" sz="1150" dirty="0"/>
          </a:p>
        </p:txBody>
      </p:sp>
      <p:sp>
        <p:nvSpPr>
          <p:cNvPr id="8" name="Shape 6"/>
          <p:cNvSpPr/>
          <p:nvPr/>
        </p:nvSpPr>
        <p:spPr>
          <a:xfrm>
            <a:off x="4206240" y="1920240"/>
            <a:ext cx="3429000" cy="1371600"/>
          </a:xfrm>
          <a:prstGeom prst="roundRect">
            <a:avLst>
              <a:gd name="adj" fmla="val 6667"/>
            </a:avLst>
          </a:prstGeom>
          <a:solidFill>
            <a:srgbClr val="FFFFFF"/>
          </a:solidFill>
          <a:ln w="12700">
            <a:solidFill>
              <a:srgbClr val="E3E6EA"/>
            </a:solidFill>
            <a:prstDash val="solid"/>
          </a:ln>
          <a:effectLst>
            <a:outerShdw sx="100000" sy="100000" kx="0" ky="0" algn="bl" rotWithShape="0" blurRad="76200" dist="25400" dir="5400000">
              <a:srgbClr val="000000">
                <a:alpha val="10000"/>
              </a:srgbClr>
            </a:outerShdw>
          </a:effectLst>
        </p:spPr>
      </p:sp>
      <p:sp>
        <p:nvSpPr>
          <p:cNvPr id="9" name="Text 7"/>
          <p:cNvSpPr txBox="1"/>
          <p:nvPr/>
        </p:nvSpPr>
        <p:spPr>
          <a:xfrm>
            <a:off x="4389120" y="2057400"/>
            <a:ext cx="3063240" cy="594360"/>
          </a:xfrm>
          <a:prstGeom prst="rect">
            <a:avLst/>
          </a:prstGeom>
          <a:noFill/>
          <a:ln/>
        </p:spPr>
        <p:txBody>
          <a:bodyPr wrap="square" lIns="0" tIns="0" rIns="0" bIns="0" rtlCol="0" anchor="ctr"/>
          <a:lstStyle/>
          <a:p>
            <a:pPr indent="0" marL="0">
              <a:buNone/>
            </a:pPr>
            <a:r>
              <a:rPr lang="en-US" sz="2400" b="1" dirty="0">
                <a:solidFill>
                  <a:srgbClr val="B084F5"/>
                </a:solidFill>
                <a:latin typeface="Calibri" pitchFamily="34" charset="0"/>
                <a:ea typeface="Calibri" pitchFamily="34" charset="-122"/>
                <a:cs typeface="Calibri" pitchFamily="34" charset="-120"/>
              </a:rPr>
              <a:t>1.6B+/月</a:t>
            </a:r>
            <a:endParaRPr lang="en-US" sz="2400" dirty="0"/>
          </a:p>
        </p:txBody>
      </p:sp>
      <p:sp>
        <p:nvSpPr>
          <p:cNvPr id="10" name="Text 8"/>
          <p:cNvSpPr txBox="1"/>
          <p:nvPr/>
        </p:nvSpPr>
        <p:spPr>
          <a:xfrm>
            <a:off x="4389120" y="2697480"/>
            <a:ext cx="30632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配信バッジ画像数</a:t>
            </a:r>
            <a:endParaRPr lang="en-US" sz="1150" dirty="0"/>
          </a:p>
        </p:txBody>
      </p:sp>
      <p:sp>
        <p:nvSpPr>
          <p:cNvPr id="11" name="Shape 9"/>
          <p:cNvSpPr/>
          <p:nvPr/>
        </p:nvSpPr>
        <p:spPr>
          <a:xfrm>
            <a:off x="7863840" y="1920240"/>
            <a:ext cx="3429000" cy="1371600"/>
          </a:xfrm>
          <a:prstGeom prst="roundRect">
            <a:avLst>
              <a:gd name="adj" fmla="val 6667"/>
            </a:avLst>
          </a:prstGeom>
          <a:solidFill>
            <a:srgbClr val="FFFFFF"/>
          </a:solidFill>
          <a:ln w="12700">
            <a:solidFill>
              <a:srgbClr val="E3E6EA"/>
            </a:solidFill>
            <a:prstDash val="solid"/>
          </a:ln>
          <a:effectLst>
            <a:outerShdw sx="100000" sy="100000" kx="0" ky="0" algn="bl" rotWithShape="0" blurRad="76200" dist="25400" dir="5400000">
              <a:srgbClr val="000000">
                <a:alpha val="10000"/>
              </a:srgbClr>
            </a:outerShdw>
          </a:effectLst>
        </p:spPr>
      </p:sp>
      <p:sp>
        <p:nvSpPr>
          <p:cNvPr id="12" name="Text 10"/>
          <p:cNvSpPr txBox="1"/>
          <p:nvPr/>
        </p:nvSpPr>
        <p:spPr>
          <a:xfrm>
            <a:off x="8046720" y="2057400"/>
            <a:ext cx="3063240" cy="594360"/>
          </a:xfrm>
          <a:prstGeom prst="rect">
            <a:avLst/>
          </a:prstGeom>
          <a:noFill/>
          <a:ln/>
        </p:spPr>
        <p:txBody>
          <a:bodyPr wrap="square" lIns="0" tIns="0" rIns="0" bIns="0" rtlCol="0" anchor="ctr"/>
          <a:lstStyle/>
          <a:p>
            <a:pPr indent="0" marL="0">
              <a:buNone/>
            </a:pPr>
            <a:r>
              <a:rPr lang="en-US" sz="2400" b="1" dirty="0">
                <a:solidFill>
                  <a:srgbClr val="B084F5"/>
                </a:solidFill>
                <a:latin typeface="Calibri" pitchFamily="34" charset="0"/>
                <a:ea typeface="Calibri" pitchFamily="34" charset="-122"/>
                <a:cs typeface="Calibri" pitchFamily="34" charset="-120"/>
              </a:rPr>
              <a:t>MIT / Apache 2.0</a:t>
            </a:r>
            <a:endParaRPr lang="en-US" sz="2400" dirty="0"/>
          </a:p>
        </p:txBody>
      </p:sp>
      <p:sp>
        <p:nvSpPr>
          <p:cNvPr id="13" name="Text 11"/>
          <p:cNvSpPr txBox="1"/>
          <p:nvPr/>
        </p:nvSpPr>
        <p:spPr>
          <a:xfrm>
            <a:off x="8046720" y="2697480"/>
            <a:ext cx="30632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デュアルライセンス</a:t>
            </a:r>
            <a:endParaRPr lang="en-US" sz="1150" dirty="0"/>
          </a:p>
        </p:txBody>
      </p:sp>
      <p:sp>
        <p:nvSpPr>
          <p:cNvPr id="14" name="Text 12"/>
          <p:cNvSpPr txBox="1"/>
          <p:nvPr/>
        </p:nvSpPr>
        <p:spPr>
          <a:xfrm>
            <a:off x="548640" y="3566160"/>
            <a:ext cx="10607040" cy="365760"/>
          </a:xfrm>
          <a:prstGeom prst="rect">
            <a:avLst/>
          </a:prstGeom>
          <a:noFill/>
          <a:ln/>
        </p:spPr>
        <p:txBody>
          <a:bodyPr wrap="square" lIns="0" tIns="0" rIns="0" bIns="0" rtlCol="0" anchor="ctr"/>
          <a:lstStyle/>
          <a:p>
            <a:pPr indent="0" marL="0">
              <a:buNone/>
            </a:pPr>
            <a:r>
              <a:rPr lang="en-US" sz="1400" b="1" dirty="0">
                <a:solidFill>
                  <a:srgbClr val="1A1F26"/>
                </a:solidFill>
                <a:latin typeface="Calibri" pitchFamily="34" charset="0"/>
                <a:ea typeface="Calibri" pitchFamily="34" charset="-122"/>
                <a:cs typeface="Calibri" pitchFamily="34" charset="-120"/>
              </a:rPr>
              <a:t>貢献のしやすさ(実際に確認できる情報)</a:t>
            </a:r>
            <a:endParaRPr lang="en-US" sz="1400" dirty="0"/>
          </a:p>
        </p:txBody>
      </p:sp>
      <p:sp>
        <p:nvSpPr>
          <p:cNvPr id="15" name="Text 13"/>
          <p:cNvSpPr txBox="1"/>
          <p:nvPr/>
        </p:nvSpPr>
        <p:spPr>
          <a:xfrm>
            <a:off x="548640" y="3977640"/>
            <a:ext cx="1060704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CONTRIBUTING.md に貢献ガイドラインが整備されている</a:t>
            </a:r>
            <a:endParaRPr lang="en-US" sz="1250" dirty="0"/>
          </a:p>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good-first-issue ラベルの付いた初心者向けタスクがある</a:t>
            </a:r>
            <a:endParaRPr lang="en-US" sz="1250" dirty="0"/>
          </a:p>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新しいバッジ追加のチュートリアルも用意されている(VS Code・Vue.js・Bootstrap等の著名プロジェクトも利用)</a:t>
            </a:r>
            <a:endParaRPr lang="en-US" sz="1250" dirty="0"/>
          </a:p>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SECURITY.md による脆弱性報告ポリシーも整備済み(セキュリティ関連の貢献も歓迎)</a:t>
            </a:r>
            <a:endParaRPr lang="en-US" sz="1250" dirty="0"/>
          </a:p>
        </p:txBody>
      </p:sp>
      <p:sp>
        <p:nvSpPr>
          <p:cNvPr id="16" name="Text 14"/>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github.com/badges/shields(取得時点のスター数。日々変動するため参考値)</a:t>
            </a:r>
            <a:endParaRPr lang="en-US" sz="100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5</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宣伝チャネルの効果(実例ケーススタディ)</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個人OSS開発者が、公開後数ヶ月で400+スターを集めた際の実測データ(1事例)</a:t>
            </a:r>
            <a:endParaRPr lang="en-US" sz="1250" dirty="0"/>
          </a:p>
        </p:txBody>
      </p:sp>
      <p:sp>
        <p:nvSpPr>
          <p:cNvPr id="5" name="Shape 3"/>
          <p:cNvSpPr/>
          <p:nvPr/>
        </p:nvSpPr>
        <p:spPr>
          <a:xfrm>
            <a:off x="548640" y="1920240"/>
            <a:ext cx="5212080" cy="3931920"/>
          </a:xfrm>
          <a:prstGeom prst="roundRect">
            <a:avLst>
              <a:gd name="adj" fmla="val 2326"/>
            </a:avLst>
          </a:prstGeom>
          <a:solidFill>
            <a:srgbClr val="FFFFFF"/>
          </a:solidFill>
          <a:ln w="12700">
            <a:solidFill>
              <a:srgbClr val="E3E6EA"/>
            </a:solidFill>
            <a:prstDash val="solid"/>
          </a:ln>
        </p:spPr>
      </p:sp>
      <p:sp>
        <p:nvSpPr>
          <p:cNvPr id="6" name="Text 4"/>
          <p:cNvSpPr txBox="1"/>
          <p:nvPr/>
        </p:nvSpPr>
        <p:spPr>
          <a:xfrm>
            <a:off x="822960" y="2103120"/>
            <a:ext cx="4754880" cy="365760"/>
          </a:xfrm>
          <a:prstGeom prst="rect">
            <a:avLst/>
          </a:prstGeom>
          <a:noFill/>
          <a:ln/>
        </p:spPr>
        <p:txBody>
          <a:bodyPr wrap="square" lIns="0" tIns="0" rIns="0" bIns="0" rtlCol="0" anchor="ctr"/>
          <a:lstStyle/>
          <a:p>
            <a:pPr indent="0" marL="0">
              <a:buNone/>
            </a:pPr>
            <a:r>
              <a:rPr lang="en-US" sz="1400" b="1" dirty="0">
                <a:solidFill>
                  <a:srgbClr val="58D68D"/>
                </a:solidFill>
                <a:latin typeface="Calibri" pitchFamily="34" charset="0"/>
                <a:ea typeface="Calibri" pitchFamily="34" charset="-122"/>
                <a:cs typeface="Calibri" pitchFamily="34" charset="-120"/>
              </a:rPr>
              <a:t>🚀 効果があったチャネル</a:t>
            </a:r>
            <a:endParaRPr lang="en-US" sz="1400" dirty="0"/>
          </a:p>
        </p:txBody>
      </p:sp>
      <p:sp>
        <p:nvSpPr>
          <p:cNvPr id="7" name="Text 5"/>
          <p:cNvSpPr txBox="1"/>
          <p:nvPr/>
        </p:nvSpPr>
        <p:spPr>
          <a:xfrm>
            <a:off x="822960" y="256032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Hacker News</a:t>
            </a:r>
            <a:endParaRPr lang="en-US" sz="1250" dirty="0"/>
          </a:p>
        </p:txBody>
      </p:sp>
      <p:sp>
        <p:nvSpPr>
          <p:cNvPr id="8" name="Text 6"/>
          <p:cNvSpPr txBox="1"/>
          <p:nvPr/>
        </p:nvSpPr>
        <p:spPr>
          <a:xfrm>
            <a:off x="822960" y="283464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「Show HN:」プレフィックスを付けて投稿する文化があり、Showタブ・トップページに掲載。最も効果大</a:t>
            </a:r>
            <a:endParaRPr lang="en-US" sz="1050" dirty="0"/>
          </a:p>
        </p:txBody>
      </p:sp>
      <p:sp>
        <p:nvSpPr>
          <p:cNvPr id="9" name="Text 7"/>
          <p:cNvSpPr txBox="1"/>
          <p:nvPr/>
        </p:nvSpPr>
        <p:spPr>
          <a:xfrm>
            <a:off x="822960" y="338328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Twitter/X</a:t>
            </a:r>
            <a:endParaRPr lang="en-US" sz="1250" dirty="0"/>
          </a:p>
        </p:txBody>
      </p:sp>
      <p:sp>
        <p:nvSpPr>
          <p:cNvPr id="10" name="Text 8"/>
          <p:cNvSpPr txBox="1"/>
          <p:nvPr/>
        </p:nvSpPr>
        <p:spPr>
          <a:xfrm>
            <a:off x="822960" y="365760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自分の発信単独では弱いが、フォロワーの多いインフルエンサーが拡散すると効果大</a:t>
            </a:r>
            <a:endParaRPr lang="en-US" sz="1050" dirty="0"/>
          </a:p>
        </p:txBody>
      </p:sp>
      <p:sp>
        <p:nvSpPr>
          <p:cNvPr id="11" name="Text 9"/>
          <p:cNvSpPr txBox="1"/>
          <p:nvPr/>
        </p:nvSpPr>
        <p:spPr>
          <a:xfrm>
            <a:off x="822960" y="420624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GitHub内の連鎖</a:t>
            </a:r>
            <a:endParaRPr lang="en-US" sz="1250" dirty="0"/>
          </a:p>
        </p:txBody>
      </p:sp>
      <p:sp>
        <p:nvSpPr>
          <p:cNvPr id="12" name="Text 10"/>
          <p:cNvSpPr txBox="1"/>
          <p:nvPr/>
        </p:nvSpPr>
        <p:spPr>
          <a:xfrm>
            <a:off x="822960" y="448056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フォロー中ユーザーがStarしたリポジトリがフィードに流れる仕組みがあり、フォロワーの多い人がStarすると連鎖的に増える</a:t>
            </a:r>
            <a:endParaRPr lang="en-US" sz="1050" dirty="0"/>
          </a:p>
        </p:txBody>
      </p:sp>
      <p:sp>
        <p:nvSpPr>
          <p:cNvPr id="13" name="Text 11"/>
          <p:cNvSpPr txBox="1"/>
          <p:nvPr/>
        </p:nvSpPr>
        <p:spPr>
          <a:xfrm>
            <a:off x="822960" y="502920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韓国版HN(news.hada.io)</a:t>
            </a:r>
            <a:endParaRPr lang="en-US" sz="1250" dirty="0"/>
          </a:p>
        </p:txBody>
      </p:sp>
      <p:sp>
        <p:nvSpPr>
          <p:cNvPr id="14" name="Text 12"/>
          <p:cNvSpPr txBox="1"/>
          <p:nvPr/>
        </p:nvSpPr>
        <p:spPr>
          <a:xfrm>
            <a:off x="822960" y="530352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現地の誰かが投稿したことで、そこから約40スターが集まった</a:t>
            </a:r>
            <a:endParaRPr lang="en-US" sz="1050" dirty="0"/>
          </a:p>
        </p:txBody>
      </p:sp>
      <p:sp>
        <p:nvSpPr>
          <p:cNvPr id="15" name="Shape 13"/>
          <p:cNvSpPr/>
          <p:nvPr/>
        </p:nvSpPr>
        <p:spPr>
          <a:xfrm>
            <a:off x="6035040" y="1920240"/>
            <a:ext cx="5212080" cy="3931920"/>
          </a:xfrm>
          <a:prstGeom prst="roundRect">
            <a:avLst>
              <a:gd name="adj" fmla="val 2326"/>
            </a:avLst>
          </a:prstGeom>
          <a:solidFill>
            <a:srgbClr val="FFFFFF"/>
          </a:solidFill>
          <a:ln w="12700">
            <a:solidFill>
              <a:srgbClr val="E3E6EA"/>
            </a:solidFill>
            <a:prstDash val="solid"/>
          </a:ln>
        </p:spPr>
      </p:sp>
      <p:sp>
        <p:nvSpPr>
          <p:cNvPr id="16" name="Text 14"/>
          <p:cNvSpPr txBox="1"/>
          <p:nvPr/>
        </p:nvSpPr>
        <p:spPr>
          <a:xfrm>
            <a:off x="6309360" y="2103120"/>
            <a:ext cx="4754880" cy="36576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 効果が薄かったチャネル</a:t>
            </a:r>
            <a:endParaRPr lang="en-US" sz="1400" dirty="0"/>
          </a:p>
        </p:txBody>
      </p:sp>
      <p:sp>
        <p:nvSpPr>
          <p:cNvPr id="17" name="Text 15"/>
          <p:cNvSpPr txBox="1"/>
          <p:nvPr/>
        </p:nvSpPr>
        <p:spPr>
          <a:xfrm>
            <a:off x="6309360" y="256032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Reddit</a:t>
            </a:r>
            <a:endParaRPr lang="en-US" sz="1250" dirty="0"/>
          </a:p>
        </p:txBody>
      </p:sp>
      <p:sp>
        <p:nvSpPr>
          <p:cNvPr id="18" name="Text 16"/>
          <p:cNvSpPr txBox="1"/>
          <p:nvPr/>
        </p:nvSpPr>
        <p:spPr>
          <a:xfrm>
            <a:off x="6309360" y="283464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投稿は伸びにくいことが多い(閲覧2.4kでUpvote6等)。ただしやり方次第で化ける可能性はある</a:t>
            </a:r>
            <a:endParaRPr lang="en-US" sz="1050" dirty="0"/>
          </a:p>
        </p:txBody>
      </p:sp>
      <p:sp>
        <p:nvSpPr>
          <p:cNvPr id="19" name="Text 17"/>
          <p:cNvSpPr txBox="1"/>
          <p:nvPr/>
        </p:nvSpPr>
        <p:spPr>
          <a:xfrm>
            <a:off x="6309360" y="338328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Product Hunt</a:t>
            </a:r>
            <a:endParaRPr lang="en-US" sz="1250" dirty="0"/>
          </a:p>
        </p:txBody>
      </p:sp>
      <p:sp>
        <p:nvSpPr>
          <p:cNvPr id="20" name="Text 18"/>
          <p:cNvSpPr txBox="1"/>
          <p:nvPr/>
        </p:nvSpPr>
        <p:spPr>
          <a:xfrm>
            <a:off x="6309360" y="365760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AI関連プロダクトが多く、その他のプロダクトは埋もれやすい</a:t>
            </a:r>
            <a:endParaRPr lang="en-US" sz="1050" dirty="0"/>
          </a:p>
        </p:txBody>
      </p:sp>
      <p:sp>
        <p:nvSpPr>
          <p:cNvPr id="21" name="Text 19"/>
          <p:cNvSpPr txBox="1"/>
          <p:nvPr/>
        </p:nvSpPr>
        <p:spPr>
          <a:xfrm>
            <a:off x="6309360" y="420624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Awesomeリストへの追加PR</a:t>
            </a:r>
            <a:endParaRPr lang="en-US" sz="1250" dirty="0"/>
          </a:p>
        </p:txBody>
      </p:sp>
      <p:sp>
        <p:nvSpPr>
          <p:cNvPr id="22" name="Text 20"/>
          <p:cNvSpPr txBox="1"/>
          <p:nvPr/>
        </p:nvSpPr>
        <p:spPr>
          <a:xfrm>
            <a:off x="6309360" y="448056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掲載されても閲覧者自体が少ない</a:t>
            </a:r>
            <a:endParaRPr lang="en-US" sz="1050" dirty="0"/>
          </a:p>
        </p:txBody>
      </p:sp>
      <p:sp>
        <p:nvSpPr>
          <p:cNvPr id="23" name="Text 21"/>
          <p:cNvSpPr txBox="1"/>
          <p:nvPr/>
        </p:nvSpPr>
        <p:spPr>
          <a:xfrm>
            <a:off x="6309360" y="502920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個人ブログ</a:t>
            </a:r>
            <a:endParaRPr lang="en-US" sz="1250" dirty="0"/>
          </a:p>
        </p:txBody>
      </p:sp>
      <p:sp>
        <p:nvSpPr>
          <p:cNvPr id="24" name="Text 22"/>
          <p:cNvSpPr txBox="1"/>
          <p:nvPr/>
        </p:nvSpPr>
        <p:spPr>
          <a:xfrm>
            <a:off x="6309360" y="530352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Qiita/Zenn等の媒体力があるプラットフォームでないと、Twitter投稿とあまり変わらない手応え</a:t>
            </a:r>
            <a:endParaRPr lang="en-US" sz="1050" dirty="0"/>
          </a:p>
        </p:txBody>
      </p:sp>
      <p:sp>
        <p:nvSpPr>
          <p:cNvPr id="25" name="Text 2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個人開発者によるOSSプロジェクト「Ephe」のブログ記事(1事例の実測値。分野・タイミングにより結果は変動しうる)</a:t>
            </a:r>
            <a:endParaRPr lang="en-US" sz="1000" dirty="0"/>
          </a:p>
        </p:txBody>
      </p:sp>
      <p:sp>
        <p:nvSpPr>
          <p:cNvPr id="26" name="Text 2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5</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実証済み5ステップ(別の実例: npmライブラリ)</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AEB7C4"/>
                </a:solidFill>
                <a:latin typeface="Calibri" pitchFamily="34" charset="0"/>
                <a:ea typeface="Calibri" pitchFamily="34" charset="-122"/>
                <a:cs typeface="Calibri" pitchFamily="34" charset="-120"/>
              </a:rPr>
              <a:t>SNSでの影響力がほぼ無い状態から、Githubスターを50まで伸ばした個人開発者の実例</a:t>
            </a:r>
            <a:endParaRPr lang="en-US" sz="1250" dirty="0"/>
          </a:p>
        </p:txBody>
      </p:sp>
      <p:sp>
        <p:nvSpPr>
          <p:cNvPr id="5" name="Shape 3"/>
          <p:cNvSpPr/>
          <p:nvPr/>
        </p:nvSpPr>
        <p:spPr>
          <a:xfrm>
            <a:off x="548640" y="1965960"/>
            <a:ext cx="384048" cy="384048"/>
          </a:xfrm>
          <a:prstGeom prst="ellipse">
            <a:avLst/>
          </a:prstGeom>
          <a:solidFill>
            <a:srgbClr val="58D68D"/>
          </a:solidFill>
          <a:ln/>
        </p:spPr>
      </p:sp>
      <p:sp>
        <p:nvSpPr>
          <p:cNvPr id="6"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97280" y="1920240"/>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英語で書く</a:t>
            </a:r>
            <a:endParaRPr lang="en-US" sz="1300" dirty="0"/>
          </a:p>
        </p:txBody>
      </p:sp>
      <p:sp>
        <p:nvSpPr>
          <p:cNvPr id="8" name="Text 6"/>
          <p:cNvSpPr txBox="1"/>
          <p:nvPr/>
        </p:nvSpPr>
        <p:spPr>
          <a:xfrm>
            <a:off x="4114800" y="1920240"/>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README・告知文はすべて英語にする。日本語のみだとリーチできる人数が大きく限定される</a:t>
            </a:r>
            <a:endParaRPr lang="en-US" sz="1150" dirty="0"/>
          </a:p>
        </p:txBody>
      </p:sp>
      <p:sp>
        <p:nvSpPr>
          <p:cNvPr id="9" name="Shape 7"/>
          <p:cNvSpPr/>
          <p:nvPr/>
        </p:nvSpPr>
        <p:spPr>
          <a:xfrm>
            <a:off x="548640" y="2807208"/>
            <a:ext cx="384048" cy="384048"/>
          </a:xfrm>
          <a:prstGeom prst="ellipse">
            <a:avLst/>
          </a:prstGeom>
          <a:solidFill>
            <a:srgbClr val="58D68D"/>
          </a:solidFill>
          <a:ln/>
        </p:spPr>
      </p:sp>
      <p:sp>
        <p:nvSpPr>
          <p:cNvPr id="10" name="Text 8"/>
          <p:cNvSpPr txBox="1"/>
          <p:nvPr/>
        </p:nvSpPr>
        <p:spPr>
          <a:xfrm>
            <a:off x="548640" y="2807208"/>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761488"/>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アイキャッチ画像を作る</a:t>
            </a:r>
            <a:endParaRPr lang="en-US" sz="1300" dirty="0"/>
          </a:p>
        </p:txBody>
      </p:sp>
      <p:sp>
        <p:nvSpPr>
          <p:cNvPr id="12" name="Text 10"/>
          <p:cNvSpPr txBox="1"/>
          <p:nvPr/>
        </p:nvSpPr>
        <p:spPr>
          <a:xfrm>
            <a:off x="4114800" y="2761488"/>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Canva等でOGP画像を作成し、リポジトリのSocial preview設定に登録する(第一印象を左右する)</a:t>
            </a:r>
            <a:endParaRPr lang="en-US" sz="1150" dirty="0"/>
          </a:p>
        </p:txBody>
      </p:sp>
      <p:sp>
        <p:nvSpPr>
          <p:cNvPr id="13" name="Shape 11"/>
          <p:cNvSpPr/>
          <p:nvPr/>
        </p:nvSpPr>
        <p:spPr>
          <a:xfrm>
            <a:off x="548640" y="3648456"/>
            <a:ext cx="384048" cy="384048"/>
          </a:xfrm>
          <a:prstGeom prst="ellipse">
            <a:avLst/>
          </a:prstGeom>
          <a:solidFill>
            <a:srgbClr val="58D68D"/>
          </a:solidFill>
          <a:ln/>
        </p:spPr>
      </p:sp>
      <p:sp>
        <p:nvSpPr>
          <p:cNvPr id="14" name="Text 12"/>
          <p:cNvSpPr txBox="1"/>
          <p:nvPr/>
        </p:nvSpPr>
        <p:spPr>
          <a:xfrm>
            <a:off x="548640" y="3648456"/>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097280" y="3602736"/>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README/公式サイトをグラフィカルに</a:t>
            </a:r>
            <a:endParaRPr lang="en-US" sz="1300" dirty="0"/>
          </a:p>
        </p:txBody>
      </p:sp>
      <p:sp>
        <p:nvSpPr>
          <p:cNvPr id="16" name="Text 14"/>
          <p:cNvSpPr txBox="1"/>
          <p:nvPr/>
        </p:nvSpPr>
        <p:spPr>
          <a:xfrm>
            <a:off x="4114800" y="3602736"/>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デモ・使い方が伝わるREADMEにする。GitHub Pages等で簡易な公式サイトを作るのも有効</a:t>
            </a:r>
            <a:endParaRPr lang="en-US" sz="1150" dirty="0"/>
          </a:p>
        </p:txBody>
      </p:sp>
      <p:sp>
        <p:nvSpPr>
          <p:cNvPr id="17" name="Shape 15"/>
          <p:cNvSpPr/>
          <p:nvPr/>
        </p:nvSpPr>
        <p:spPr>
          <a:xfrm>
            <a:off x="548640" y="4489704"/>
            <a:ext cx="384048" cy="384048"/>
          </a:xfrm>
          <a:prstGeom prst="ellipse">
            <a:avLst/>
          </a:prstGeom>
          <a:solidFill>
            <a:srgbClr val="58D68D"/>
          </a:solidFill>
          <a:ln/>
        </p:spPr>
      </p:sp>
      <p:sp>
        <p:nvSpPr>
          <p:cNvPr id="18" name="Text 16"/>
          <p:cNvSpPr txBox="1"/>
          <p:nvPr/>
        </p:nvSpPr>
        <p:spPr>
          <a:xfrm>
            <a:off x="548640" y="4489704"/>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097280" y="4443984"/>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告知する</a:t>
            </a:r>
            <a:endParaRPr lang="en-US" sz="1300" dirty="0"/>
          </a:p>
        </p:txBody>
      </p:sp>
      <p:sp>
        <p:nvSpPr>
          <p:cNvPr id="20" name="Text 18"/>
          <p:cNvSpPr txBox="1"/>
          <p:nvPr/>
        </p:nvSpPr>
        <p:spPr>
          <a:xfrm>
            <a:off x="4114800" y="4443984"/>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Product Hunt・Zenn・Qiita・Dev.to等で公開を告知する。ただし効果は一時的(数日)</a:t>
            </a:r>
            <a:endParaRPr lang="en-US" sz="1150" dirty="0"/>
          </a:p>
        </p:txBody>
      </p:sp>
      <p:sp>
        <p:nvSpPr>
          <p:cNvPr id="21" name="Shape 19"/>
          <p:cNvSpPr/>
          <p:nvPr/>
        </p:nvSpPr>
        <p:spPr>
          <a:xfrm>
            <a:off x="548640" y="5330952"/>
            <a:ext cx="384048" cy="384048"/>
          </a:xfrm>
          <a:prstGeom prst="ellipse">
            <a:avLst/>
          </a:prstGeom>
          <a:solidFill>
            <a:srgbClr val="58D68D"/>
          </a:solidFill>
          <a:ln/>
        </p:spPr>
      </p:sp>
      <p:sp>
        <p:nvSpPr>
          <p:cNvPr id="22" name="Text 20"/>
          <p:cNvSpPr txBox="1"/>
          <p:nvPr/>
        </p:nvSpPr>
        <p:spPr>
          <a:xfrm>
            <a:off x="548640" y="5330952"/>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1097280" y="5285232"/>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検索される記事を作る</a:t>
            </a:r>
            <a:endParaRPr lang="en-US" sz="1300" dirty="0"/>
          </a:p>
        </p:txBody>
      </p:sp>
      <p:sp>
        <p:nvSpPr>
          <p:cNvPr id="24" name="Text 22"/>
          <p:cNvSpPr txBox="1"/>
          <p:nvPr/>
        </p:nvSpPr>
        <p:spPr>
          <a:xfrm>
            <a:off x="4114800" y="5285232"/>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想定ユーザーが検索するキーワードでブログ記事を書く。即効性は無いが継続的な流入源になる</a:t>
            </a:r>
            <a:endParaRPr lang="en-US" sz="1150" dirty="0"/>
          </a:p>
        </p:txBody>
      </p:sp>
      <p:sp>
        <p:nvSpPr>
          <p:cNvPr id="25" name="Text 2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AEB7C4"/>
                </a:solidFill>
                <a:latin typeface="Calibri" pitchFamily="34" charset="0"/>
                <a:ea typeface="Calibri" pitchFamily="34" charset="-122"/>
                <a:cs typeface="Calibri" pitchFamily="34" charset="-120"/>
              </a:rPr>
              <a:t>出典: npmのPDF作成ライブラリ(labelmake)の開発者によるブログ記事(1事例の実体験)</a:t>
            </a:r>
            <a:endParaRPr lang="en-US" sz="1000" dirty="0"/>
          </a:p>
        </p:txBody>
      </p:sp>
      <p:sp>
        <p:nvSpPr>
          <p:cNvPr id="26" name="Text 2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5</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実践手順: Hacker Newsの使い方</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最も効果があったチャネル(HN)を、実際にどう使うか</a:t>
            </a:r>
            <a:endParaRPr lang="en-US" sz="1250" dirty="0"/>
          </a:p>
        </p:txBody>
      </p:sp>
      <p:sp>
        <p:nvSpPr>
          <p:cNvPr id="5" name="Shape 3"/>
          <p:cNvSpPr/>
          <p:nvPr/>
        </p:nvSpPr>
        <p:spPr>
          <a:xfrm>
            <a:off x="548640" y="1920240"/>
            <a:ext cx="10607040" cy="777240"/>
          </a:xfrm>
          <a:prstGeom prst="roundRect">
            <a:avLst>
              <a:gd name="adj" fmla="val 9412"/>
            </a:avLst>
          </a:prstGeom>
          <a:solidFill>
            <a:srgbClr val="FFFFFF"/>
          </a:solidFill>
          <a:ln w="12700">
            <a:solidFill>
              <a:srgbClr val="E3E6EA"/>
            </a:solidFill>
            <a:prstDash val="solid"/>
          </a:ln>
        </p:spPr>
      </p:sp>
      <p:sp>
        <p:nvSpPr>
          <p:cNvPr id="6" name="Text 4"/>
          <p:cNvSpPr txBox="1"/>
          <p:nvPr/>
        </p:nvSpPr>
        <p:spPr>
          <a:xfrm>
            <a:off x="822960" y="20116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① アカウント作成</a:t>
            </a:r>
            <a:endParaRPr lang="en-US" sz="1300" dirty="0"/>
          </a:p>
        </p:txBody>
      </p:sp>
      <p:sp>
        <p:nvSpPr>
          <p:cNvPr id="7" name="Text 5"/>
          <p:cNvSpPr txBox="1"/>
          <p:nvPr/>
        </p:nvSpPr>
        <p:spPr>
          <a:xfrm>
            <a:off x="3749040" y="20116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news.ycombinator.com/login → 「Create Account」。ユーザー名とパスワードのみ、メール登録不要</a:t>
            </a:r>
            <a:endParaRPr lang="en-US" sz="1050" dirty="0"/>
          </a:p>
        </p:txBody>
      </p:sp>
      <p:sp>
        <p:nvSpPr>
          <p:cNvPr id="8" name="Shape 6"/>
          <p:cNvSpPr/>
          <p:nvPr/>
        </p:nvSpPr>
        <p:spPr>
          <a:xfrm>
            <a:off x="548640" y="2834640"/>
            <a:ext cx="10607040" cy="777240"/>
          </a:xfrm>
          <a:prstGeom prst="roundRect">
            <a:avLst>
              <a:gd name="adj" fmla="val 9412"/>
            </a:avLst>
          </a:prstGeom>
          <a:solidFill>
            <a:srgbClr val="FFFFFF"/>
          </a:solidFill>
          <a:ln w="12700">
            <a:solidFill>
              <a:srgbClr val="E3E6EA"/>
            </a:solidFill>
            <a:prstDash val="solid"/>
          </a:ln>
        </p:spPr>
      </p:sp>
      <p:sp>
        <p:nvSpPr>
          <p:cNvPr id="9" name="Text 7"/>
          <p:cNvSpPr txBox="1"/>
          <p:nvPr/>
        </p:nvSpPr>
        <p:spPr>
          <a:xfrm>
            <a:off x="822960" y="29260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② /newest を理解する</a:t>
            </a:r>
            <a:endParaRPr lang="en-US" sz="1300" dirty="0"/>
          </a:p>
        </p:txBody>
      </p:sp>
      <p:sp>
        <p:nvSpPr>
          <p:cNvPr id="10" name="Text 8"/>
          <p:cNvSpPr txBox="1"/>
          <p:nvPr/>
        </p:nvSpPr>
        <p:spPr>
          <a:xfrm>
            <a:off x="3749040" y="29260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news.ycombinator.com/newest は投稿順の新着一覧。ここでUpvoteを集めるとアルゴリズムでトップページ側へ浮上する</a:t>
            </a:r>
            <a:endParaRPr lang="en-US" sz="1050" dirty="0"/>
          </a:p>
        </p:txBody>
      </p:sp>
      <p:sp>
        <p:nvSpPr>
          <p:cNvPr id="11" name="Shape 9"/>
          <p:cNvSpPr/>
          <p:nvPr/>
        </p:nvSpPr>
        <p:spPr>
          <a:xfrm>
            <a:off x="548640" y="3749040"/>
            <a:ext cx="10607040" cy="777240"/>
          </a:xfrm>
          <a:prstGeom prst="roundRect">
            <a:avLst>
              <a:gd name="adj" fmla="val 9412"/>
            </a:avLst>
          </a:prstGeom>
          <a:solidFill>
            <a:srgbClr val="FFFFFF"/>
          </a:solidFill>
          <a:ln w="12700">
            <a:solidFill>
              <a:srgbClr val="E3E6EA"/>
            </a:solidFill>
            <a:prstDash val="solid"/>
          </a:ln>
        </p:spPr>
      </p:sp>
      <p:sp>
        <p:nvSpPr>
          <p:cNvPr id="12" name="Text 10"/>
          <p:cNvSpPr txBox="1"/>
          <p:nvPr/>
        </p:nvSpPr>
        <p:spPr>
          <a:xfrm>
            <a:off x="822960" y="38404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③ URLをそのまま貼って投稿</a:t>
            </a:r>
            <a:endParaRPr lang="en-US" sz="1300" dirty="0"/>
          </a:p>
        </p:txBody>
      </p:sp>
      <p:sp>
        <p:nvSpPr>
          <p:cNvPr id="13" name="Text 11"/>
          <p:cNvSpPr txBox="1"/>
          <p:nvPr/>
        </p:nvSpPr>
        <p:spPr>
          <a:xfrm>
            <a:off x="3749040" y="38404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submitページの「URL」欄にGitHubリポジトリのURLをそのまま貼るだけでよい(特別な連携・認証設定は不要)。Titleは先頭に「Show HN: 」を付けると自作ツール専用のShowタブにも掲載される</a:t>
            </a:r>
            <a:endParaRPr lang="en-US" sz="1050" dirty="0"/>
          </a:p>
        </p:txBody>
      </p:sp>
      <p:sp>
        <p:nvSpPr>
          <p:cNvPr id="14" name="Shape 12"/>
          <p:cNvSpPr/>
          <p:nvPr/>
        </p:nvSpPr>
        <p:spPr>
          <a:xfrm>
            <a:off x="548640" y="4663440"/>
            <a:ext cx="10607040" cy="777240"/>
          </a:xfrm>
          <a:prstGeom prst="roundRect">
            <a:avLst>
              <a:gd name="adj" fmla="val 9412"/>
            </a:avLst>
          </a:prstGeom>
          <a:solidFill>
            <a:srgbClr val="FFFFFF"/>
          </a:solidFill>
          <a:ln w="12700">
            <a:solidFill>
              <a:srgbClr val="E3E6EA"/>
            </a:solidFill>
            <a:prstDash val="solid"/>
          </a:ln>
        </p:spPr>
      </p:sp>
      <p:sp>
        <p:nvSpPr>
          <p:cNvPr id="15" name="Text 13"/>
          <p:cNvSpPr txBox="1"/>
          <p:nvPr/>
        </p:nvSpPr>
        <p:spPr>
          <a:xfrm>
            <a:off x="822960" y="47548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④ Karma(信頼度)を意識</a:t>
            </a:r>
            <a:endParaRPr lang="en-US" sz="1300" dirty="0"/>
          </a:p>
        </p:txBody>
      </p:sp>
      <p:sp>
        <p:nvSpPr>
          <p:cNvPr id="16" name="Text 14"/>
          <p:cNvSpPr txBox="1"/>
          <p:nvPr/>
        </p:nvSpPr>
        <p:spPr>
          <a:xfrm>
            <a:off x="3749040" y="47548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他人の投稿へのコメント・Upvoteで蓄積されるポイント制度。低いと表示・投稿頻度で不利になることがある</a:t>
            </a:r>
            <a:endParaRPr lang="en-US" sz="1050" dirty="0"/>
          </a:p>
        </p:txBody>
      </p:sp>
      <p:sp>
        <p:nvSpPr>
          <p:cNvPr id="17" name="Shape 15"/>
          <p:cNvSpPr/>
          <p:nvPr/>
        </p:nvSpPr>
        <p:spPr>
          <a:xfrm>
            <a:off x="548640" y="5623560"/>
            <a:ext cx="10607040" cy="594360"/>
          </a:xfrm>
          <a:prstGeom prst="roundRect">
            <a:avLst>
              <a:gd name="adj" fmla="val 12308"/>
            </a:avLst>
          </a:prstGeom>
          <a:solidFill>
            <a:srgbClr val="B084F5">
              <a:alpha val="12000"/>
            </a:srgbClr>
          </a:solidFill>
          <a:ln/>
        </p:spPr>
      </p:sp>
      <p:sp>
        <p:nvSpPr>
          <p:cNvPr id="18" name="Text 16"/>
          <p:cNvSpPr txBox="1"/>
          <p:nvPr/>
        </p:nvSpPr>
        <p:spPr>
          <a:xfrm>
            <a:off x="822960" y="5696712"/>
            <a:ext cx="10058400" cy="45720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手動投稿は簡単/自動投稿は非対応: URLを貼るだけの手動投稿にハードルは無い。一方、GitHub Actions等からのAPI経由の自動投稿はHNが公式提供しておらず、規約上も推奨されない</a:t>
            </a:r>
            <a:endParaRPr lang="en-US" sz="11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Hacker News公式の投稿・利用フロー、および個人開発者(Ephe)の実体験</a:t>
            </a:r>
            <a:endParaRPr lang="en-US" sz="100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6</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リポジトリ運用のコツ</a:t>
            </a:r>
            <a:endParaRPr lang="en-US" sz="2600" dirty="0"/>
          </a:p>
        </p:txBody>
      </p:sp>
      <p:sp>
        <p:nvSpPr>
          <p:cNvPr id="4" name="Shape 2"/>
          <p:cNvSpPr/>
          <p:nvPr/>
        </p:nvSpPr>
        <p:spPr>
          <a:xfrm>
            <a:off x="548640" y="1737360"/>
            <a:ext cx="3566160" cy="2377440"/>
          </a:xfrm>
          <a:prstGeom prst="roundRect">
            <a:avLst>
              <a:gd name="adj" fmla="val 4615"/>
            </a:avLst>
          </a:prstGeom>
          <a:solidFill>
            <a:srgbClr val="232A34"/>
          </a:solidFill>
          <a:ln/>
        </p:spPr>
      </p:sp>
      <p:sp>
        <p:nvSpPr>
          <p:cNvPr id="5" name="Text 3"/>
          <p:cNvSpPr txBox="1"/>
          <p:nvPr/>
        </p:nvSpPr>
        <p:spPr>
          <a:xfrm>
            <a:off x="822960" y="1965960"/>
            <a:ext cx="3017520" cy="457200"/>
          </a:xfrm>
          <a:prstGeom prst="rect">
            <a:avLst/>
          </a:prstGeom>
          <a:noFill/>
          <a:ln/>
        </p:spPr>
        <p:txBody>
          <a:bodyPr wrap="square" lIns="0" tIns="0" rIns="0" bIns="0" rtlCol="0" anchor="ctr"/>
          <a:lstStyle/>
          <a:p>
            <a:pPr indent="0" marL="0">
              <a:buNone/>
            </a:pPr>
            <a:r>
              <a:rPr lang="en-US" sz="1600" b="1" dirty="0">
                <a:solidFill>
                  <a:srgbClr val="58D68D"/>
                </a:solidFill>
                <a:latin typeface="Calibri" pitchFamily="34" charset="0"/>
                <a:ea typeface="Calibri" pitchFamily="34" charset="-122"/>
                <a:cs typeface="Calibri" pitchFamily="34" charset="-120"/>
              </a:rPr>
              <a:t>コミット</a:t>
            </a:r>
            <a:endParaRPr lang="en-US" sz="1600" dirty="0"/>
          </a:p>
        </p:txBody>
      </p:sp>
      <p:sp>
        <p:nvSpPr>
          <p:cNvPr id="6" name="Text 4"/>
          <p:cNvSpPr txBox="1"/>
          <p:nvPr/>
        </p:nvSpPr>
        <p:spPr>
          <a:xfrm>
            <a:off x="822960" y="2468880"/>
            <a:ext cx="3017520" cy="1463040"/>
          </a:xfrm>
          <a:prstGeom prst="rect">
            <a:avLst/>
          </a:prstGeom>
          <a:noFill/>
          <a:ln/>
        </p:spPr>
        <p:txBody>
          <a:bodyPr wrap="square" lIns="0" tIns="0" rIns="0" bIns="0" rtlCol="0" anchor="ctr"/>
          <a:lstStyle/>
          <a:p>
            <a:pPr indent="0" marL="0">
              <a:buNone/>
            </a:pPr>
            <a:r>
              <a:rPr lang="en-US" sz="1250" dirty="0">
                <a:solidFill>
                  <a:srgbClr val="AEB7C4"/>
                </a:solidFill>
                <a:latin typeface="Calibri" pitchFamily="34" charset="0"/>
                <a:ea typeface="Calibri" pitchFamily="34" charset="-122"/>
                <a:cs typeface="Calibri" pitchFamily="34" charset="-120"/>
              </a:rPr>
              <a:t>小さく頻繁に。メッセージは「なぜ」を書く</a:t>
            </a:r>
            <a:endParaRPr lang="en-US" sz="1250" dirty="0"/>
          </a:p>
        </p:txBody>
      </p:sp>
      <p:sp>
        <p:nvSpPr>
          <p:cNvPr id="7" name="Shape 5"/>
          <p:cNvSpPr/>
          <p:nvPr/>
        </p:nvSpPr>
        <p:spPr>
          <a:xfrm>
            <a:off x="4343400" y="1737360"/>
            <a:ext cx="3566160" cy="2377440"/>
          </a:xfrm>
          <a:prstGeom prst="roundRect">
            <a:avLst>
              <a:gd name="adj" fmla="val 4615"/>
            </a:avLst>
          </a:prstGeom>
          <a:solidFill>
            <a:srgbClr val="232A34"/>
          </a:solidFill>
          <a:ln/>
        </p:spPr>
      </p:sp>
      <p:sp>
        <p:nvSpPr>
          <p:cNvPr id="8" name="Text 6"/>
          <p:cNvSpPr txBox="1"/>
          <p:nvPr/>
        </p:nvSpPr>
        <p:spPr>
          <a:xfrm>
            <a:off x="4617720" y="1965960"/>
            <a:ext cx="3017520" cy="457200"/>
          </a:xfrm>
          <a:prstGeom prst="rect">
            <a:avLst/>
          </a:prstGeom>
          <a:noFill/>
          <a:ln/>
        </p:spPr>
        <p:txBody>
          <a:bodyPr wrap="square" lIns="0" tIns="0" rIns="0" bIns="0" rtlCol="0" anchor="ctr"/>
          <a:lstStyle/>
          <a:p>
            <a:pPr indent="0" marL="0">
              <a:buNone/>
            </a:pPr>
            <a:r>
              <a:rPr lang="en-US" sz="1600" b="1" dirty="0">
                <a:solidFill>
                  <a:srgbClr val="58D68D"/>
                </a:solidFill>
                <a:latin typeface="Calibri" pitchFamily="34" charset="0"/>
                <a:ea typeface="Calibri" pitchFamily="34" charset="-122"/>
                <a:cs typeface="Calibri" pitchFamily="34" charset="-120"/>
              </a:rPr>
              <a:t>Issue/PR</a:t>
            </a:r>
            <a:endParaRPr lang="en-US" sz="1600" dirty="0"/>
          </a:p>
        </p:txBody>
      </p:sp>
      <p:sp>
        <p:nvSpPr>
          <p:cNvPr id="9" name="Text 7"/>
          <p:cNvSpPr txBox="1"/>
          <p:nvPr/>
        </p:nvSpPr>
        <p:spPr>
          <a:xfrm>
            <a:off x="4617720" y="2468880"/>
            <a:ext cx="3017520" cy="1463040"/>
          </a:xfrm>
          <a:prstGeom prst="rect">
            <a:avLst/>
          </a:prstGeom>
          <a:noFill/>
          <a:ln/>
        </p:spPr>
        <p:txBody>
          <a:bodyPr wrap="square" lIns="0" tIns="0" rIns="0" bIns="0" rtlCol="0" anchor="ctr"/>
          <a:lstStyle/>
          <a:p>
            <a:pPr indent="0" marL="0">
              <a:buNone/>
            </a:pPr>
            <a:r>
              <a:rPr lang="en-US" sz="1250" dirty="0">
                <a:solidFill>
                  <a:srgbClr val="AEB7C4"/>
                </a:solidFill>
                <a:latin typeface="Calibri" pitchFamily="34" charset="0"/>
                <a:ea typeface="Calibri" pitchFamily="34" charset="-122"/>
                <a:cs typeface="Calibri" pitchFamily="34" charset="-120"/>
              </a:rPr>
              <a:t>作業ログとして活用。後から経緯を追える</a:t>
            </a:r>
            <a:endParaRPr lang="en-US" sz="1250" dirty="0"/>
          </a:p>
        </p:txBody>
      </p:sp>
      <p:sp>
        <p:nvSpPr>
          <p:cNvPr id="10" name="Shape 8"/>
          <p:cNvSpPr/>
          <p:nvPr/>
        </p:nvSpPr>
        <p:spPr>
          <a:xfrm>
            <a:off x="8138160" y="1737360"/>
            <a:ext cx="3566160" cy="2377440"/>
          </a:xfrm>
          <a:prstGeom prst="roundRect">
            <a:avLst>
              <a:gd name="adj" fmla="val 4615"/>
            </a:avLst>
          </a:prstGeom>
          <a:solidFill>
            <a:srgbClr val="232A34"/>
          </a:solidFill>
          <a:ln/>
        </p:spPr>
      </p:sp>
      <p:sp>
        <p:nvSpPr>
          <p:cNvPr id="11" name="Text 9"/>
          <p:cNvSpPr txBox="1"/>
          <p:nvPr/>
        </p:nvSpPr>
        <p:spPr>
          <a:xfrm>
            <a:off x="8412480" y="1965960"/>
            <a:ext cx="3017520" cy="457200"/>
          </a:xfrm>
          <a:prstGeom prst="rect">
            <a:avLst/>
          </a:prstGeom>
          <a:noFill/>
          <a:ln/>
        </p:spPr>
        <p:txBody>
          <a:bodyPr wrap="square" lIns="0" tIns="0" rIns="0" bIns="0" rtlCol="0" anchor="ctr"/>
          <a:lstStyle/>
          <a:p>
            <a:pPr indent="0" marL="0">
              <a:buNone/>
            </a:pPr>
            <a:r>
              <a:rPr lang="en-US" sz="1600" b="1" dirty="0">
                <a:solidFill>
                  <a:srgbClr val="58D68D"/>
                </a:solidFill>
                <a:latin typeface="Calibri" pitchFamily="34" charset="0"/>
                <a:ea typeface="Calibri" pitchFamily="34" charset="-122"/>
                <a:cs typeface="Calibri" pitchFamily="34" charset="-120"/>
              </a:rPr>
              <a:t>ブランチ運用</a:t>
            </a:r>
            <a:endParaRPr lang="en-US" sz="1600" dirty="0"/>
          </a:p>
        </p:txBody>
      </p:sp>
      <p:sp>
        <p:nvSpPr>
          <p:cNvPr id="12" name="Text 10"/>
          <p:cNvSpPr txBox="1"/>
          <p:nvPr/>
        </p:nvSpPr>
        <p:spPr>
          <a:xfrm>
            <a:off x="8412480" y="2468880"/>
            <a:ext cx="3017520" cy="1463040"/>
          </a:xfrm>
          <a:prstGeom prst="rect">
            <a:avLst/>
          </a:prstGeom>
          <a:noFill/>
          <a:ln/>
        </p:spPr>
        <p:txBody>
          <a:bodyPr wrap="square" lIns="0" tIns="0" rIns="0" bIns="0" rtlCol="0" anchor="ctr"/>
          <a:lstStyle/>
          <a:p>
            <a:pPr indent="0" marL="0">
              <a:buNone/>
            </a:pPr>
            <a:r>
              <a:rPr lang="en-US" sz="1250" dirty="0">
                <a:solidFill>
                  <a:srgbClr val="AEB7C4"/>
                </a:solidFill>
                <a:latin typeface="Calibri" pitchFamily="34" charset="0"/>
                <a:ea typeface="Calibri" pitchFamily="34" charset="-122"/>
                <a:cs typeface="Calibri" pitchFamily="34" charset="-120"/>
              </a:rPr>
              <a:t>featureブランチを切り、mainは常に安定させる</a:t>
            </a:r>
            <a:endParaRPr lang="en-US" sz="12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7</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継続の記録フォーマット</a:t>
            </a:r>
            <a:endParaRPr lang="en-US" sz="2600" dirty="0"/>
          </a:p>
        </p:txBody>
      </p:sp>
      <p:sp>
        <p:nvSpPr>
          <p:cNvPr id="4" name="Text 2"/>
          <p:cNvSpPr txBox="1"/>
          <p:nvPr/>
        </p:nvSpPr>
        <p:spPr>
          <a:xfrm>
            <a:off x="548640" y="1554480"/>
            <a:ext cx="10607040" cy="36576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このパワポの育て方</a:t>
            </a:r>
            <a:endParaRPr lang="en-US" sz="1500" dirty="0"/>
          </a:p>
        </p:txBody>
      </p:sp>
      <p:sp>
        <p:nvSpPr>
          <p:cNvPr id="5" name="Text 3"/>
          <p:cNvSpPr txBox="1"/>
          <p:nvPr/>
        </p:nvSpPr>
        <p:spPr>
          <a:xfrm>
            <a:off x="548640" y="1965960"/>
            <a:ext cx="10607040" cy="182880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5B6472"/>
                </a:solidFill>
                <a:latin typeface="Calibri" pitchFamily="34" charset="0"/>
                <a:ea typeface="Calibri" pitchFamily="34" charset="-122"/>
                <a:cs typeface="Calibri" pitchFamily="34" charset="-120"/>
              </a:rPr>
              <a:t>Claudeに質問、または調べた記事を共有 → 事実として妥当な部分だけを取捨選択してスライドに追記・更新する</a:t>
            </a:r>
            <a:endParaRPr lang="en-US" sz="1400" dirty="0"/>
          </a:p>
          <a:p>
            <a:pPr marL="342900" indent="-342900">
              <a:spcAft>
                <a:spcPts val="1000"/>
              </a:spcAft>
              <a:buSzPct val="100000"/>
              <a:buChar char="•"/>
            </a:pPr>
            <a:r>
              <a:rPr lang="en-US" sz="1400" dirty="0">
                <a:solidFill>
                  <a:srgbClr val="5B6472"/>
                </a:solidFill>
                <a:latin typeface="Calibri" pitchFamily="34" charset="0"/>
                <a:ea typeface="Calibri" pitchFamily="34" charset="-122"/>
                <a:cs typeface="Calibri" pitchFamily="34" charset="-120"/>
              </a:rPr>
              <a:t>新しいトピックが増えたら、対応するセクション(2〜6)にスライドを追加する</a:t>
            </a:r>
            <a:endParaRPr lang="en-US" sz="1400" dirty="0"/>
          </a:p>
          <a:p>
            <a:pPr marL="342900" indent="-342900">
              <a:spcAft>
                <a:spcPts val="1000"/>
              </a:spcAft>
              <a:buSzPct val="100000"/>
              <a:buChar char="•"/>
            </a:pPr>
            <a:r>
              <a:rPr lang="en-US" sz="1400" dirty="0">
                <a:solidFill>
                  <a:srgbClr val="5B6472"/>
                </a:solidFill>
                <a:latin typeface="Calibri" pitchFamily="34" charset="0"/>
                <a:ea typeface="Calibri" pitchFamily="34" charset="-122"/>
                <a:cs typeface="Calibri" pitchFamily="34" charset="-120"/>
              </a:rPr>
              <a:t>Claude CCA-F試験対策の内容は、このファイルには含めず cca-f-study-guide.pptx 側で管理する</a:t>
            </a:r>
            <a:endParaRPr lang="en-US" sz="1400" dirty="0"/>
          </a:p>
        </p:txBody>
      </p:sp>
      <p:sp>
        <p:nvSpPr>
          <p:cNvPr id="6" name="Shape 4"/>
          <p:cNvSpPr/>
          <p:nvPr/>
        </p:nvSpPr>
        <p:spPr>
          <a:xfrm>
            <a:off x="548640" y="4023360"/>
            <a:ext cx="10607040" cy="2103120"/>
          </a:xfrm>
          <a:prstGeom prst="roundRect">
            <a:avLst>
              <a:gd name="adj" fmla="val 4348"/>
            </a:avLst>
          </a:prstGeom>
          <a:solidFill>
            <a:srgbClr val="FFFFFF"/>
          </a:solidFill>
          <a:ln w="12700">
            <a:solidFill>
              <a:srgbClr val="E3E6EA"/>
            </a:solidFill>
            <a:prstDash val="solid"/>
          </a:ln>
        </p:spPr>
      </p:sp>
      <p:sp>
        <p:nvSpPr>
          <p:cNvPr id="7" name="Text 5"/>
          <p:cNvSpPr txBox="1"/>
          <p:nvPr/>
        </p:nvSpPr>
        <p:spPr>
          <a:xfrm>
            <a:off x="822960" y="4206240"/>
            <a:ext cx="10058400" cy="365760"/>
          </a:xfrm>
          <a:prstGeom prst="rect">
            <a:avLst/>
          </a:prstGeom>
          <a:noFill/>
          <a:ln/>
        </p:spPr>
        <p:txBody>
          <a:bodyPr wrap="square" lIns="0" tIns="0" rIns="0" bIns="0" rtlCol="0" anchor="ctr"/>
          <a:lstStyle/>
          <a:p>
            <a:pPr indent="0" marL="0">
              <a:buNone/>
            </a:pPr>
            <a:r>
              <a:rPr lang="en-US" sz="1400" b="1" dirty="0">
                <a:solidFill>
                  <a:srgbClr val="1A1F26"/>
                </a:solidFill>
                <a:latin typeface="Calibri" pitchFamily="34" charset="0"/>
                <a:ea typeface="Calibri" pitchFamily="34" charset="-122"/>
                <a:cs typeface="Calibri" pitchFamily="34" charset="-120"/>
              </a:rPr>
              <a:t>役割分担(2ファイル体制)</a:t>
            </a:r>
            <a:endParaRPr lang="en-US" sz="1400" dirty="0"/>
          </a:p>
        </p:txBody>
      </p:sp>
      <p:sp>
        <p:nvSpPr>
          <p:cNvPr id="8" name="Text 6"/>
          <p:cNvSpPr txBox="1"/>
          <p:nvPr/>
        </p:nvSpPr>
        <p:spPr>
          <a:xfrm>
            <a:off x="822960" y="4663440"/>
            <a:ext cx="4846320" cy="365760"/>
          </a:xfrm>
          <a:prstGeom prst="rect">
            <a:avLst/>
          </a:prstGeom>
          <a:noFill/>
          <a:ln/>
        </p:spPr>
        <p:txBody>
          <a:bodyPr wrap="square" lIns="0" tIns="0" rIns="0" bIns="0" rtlCol="0" anchor="ctr"/>
          <a:lstStyle/>
          <a:p>
            <a:pPr indent="0" marL="0">
              <a:buNone/>
            </a:pPr>
            <a:r>
              <a:rPr lang="en-US" sz="1300" b="1" dirty="0">
                <a:solidFill>
                  <a:srgbClr val="B084F5"/>
                </a:solidFill>
                <a:latin typeface="Calibri" pitchFamily="34" charset="0"/>
                <a:ea typeface="Calibri" pitchFamily="34" charset="-122"/>
                <a:cs typeface="Calibri" pitchFamily="34" charset="-120"/>
              </a:rPr>
              <a:t>github-strategy-guide.pptx</a:t>
            </a:r>
            <a:endParaRPr lang="en-US" sz="1300" dirty="0"/>
          </a:p>
        </p:txBody>
      </p:sp>
      <p:sp>
        <p:nvSpPr>
          <p:cNvPr id="9" name="Text 7"/>
          <p:cNvSpPr txBox="1"/>
          <p:nvPr/>
        </p:nvSpPr>
        <p:spPr>
          <a:xfrm>
            <a:off x="822960" y="5029200"/>
            <a:ext cx="4846320" cy="82296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GitHubでの育て方・運用ノウハウ全般</a:t>
            </a:r>
            <a:endParaRPr lang="en-US" sz="1200" dirty="0"/>
          </a:p>
        </p:txBody>
      </p:sp>
      <p:sp>
        <p:nvSpPr>
          <p:cNvPr id="10" name="Text 8"/>
          <p:cNvSpPr txBox="1"/>
          <p:nvPr/>
        </p:nvSpPr>
        <p:spPr>
          <a:xfrm>
            <a:off x="5852160" y="4663440"/>
            <a:ext cx="4846320" cy="365760"/>
          </a:xfrm>
          <a:prstGeom prst="rect">
            <a:avLst/>
          </a:prstGeom>
          <a:noFill/>
          <a:ln/>
        </p:spPr>
        <p:txBody>
          <a:bodyPr wrap="square" lIns="0" tIns="0" rIns="0" bIns="0" rtlCol="0" anchor="ctr"/>
          <a:lstStyle/>
          <a:p>
            <a:pPr indent="0" marL="0">
              <a:buNone/>
            </a:pPr>
            <a:r>
              <a:rPr lang="en-US" sz="1300" b="1" dirty="0">
                <a:solidFill>
                  <a:srgbClr val="B084F5"/>
                </a:solidFill>
                <a:latin typeface="Calibri" pitchFamily="34" charset="0"/>
                <a:ea typeface="Calibri" pitchFamily="34" charset="-122"/>
                <a:cs typeface="Calibri" pitchFamily="34" charset="-120"/>
              </a:rPr>
              <a:t>cca-f-study-guide.pptx</a:t>
            </a:r>
            <a:endParaRPr lang="en-US" sz="1300" dirty="0"/>
          </a:p>
        </p:txBody>
      </p:sp>
      <p:sp>
        <p:nvSpPr>
          <p:cNvPr id="11" name="Text 9"/>
          <p:cNvSpPr txBox="1"/>
          <p:nvPr/>
        </p:nvSpPr>
        <p:spPr>
          <a:xfrm>
            <a:off x="5852160" y="5029200"/>
            <a:ext cx="4846320" cy="82296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Claude Certified Architect - Foundations 試験対策</a:t>
            </a:r>
            <a:endParaRPr lang="en-US" sz="120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2026-09-27T12:04:41Z</dcterms:created>
  <dcterms:modified xsi:type="dcterms:W3CDTF">2026-09-27T12:04:41Z</dcterms:modified>
</cp:coreProperties>
</file>